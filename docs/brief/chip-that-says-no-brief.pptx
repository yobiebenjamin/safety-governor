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ba7b55-edbe-870d-c9a7-c443bbc4175a}">
          <p14:sldIdLst>
            <p14:sldId id="256"/>
          </p14:sldIdLst>
        </p14:section>
        <p14:section name="Thesis and logic" id="{08d1c93c-5812-d3aa-94b8-baa571722618}">
          <p14:sldIdLst>
            <p14:sldId id="257"/>
            <p14:sldId id="258"/>
          </p14:sldIdLst>
        </p14:section>
        <p14:section name="Proposal" id="{bc219ea7-5711-2780-5a91-13081cc2e5a5}">
          <p14:sldIdLst>
            <p14:sldId id="259"/>
          </p14:sldIdLst>
        </p14:section>
        <p14:section name="Layers" id="{f42df82d-6ff0-d042-41e6-f62c3e2f6fbc}">
          <p14:sldIdLst>
            <p14:sldId id="260"/>
          </p14:sldIdLst>
        </p14:section>
        <p14:section name="How it meets the model" id="{005d6944-de71-ec63-7e16-440558423e70}">
          <p14:sldIdLst>
            <p14:sldId id="261"/>
          </p14:sldIdLst>
        </p14:section>
        <p14:section name="Evidence" id="{d01f73b3-aac2-ea5b-0f4a-998ff35fa8a0}">
          <p14:sldIdLst>
            <p14:sldId id="262"/>
          </p14:sldIdLst>
        </p14:section>
        <p14:section name="Challenges and asks" id="{f2027647-e0a0-27d0-367b-aa5f733a8b31}">
          <p14:sldIdLst>
            <p14:sldId id="263"/>
            <p14:sldId id="264"/>
          </p14:sldIdLst>
        </p14:section>
        <p14:section name="Close" id="{64b347fd-c24c-5b9d-dedd-65df306ff79f}">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for a short talk. The chip is a referee beside the GPU: it issues the stamp a device needs before it acts, and it has a hand on the breaker. Everything claimed here runs as a model with tests, not yet as silicon.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in one breath. Witness versus lock is the whole argument: anything above the chip can warn, only the chip can refuse in a way that cannot be patched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stop at software. Three facts and one old idea. The abliteration point and the judge point are from the multi-layer post; the structure point is the center of the governor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record is the rack tier: the governor on the OEM's management-module card, reaching the HGX baseboard through its connector. Anything soldered onto the baseboard is an ask to NVIDIA. The allow-list is what makes it a referee rather than a censor: everything not on the list is refused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The lock layers are 0, 4 and 5: the root of trust, the gate, and the keys that sign the rulebook. Layers 2 and 3 are witnesses: a rule can require their signature, they never open the gate. Layer 1 is the model: measured and watched, never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three lanes. The model lane has no authority. The governor lane asks four questions, failing closed: who is asking (measurement), is there a rule, are the witnesses present and fresh, is the budget intact. Then it signs a ticket bound to the exact fields. The device lane checks the ticket itself, so a broker that lies about the amount or the target is caught at the device. Everything is logged, including every refusal. The reason codes are the ones the model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Everything here is model, RTL simulation and circuit simulation. The two numbers that matter most for adoption, the real overhead and the false-halt rate, are not measured yet; that is on the next slide and the one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challenges, and none of them is a secret. The first two are the deep ones: the governor's authority is exactly as wide as the devices that verify its signature, and meaning still has to come from somewhere outside the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and what each one settles. The right column is written so that a no is informative: several of these would disprove the thesis as stated, and that is the point of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then take questions. The repositories hold the model, the tests, the RTL, the circuit simulation and the audit; the blog series is the plain-English route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66928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468880"/>
            <a:ext cx="5669280" cy="12801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
        <p:nvSpPr>
          <p:cNvPr id="4" name="Text 0"/>
          <p:cNvSpPr/>
          <p:nvPr/>
        </p:nvSpPr>
        <p:spPr>
          <a:xfrm>
            <a:off x="548640" y="4617720"/>
            <a:ext cx="8046720" cy="274320"/>
          </a:xfrm>
          <a:prstGeom prst="rect">
            <a:avLst/>
          </a:prstGeom>
          <a:noFill/>
          <a:ln/>
        </p:spPr>
        <p:txBody>
          <a:bodyPr wrap="square" lIns="0" tIns="0" rIns="0" bIns="0" rtlCol="0" anchor="ctr"/>
          <a:lstStyle/>
          <a:p>
            <a:pPr indent="0" marL="0">
              <a:buNone/>
            </a:pPr>
            <a:r>
              <a:rPr lang="en-US" sz="1000" dirty="0">
                <a:solidFill>
                  <a:schemeClr val="accent3"/>
                </a:solidFill>
              </a:rPr>
              <a:t>Yobie Benjamin  ·  yobie AT ieee DOT org  ·  linkedin.com/in/yobie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6858000" cy="256032"/>
          </a:xfrm>
          <a:prstGeom prst="rect">
            <a:avLst/>
          </a:prstGeom>
          <a:noFill/>
          <a:ln/>
        </p:spPr>
        <p:txBody>
          <a:bodyPr wrap="square" lIns="0" tIns="0" rIns="0" bIns="0" rtlCol="0" anchor="ctr"/>
          <a:lstStyle/>
          <a:p>
            <a:pPr indent="0" marL="0">
              <a:buNone/>
            </a:pPr>
            <a:r>
              <a:rPr lang="en-US" sz="1000" dirty="0">
                <a:solidFill>
                  <a:schemeClr val="accent3"/>
                </a:solidFill>
              </a:rPr>
              <a:t>Yobie Benjamin  ·  The Chip That Says No  ·  October 2026</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669280" cy="1097280"/>
          </a:xfrm>
          <a:prstGeom prst="rect">
            <a:avLst/>
          </a:prstGeom>
          <a:noFill/>
          <a:ln/>
        </p:spPr>
        <p:txBody>
          <a:bodyPr wrap="square" lIns="0" tIns="0" rIns="0" bIns="0" rtlCol="0" anchor="b"/>
          <a:lstStyle/>
          <a:p>
            <a:pPr algn="l" indent="0" marL="0">
              <a:buNone/>
            </a:pPr>
            <a:r>
              <a:rPr lang="en-US" sz="4000" b="1" dirty="0">
                <a:solidFill>
                  <a:schemeClr val="bg1"/>
                </a:solidFill>
              </a:rPr>
              <a:t>The Chip That Says No</a:t>
            </a:r>
            <a:endParaRPr lang="en-US" sz="4000" dirty="0"/>
          </a:p>
        </p:txBody>
      </p:sp>
      <p:sp>
        <p:nvSpPr>
          <p:cNvPr id="3" name="Text 0"/>
          <p:cNvSpPr/>
          <p:nvPr>
            <p:ph idx="101" type="body" hasCustomPrompt="1"/>
          </p:nvPr>
        </p:nvSpPr>
        <p:spPr>
          <a:xfrm>
            <a:off x="548640" y="2468880"/>
            <a:ext cx="5669280" cy="1280160"/>
          </a:xfrm>
          <a:prstGeom prst="rect">
            <a:avLst/>
          </a:prstGeom>
          <a:noFill/>
          <a:ln/>
        </p:spPr>
        <p:txBody>
          <a:bodyPr wrap="square" lIns="0" tIns="0" rIns="0" bIns="0" rtlCol="0" anchor="t"/>
          <a:lstStyle/>
          <a:p>
            <a:pPr algn="l" indent="0" marL="0">
              <a:buNone/>
            </a:pPr>
            <a:r>
              <a:rPr lang="en-US" sz="1800" dirty="0">
                <a:solidFill>
                  <a:schemeClr val="accent6"/>
                </a:solidFill>
              </a:rPr>
              <a:t>A multi-layer hardware approach to AI safety. The thesis, the logic behind it, the proposal, the layers, how it meets the model, the challenges, and the help I need to prove or disprove it.</a:t>
            </a:r>
            <a:endParaRPr lang="en-US" sz="1800" dirty="0"/>
          </a:p>
        </p:txBody>
      </p:sp>
      <p:sp>
        <p:nvSpPr>
          <p:cNvPr id="4" name="halt loop"/>
          <p:cNvSpPr/>
          <p:nvPr/>
        </p:nvSpPr>
        <p:spPr>
          <a:xfrm>
            <a:off x="6675120" y="1143000"/>
            <a:ext cx="1920240" cy="1920240"/>
          </a:xfrm>
          <a:prstGeom prst="ellipse">
            <a:avLst/>
          </a:prstGeom>
          <a:solidFill>
            <a:srgbClr val="1B2A24"/>
          </a:solidFill>
          <a:ln w="50800">
            <a:solidFill>
              <a:schemeClr val="accent1"/>
            </a:solidFill>
            <a:prstDash val="solid"/>
          </a:ln>
        </p:spPr>
      </p:sp>
      <p:sp>
        <p:nvSpPr>
          <p:cNvPr id="5" name="governor 0"/>
          <p:cNvSpPr/>
          <p:nvPr/>
        </p:nvSpPr>
        <p:spPr>
          <a:xfrm>
            <a:off x="7516368" y="1024128"/>
            <a:ext cx="237744" cy="237744"/>
          </a:xfrm>
          <a:prstGeom prst="roundRect">
            <a:avLst>
              <a:gd name="adj" fmla="val 15385"/>
            </a:avLst>
          </a:prstGeom>
          <a:solidFill>
            <a:schemeClr val="accent2"/>
          </a:solidFill>
          <a:ln w="12700">
            <a:solidFill>
              <a:schemeClr val="bg1"/>
            </a:solidFill>
            <a:prstDash val="solid"/>
          </a:ln>
        </p:spPr>
      </p:sp>
      <p:sp>
        <p:nvSpPr>
          <p:cNvPr id="6" name="governor 1"/>
          <p:cNvSpPr/>
          <p:nvPr/>
        </p:nvSpPr>
        <p:spPr>
          <a:xfrm>
            <a:off x="8195275" y="1305341"/>
            <a:ext cx="237744" cy="237744"/>
          </a:xfrm>
          <a:prstGeom prst="roundRect">
            <a:avLst>
              <a:gd name="adj" fmla="val 15385"/>
            </a:avLst>
          </a:prstGeom>
          <a:solidFill>
            <a:schemeClr val="accent2"/>
          </a:solidFill>
          <a:ln w="12700">
            <a:solidFill>
              <a:schemeClr val="bg1"/>
            </a:solidFill>
            <a:prstDash val="solid"/>
          </a:ln>
        </p:spPr>
      </p:sp>
      <p:sp>
        <p:nvSpPr>
          <p:cNvPr id="7" name="governor 2"/>
          <p:cNvSpPr/>
          <p:nvPr/>
        </p:nvSpPr>
        <p:spPr>
          <a:xfrm>
            <a:off x="8476488" y="1984248"/>
            <a:ext cx="237744" cy="237744"/>
          </a:xfrm>
          <a:prstGeom prst="roundRect">
            <a:avLst>
              <a:gd name="adj" fmla="val 15385"/>
            </a:avLst>
          </a:prstGeom>
          <a:solidFill>
            <a:schemeClr val="accent2"/>
          </a:solidFill>
          <a:ln w="12700">
            <a:solidFill>
              <a:schemeClr val="bg1"/>
            </a:solidFill>
            <a:prstDash val="solid"/>
          </a:ln>
        </p:spPr>
      </p:sp>
      <p:sp>
        <p:nvSpPr>
          <p:cNvPr id="8" name="governor 3"/>
          <p:cNvSpPr/>
          <p:nvPr/>
        </p:nvSpPr>
        <p:spPr>
          <a:xfrm>
            <a:off x="8195275" y="2663155"/>
            <a:ext cx="237744" cy="237744"/>
          </a:xfrm>
          <a:prstGeom prst="roundRect">
            <a:avLst>
              <a:gd name="adj" fmla="val 15385"/>
            </a:avLst>
          </a:prstGeom>
          <a:solidFill>
            <a:schemeClr val="accent2"/>
          </a:solidFill>
          <a:ln w="12700">
            <a:solidFill>
              <a:schemeClr val="bg1"/>
            </a:solidFill>
            <a:prstDash val="solid"/>
          </a:ln>
        </p:spPr>
      </p:sp>
      <p:sp>
        <p:nvSpPr>
          <p:cNvPr id="9" name="governor 4"/>
          <p:cNvSpPr/>
          <p:nvPr/>
        </p:nvSpPr>
        <p:spPr>
          <a:xfrm>
            <a:off x="7516368" y="2944368"/>
            <a:ext cx="237744" cy="237744"/>
          </a:xfrm>
          <a:prstGeom prst="roundRect">
            <a:avLst>
              <a:gd name="adj" fmla="val 15385"/>
            </a:avLst>
          </a:prstGeom>
          <a:solidFill>
            <a:schemeClr val="accent2"/>
          </a:solidFill>
          <a:ln w="12700">
            <a:solidFill>
              <a:schemeClr val="bg1"/>
            </a:solidFill>
            <a:prstDash val="solid"/>
          </a:ln>
        </p:spPr>
      </p:sp>
      <p:sp>
        <p:nvSpPr>
          <p:cNvPr id="10" name="governor 5"/>
          <p:cNvSpPr/>
          <p:nvPr/>
        </p:nvSpPr>
        <p:spPr>
          <a:xfrm>
            <a:off x="6837461" y="2663155"/>
            <a:ext cx="237744" cy="237744"/>
          </a:xfrm>
          <a:prstGeom prst="roundRect">
            <a:avLst>
              <a:gd name="adj" fmla="val 15385"/>
            </a:avLst>
          </a:prstGeom>
          <a:solidFill>
            <a:schemeClr val="accent4"/>
          </a:solidFill>
          <a:ln w="12700">
            <a:solidFill>
              <a:schemeClr val="bg1"/>
            </a:solidFill>
            <a:prstDash val="solid"/>
          </a:ln>
        </p:spPr>
      </p:sp>
      <p:sp>
        <p:nvSpPr>
          <p:cNvPr id="11" name="governor 6"/>
          <p:cNvSpPr/>
          <p:nvPr/>
        </p:nvSpPr>
        <p:spPr>
          <a:xfrm>
            <a:off x="6556248" y="1984248"/>
            <a:ext cx="237744" cy="237744"/>
          </a:xfrm>
          <a:prstGeom prst="roundRect">
            <a:avLst>
              <a:gd name="adj" fmla="val 15385"/>
            </a:avLst>
          </a:prstGeom>
          <a:solidFill>
            <a:schemeClr val="accent2"/>
          </a:solidFill>
          <a:ln w="12700">
            <a:solidFill>
              <a:schemeClr val="bg1"/>
            </a:solidFill>
            <a:prstDash val="solid"/>
          </a:ln>
        </p:spPr>
      </p:sp>
      <p:sp>
        <p:nvSpPr>
          <p:cNvPr id="12" name="governor 7"/>
          <p:cNvSpPr/>
          <p:nvPr/>
        </p:nvSpPr>
        <p:spPr>
          <a:xfrm>
            <a:off x="6837461" y="1305341"/>
            <a:ext cx="237744" cy="237744"/>
          </a:xfrm>
          <a:prstGeom prst="roundRect">
            <a:avLst>
              <a:gd name="adj" fmla="val 15385"/>
            </a:avLst>
          </a:prstGeom>
          <a:solidFill>
            <a:schemeClr val="accent2"/>
          </a:solidFill>
          <a:ln w="12700">
            <a:solidFill>
              <a:schemeClr val="bg1"/>
            </a:solidFill>
            <a:prstDash val="solid"/>
          </a:ln>
        </p:spPr>
      </p:sp>
      <p:sp>
        <p:nvSpPr>
          <p:cNvPr id="13" name="Text 11"/>
          <p:cNvSpPr txBox="1"/>
          <p:nvPr/>
        </p:nvSpPr>
        <p:spPr>
          <a:xfrm>
            <a:off x="6309360" y="3246120"/>
            <a:ext cx="2651760" cy="548640"/>
          </a:xfrm>
          <a:prstGeom prst="rect">
            <a:avLst/>
          </a:prstGeom>
          <a:noFill/>
          <a:ln/>
        </p:spPr>
        <p:txBody>
          <a:bodyPr wrap="square" lIns="0" tIns="0" rIns="0" bIns="0" rtlCol="0" anchor="t"/>
          <a:lstStyle/>
          <a:p>
            <a:pPr algn="ctr" indent="0" marL="0">
              <a:buNone/>
            </a:pPr>
            <a:r>
              <a:rPr lang="en-US" sz="1000" dirty="0">
                <a:solidFill>
                  <a:schemeClr val="accent3"/>
                </a:solidFill>
              </a:rPr>
              <a:t>one series loop through every governor in a rack: any one opens it, every GPU stops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Thesis</a:t>
            </a:r>
            <a:endParaRPr lang="en-US" sz="2800" dirty="0"/>
          </a:p>
        </p:txBody>
      </p:sp>
      <p:sp>
        <p:nvSpPr>
          <p:cNvPr id="3" name="Text 1"/>
          <p:cNvSpPr txBox="1"/>
          <p:nvPr/>
        </p:nvSpPr>
        <p:spPr>
          <a:xfrm>
            <a:off x="457200" y="1188720"/>
            <a:ext cx="4754880" cy="2194560"/>
          </a:xfrm>
          <a:prstGeom prst="rect">
            <a:avLst/>
          </a:prstGeom>
          <a:noFill/>
          <a:ln/>
        </p:spPr>
        <p:txBody>
          <a:bodyPr wrap="square" lIns="0" tIns="0" rIns="0" bIns="0" rtlCol="0" anchor="t"/>
          <a:lstStyle/>
          <a:p>
            <a:pPr indent="0" marL="0">
              <a:spcAft>
                <a:spcPts val="600"/>
              </a:spcAft>
              <a:buNone/>
            </a:pPr>
            <a:r>
              <a:rPr lang="en-US" sz="2200" b="1" dirty="0">
                <a:solidFill>
                  <a:schemeClr val="tx1"/>
                </a:solidFill>
                <a:latin typeface="Cambria" pitchFamily="34" charset="0"/>
                <a:ea typeface="Cambria" pitchFamily="34" charset="-122"/>
                <a:cs typeface="Cambria" pitchFamily="34" charset="-120"/>
              </a:rPr>
              <a:t>Safety that lives only in software can be removed by software. </a:t>
            </a:r>
            <a:pPr indent="0" marL="0">
              <a:spcAft>
                <a:spcPts val="600"/>
              </a:spcAft>
              <a:buNone/>
            </a:pPr>
            <a:r>
              <a:rPr lang="en-US" sz="2200" dirty="0">
                <a:solidFill>
                  <a:schemeClr val="tx1"/>
                </a:solidFill>
                <a:latin typeface="Cambria" pitchFamily="34" charset="0"/>
                <a:ea typeface="Cambria" pitchFamily="34" charset="-122"/>
                <a:cs typeface="Cambria" pitchFamily="34" charset="-120"/>
              </a:rPr>
              <a:t>The decision to act must be made in silicon the model cannot reach, at the few places where computation turns into effect.</a:t>
            </a:r>
            <a:endParaRPr lang="en-US" sz="2200" dirty="0"/>
          </a:p>
        </p:txBody>
      </p:sp>
      <p:sp>
        <p:nvSpPr>
          <p:cNvPr id="4" name="Text 2"/>
          <p:cNvSpPr txBox="1"/>
          <p:nvPr/>
        </p:nvSpPr>
        <p:spPr>
          <a:xfrm>
            <a:off x="457200" y="3566160"/>
            <a:ext cx="4754880" cy="731520"/>
          </a:xfrm>
          <a:prstGeom prst="rect">
            <a:avLst/>
          </a:prstGeom>
          <a:noFill/>
          <a:ln/>
        </p:spPr>
        <p:txBody>
          <a:bodyPr wrap="square" lIns="0" tIns="0" rIns="0" bIns="0" rtlCol="0" anchor="t"/>
          <a:lstStyle/>
          <a:p>
            <a:pPr indent="0" marL="0">
              <a:buNone/>
            </a:pPr>
            <a:r>
              <a:rPr lang="en-US" sz="1400" i="1" dirty="0">
                <a:solidFill>
                  <a:schemeClr val="accent1"/>
                </a:solidFill>
              </a:rPr>
              <a:t>Not a filter on words. A referee on actions, with a hand on the breaker.</a:t>
            </a:r>
            <a:endParaRPr lang="en-US" sz="1400" dirty="0"/>
          </a:p>
        </p:txBody>
      </p:sp>
      <p:sp>
        <p:nvSpPr>
          <p:cNvPr id="5" name="card"/>
          <p:cNvSpPr/>
          <p:nvPr/>
        </p:nvSpPr>
        <p:spPr>
          <a:xfrm>
            <a:off x="5486400" y="1143000"/>
            <a:ext cx="3200400" cy="1097280"/>
          </a:xfrm>
          <a:prstGeom prst="roundRect">
            <a:avLst>
              <a:gd name="adj" fmla="val 5000"/>
            </a:avLst>
          </a:prstGeom>
          <a:solidFill>
            <a:schemeClr val="bg2"/>
          </a:solidFill>
          <a:ln w="9525">
            <a:solidFill>
              <a:schemeClr val="bg2"/>
            </a:solidFill>
            <a:prstDash val="solid"/>
          </a:ln>
        </p:spPr>
      </p:sp>
      <p:sp>
        <p:nvSpPr>
          <p:cNvPr id="6" name="icon circle"/>
          <p:cNvSpPr/>
          <p:nvPr/>
        </p:nvSpPr>
        <p:spPr>
          <a:xfrm>
            <a:off x="5623560" y="1325880"/>
            <a:ext cx="457200" cy="457200"/>
          </a:xfrm>
          <a:prstGeom prst="ellipse">
            <a:avLst/>
          </a:prstGeom>
          <a:solidFill>
            <a:schemeClr val="tx2"/>
          </a:solidFill>
          <a:ln w="12700">
            <a:solidFill>
              <a:schemeClr val="tx2"/>
            </a:solidFill>
            <a:prstDash val="solid"/>
          </a:ln>
        </p:spPr>
      </p:sp>
      <p:pic>
        <p:nvPicPr>
          <p:cNvPr id="7" name="FiEye" descr="preencoded.png">    </p:cNvPr>
          <p:cNvPicPr>
            <a:picLocks noChangeAspect="1"/>
          </p:cNvPicPr>
          <p:nvPr/>
        </p:nvPicPr>
        <p:blipFill>
          <a:blip r:embed="rId1"/>
          <a:stretch>
            <a:fillRect/>
          </a:stretch>
        </p:blipFill>
        <p:spPr>
          <a:xfrm>
            <a:off x="5733288" y="1435608"/>
            <a:ext cx="237744" cy="237744"/>
          </a:xfrm>
          <a:prstGeom prst="rect">
            <a:avLst/>
          </a:prstGeom>
        </p:spPr>
      </p:pic>
      <p:sp>
        <p:nvSpPr>
          <p:cNvPr id="8" name="Text 5"/>
          <p:cNvSpPr txBox="1"/>
          <p:nvPr/>
        </p:nvSpPr>
        <p:spPr>
          <a:xfrm>
            <a:off x="6217920" y="1234440"/>
            <a:ext cx="2377440" cy="411480"/>
          </a:xfrm>
          <a:prstGeom prst="rect">
            <a:avLst/>
          </a:prstGeom>
          <a:noFill/>
          <a:ln/>
        </p:spPr>
        <p:txBody>
          <a:bodyPr wrap="square" lIns="0" tIns="0" rIns="0" bIns="0" rtlCol="0" anchor="t"/>
          <a:lstStyle/>
          <a:p>
            <a:pPr indent="0" marL="0">
              <a:buNone/>
            </a:pPr>
            <a:r>
              <a:rPr lang="en-US" sz="1200" b="1" dirty="0">
                <a:solidFill>
                  <a:schemeClr val="tx1"/>
                </a:solidFill>
              </a:rPr>
              <a:t>Every layer above the chip is a witness</a:t>
            </a:r>
            <a:endParaRPr lang="en-US" sz="1200" dirty="0"/>
          </a:p>
        </p:txBody>
      </p:sp>
      <p:sp>
        <p:nvSpPr>
          <p:cNvPr id="9" name="Text 6"/>
          <p:cNvSpPr txBox="1"/>
          <p:nvPr/>
        </p:nvSpPr>
        <p:spPr>
          <a:xfrm>
            <a:off x="6217920" y="1655064"/>
            <a:ext cx="2377440" cy="548640"/>
          </a:xfrm>
          <a:prstGeom prst="rect">
            <a:avLst/>
          </a:prstGeom>
          <a:noFill/>
          <a:ln/>
        </p:spPr>
        <p:txBody>
          <a:bodyPr wrap="square" lIns="0" tIns="0" rIns="0" bIns="0" rtlCol="0" anchor="t"/>
          <a:lstStyle/>
          <a:p>
            <a:pPr indent="0" marL="0">
              <a:buNone/>
            </a:pPr>
            <a:r>
              <a:rPr lang="en-US" sz="1000" dirty="0">
                <a:solidFill>
                  <a:schemeClr val="accent3"/>
                </a:solidFill>
              </a:rPr>
              <a:t>Safety training, judges, watermarks and observers can raise an alarm. They live in software the operator can change.</a:t>
            </a:r>
            <a:endParaRPr lang="en-US" sz="1000" dirty="0"/>
          </a:p>
        </p:txBody>
      </p:sp>
      <p:sp>
        <p:nvSpPr>
          <p:cNvPr id="10" name="card"/>
          <p:cNvSpPr/>
          <p:nvPr/>
        </p:nvSpPr>
        <p:spPr>
          <a:xfrm>
            <a:off x="5486400" y="2350008"/>
            <a:ext cx="3200400" cy="1097280"/>
          </a:xfrm>
          <a:prstGeom prst="roundRect">
            <a:avLst>
              <a:gd name="adj" fmla="val 5000"/>
            </a:avLst>
          </a:prstGeom>
          <a:solidFill>
            <a:schemeClr val="bg2"/>
          </a:solidFill>
          <a:ln w="9525">
            <a:solidFill>
              <a:schemeClr val="bg2"/>
            </a:solidFill>
            <a:prstDash val="solid"/>
          </a:ln>
        </p:spPr>
      </p:sp>
      <p:sp>
        <p:nvSpPr>
          <p:cNvPr id="11" name="icon circle"/>
          <p:cNvSpPr/>
          <p:nvPr/>
        </p:nvSpPr>
        <p:spPr>
          <a:xfrm>
            <a:off x="5623560" y="2532888"/>
            <a:ext cx="457200" cy="457200"/>
          </a:xfrm>
          <a:prstGeom prst="ellipse">
            <a:avLst/>
          </a:prstGeom>
          <a:solidFill>
            <a:schemeClr val="tx2"/>
          </a:solidFill>
          <a:ln w="12700">
            <a:solidFill>
              <a:schemeClr val="tx2"/>
            </a:solidFill>
            <a:prstDash val="solid"/>
          </a:ln>
        </p:spPr>
      </p:sp>
      <p:pic>
        <p:nvPicPr>
          <p:cNvPr id="12" name="FiLock" descr="preencoded.png">    </p:cNvPr>
          <p:cNvPicPr>
            <a:picLocks noChangeAspect="1"/>
          </p:cNvPicPr>
          <p:nvPr/>
        </p:nvPicPr>
        <p:blipFill>
          <a:blip r:embed="rId2"/>
          <a:stretch>
            <a:fillRect/>
          </a:stretch>
        </p:blipFill>
        <p:spPr>
          <a:xfrm>
            <a:off x="5733288" y="2642616"/>
            <a:ext cx="237744" cy="237744"/>
          </a:xfrm>
          <a:prstGeom prst="rect">
            <a:avLst/>
          </a:prstGeom>
        </p:spPr>
      </p:pic>
      <p:sp>
        <p:nvSpPr>
          <p:cNvPr id="13" name="Text 9"/>
          <p:cNvSpPr txBox="1"/>
          <p:nvPr/>
        </p:nvSpPr>
        <p:spPr>
          <a:xfrm>
            <a:off x="6217920" y="2441448"/>
            <a:ext cx="2377440" cy="411480"/>
          </a:xfrm>
          <a:prstGeom prst="rect">
            <a:avLst/>
          </a:prstGeom>
          <a:noFill/>
          <a:ln/>
        </p:spPr>
        <p:txBody>
          <a:bodyPr wrap="square" lIns="0" tIns="0" rIns="0" bIns="0" rtlCol="0" anchor="t"/>
          <a:lstStyle/>
          <a:p>
            <a:pPr indent="0" marL="0">
              <a:buNone/>
            </a:pPr>
            <a:r>
              <a:rPr lang="en-US" sz="1200" b="1" dirty="0">
                <a:solidFill>
                  <a:schemeClr val="tx1"/>
                </a:solidFill>
              </a:rPr>
              <a:t>Only the silicon layer can be the lock</a:t>
            </a:r>
            <a:endParaRPr lang="en-US" sz="1200" dirty="0"/>
          </a:p>
        </p:txBody>
      </p:sp>
      <p:sp>
        <p:nvSpPr>
          <p:cNvPr id="14" name="Text 10"/>
          <p:cNvSpPr txBox="1"/>
          <p:nvPr/>
        </p:nvSpPr>
        <p:spPr>
          <a:xfrm>
            <a:off x="6217920" y="2862072"/>
            <a:ext cx="2377440" cy="548640"/>
          </a:xfrm>
          <a:prstGeom prst="rect">
            <a:avLst/>
          </a:prstGeom>
          <a:noFill/>
          <a:ln/>
        </p:spPr>
        <p:txBody>
          <a:bodyPr wrap="square" lIns="0" tIns="0" rIns="0" bIns="0" rtlCol="0" anchor="t"/>
          <a:lstStyle/>
          <a:p>
            <a:pPr indent="0" marL="0">
              <a:buNone/>
            </a:pPr>
            <a:r>
              <a:rPr lang="en-US" sz="1000" dirty="0">
                <a:solidFill>
                  <a:schemeClr val="accent3"/>
                </a:solidFill>
              </a:rPr>
              <a:t>Keys with no read port, logic no update can patch, a comparator on the wire, fail-closed by physics, a log head in a register.</a:t>
            </a:r>
            <a:endParaRPr lang="en-US" sz="1000" dirty="0"/>
          </a:p>
        </p:txBody>
      </p:sp>
      <p:sp>
        <p:nvSpPr>
          <p:cNvPr id="15" name="card"/>
          <p:cNvSpPr/>
          <p:nvPr/>
        </p:nvSpPr>
        <p:spPr>
          <a:xfrm>
            <a:off x="5486400" y="3557016"/>
            <a:ext cx="3200400" cy="1097280"/>
          </a:xfrm>
          <a:prstGeom prst="roundRect">
            <a:avLst>
              <a:gd name="adj" fmla="val 5000"/>
            </a:avLst>
          </a:prstGeom>
          <a:solidFill>
            <a:schemeClr val="bg2"/>
          </a:solidFill>
          <a:ln w="9525">
            <a:solidFill>
              <a:schemeClr val="bg2"/>
            </a:solidFill>
            <a:prstDash val="solid"/>
          </a:ln>
        </p:spPr>
      </p:sp>
      <p:sp>
        <p:nvSpPr>
          <p:cNvPr id="16" name="icon circle"/>
          <p:cNvSpPr/>
          <p:nvPr/>
        </p:nvSpPr>
        <p:spPr>
          <a:xfrm>
            <a:off x="5623560" y="3739896"/>
            <a:ext cx="457200" cy="457200"/>
          </a:xfrm>
          <a:prstGeom prst="ellipse">
            <a:avLst/>
          </a:prstGeom>
          <a:solidFill>
            <a:schemeClr val="tx2"/>
          </a:solidFill>
          <a:ln w="12700">
            <a:solidFill>
              <a:schemeClr val="tx2"/>
            </a:solidFill>
            <a:prstDash val="solid"/>
          </a:ln>
        </p:spPr>
      </p:sp>
      <p:pic>
        <p:nvPicPr>
          <p:cNvPr id="17" name="FiLogOut" descr="preencoded.png">    </p:cNvPr>
          <p:cNvPicPr>
            <a:picLocks noChangeAspect="1"/>
          </p:cNvPicPr>
          <p:nvPr/>
        </p:nvPicPr>
        <p:blipFill>
          <a:blip r:embed="rId3"/>
          <a:stretch>
            <a:fillRect/>
          </a:stretch>
        </p:blipFill>
        <p:spPr>
          <a:xfrm>
            <a:off x="5733288" y="3849624"/>
            <a:ext cx="237744" cy="237744"/>
          </a:xfrm>
          <a:prstGeom prst="rect">
            <a:avLst/>
          </a:prstGeom>
        </p:spPr>
      </p:pic>
      <p:sp>
        <p:nvSpPr>
          <p:cNvPr id="18" name="Text 13"/>
          <p:cNvSpPr txBox="1"/>
          <p:nvPr/>
        </p:nvSpPr>
        <p:spPr>
          <a:xfrm>
            <a:off x="6217920" y="3648456"/>
            <a:ext cx="2377440" cy="411480"/>
          </a:xfrm>
          <a:prstGeom prst="rect">
            <a:avLst/>
          </a:prstGeom>
          <a:noFill/>
          <a:ln/>
        </p:spPr>
        <p:txBody>
          <a:bodyPr wrap="square" lIns="0" tIns="0" rIns="0" bIns="0" rtlCol="0" anchor="t"/>
          <a:lstStyle/>
          <a:p>
            <a:pPr indent="0" marL="0">
              <a:buNone/>
            </a:pPr>
            <a:r>
              <a:rPr lang="en-US" sz="1200" b="1" dirty="0">
                <a:solidFill>
                  <a:schemeClr val="tx1"/>
                </a:solidFill>
              </a:rPr>
              <a:t>The lock sits at the crossings</a:t>
            </a:r>
            <a:endParaRPr lang="en-US" sz="1200" dirty="0"/>
          </a:p>
        </p:txBody>
      </p:sp>
      <p:sp>
        <p:nvSpPr>
          <p:cNvPr id="19" name="Text 14"/>
          <p:cNvSpPr txBox="1"/>
          <p:nvPr/>
        </p:nvSpPr>
        <p:spPr>
          <a:xfrm>
            <a:off x="6217920" y="4069080"/>
            <a:ext cx="2377440" cy="548640"/>
          </a:xfrm>
          <a:prstGeom prst="rect">
            <a:avLst/>
          </a:prstGeom>
          <a:noFill/>
          <a:ln/>
        </p:spPr>
        <p:txBody>
          <a:bodyPr wrap="square" lIns="0" tIns="0" rIns="0" bIns="0" rtlCol="0" anchor="t"/>
          <a:lstStyle/>
          <a:p>
            <a:pPr indent="0" marL="0">
              <a:buNone/>
            </a:pPr>
            <a:r>
              <a:rPr lang="en-US" sz="1000" dirty="0">
                <a:solidFill>
                  <a:schemeClr val="accent3"/>
                </a:solidFill>
              </a:rPr>
              <a:t>Bytes leaving the GPU, a request to a device that acts, a response leaving the rack, a write to the weights, GPU power and reset.</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The logic behind it</a:t>
            </a:r>
            <a:endParaRPr lang="en-US" sz="2800" dirty="0"/>
          </a:p>
        </p:txBody>
      </p:sp>
      <p:sp>
        <p:nvSpPr>
          <p:cNvPr id="3" name="card"/>
          <p:cNvSpPr/>
          <p:nvPr/>
        </p:nvSpPr>
        <p:spPr>
          <a:xfrm>
            <a:off x="457200" y="1143000"/>
            <a:ext cx="4023360" cy="1664208"/>
          </a:xfrm>
          <a:prstGeom prst="roundRect">
            <a:avLst>
              <a:gd name="adj" fmla="val 3297"/>
            </a:avLst>
          </a:prstGeom>
          <a:solidFill>
            <a:schemeClr val="bg2"/>
          </a:solidFill>
          <a:ln w="9525">
            <a:solidFill>
              <a:schemeClr val="bg2"/>
            </a:solidFill>
            <a:prstDash val="solid"/>
          </a:ln>
        </p:spPr>
      </p:sp>
      <p:sp>
        <p:nvSpPr>
          <p:cNvPr id="4" name="icon circle"/>
          <p:cNvSpPr/>
          <p:nvPr/>
        </p:nvSpPr>
        <p:spPr>
          <a:xfrm>
            <a:off x="621792" y="1325880"/>
            <a:ext cx="475488" cy="475488"/>
          </a:xfrm>
          <a:prstGeom prst="ellipse">
            <a:avLst/>
          </a:prstGeom>
          <a:solidFill>
            <a:schemeClr val="accent1"/>
          </a:solidFill>
          <a:ln w="12700">
            <a:solidFill>
              <a:schemeClr val="accent1"/>
            </a:solidFill>
            <a:prstDash val="solid"/>
          </a:ln>
        </p:spPr>
      </p:sp>
      <p:pic>
        <p:nvPicPr>
          <p:cNvPr id="5" name="FiEdit3" descr="preencoded.png">    </p:cNvPr>
          <p:cNvPicPr>
            <a:picLocks noChangeAspect="1"/>
          </p:cNvPicPr>
          <p:nvPr/>
        </p:nvPicPr>
        <p:blipFill>
          <a:blip r:embed="rId1"/>
          <a:stretch>
            <a:fillRect/>
          </a:stretch>
        </p:blipFill>
        <p:spPr>
          <a:xfrm>
            <a:off x="735909" y="1439997"/>
            <a:ext cx="247254" cy="247254"/>
          </a:xfrm>
          <a:prstGeom prst="rect">
            <a:avLst/>
          </a:prstGeom>
        </p:spPr>
      </p:pic>
      <p:sp>
        <p:nvSpPr>
          <p:cNvPr id="6" name="Text 3"/>
          <p:cNvSpPr txBox="1"/>
          <p:nvPr/>
        </p:nvSpPr>
        <p:spPr>
          <a:xfrm>
            <a:off x="1234440" y="1325880"/>
            <a:ext cx="3108960" cy="457200"/>
          </a:xfrm>
          <a:prstGeom prst="rect">
            <a:avLst/>
          </a:prstGeom>
          <a:noFill/>
          <a:ln/>
        </p:spPr>
        <p:txBody>
          <a:bodyPr wrap="square" lIns="0" tIns="0" rIns="0" bIns="0" rtlCol="0" anchor="t"/>
          <a:lstStyle/>
          <a:p>
            <a:pPr indent="0" marL="0">
              <a:buNone/>
            </a:pPr>
            <a:r>
              <a:rPr lang="en-US" sz="1300" b="1" dirty="0">
                <a:solidFill>
                  <a:schemeClr val="tx1"/>
                </a:solidFill>
              </a:rPr>
              <a:t>Weights are editable</a:t>
            </a:r>
            <a:endParaRPr lang="en-US" sz="1300" dirty="0"/>
          </a:p>
        </p:txBody>
      </p:sp>
      <p:sp>
        <p:nvSpPr>
          <p:cNvPr id="7" name="Text 4"/>
          <p:cNvSpPr txBox="1"/>
          <p:nvPr/>
        </p:nvSpPr>
        <p:spPr>
          <a:xfrm>
            <a:off x="621792" y="1856232"/>
            <a:ext cx="3694176" cy="841248"/>
          </a:xfrm>
          <a:prstGeom prst="rect">
            <a:avLst/>
          </a:prstGeom>
          <a:noFill/>
          <a:ln/>
        </p:spPr>
        <p:txBody>
          <a:bodyPr wrap="square" lIns="0" tIns="0" rIns="0" bIns="0" rtlCol="0" anchor="t"/>
          <a:lstStyle/>
          <a:p>
            <a:pPr indent="0" marL="0">
              <a:buNone/>
            </a:pPr>
            <a:r>
              <a:rPr lang="en-US" sz="1050" dirty="0">
                <a:solidFill>
                  <a:schemeClr val="tx1"/>
                </a:solidFill>
              </a:rPr>
              <a:t>Refusal lives mostly along one direction in a transformer's activation space. Subtract it and the model answers everything; it takes an afternoon on a consumer GPU. Anything inside a weight file is at the mercy of whoever holds the file.</a:t>
            </a:r>
            <a:endParaRPr lang="en-US" sz="1050" dirty="0"/>
          </a:p>
        </p:txBody>
      </p:sp>
      <p:sp>
        <p:nvSpPr>
          <p:cNvPr id="8" name="card"/>
          <p:cNvSpPr/>
          <p:nvPr/>
        </p:nvSpPr>
        <p:spPr>
          <a:xfrm>
            <a:off x="4663440" y="1143000"/>
            <a:ext cx="4023360" cy="1664208"/>
          </a:xfrm>
          <a:prstGeom prst="roundRect">
            <a:avLst>
              <a:gd name="adj" fmla="val 3297"/>
            </a:avLst>
          </a:prstGeom>
          <a:solidFill>
            <a:schemeClr val="bg2"/>
          </a:solidFill>
          <a:ln w="9525">
            <a:solidFill>
              <a:schemeClr val="bg2"/>
            </a:solidFill>
            <a:prstDash val="solid"/>
          </a:ln>
        </p:spPr>
      </p:sp>
      <p:sp>
        <p:nvSpPr>
          <p:cNvPr id="9" name="icon circle"/>
          <p:cNvSpPr/>
          <p:nvPr/>
        </p:nvSpPr>
        <p:spPr>
          <a:xfrm>
            <a:off x="4828032" y="1325880"/>
            <a:ext cx="475488" cy="475488"/>
          </a:xfrm>
          <a:prstGeom prst="ellipse">
            <a:avLst/>
          </a:prstGeom>
          <a:solidFill>
            <a:schemeClr val="accent1"/>
          </a:solidFill>
          <a:ln w="12700">
            <a:solidFill>
              <a:schemeClr val="accent1"/>
            </a:solidFill>
            <a:prstDash val="solid"/>
          </a:ln>
        </p:spPr>
      </p:sp>
      <p:pic>
        <p:nvPicPr>
          <p:cNvPr id="10" name="FiUsers" descr="preencoded.png">    </p:cNvPr>
          <p:cNvPicPr>
            <a:picLocks noChangeAspect="1"/>
          </p:cNvPicPr>
          <p:nvPr/>
        </p:nvPicPr>
        <p:blipFill>
          <a:blip r:embed="rId2"/>
          <a:stretch>
            <a:fillRect/>
          </a:stretch>
        </p:blipFill>
        <p:spPr>
          <a:xfrm>
            <a:off x="4942149" y="1439997"/>
            <a:ext cx="247254" cy="247254"/>
          </a:xfrm>
          <a:prstGeom prst="rect">
            <a:avLst/>
          </a:prstGeom>
        </p:spPr>
      </p:pic>
      <p:sp>
        <p:nvSpPr>
          <p:cNvPr id="11" name="Text 7"/>
          <p:cNvSpPr txBox="1"/>
          <p:nvPr/>
        </p:nvSpPr>
        <p:spPr>
          <a:xfrm>
            <a:off x="5440680" y="1325880"/>
            <a:ext cx="3108960" cy="457200"/>
          </a:xfrm>
          <a:prstGeom prst="rect">
            <a:avLst/>
          </a:prstGeom>
          <a:noFill/>
          <a:ln/>
        </p:spPr>
        <p:txBody>
          <a:bodyPr wrap="square" lIns="0" tIns="0" rIns="0" bIns="0" rtlCol="0" anchor="t"/>
          <a:lstStyle/>
          <a:p>
            <a:pPr indent="0" marL="0">
              <a:buNone/>
            </a:pPr>
            <a:r>
              <a:rPr lang="en-US" sz="1300" b="1" dirty="0">
                <a:solidFill>
                  <a:schemeClr val="tx1"/>
                </a:solidFill>
              </a:rPr>
              <a:t>A judge is a transformer too</a:t>
            </a:r>
            <a:endParaRPr lang="en-US" sz="1300" dirty="0"/>
          </a:p>
        </p:txBody>
      </p:sp>
      <p:sp>
        <p:nvSpPr>
          <p:cNvPr id="12" name="Text 8"/>
          <p:cNvSpPr txBox="1"/>
          <p:nvPr/>
        </p:nvSpPr>
        <p:spPr>
          <a:xfrm>
            <a:off x="4828032" y="1856232"/>
            <a:ext cx="3694176" cy="841248"/>
          </a:xfrm>
          <a:prstGeom prst="rect">
            <a:avLst/>
          </a:prstGeom>
          <a:noFill/>
          <a:ln/>
        </p:spPr>
        <p:txBody>
          <a:bodyPr wrap="square" lIns="0" tIns="0" rIns="0" bIns="0" rtlCol="0" anchor="t"/>
          <a:lstStyle/>
          <a:p>
            <a:pPr indent="0" marL="0">
              <a:buNone/>
            </a:pPr>
            <a:r>
              <a:rPr lang="en-US" sz="1050" dirty="0">
                <a:solidFill>
                  <a:schemeClr val="tx1"/>
                </a:solidFill>
              </a:rPr>
              <a:t>A second model that watches the first falls for the same injections, can be edited the same way, and runs as a process the operator can patch or kill. It can keep a gate shut. It can never be the gate.</a:t>
            </a:r>
            <a:endParaRPr lang="en-US" sz="1050" dirty="0"/>
          </a:p>
        </p:txBody>
      </p:sp>
      <p:sp>
        <p:nvSpPr>
          <p:cNvPr id="13" name="card"/>
          <p:cNvSpPr/>
          <p:nvPr/>
        </p:nvSpPr>
        <p:spPr>
          <a:xfrm>
            <a:off x="457200" y="2990088"/>
            <a:ext cx="4023360" cy="1664208"/>
          </a:xfrm>
          <a:prstGeom prst="roundRect">
            <a:avLst>
              <a:gd name="adj" fmla="val 3297"/>
            </a:avLst>
          </a:prstGeom>
          <a:solidFill>
            <a:schemeClr val="bg2"/>
          </a:solidFill>
          <a:ln w="9525">
            <a:solidFill>
              <a:schemeClr val="bg2"/>
            </a:solidFill>
            <a:prstDash val="solid"/>
          </a:ln>
        </p:spPr>
      </p:sp>
      <p:sp>
        <p:nvSpPr>
          <p:cNvPr id="14" name="icon circle"/>
          <p:cNvSpPr/>
          <p:nvPr/>
        </p:nvSpPr>
        <p:spPr>
          <a:xfrm>
            <a:off x="621792" y="3172968"/>
            <a:ext cx="475488" cy="475488"/>
          </a:xfrm>
          <a:prstGeom prst="ellipse">
            <a:avLst/>
          </a:prstGeom>
          <a:solidFill>
            <a:schemeClr val="accent1"/>
          </a:solidFill>
          <a:ln w="12700">
            <a:solidFill>
              <a:schemeClr val="accent1"/>
            </a:solidFill>
            <a:prstDash val="solid"/>
          </a:ln>
        </p:spPr>
      </p:sp>
      <p:pic>
        <p:nvPicPr>
          <p:cNvPr id="15" name="FiCpu" descr="preencoded.png">    </p:cNvPr>
          <p:cNvPicPr>
            <a:picLocks noChangeAspect="1"/>
          </p:cNvPicPr>
          <p:nvPr/>
        </p:nvPicPr>
        <p:blipFill>
          <a:blip r:embed="rId3"/>
          <a:stretch>
            <a:fillRect/>
          </a:stretch>
        </p:blipFill>
        <p:spPr>
          <a:xfrm>
            <a:off x="735909" y="3287085"/>
            <a:ext cx="247254" cy="247254"/>
          </a:xfrm>
          <a:prstGeom prst="rect">
            <a:avLst/>
          </a:prstGeom>
        </p:spPr>
      </p:pic>
      <p:sp>
        <p:nvSpPr>
          <p:cNvPr id="16" name="Text 11"/>
          <p:cNvSpPr txBox="1"/>
          <p:nvPr/>
        </p:nvSpPr>
        <p:spPr>
          <a:xfrm>
            <a:off x="1234440" y="3172968"/>
            <a:ext cx="3108960" cy="457200"/>
          </a:xfrm>
          <a:prstGeom prst="rect">
            <a:avLst/>
          </a:prstGeom>
          <a:noFill/>
          <a:ln/>
        </p:spPr>
        <p:txBody>
          <a:bodyPr wrap="square" lIns="0" tIns="0" rIns="0" bIns="0" rtlCol="0" anchor="t"/>
          <a:lstStyle/>
          <a:p>
            <a:pPr indent="0" marL="0">
              <a:buNone/>
            </a:pPr>
            <a:r>
              <a:rPr lang="en-US" sz="1300" b="1" dirty="0">
                <a:solidFill>
                  <a:schemeClr val="tx1"/>
                </a:solidFill>
              </a:rPr>
              <a:t>Chips cannot read meaning; they can check structure</a:t>
            </a:r>
            <a:endParaRPr lang="en-US" sz="1300" dirty="0"/>
          </a:p>
        </p:txBody>
      </p:sp>
      <p:sp>
        <p:nvSpPr>
          <p:cNvPr id="17" name="Text 12"/>
          <p:cNvSpPr txBox="1"/>
          <p:nvPr/>
        </p:nvSpPr>
        <p:spPr>
          <a:xfrm>
            <a:off x="621792" y="3703320"/>
            <a:ext cx="3694176" cy="841248"/>
          </a:xfrm>
          <a:prstGeom prst="rect">
            <a:avLst/>
          </a:prstGeom>
          <a:noFill/>
          <a:ln/>
        </p:spPr>
        <p:txBody>
          <a:bodyPr wrap="square" lIns="0" tIns="0" rIns="0" bIns="0" rtlCol="0" anchor="t"/>
          <a:lstStyle/>
          <a:p>
            <a:pPr indent="0" marL="0">
              <a:buNone/>
            </a:pPr>
            <a:r>
              <a:rPr lang="en-US" sz="1050" dirty="0">
                <a:solidFill>
                  <a:schemeClr val="tx1"/>
                </a:solidFill>
              </a:rPr>
              <a:t>A chip sees a ticket, a signature from a key the model does not hold, a count under a limit, a peer on a list, a measured workload. Meaning becomes structure exactly at the crossings, and the chip stands at all of them.</a:t>
            </a:r>
            <a:endParaRPr lang="en-US" sz="1050" dirty="0"/>
          </a:p>
        </p:txBody>
      </p:sp>
      <p:sp>
        <p:nvSpPr>
          <p:cNvPr id="18" name="card"/>
          <p:cNvSpPr/>
          <p:nvPr/>
        </p:nvSpPr>
        <p:spPr>
          <a:xfrm>
            <a:off x="4663440" y="2990088"/>
            <a:ext cx="4023360" cy="1664208"/>
          </a:xfrm>
          <a:prstGeom prst="roundRect">
            <a:avLst>
              <a:gd name="adj" fmla="val 3297"/>
            </a:avLst>
          </a:prstGeom>
          <a:solidFill>
            <a:schemeClr val="bg2"/>
          </a:solidFill>
          <a:ln w="9525">
            <a:solidFill>
              <a:schemeClr val="bg2"/>
            </a:solidFill>
            <a:prstDash val="solid"/>
          </a:ln>
        </p:spPr>
      </p:sp>
      <p:sp>
        <p:nvSpPr>
          <p:cNvPr id="19" name="icon circle"/>
          <p:cNvSpPr/>
          <p:nvPr/>
        </p:nvSpPr>
        <p:spPr>
          <a:xfrm>
            <a:off x="4828032" y="3172968"/>
            <a:ext cx="475488" cy="475488"/>
          </a:xfrm>
          <a:prstGeom prst="ellipse">
            <a:avLst/>
          </a:prstGeom>
          <a:solidFill>
            <a:schemeClr val="accent1"/>
          </a:solidFill>
          <a:ln w="12700">
            <a:solidFill>
              <a:schemeClr val="accent1"/>
            </a:solidFill>
            <a:prstDash val="solid"/>
          </a:ln>
        </p:spPr>
      </p:sp>
      <p:pic>
        <p:nvPicPr>
          <p:cNvPr id="20" name="FiShield" descr="preencoded.png">    </p:cNvPr>
          <p:cNvPicPr>
            <a:picLocks noChangeAspect="1"/>
          </p:cNvPicPr>
          <p:nvPr/>
        </p:nvPicPr>
        <p:blipFill>
          <a:blip r:embed="rId4"/>
          <a:stretch>
            <a:fillRect/>
          </a:stretch>
        </p:blipFill>
        <p:spPr>
          <a:xfrm>
            <a:off x="4942149" y="3287085"/>
            <a:ext cx="247254" cy="247254"/>
          </a:xfrm>
          <a:prstGeom prst="rect">
            <a:avLst/>
          </a:prstGeom>
        </p:spPr>
      </p:pic>
      <p:sp>
        <p:nvSpPr>
          <p:cNvPr id="21" name="Text 15"/>
          <p:cNvSpPr txBox="1"/>
          <p:nvPr/>
        </p:nvSpPr>
        <p:spPr>
          <a:xfrm>
            <a:off x="5440680" y="3172968"/>
            <a:ext cx="3108960" cy="457200"/>
          </a:xfrm>
          <a:prstGeom prst="rect">
            <a:avLst/>
          </a:prstGeom>
          <a:noFill/>
          <a:ln/>
        </p:spPr>
        <p:txBody>
          <a:bodyPr wrap="square" lIns="0" tIns="0" rIns="0" bIns="0" rtlCol="0" anchor="t"/>
          <a:lstStyle/>
          <a:p>
            <a:pPr indent="0" marL="0">
              <a:buNone/>
            </a:pPr>
            <a:r>
              <a:rPr lang="en-US" sz="1300" b="1" dirty="0">
                <a:solidFill>
                  <a:schemeClr val="tx1"/>
                </a:solidFill>
              </a:rPr>
              <a:t>The shape is known: the reference monitor</a:t>
            </a:r>
            <a:endParaRPr lang="en-US" sz="1300" dirty="0"/>
          </a:p>
        </p:txBody>
      </p:sp>
      <p:sp>
        <p:nvSpPr>
          <p:cNvPr id="22" name="Text 16"/>
          <p:cNvSpPr txBox="1"/>
          <p:nvPr/>
        </p:nvSpPr>
        <p:spPr>
          <a:xfrm>
            <a:off x="4828032" y="3703320"/>
            <a:ext cx="3694176" cy="841248"/>
          </a:xfrm>
          <a:prstGeom prst="rect">
            <a:avLst/>
          </a:prstGeom>
          <a:noFill/>
          <a:ln/>
        </p:spPr>
        <p:txBody>
          <a:bodyPr wrap="square" lIns="0" tIns="0" rIns="0" bIns="0" rtlCol="0" anchor="t"/>
          <a:lstStyle/>
          <a:p>
            <a:pPr indent="0" marL="0">
              <a:buNone/>
            </a:pPr>
            <a:r>
              <a:rPr lang="en-US" sz="1050" dirty="0">
                <a:solidFill>
                  <a:schemeClr val="tx1"/>
                </a:solidFill>
              </a:rPr>
              <a:t>Written down in 1972: every protected access passes through it, it cannot be tampered with, it is small enough to verify. Firewalls, kernels and HSMs are reference monitors. This one is for actions, and it can also cut the power.</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The proposal: a governor beside every GPU</a:t>
            </a:r>
            <a:endParaRPr lang="en-US" sz="2800" dirty="0"/>
          </a:p>
        </p:txBody>
      </p:sp>
      <p:sp>
        <p:nvSpPr>
          <p:cNvPr id="3" name="Text 1"/>
          <p:cNvSpPr txBox="1"/>
          <p:nvPr/>
        </p:nvSpPr>
        <p:spPr>
          <a:xfrm>
            <a:off x="457200" y="1097280"/>
            <a:ext cx="4343400" cy="35661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chemeClr val="tx1"/>
                </a:solidFill>
              </a:rPr>
              <a:t>A small separate die (about 2 mm² of core logic in the prototype) on the OEM's management-module card. It reaches NVIDIA's HGX baseboard through the baseboard's own connector.</a:t>
            </a:r>
            <a:endParaRPr lang="en-US" sz="1050" dirty="0"/>
          </a:p>
          <a:p>
            <a:pPr marL="152400" indent="-152400">
              <a:spcAft>
                <a:spcPts val="500"/>
              </a:spcAft>
              <a:buSzPct val="100000"/>
              <a:buChar char="•"/>
            </a:pPr>
            <a:r>
              <a:rPr lang="en-US" sz="1050" dirty="0">
                <a:solidFill>
                  <a:schemeClr val="tx1"/>
                </a:solidFill>
              </a:rPr>
              <a:t>Nothing changes in the GPU or in CUDA. It governs through interfaces that already ship: BMC power, reset and clock levers, SMBPBI device disable, NSM switch-port disable, DOCA flow rules on the DPU, and the GPU's own attestation as an input.</a:t>
            </a:r>
            <a:endParaRPr lang="en-US" sz="1050" dirty="0"/>
          </a:p>
          <a:p>
            <a:pPr marL="152400" indent="-152400">
              <a:spcAft>
                <a:spcPts val="500"/>
              </a:spcAft>
              <a:buSzPct val="100000"/>
              <a:buChar char="•"/>
            </a:pPr>
            <a:r>
              <a:rPr lang="en-US" sz="1050" dirty="0">
                <a:solidFill>
                  <a:schemeClr val="tx1"/>
                </a:solidFill>
              </a:rPr>
              <a:t>What it enforces is burned in: keys, fail-closed state machine, invariants no firmware update can remove. What is allowed is loaded: an allow-list signed by a quorum whose keys sit outside the chip vendor and the operator. Default deny.</a:t>
            </a:r>
            <a:endParaRPr lang="en-US" sz="1050" dirty="0"/>
          </a:p>
          <a:p>
            <a:pPr marL="152400" indent="-152400">
              <a:spcAft>
                <a:spcPts val="500"/>
              </a:spcAft>
              <a:buSzPct val="100000"/>
              <a:buChar char="•"/>
            </a:pPr>
            <a:r>
              <a:rPr lang="en-US" sz="1050" dirty="0">
                <a:solidFill>
                  <a:schemeClr val="tx1"/>
                </a:solidFill>
              </a:rPr>
              <a:t>One series current loop through every governor in the rack. Any governor opens it, or a cut wire, and every GPU halts; a halt survives a power cycle and no governor can clear its own.</a:t>
            </a:r>
            <a:endParaRPr lang="en-US" sz="1050" dirty="0"/>
          </a:p>
          <a:p>
            <a:pPr marL="152400" indent="-152400">
              <a:spcAft>
                <a:spcPts val="500"/>
              </a:spcAft>
              <a:buSzPct val="100000"/>
              <a:buChar char="•"/>
            </a:pPr>
            <a:r>
              <a:rPr lang="en-US" sz="1050" dirty="0">
                <a:solidFill>
                  <a:schemeClr val="tx1"/>
                </a:solidFill>
              </a:rPr>
              <a:t>Three tiers: rack (buildable now with an OEM), board-only fallback, integrated (checkers in the copy engines, which needs NVIDIA). Same firmware, policy format and fabric on all three.</a:t>
            </a:r>
            <a:endParaRPr lang="en-US" sz="1050" dirty="0"/>
          </a:p>
        </p:txBody>
      </p:sp>
      <p:sp>
        <p:nvSpPr>
          <p:cNvPr id="4" name="Text 2"/>
          <p:cNvSpPr txBox="1"/>
          <p:nvPr/>
        </p:nvSpPr>
        <p:spPr>
          <a:xfrm>
            <a:off x="5074920" y="1051560"/>
            <a:ext cx="3611880" cy="228600"/>
          </a:xfrm>
          <a:prstGeom prst="rect">
            <a:avLst/>
          </a:prstGeom>
          <a:noFill/>
          <a:ln/>
        </p:spPr>
        <p:txBody>
          <a:bodyPr wrap="square" lIns="0" tIns="0" rIns="0" bIns="0" rtlCol="0" anchor="t"/>
          <a:lstStyle/>
          <a:p>
            <a:pPr algn="r" indent="0" marL="0">
              <a:buNone/>
            </a:pPr>
            <a:r>
              <a:rPr lang="en-US" sz="1000" dirty="0">
                <a:solidFill>
                  <a:schemeClr val="accent3"/>
                </a:solidFill>
              </a:rPr>
              <a:t>one compute tray</a:t>
            </a:r>
            <a:endParaRPr lang="en-US" sz="1000" dirty="0"/>
          </a:p>
        </p:txBody>
      </p:sp>
      <p:sp>
        <p:nvSpPr>
          <p:cNvPr id="5" name="card"/>
          <p:cNvSpPr/>
          <p:nvPr/>
        </p:nvSpPr>
        <p:spPr>
          <a:xfrm>
            <a:off x="5074920" y="1307592"/>
            <a:ext cx="3611880" cy="822960"/>
          </a:xfrm>
          <a:prstGeom prst="roundRect">
            <a:avLst>
              <a:gd name="adj" fmla="val 6667"/>
            </a:avLst>
          </a:prstGeom>
          <a:solidFill>
            <a:schemeClr val="bg2"/>
          </a:solidFill>
          <a:ln w="9525">
            <a:solidFill>
              <a:schemeClr val="bg2"/>
            </a:solidFill>
            <a:prstDash val="solid"/>
          </a:ln>
        </p:spPr>
      </p:sp>
      <p:sp>
        <p:nvSpPr>
          <p:cNvPr id="6" name="Text 4"/>
          <p:cNvSpPr txBox="1"/>
          <p:nvPr/>
        </p:nvSpPr>
        <p:spPr>
          <a:xfrm>
            <a:off x="5166360" y="1335024"/>
            <a:ext cx="1828800" cy="201168"/>
          </a:xfrm>
          <a:prstGeom prst="rect">
            <a:avLst/>
          </a:prstGeom>
          <a:noFill/>
          <a:ln/>
        </p:spPr>
        <p:txBody>
          <a:bodyPr wrap="square" lIns="0" tIns="0" rIns="0" bIns="0" rtlCol="0" anchor="t"/>
          <a:lstStyle/>
          <a:p>
            <a:pPr indent="0" marL="0">
              <a:buNone/>
            </a:pPr>
            <a:r>
              <a:rPr lang="en-US" sz="900" dirty="0">
                <a:solidFill>
                  <a:schemeClr val="accent3"/>
                </a:solidFill>
              </a:rPr>
              <a:t>system board</a:t>
            </a:r>
            <a:endParaRPr lang="en-US" sz="900" dirty="0"/>
          </a:p>
        </p:txBody>
      </p:sp>
      <p:sp>
        <p:nvSpPr>
          <p:cNvPr id="7" name="CPU"/>
          <p:cNvSpPr/>
          <p:nvPr/>
        </p:nvSpPr>
        <p:spPr>
          <a:xfrm>
            <a:off x="5184648" y="1554480"/>
            <a:ext cx="777240" cy="457200"/>
          </a:xfrm>
          <a:prstGeom prst="roundRect">
            <a:avLst>
              <a:gd name="adj" fmla="val 10000"/>
            </a:avLst>
          </a:prstGeom>
          <a:solidFill>
            <a:srgbClr val="FFFFFF"/>
          </a:solidFill>
          <a:ln w="12700">
            <a:solidFill>
              <a:schemeClr val="accent6"/>
            </a:solidFill>
            <a:prstDash val="solid"/>
          </a:ln>
        </p:spPr>
      </p:sp>
      <p:sp>
        <p:nvSpPr>
          <p:cNvPr id="8" name="Text 6"/>
          <p:cNvSpPr txBox="1"/>
          <p:nvPr/>
        </p:nvSpPr>
        <p:spPr>
          <a:xfrm>
            <a:off x="5184648" y="1554480"/>
            <a:ext cx="777240" cy="457200"/>
          </a:xfrm>
          <a:prstGeom prst="rect">
            <a:avLst/>
          </a:prstGeom>
          <a:noFill/>
          <a:ln/>
        </p:spPr>
        <p:txBody>
          <a:bodyPr wrap="square" lIns="0" tIns="0" rIns="0" bIns="0" rtlCol="0" anchor="ctr"/>
          <a:lstStyle/>
          <a:p>
            <a:pPr algn="ctr" indent="0" marL="0">
              <a:buNone/>
            </a:pPr>
            <a:r>
              <a:rPr lang="en-US" sz="900" dirty="0">
                <a:solidFill>
                  <a:schemeClr val="tx1"/>
                </a:solidFill>
              </a:rPr>
              <a:t>CPU</a:t>
            </a:r>
            <a:endParaRPr lang="en-US" sz="900" dirty="0"/>
          </a:p>
        </p:txBody>
      </p:sp>
      <p:sp>
        <p:nvSpPr>
          <p:cNvPr id="9" name="PCIe switch"/>
          <p:cNvSpPr/>
          <p:nvPr/>
        </p:nvSpPr>
        <p:spPr>
          <a:xfrm>
            <a:off x="6053328" y="1554480"/>
            <a:ext cx="777240" cy="457200"/>
          </a:xfrm>
          <a:prstGeom prst="roundRect">
            <a:avLst>
              <a:gd name="adj" fmla="val 10000"/>
            </a:avLst>
          </a:prstGeom>
          <a:solidFill>
            <a:srgbClr val="FFFFFF"/>
          </a:solidFill>
          <a:ln w="12700">
            <a:solidFill>
              <a:schemeClr val="accent6"/>
            </a:solidFill>
            <a:prstDash val="solid"/>
          </a:ln>
        </p:spPr>
      </p:sp>
      <p:sp>
        <p:nvSpPr>
          <p:cNvPr id="10" name="Text 8"/>
          <p:cNvSpPr txBox="1"/>
          <p:nvPr/>
        </p:nvSpPr>
        <p:spPr>
          <a:xfrm>
            <a:off x="6053328" y="1554480"/>
            <a:ext cx="777240" cy="457200"/>
          </a:xfrm>
          <a:prstGeom prst="rect">
            <a:avLst/>
          </a:prstGeom>
          <a:noFill/>
          <a:ln/>
        </p:spPr>
        <p:txBody>
          <a:bodyPr wrap="square" lIns="0" tIns="0" rIns="0" bIns="0" rtlCol="0" anchor="ctr"/>
          <a:lstStyle/>
          <a:p>
            <a:pPr algn="ctr" indent="0" marL="0">
              <a:buNone/>
            </a:pPr>
            <a:r>
              <a:rPr lang="en-US" sz="900" dirty="0">
                <a:solidFill>
                  <a:schemeClr val="tx1"/>
                </a:solidFill>
              </a:rPr>
              <a:t>PCIe switch</a:t>
            </a:r>
            <a:endParaRPr lang="en-US" sz="900" dirty="0"/>
          </a:p>
        </p:txBody>
      </p:sp>
      <p:sp>
        <p:nvSpPr>
          <p:cNvPr id="11" name="DPU / NIC"/>
          <p:cNvSpPr/>
          <p:nvPr/>
        </p:nvSpPr>
        <p:spPr>
          <a:xfrm>
            <a:off x="6922008" y="1554480"/>
            <a:ext cx="777240" cy="457200"/>
          </a:xfrm>
          <a:prstGeom prst="roundRect">
            <a:avLst>
              <a:gd name="adj" fmla="val 10000"/>
            </a:avLst>
          </a:prstGeom>
          <a:solidFill>
            <a:srgbClr val="FFFFFF"/>
          </a:solidFill>
          <a:ln w="12700">
            <a:solidFill>
              <a:schemeClr val="accent6"/>
            </a:solidFill>
            <a:prstDash val="solid"/>
          </a:ln>
        </p:spPr>
      </p:sp>
      <p:sp>
        <p:nvSpPr>
          <p:cNvPr id="12" name="Text 10"/>
          <p:cNvSpPr txBox="1"/>
          <p:nvPr/>
        </p:nvSpPr>
        <p:spPr>
          <a:xfrm>
            <a:off x="6922008" y="1554480"/>
            <a:ext cx="777240" cy="457200"/>
          </a:xfrm>
          <a:prstGeom prst="rect">
            <a:avLst/>
          </a:prstGeom>
          <a:noFill/>
          <a:ln/>
        </p:spPr>
        <p:txBody>
          <a:bodyPr wrap="square" lIns="0" tIns="0" rIns="0" bIns="0" rtlCol="0" anchor="ctr"/>
          <a:lstStyle/>
          <a:p>
            <a:pPr algn="ctr" indent="0" marL="0">
              <a:buNone/>
            </a:pPr>
            <a:r>
              <a:rPr lang="en-US" sz="900" dirty="0">
                <a:solidFill>
                  <a:schemeClr val="tx1"/>
                </a:solidFill>
              </a:rPr>
              <a:t>DPU / NIC</a:t>
            </a:r>
            <a:endParaRPr lang="en-US" sz="900" dirty="0"/>
          </a:p>
        </p:txBody>
      </p:sp>
      <p:sp>
        <p:nvSpPr>
          <p:cNvPr id="13" name="BMC"/>
          <p:cNvSpPr/>
          <p:nvPr/>
        </p:nvSpPr>
        <p:spPr>
          <a:xfrm>
            <a:off x="7790688" y="1554480"/>
            <a:ext cx="777240" cy="457200"/>
          </a:xfrm>
          <a:prstGeom prst="roundRect">
            <a:avLst>
              <a:gd name="adj" fmla="val 10000"/>
            </a:avLst>
          </a:prstGeom>
          <a:solidFill>
            <a:srgbClr val="FFFFFF"/>
          </a:solidFill>
          <a:ln w="12700">
            <a:solidFill>
              <a:schemeClr val="accent6"/>
            </a:solidFill>
            <a:prstDash val="solid"/>
          </a:ln>
        </p:spPr>
      </p:sp>
      <p:sp>
        <p:nvSpPr>
          <p:cNvPr id="14" name="Text 12"/>
          <p:cNvSpPr txBox="1"/>
          <p:nvPr/>
        </p:nvSpPr>
        <p:spPr>
          <a:xfrm>
            <a:off x="7790688" y="1554480"/>
            <a:ext cx="777240" cy="457200"/>
          </a:xfrm>
          <a:prstGeom prst="rect">
            <a:avLst/>
          </a:prstGeom>
          <a:noFill/>
          <a:ln/>
        </p:spPr>
        <p:txBody>
          <a:bodyPr wrap="square" lIns="0" tIns="0" rIns="0" bIns="0" rtlCol="0" anchor="ctr"/>
          <a:lstStyle/>
          <a:p>
            <a:pPr algn="ctr" indent="0" marL="0">
              <a:buNone/>
            </a:pPr>
            <a:r>
              <a:rPr lang="en-US" sz="900" dirty="0">
                <a:solidFill>
                  <a:schemeClr val="tx1"/>
                </a:solidFill>
              </a:rPr>
              <a:t>BMC</a:t>
            </a:r>
            <a:endParaRPr lang="en-US" sz="900" dirty="0"/>
          </a:p>
        </p:txBody>
      </p:sp>
      <p:sp>
        <p:nvSpPr>
          <p:cNvPr id="15" name="governor module"/>
          <p:cNvSpPr/>
          <p:nvPr/>
        </p:nvSpPr>
        <p:spPr>
          <a:xfrm>
            <a:off x="5074920" y="2240280"/>
            <a:ext cx="3611880" cy="548640"/>
          </a:xfrm>
          <a:prstGeom prst="roundRect">
            <a:avLst>
              <a:gd name="adj" fmla="val 8333"/>
            </a:avLst>
          </a:prstGeom>
          <a:solidFill>
            <a:schemeClr val="tx2"/>
          </a:solidFill>
          <a:ln w="12700">
            <a:solidFill>
              <a:schemeClr val="tx2"/>
            </a:solidFill>
            <a:prstDash val="solid"/>
          </a:ln>
        </p:spPr>
      </p:sp>
      <p:sp>
        <p:nvSpPr>
          <p:cNvPr id="16" name="Text 14"/>
          <p:cNvSpPr txBox="1"/>
          <p:nvPr/>
        </p:nvSpPr>
        <p:spPr>
          <a:xfrm>
            <a:off x="5184648" y="2240280"/>
            <a:ext cx="3392424" cy="548640"/>
          </a:xfrm>
          <a:prstGeom prst="rect">
            <a:avLst/>
          </a:prstGeom>
          <a:noFill/>
          <a:ln/>
        </p:spPr>
        <p:txBody>
          <a:bodyPr wrap="square" lIns="0" tIns="0" rIns="0" bIns="0" rtlCol="0" anchor="ctr"/>
          <a:lstStyle/>
          <a:p>
            <a:pPr indent="0" marL="0">
              <a:buNone/>
            </a:pPr>
            <a:r>
              <a:rPr lang="en-US" sz="1000" b="1" dirty="0">
                <a:solidFill>
                  <a:schemeClr val="bg1"/>
                </a:solidFill>
              </a:rPr>
              <a:t>SAFETY GOVERNOR MODULE</a:t>
            </a:r>
            <a:endParaRPr lang="en-US" sz="1000" dirty="0"/>
          </a:p>
          <a:p>
            <a:pPr indent="0" marL="0">
              <a:buNone/>
            </a:pPr>
            <a:r>
              <a:rPr lang="en-US" sz="850" dirty="0">
                <a:solidFill>
                  <a:schemeClr val="bg1"/>
                </a:solidFill>
              </a:rPr>
              <a:t>one governor per GPU slot · mailbox, gate, ledger, log, meter, levers, loop, fabric</a:t>
            </a:r>
            <a:endParaRPr lang="en-US" sz="1000" dirty="0"/>
          </a:p>
        </p:txBody>
      </p:sp>
      <p:sp>
        <p:nvSpPr>
          <p:cNvPr id="17" name="connector"/>
          <p:cNvSpPr/>
          <p:nvPr/>
        </p:nvSpPr>
        <p:spPr>
          <a:xfrm>
            <a:off x="5577840" y="2011680"/>
            <a:ext cx="0" cy="228600"/>
          </a:xfrm>
          <a:prstGeom prst="line">
            <a:avLst/>
          </a:prstGeom>
          <a:noFill/>
          <a:ln w="12700">
            <a:solidFill>
              <a:srgbClr val="2F5D62"/>
            </a:solidFill>
            <a:prstDash val="solid"/>
            <a:tailEnd type="triangle"/>
          </a:ln>
        </p:spPr>
      </p:sp>
      <p:sp>
        <p:nvSpPr>
          <p:cNvPr id="18" name="connector"/>
          <p:cNvSpPr/>
          <p:nvPr/>
        </p:nvSpPr>
        <p:spPr>
          <a:xfrm>
            <a:off x="6446520" y="2011680"/>
            <a:ext cx="0" cy="228600"/>
          </a:xfrm>
          <a:prstGeom prst="line">
            <a:avLst/>
          </a:prstGeom>
          <a:noFill/>
          <a:ln w="12700">
            <a:solidFill>
              <a:srgbClr val="2F5D62"/>
            </a:solidFill>
            <a:prstDash val="solid"/>
            <a:tailEnd type="triangle"/>
          </a:ln>
        </p:spPr>
      </p:sp>
      <p:sp>
        <p:nvSpPr>
          <p:cNvPr id="19" name="connector"/>
          <p:cNvSpPr/>
          <p:nvPr/>
        </p:nvSpPr>
        <p:spPr>
          <a:xfrm>
            <a:off x="7315200" y="2011680"/>
            <a:ext cx="0" cy="228600"/>
          </a:xfrm>
          <a:prstGeom prst="line">
            <a:avLst/>
          </a:prstGeom>
          <a:noFill/>
          <a:ln w="12700">
            <a:solidFill>
              <a:srgbClr val="2F5D62"/>
            </a:solidFill>
            <a:prstDash val="solid"/>
            <a:tailEnd type="triangle"/>
          </a:ln>
        </p:spPr>
      </p:sp>
      <p:sp>
        <p:nvSpPr>
          <p:cNvPr id="20" name="Text 18"/>
          <p:cNvSpPr txBox="1"/>
          <p:nvPr/>
        </p:nvSpPr>
        <p:spPr>
          <a:xfrm>
            <a:off x="7772400" y="2020824"/>
            <a:ext cx="914400" cy="201168"/>
          </a:xfrm>
          <a:prstGeom prst="rect">
            <a:avLst/>
          </a:prstGeom>
          <a:noFill/>
          <a:ln/>
        </p:spPr>
        <p:txBody>
          <a:bodyPr wrap="square" lIns="0" tIns="0" rIns="0" bIns="0" rtlCol="0" anchor="t"/>
          <a:lstStyle/>
          <a:p>
            <a:pPr algn="r" indent="0" marL="0">
              <a:buNone/>
            </a:pPr>
            <a:r>
              <a:rPr lang="en-US" sz="700" dirty="0">
                <a:solidFill>
                  <a:schemeClr val="tx2"/>
                </a:solidFill>
              </a:rPr>
              <a:t>mailbox · mgmt port · OOB port</a:t>
            </a:r>
            <a:endParaRPr lang="en-US" sz="700" dirty="0"/>
          </a:p>
        </p:txBody>
      </p:sp>
      <p:sp>
        <p:nvSpPr>
          <p:cNvPr id="21" name="card"/>
          <p:cNvSpPr/>
          <p:nvPr/>
        </p:nvSpPr>
        <p:spPr>
          <a:xfrm>
            <a:off x="5074920" y="3017520"/>
            <a:ext cx="3611880" cy="1207008"/>
          </a:xfrm>
          <a:prstGeom prst="roundRect">
            <a:avLst>
              <a:gd name="adj" fmla="val 4545"/>
            </a:avLst>
          </a:prstGeom>
          <a:solidFill>
            <a:schemeClr val="bg2"/>
          </a:solidFill>
          <a:ln w="9525">
            <a:solidFill>
              <a:schemeClr val="bg2"/>
            </a:solidFill>
            <a:prstDash val="solid"/>
          </a:ln>
        </p:spPr>
      </p:sp>
      <p:sp>
        <p:nvSpPr>
          <p:cNvPr id="22" name="Text 20"/>
          <p:cNvSpPr txBox="1"/>
          <p:nvPr/>
        </p:nvSpPr>
        <p:spPr>
          <a:xfrm>
            <a:off x="5166360" y="3044952"/>
            <a:ext cx="3429000" cy="201168"/>
          </a:xfrm>
          <a:prstGeom prst="rect">
            <a:avLst/>
          </a:prstGeom>
          <a:noFill/>
          <a:ln/>
        </p:spPr>
        <p:txBody>
          <a:bodyPr wrap="square" lIns="0" tIns="0" rIns="0" bIns="0" rtlCol="0" anchor="t"/>
          <a:lstStyle/>
          <a:p>
            <a:pPr indent="0" marL="0">
              <a:buNone/>
            </a:pPr>
            <a:r>
              <a:rPr lang="en-US" sz="900" dirty="0">
                <a:solidFill>
                  <a:schemeClr val="accent3"/>
                </a:solidFill>
              </a:rPr>
              <a:t>GPU baseboard (NVIDIA's, reached through its connector)</a:t>
            </a:r>
            <a:endParaRPr lang="en-US" sz="900" dirty="0"/>
          </a:p>
        </p:txBody>
      </p:sp>
      <p:sp>
        <p:nvSpPr>
          <p:cNvPr id="23" name="GPU0"/>
          <p:cNvSpPr/>
          <p:nvPr/>
        </p:nvSpPr>
        <p:spPr>
          <a:xfrm>
            <a:off x="5184648" y="3273552"/>
            <a:ext cx="365760" cy="365760"/>
          </a:xfrm>
          <a:prstGeom prst="roundRect">
            <a:avLst>
              <a:gd name="adj" fmla="val 10000"/>
            </a:avLst>
          </a:prstGeom>
          <a:solidFill>
            <a:srgbClr val="FFFFFF"/>
          </a:solidFill>
          <a:ln w="12700">
            <a:solidFill>
              <a:schemeClr val="accent6"/>
            </a:solidFill>
            <a:prstDash val="solid"/>
          </a:ln>
        </p:spPr>
      </p:sp>
      <p:sp>
        <p:nvSpPr>
          <p:cNvPr id="24" name="Text 22"/>
          <p:cNvSpPr txBox="1"/>
          <p:nvPr/>
        </p:nvSpPr>
        <p:spPr>
          <a:xfrm>
            <a:off x="5184648"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GPU0</a:t>
            </a:r>
            <a:endParaRPr lang="en-US" sz="700" dirty="0"/>
          </a:p>
        </p:txBody>
      </p:sp>
      <p:sp>
        <p:nvSpPr>
          <p:cNvPr id="25" name="connector"/>
          <p:cNvSpPr/>
          <p:nvPr/>
        </p:nvSpPr>
        <p:spPr>
          <a:xfrm>
            <a:off x="5367528" y="2788920"/>
            <a:ext cx="0" cy="484632"/>
          </a:xfrm>
          <a:prstGeom prst="line">
            <a:avLst/>
          </a:prstGeom>
          <a:noFill/>
          <a:ln w="9525">
            <a:solidFill>
              <a:srgbClr val="2F5D62"/>
            </a:solidFill>
            <a:prstDash val="solid"/>
          </a:ln>
        </p:spPr>
      </p:sp>
      <p:sp>
        <p:nvSpPr>
          <p:cNvPr id="26" name="GPU1"/>
          <p:cNvSpPr/>
          <p:nvPr/>
        </p:nvSpPr>
        <p:spPr>
          <a:xfrm>
            <a:off x="5614416" y="3273552"/>
            <a:ext cx="365760" cy="365760"/>
          </a:xfrm>
          <a:prstGeom prst="roundRect">
            <a:avLst>
              <a:gd name="adj" fmla="val 10000"/>
            </a:avLst>
          </a:prstGeom>
          <a:solidFill>
            <a:srgbClr val="FFFFFF"/>
          </a:solidFill>
          <a:ln w="12700">
            <a:solidFill>
              <a:schemeClr val="accent6"/>
            </a:solidFill>
            <a:prstDash val="solid"/>
          </a:ln>
        </p:spPr>
      </p:sp>
      <p:sp>
        <p:nvSpPr>
          <p:cNvPr id="27" name="Text 25"/>
          <p:cNvSpPr txBox="1"/>
          <p:nvPr/>
        </p:nvSpPr>
        <p:spPr>
          <a:xfrm>
            <a:off x="5614416"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GPU1</a:t>
            </a:r>
            <a:endParaRPr lang="en-US" sz="700" dirty="0"/>
          </a:p>
        </p:txBody>
      </p:sp>
      <p:sp>
        <p:nvSpPr>
          <p:cNvPr id="28" name="connector"/>
          <p:cNvSpPr/>
          <p:nvPr/>
        </p:nvSpPr>
        <p:spPr>
          <a:xfrm>
            <a:off x="5797296" y="2788920"/>
            <a:ext cx="0" cy="484632"/>
          </a:xfrm>
          <a:prstGeom prst="line">
            <a:avLst/>
          </a:prstGeom>
          <a:noFill/>
          <a:ln w="9525">
            <a:solidFill>
              <a:srgbClr val="2F5D62"/>
            </a:solidFill>
            <a:prstDash val="solid"/>
          </a:ln>
        </p:spPr>
      </p:sp>
      <p:sp>
        <p:nvSpPr>
          <p:cNvPr id="29" name="GPU2"/>
          <p:cNvSpPr/>
          <p:nvPr/>
        </p:nvSpPr>
        <p:spPr>
          <a:xfrm>
            <a:off x="6044184" y="3273552"/>
            <a:ext cx="365760" cy="365760"/>
          </a:xfrm>
          <a:prstGeom prst="roundRect">
            <a:avLst>
              <a:gd name="adj" fmla="val 10000"/>
            </a:avLst>
          </a:prstGeom>
          <a:solidFill>
            <a:srgbClr val="FFFFFF"/>
          </a:solidFill>
          <a:ln w="12700">
            <a:solidFill>
              <a:schemeClr val="accent6"/>
            </a:solidFill>
            <a:prstDash val="solid"/>
          </a:ln>
        </p:spPr>
      </p:sp>
      <p:sp>
        <p:nvSpPr>
          <p:cNvPr id="30" name="Text 28"/>
          <p:cNvSpPr txBox="1"/>
          <p:nvPr/>
        </p:nvSpPr>
        <p:spPr>
          <a:xfrm>
            <a:off x="6044184"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GPU2</a:t>
            </a:r>
            <a:endParaRPr lang="en-US" sz="700" dirty="0"/>
          </a:p>
        </p:txBody>
      </p:sp>
      <p:sp>
        <p:nvSpPr>
          <p:cNvPr id="31" name="connector"/>
          <p:cNvSpPr/>
          <p:nvPr/>
        </p:nvSpPr>
        <p:spPr>
          <a:xfrm>
            <a:off x="6227064" y="2788920"/>
            <a:ext cx="0" cy="484632"/>
          </a:xfrm>
          <a:prstGeom prst="line">
            <a:avLst/>
          </a:prstGeom>
          <a:noFill/>
          <a:ln w="9525">
            <a:solidFill>
              <a:srgbClr val="2F5D62"/>
            </a:solidFill>
            <a:prstDash val="solid"/>
          </a:ln>
        </p:spPr>
      </p:sp>
      <p:sp>
        <p:nvSpPr>
          <p:cNvPr id="32" name="GPU3"/>
          <p:cNvSpPr/>
          <p:nvPr/>
        </p:nvSpPr>
        <p:spPr>
          <a:xfrm>
            <a:off x="6473952" y="3273552"/>
            <a:ext cx="365760" cy="365760"/>
          </a:xfrm>
          <a:prstGeom prst="roundRect">
            <a:avLst>
              <a:gd name="adj" fmla="val 10000"/>
            </a:avLst>
          </a:prstGeom>
          <a:solidFill>
            <a:srgbClr val="FFFFFF"/>
          </a:solidFill>
          <a:ln w="12700">
            <a:solidFill>
              <a:schemeClr val="accent6"/>
            </a:solidFill>
            <a:prstDash val="solid"/>
          </a:ln>
        </p:spPr>
      </p:sp>
      <p:sp>
        <p:nvSpPr>
          <p:cNvPr id="33" name="Text 31"/>
          <p:cNvSpPr txBox="1"/>
          <p:nvPr/>
        </p:nvSpPr>
        <p:spPr>
          <a:xfrm>
            <a:off x="6473952"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GPU3</a:t>
            </a:r>
            <a:endParaRPr lang="en-US" sz="700" dirty="0"/>
          </a:p>
        </p:txBody>
      </p:sp>
      <p:sp>
        <p:nvSpPr>
          <p:cNvPr id="34" name="connector"/>
          <p:cNvSpPr/>
          <p:nvPr/>
        </p:nvSpPr>
        <p:spPr>
          <a:xfrm>
            <a:off x="6656832" y="2788920"/>
            <a:ext cx="0" cy="484632"/>
          </a:xfrm>
          <a:prstGeom prst="line">
            <a:avLst/>
          </a:prstGeom>
          <a:noFill/>
          <a:ln w="9525">
            <a:solidFill>
              <a:srgbClr val="2F5D62"/>
            </a:solidFill>
            <a:prstDash val="solid"/>
          </a:ln>
        </p:spPr>
      </p:sp>
      <p:sp>
        <p:nvSpPr>
          <p:cNvPr id="35" name="GPU4"/>
          <p:cNvSpPr/>
          <p:nvPr/>
        </p:nvSpPr>
        <p:spPr>
          <a:xfrm>
            <a:off x="6903720" y="3273552"/>
            <a:ext cx="365760" cy="365760"/>
          </a:xfrm>
          <a:prstGeom prst="roundRect">
            <a:avLst>
              <a:gd name="adj" fmla="val 10000"/>
            </a:avLst>
          </a:prstGeom>
          <a:solidFill>
            <a:srgbClr val="FFFFFF"/>
          </a:solidFill>
          <a:ln w="12700">
            <a:solidFill>
              <a:schemeClr val="accent6"/>
            </a:solidFill>
            <a:prstDash val="solid"/>
          </a:ln>
        </p:spPr>
      </p:sp>
      <p:sp>
        <p:nvSpPr>
          <p:cNvPr id="36" name="Text 34"/>
          <p:cNvSpPr txBox="1"/>
          <p:nvPr/>
        </p:nvSpPr>
        <p:spPr>
          <a:xfrm>
            <a:off x="6903720"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GPU4</a:t>
            </a:r>
            <a:endParaRPr lang="en-US" sz="700" dirty="0"/>
          </a:p>
        </p:txBody>
      </p:sp>
      <p:sp>
        <p:nvSpPr>
          <p:cNvPr id="37" name="connector"/>
          <p:cNvSpPr/>
          <p:nvPr/>
        </p:nvSpPr>
        <p:spPr>
          <a:xfrm>
            <a:off x="7086600" y="2788920"/>
            <a:ext cx="0" cy="484632"/>
          </a:xfrm>
          <a:prstGeom prst="line">
            <a:avLst/>
          </a:prstGeom>
          <a:noFill/>
          <a:ln w="9525">
            <a:solidFill>
              <a:srgbClr val="2F5D62"/>
            </a:solidFill>
            <a:prstDash val="solid"/>
          </a:ln>
        </p:spPr>
      </p:sp>
      <p:sp>
        <p:nvSpPr>
          <p:cNvPr id="38" name="GPU5"/>
          <p:cNvSpPr/>
          <p:nvPr/>
        </p:nvSpPr>
        <p:spPr>
          <a:xfrm>
            <a:off x="7333488" y="3273552"/>
            <a:ext cx="365760" cy="365760"/>
          </a:xfrm>
          <a:prstGeom prst="roundRect">
            <a:avLst>
              <a:gd name="adj" fmla="val 10000"/>
            </a:avLst>
          </a:prstGeom>
          <a:solidFill>
            <a:srgbClr val="FFFFFF"/>
          </a:solidFill>
          <a:ln w="12700">
            <a:solidFill>
              <a:schemeClr val="accent6"/>
            </a:solidFill>
            <a:prstDash val="solid"/>
          </a:ln>
        </p:spPr>
      </p:sp>
      <p:sp>
        <p:nvSpPr>
          <p:cNvPr id="39" name="Text 37"/>
          <p:cNvSpPr txBox="1"/>
          <p:nvPr/>
        </p:nvSpPr>
        <p:spPr>
          <a:xfrm>
            <a:off x="7333488"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GPU5</a:t>
            </a:r>
            <a:endParaRPr lang="en-US" sz="700" dirty="0"/>
          </a:p>
        </p:txBody>
      </p:sp>
      <p:sp>
        <p:nvSpPr>
          <p:cNvPr id="40" name="connector"/>
          <p:cNvSpPr/>
          <p:nvPr/>
        </p:nvSpPr>
        <p:spPr>
          <a:xfrm>
            <a:off x="7516368" y="2788920"/>
            <a:ext cx="0" cy="484632"/>
          </a:xfrm>
          <a:prstGeom prst="line">
            <a:avLst/>
          </a:prstGeom>
          <a:noFill/>
          <a:ln w="9525">
            <a:solidFill>
              <a:srgbClr val="2F5D62"/>
            </a:solidFill>
            <a:prstDash val="solid"/>
          </a:ln>
        </p:spPr>
      </p:sp>
      <p:sp>
        <p:nvSpPr>
          <p:cNvPr id="41" name="GPU6"/>
          <p:cNvSpPr/>
          <p:nvPr/>
        </p:nvSpPr>
        <p:spPr>
          <a:xfrm>
            <a:off x="7763256" y="3273552"/>
            <a:ext cx="365760" cy="365760"/>
          </a:xfrm>
          <a:prstGeom prst="roundRect">
            <a:avLst>
              <a:gd name="adj" fmla="val 10000"/>
            </a:avLst>
          </a:prstGeom>
          <a:solidFill>
            <a:srgbClr val="FFFFFF"/>
          </a:solidFill>
          <a:ln w="12700">
            <a:solidFill>
              <a:schemeClr val="accent6"/>
            </a:solidFill>
            <a:prstDash val="solid"/>
          </a:ln>
        </p:spPr>
      </p:sp>
      <p:sp>
        <p:nvSpPr>
          <p:cNvPr id="42" name="Text 40"/>
          <p:cNvSpPr txBox="1"/>
          <p:nvPr/>
        </p:nvSpPr>
        <p:spPr>
          <a:xfrm>
            <a:off x="7763256"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GPU6</a:t>
            </a:r>
            <a:endParaRPr lang="en-US" sz="700" dirty="0"/>
          </a:p>
        </p:txBody>
      </p:sp>
      <p:sp>
        <p:nvSpPr>
          <p:cNvPr id="43" name="connector"/>
          <p:cNvSpPr/>
          <p:nvPr/>
        </p:nvSpPr>
        <p:spPr>
          <a:xfrm>
            <a:off x="7946136" y="2788920"/>
            <a:ext cx="0" cy="484632"/>
          </a:xfrm>
          <a:prstGeom prst="line">
            <a:avLst/>
          </a:prstGeom>
          <a:noFill/>
          <a:ln w="9525">
            <a:solidFill>
              <a:srgbClr val="2F5D62"/>
            </a:solidFill>
            <a:prstDash val="solid"/>
          </a:ln>
        </p:spPr>
      </p:sp>
      <p:sp>
        <p:nvSpPr>
          <p:cNvPr id="44" name="GPU7"/>
          <p:cNvSpPr/>
          <p:nvPr/>
        </p:nvSpPr>
        <p:spPr>
          <a:xfrm>
            <a:off x="8193024" y="3273552"/>
            <a:ext cx="365760" cy="365760"/>
          </a:xfrm>
          <a:prstGeom prst="roundRect">
            <a:avLst>
              <a:gd name="adj" fmla="val 10000"/>
            </a:avLst>
          </a:prstGeom>
          <a:solidFill>
            <a:srgbClr val="FFFFFF"/>
          </a:solidFill>
          <a:ln w="12700">
            <a:solidFill>
              <a:schemeClr val="accent6"/>
            </a:solidFill>
            <a:prstDash val="solid"/>
          </a:ln>
        </p:spPr>
      </p:sp>
      <p:sp>
        <p:nvSpPr>
          <p:cNvPr id="45" name="Text 43"/>
          <p:cNvSpPr txBox="1"/>
          <p:nvPr/>
        </p:nvSpPr>
        <p:spPr>
          <a:xfrm>
            <a:off x="8193024" y="3273552"/>
            <a:ext cx="365760" cy="365760"/>
          </a:xfrm>
          <a:prstGeom prst="rect">
            <a:avLst/>
          </a:prstGeom>
          <a:noFill/>
          <a:ln/>
        </p:spPr>
        <p:txBody>
          <a:bodyPr wrap="square" lIns="0" tIns="0" rIns="0" bIns="0" rtlCol="0" anchor="ctr"/>
          <a:lstStyle/>
          <a:p>
            <a:pPr algn="ctr" indent="0" marL="0">
              <a:buNone/>
            </a:pPr>
            <a:r>
              <a:rPr lang="en-US" sz="700" dirty="0">
                <a:solidFill>
                  <a:schemeClr val="tx1"/>
                </a:solidFill>
              </a:rPr>
              <a:t>GPU7</a:t>
            </a:r>
            <a:endParaRPr lang="en-US" sz="700" dirty="0"/>
          </a:p>
        </p:txBody>
      </p:sp>
      <p:sp>
        <p:nvSpPr>
          <p:cNvPr id="46" name="connector"/>
          <p:cNvSpPr/>
          <p:nvPr/>
        </p:nvSpPr>
        <p:spPr>
          <a:xfrm>
            <a:off x="8375904" y="2788920"/>
            <a:ext cx="0" cy="484632"/>
          </a:xfrm>
          <a:prstGeom prst="line">
            <a:avLst/>
          </a:prstGeom>
          <a:noFill/>
          <a:ln w="9525">
            <a:solidFill>
              <a:srgbClr val="2F5D62"/>
            </a:solidFill>
            <a:prstDash val="solid"/>
          </a:ln>
        </p:spPr>
      </p:sp>
      <p:sp>
        <p:nvSpPr>
          <p:cNvPr id="47" name="NVSwitch"/>
          <p:cNvSpPr/>
          <p:nvPr/>
        </p:nvSpPr>
        <p:spPr>
          <a:xfrm>
            <a:off x="5623560" y="3749040"/>
            <a:ext cx="2514600" cy="384048"/>
          </a:xfrm>
          <a:prstGeom prst="roundRect">
            <a:avLst>
              <a:gd name="adj" fmla="val 9524"/>
            </a:avLst>
          </a:prstGeom>
          <a:solidFill>
            <a:srgbClr val="FFFFFF"/>
          </a:solidFill>
          <a:ln w="12700">
            <a:solidFill>
              <a:schemeClr val="accent6"/>
            </a:solidFill>
            <a:prstDash val="solid"/>
          </a:ln>
        </p:spPr>
      </p:sp>
      <p:sp>
        <p:nvSpPr>
          <p:cNvPr id="48" name="Text 46"/>
          <p:cNvSpPr txBox="1"/>
          <p:nvPr/>
        </p:nvSpPr>
        <p:spPr>
          <a:xfrm>
            <a:off x="5623560" y="3749040"/>
            <a:ext cx="2514600" cy="384048"/>
          </a:xfrm>
          <a:prstGeom prst="rect">
            <a:avLst/>
          </a:prstGeom>
          <a:noFill/>
          <a:ln/>
        </p:spPr>
        <p:txBody>
          <a:bodyPr wrap="square" lIns="0" tIns="0" rIns="0" bIns="0" rtlCol="0" anchor="ctr"/>
          <a:lstStyle/>
          <a:p>
            <a:pPr algn="ctr" indent="0" marL="0">
              <a:buNone/>
            </a:pPr>
            <a:r>
              <a:rPr lang="en-US" sz="800" dirty="0">
                <a:solidFill>
                  <a:schemeClr val="tx1"/>
                </a:solidFill>
              </a:rPr>
              <a:t>NVSwitch × N + management controller · port disable out of band</a:t>
            </a:r>
            <a:endParaRPr lang="en-US" sz="800" dirty="0"/>
          </a:p>
        </p:txBody>
      </p:sp>
      <p:sp>
        <p:nvSpPr>
          <p:cNvPr id="49" name="Text 47"/>
          <p:cNvSpPr txBox="1"/>
          <p:nvPr/>
        </p:nvSpPr>
        <p:spPr>
          <a:xfrm>
            <a:off x="5166360" y="2807208"/>
            <a:ext cx="3429000" cy="201168"/>
          </a:xfrm>
          <a:prstGeom prst="rect">
            <a:avLst/>
          </a:prstGeom>
          <a:noFill/>
          <a:ln/>
        </p:spPr>
        <p:txBody>
          <a:bodyPr wrap="square" lIns="0" tIns="0" rIns="0" bIns="0" rtlCol="0" anchor="t"/>
          <a:lstStyle/>
          <a:p>
            <a:pPr indent="0" marL="0">
              <a:buNone/>
            </a:pPr>
            <a:r>
              <a:rPr lang="en-US" sz="750" dirty="0">
                <a:solidFill>
                  <a:schemeClr val="tx2"/>
                </a:solidFill>
              </a:rPr>
              <a:t>per slot: SMBus · power brake · PERST# · PWR_EN · present/fault</a:t>
            </a:r>
            <a:endParaRPr lang="en-US" sz="750" dirty="0"/>
          </a:p>
        </p:txBody>
      </p:sp>
      <p:sp>
        <p:nvSpPr>
          <p:cNvPr id="50" name="halt loop"/>
          <p:cNvSpPr/>
          <p:nvPr/>
        </p:nvSpPr>
        <p:spPr>
          <a:xfrm>
            <a:off x="5074920" y="4361688"/>
            <a:ext cx="3611880" cy="0"/>
          </a:xfrm>
          <a:prstGeom prst="line">
            <a:avLst/>
          </a:prstGeom>
          <a:noFill/>
          <a:ln w="31750">
            <a:solidFill>
              <a:schemeClr val="accent1"/>
            </a:solidFill>
            <a:prstDash val="solid"/>
          </a:ln>
        </p:spPr>
      </p:sp>
      <p:sp>
        <p:nvSpPr>
          <p:cNvPr id="51" name="Text 49"/>
          <p:cNvSpPr txBox="1"/>
          <p:nvPr/>
        </p:nvSpPr>
        <p:spPr>
          <a:xfrm>
            <a:off x="5074920" y="4398264"/>
            <a:ext cx="3611880" cy="201168"/>
          </a:xfrm>
          <a:prstGeom prst="rect">
            <a:avLst/>
          </a:prstGeom>
          <a:noFill/>
          <a:ln/>
        </p:spPr>
        <p:txBody>
          <a:bodyPr wrap="square" lIns="0" tIns="0" rIns="0" bIns="0" rtlCol="0" anchor="t"/>
          <a:lstStyle/>
          <a:p>
            <a:pPr algn="r" indent="0" marL="0">
              <a:buNone/>
            </a:pPr>
            <a:r>
              <a:rPr lang="en-US" sz="800" dirty="0">
                <a:solidFill>
                  <a:schemeClr val="accent1"/>
                </a:solidFill>
              </a:rPr>
              <a:t>halt loop and signed message fabric to the next tray</a:t>
            </a:r>
            <a:endParaRPr lang="en-US" sz="8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The layers: witnesses above, the lock below</a:t>
            </a:r>
            <a:endParaRPr lang="en-US" sz="2800" dirty="0"/>
          </a:p>
        </p:txBody>
      </p:sp>
      <p:sp>
        <p:nvSpPr>
          <p:cNvPr id="3" name="layer 5"/>
          <p:cNvSpPr/>
          <p:nvPr/>
        </p:nvSpPr>
        <p:spPr>
          <a:xfrm>
            <a:off x="457200" y="1097280"/>
            <a:ext cx="8229600" cy="548640"/>
          </a:xfrm>
          <a:prstGeom prst="roundRect">
            <a:avLst>
              <a:gd name="adj" fmla="val 8333"/>
            </a:avLst>
          </a:prstGeom>
          <a:solidFill>
            <a:schemeClr val="tx2"/>
          </a:solidFill>
          <a:ln w="12700">
            <a:solidFill>
              <a:schemeClr val="tx2"/>
            </a:solidFill>
            <a:prstDash val="solid"/>
          </a:ln>
        </p:spPr>
      </p:sp>
      <p:sp>
        <p:nvSpPr>
          <p:cNvPr id="4" name="Text 2"/>
          <p:cNvSpPr txBox="1"/>
          <p:nvPr/>
        </p:nvSpPr>
        <p:spPr>
          <a:xfrm>
            <a:off x="594360" y="1097280"/>
            <a:ext cx="365760" cy="548640"/>
          </a:xfrm>
          <a:prstGeom prst="rect">
            <a:avLst/>
          </a:prstGeom>
          <a:noFill/>
          <a:ln/>
        </p:spPr>
        <p:txBody>
          <a:bodyPr wrap="square" lIns="0" tIns="0" rIns="0" bIns="0" rtlCol="0" anchor="ctr"/>
          <a:lstStyle/>
          <a:p>
            <a:pPr indent="0" marL="0">
              <a:buNone/>
            </a:pPr>
            <a:r>
              <a:rPr lang="en-US" sz="2000" b="1" dirty="0">
                <a:solidFill>
                  <a:schemeClr val="accent6"/>
                </a:solidFill>
                <a:latin typeface="Cambria" pitchFamily="34" charset="0"/>
                <a:ea typeface="Cambria" pitchFamily="34" charset="-122"/>
                <a:cs typeface="Cambria" pitchFamily="34" charset="-120"/>
              </a:rPr>
              <a:t>5</a:t>
            </a:r>
            <a:endParaRPr lang="en-US" sz="2000" dirty="0"/>
          </a:p>
        </p:txBody>
      </p:sp>
      <p:sp>
        <p:nvSpPr>
          <p:cNvPr id="5" name="Text 3"/>
          <p:cNvSpPr txBox="1"/>
          <p:nvPr/>
        </p:nvSpPr>
        <p:spPr>
          <a:xfrm>
            <a:off x="1005840" y="1097280"/>
            <a:ext cx="1600200" cy="548640"/>
          </a:xfrm>
          <a:prstGeom prst="rect">
            <a:avLst/>
          </a:prstGeom>
          <a:noFill/>
          <a:ln/>
        </p:spPr>
        <p:txBody>
          <a:bodyPr wrap="square" lIns="0" tIns="0" rIns="0" bIns="0" rtlCol="0" anchor="ctr"/>
          <a:lstStyle/>
          <a:p>
            <a:pPr indent="0" marL="0">
              <a:buNone/>
            </a:pPr>
            <a:r>
              <a:rPr lang="en-US" sz="1100" b="1" dirty="0">
                <a:solidFill>
                  <a:schemeClr val="bg1"/>
                </a:solidFill>
              </a:rPr>
              <a:t>Governance root</a:t>
            </a:r>
            <a:endParaRPr lang="en-US" sz="1100" dirty="0"/>
          </a:p>
        </p:txBody>
      </p:sp>
      <p:sp>
        <p:nvSpPr>
          <p:cNvPr id="6" name="Text 4"/>
          <p:cNvSpPr txBox="1"/>
          <p:nvPr/>
        </p:nvSpPr>
        <p:spPr>
          <a:xfrm>
            <a:off x="2651760" y="1097280"/>
            <a:ext cx="3566160" cy="548640"/>
          </a:xfrm>
          <a:prstGeom prst="rect">
            <a:avLst/>
          </a:prstGeom>
          <a:noFill/>
          <a:ln/>
        </p:spPr>
        <p:txBody>
          <a:bodyPr wrap="square" lIns="0" tIns="0" rIns="0" bIns="0" rtlCol="0" anchor="ctr"/>
          <a:lstStyle/>
          <a:p>
            <a:pPr indent="0" marL="0">
              <a:buNone/>
            </a:pPr>
            <a:r>
              <a:rPr lang="en-US" sz="900" dirty="0">
                <a:solidFill>
                  <a:schemeClr val="bg1"/>
                </a:solidFill>
              </a:rPr>
              <a:t>Signs the rulebook, the approved-firmware list and revocations. Keys outside the chip vendor and the operator, on purpose.</a:t>
            </a:r>
            <a:endParaRPr lang="en-US" sz="900" dirty="0"/>
          </a:p>
        </p:txBody>
      </p:sp>
      <p:sp>
        <p:nvSpPr>
          <p:cNvPr id="7" name="tag"/>
          <p:cNvSpPr/>
          <p:nvPr/>
        </p:nvSpPr>
        <p:spPr>
          <a:xfrm>
            <a:off x="6327648" y="1252728"/>
            <a:ext cx="713232" cy="237744"/>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6327648" y="1252728"/>
            <a:ext cx="713232" cy="237744"/>
          </a:xfrm>
          <a:prstGeom prst="rect">
            <a:avLst/>
          </a:prstGeom>
          <a:noFill/>
          <a:ln/>
        </p:spPr>
        <p:txBody>
          <a:bodyPr wrap="square" lIns="0" tIns="0" rIns="0" bIns="0" rtlCol="0" anchor="ctr"/>
          <a:lstStyle/>
          <a:p>
            <a:pPr algn="ctr" indent="0" marL="0">
              <a:buNone/>
            </a:pPr>
            <a:r>
              <a:rPr lang="en-US" sz="750" b="1" dirty="0">
                <a:solidFill>
                  <a:schemeClr val="bg1"/>
                </a:solidFill>
              </a:rPr>
              <a:t>LOCK</a:t>
            </a:r>
            <a:endParaRPr lang="en-US" sz="750" dirty="0"/>
          </a:p>
        </p:txBody>
      </p:sp>
      <p:sp>
        <p:nvSpPr>
          <p:cNvPr id="9" name="Text 7"/>
          <p:cNvSpPr txBox="1"/>
          <p:nvPr/>
        </p:nvSpPr>
        <p:spPr>
          <a:xfrm>
            <a:off x="7132320" y="1097280"/>
            <a:ext cx="1508760" cy="548640"/>
          </a:xfrm>
          <a:prstGeom prst="rect">
            <a:avLst/>
          </a:prstGeom>
          <a:noFill/>
          <a:ln/>
        </p:spPr>
        <p:txBody>
          <a:bodyPr wrap="square" lIns="0" tIns="0" rIns="0" bIns="0" rtlCol="0" anchor="ctr"/>
          <a:lstStyle/>
          <a:p>
            <a:pPr indent="0" marL="0">
              <a:buNone/>
            </a:pPr>
            <a:r>
              <a:rPr lang="en-US" sz="800" dirty="0">
                <a:solidFill>
                  <a:schemeClr val="accent6"/>
                </a:solidFill>
              </a:rPr>
              <a:t>the policy authority's keys; a k-of-n quorum</a:t>
            </a:r>
            <a:endParaRPr lang="en-US" sz="800" dirty="0"/>
          </a:p>
        </p:txBody>
      </p:sp>
      <p:sp>
        <p:nvSpPr>
          <p:cNvPr id="10" name="layer 4"/>
          <p:cNvSpPr/>
          <p:nvPr/>
        </p:nvSpPr>
        <p:spPr>
          <a:xfrm>
            <a:off x="457200" y="1709928"/>
            <a:ext cx="8229600" cy="548640"/>
          </a:xfrm>
          <a:prstGeom prst="roundRect">
            <a:avLst>
              <a:gd name="adj" fmla="val 8333"/>
            </a:avLst>
          </a:prstGeom>
          <a:solidFill>
            <a:schemeClr val="tx2"/>
          </a:solidFill>
          <a:ln w="12700">
            <a:solidFill>
              <a:schemeClr val="tx2"/>
            </a:solidFill>
            <a:prstDash val="solid"/>
          </a:ln>
        </p:spPr>
      </p:sp>
      <p:sp>
        <p:nvSpPr>
          <p:cNvPr id="11" name="Text 9"/>
          <p:cNvSpPr txBox="1"/>
          <p:nvPr/>
        </p:nvSpPr>
        <p:spPr>
          <a:xfrm>
            <a:off x="594360" y="1709928"/>
            <a:ext cx="365760" cy="548640"/>
          </a:xfrm>
          <a:prstGeom prst="rect">
            <a:avLst/>
          </a:prstGeom>
          <a:noFill/>
          <a:ln/>
        </p:spPr>
        <p:txBody>
          <a:bodyPr wrap="square" lIns="0" tIns="0" rIns="0" bIns="0" rtlCol="0" anchor="ctr"/>
          <a:lstStyle/>
          <a:p>
            <a:pPr indent="0" marL="0">
              <a:buNone/>
            </a:pPr>
            <a:r>
              <a:rPr lang="en-US" sz="2000" b="1" dirty="0">
                <a:solidFill>
                  <a:schemeClr val="accent6"/>
                </a:solidFill>
                <a:latin typeface="Cambria" pitchFamily="34" charset="0"/>
                <a:ea typeface="Cambria" pitchFamily="34" charset="-122"/>
                <a:cs typeface="Cambria" pitchFamily="34" charset="-120"/>
              </a:rPr>
              <a:t>4</a:t>
            </a:r>
            <a:endParaRPr lang="en-US" sz="2000" dirty="0"/>
          </a:p>
        </p:txBody>
      </p:sp>
      <p:sp>
        <p:nvSpPr>
          <p:cNvPr id="12" name="Text 10"/>
          <p:cNvSpPr txBox="1"/>
          <p:nvPr/>
        </p:nvSpPr>
        <p:spPr>
          <a:xfrm>
            <a:off x="1005840" y="1709928"/>
            <a:ext cx="1600200" cy="548640"/>
          </a:xfrm>
          <a:prstGeom prst="rect">
            <a:avLst/>
          </a:prstGeom>
          <a:noFill/>
          <a:ln/>
        </p:spPr>
        <p:txBody>
          <a:bodyPr wrap="square" lIns="0" tIns="0" rIns="0" bIns="0" rtlCol="0" anchor="ctr"/>
          <a:lstStyle/>
          <a:p>
            <a:pPr indent="0" marL="0">
              <a:buNone/>
            </a:pPr>
            <a:r>
              <a:rPr lang="en-US" sz="1100" b="1" dirty="0">
                <a:solidFill>
                  <a:schemeClr val="bg1"/>
                </a:solidFill>
              </a:rPr>
              <a:t>Control plane (the governor's gate)</a:t>
            </a:r>
            <a:endParaRPr lang="en-US" sz="1100" dirty="0"/>
          </a:p>
        </p:txBody>
      </p:sp>
      <p:sp>
        <p:nvSpPr>
          <p:cNvPr id="13" name="Text 11"/>
          <p:cNvSpPr txBox="1"/>
          <p:nvPr/>
        </p:nvSpPr>
        <p:spPr>
          <a:xfrm>
            <a:off x="2651760" y="1709928"/>
            <a:ext cx="3566160" cy="548640"/>
          </a:xfrm>
          <a:prstGeom prst="rect">
            <a:avLst/>
          </a:prstGeom>
          <a:noFill/>
          <a:ln/>
        </p:spPr>
        <p:txBody>
          <a:bodyPr wrap="square" lIns="0" tIns="0" rIns="0" bIns="0" rtlCol="0" anchor="ctr"/>
          <a:lstStyle/>
          <a:p>
            <a:pPr indent="0" marL="0">
              <a:buNone/>
            </a:pPr>
            <a:r>
              <a:rPr lang="en-US" sz="900" dirty="0">
                <a:solidFill>
                  <a:schemeClr val="bg1"/>
                </a:solidFill>
              </a:rPr>
              <a:t>Default deny on the only path out: attestation check, rulebook, witnesses, budget, human holds, one-time tickets, tamper-evident log.</a:t>
            </a:r>
            <a:endParaRPr lang="en-US" sz="900" dirty="0"/>
          </a:p>
        </p:txBody>
      </p:sp>
      <p:sp>
        <p:nvSpPr>
          <p:cNvPr id="14" name="tag"/>
          <p:cNvSpPr/>
          <p:nvPr/>
        </p:nvSpPr>
        <p:spPr>
          <a:xfrm>
            <a:off x="6327648" y="1865376"/>
            <a:ext cx="713232" cy="237744"/>
          </a:xfrm>
          <a:prstGeom prst="roundRect">
            <a:avLst>
              <a:gd name="adj" fmla="val 50000"/>
            </a:avLst>
          </a:prstGeom>
          <a:solidFill>
            <a:schemeClr val="accent1"/>
          </a:solidFill>
          <a:ln w="12700">
            <a:solidFill>
              <a:schemeClr val="accent1"/>
            </a:solidFill>
            <a:prstDash val="solid"/>
          </a:ln>
        </p:spPr>
      </p:sp>
      <p:sp>
        <p:nvSpPr>
          <p:cNvPr id="15" name="Text 13"/>
          <p:cNvSpPr txBox="1"/>
          <p:nvPr/>
        </p:nvSpPr>
        <p:spPr>
          <a:xfrm>
            <a:off x="6327648" y="1865376"/>
            <a:ext cx="713232" cy="237744"/>
          </a:xfrm>
          <a:prstGeom prst="rect">
            <a:avLst/>
          </a:prstGeom>
          <a:noFill/>
          <a:ln/>
        </p:spPr>
        <p:txBody>
          <a:bodyPr wrap="square" lIns="0" tIns="0" rIns="0" bIns="0" rtlCol="0" anchor="ctr"/>
          <a:lstStyle/>
          <a:p>
            <a:pPr algn="ctr" indent="0" marL="0">
              <a:buNone/>
            </a:pPr>
            <a:r>
              <a:rPr lang="en-US" sz="750" b="1" dirty="0">
                <a:solidFill>
                  <a:schemeClr val="bg1"/>
                </a:solidFill>
              </a:rPr>
              <a:t>LOCK</a:t>
            </a:r>
            <a:endParaRPr lang="en-US" sz="750" dirty="0"/>
          </a:p>
        </p:txBody>
      </p:sp>
      <p:sp>
        <p:nvSpPr>
          <p:cNvPr id="16" name="Text 14"/>
          <p:cNvSpPr txBox="1"/>
          <p:nvPr/>
        </p:nvSpPr>
        <p:spPr>
          <a:xfrm>
            <a:off x="7132320" y="1709928"/>
            <a:ext cx="1508760" cy="548640"/>
          </a:xfrm>
          <a:prstGeom prst="rect">
            <a:avLst/>
          </a:prstGeom>
          <a:noFill/>
          <a:ln/>
        </p:spPr>
        <p:txBody>
          <a:bodyPr wrap="square" lIns="0" tIns="0" rIns="0" bIns="0" rtlCol="0" anchor="ctr"/>
          <a:lstStyle/>
          <a:p>
            <a:pPr indent="0" marL="0">
              <a:buNone/>
            </a:pPr>
            <a:r>
              <a:rPr lang="en-US" sz="800" dirty="0">
                <a:solidFill>
                  <a:schemeClr val="accent6"/>
                </a:solidFill>
              </a:rPr>
              <a:t>the governor module today; a DOCA block on the DPU; an I/O block in the GPU eventually</a:t>
            </a:r>
            <a:endParaRPr lang="en-US" sz="800" dirty="0"/>
          </a:p>
        </p:txBody>
      </p:sp>
      <p:sp>
        <p:nvSpPr>
          <p:cNvPr id="17" name="layer 3"/>
          <p:cNvSpPr/>
          <p:nvPr/>
        </p:nvSpPr>
        <p:spPr>
          <a:xfrm>
            <a:off x="457200" y="2322576"/>
            <a:ext cx="8229600" cy="548640"/>
          </a:xfrm>
          <a:prstGeom prst="roundRect">
            <a:avLst>
              <a:gd name="adj" fmla="val 8333"/>
            </a:avLst>
          </a:prstGeom>
          <a:solidFill>
            <a:schemeClr val="bg2"/>
          </a:solidFill>
          <a:ln w="12700">
            <a:solidFill>
              <a:schemeClr val="bg2"/>
            </a:solidFill>
            <a:prstDash val="solid"/>
          </a:ln>
        </p:spPr>
      </p:sp>
      <p:sp>
        <p:nvSpPr>
          <p:cNvPr id="18" name="Text 16"/>
          <p:cNvSpPr txBox="1"/>
          <p:nvPr/>
        </p:nvSpPr>
        <p:spPr>
          <a:xfrm>
            <a:off x="594360" y="2322576"/>
            <a:ext cx="365760" cy="54864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3</a:t>
            </a:r>
            <a:endParaRPr lang="en-US" sz="2000" dirty="0"/>
          </a:p>
        </p:txBody>
      </p:sp>
      <p:sp>
        <p:nvSpPr>
          <p:cNvPr id="19" name="Text 17"/>
          <p:cNvSpPr txBox="1"/>
          <p:nvPr/>
        </p:nvSpPr>
        <p:spPr>
          <a:xfrm>
            <a:off x="1005840" y="2322576"/>
            <a:ext cx="1600200" cy="548640"/>
          </a:xfrm>
          <a:prstGeom prst="rect">
            <a:avLst/>
          </a:prstGeom>
          <a:noFill/>
          <a:ln/>
        </p:spPr>
        <p:txBody>
          <a:bodyPr wrap="square" lIns="0" tIns="0" rIns="0" bIns="0" rtlCol="0" anchor="ctr"/>
          <a:lstStyle/>
          <a:p>
            <a:pPr indent="0" marL="0">
              <a:buNone/>
            </a:pPr>
            <a:r>
              <a:rPr lang="en-US" sz="1100" b="1" dirty="0">
                <a:solidFill>
                  <a:schemeClr val="tx1"/>
                </a:solidFill>
              </a:rPr>
              <a:t>Observers</a:t>
            </a:r>
            <a:endParaRPr lang="en-US" sz="1100" dirty="0"/>
          </a:p>
        </p:txBody>
      </p:sp>
      <p:sp>
        <p:nvSpPr>
          <p:cNvPr id="20" name="Text 18"/>
          <p:cNvSpPr txBox="1"/>
          <p:nvPr/>
        </p:nvSpPr>
        <p:spPr>
          <a:xfrm>
            <a:off x="2651760" y="2322576"/>
            <a:ext cx="3566160" cy="548640"/>
          </a:xfrm>
          <a:prstGeom prst="rect">
            <a:avLst/>
          </a:prstGeom>
          <a:noFill/>
          <a:ln/>
        </p:spPr>
        <p:txBody>
          <a:bodyPr wrap="square" lIns="0" tIns="0" rIns="0" bIns="0" rtlCol="0" anchor="ctr"/>
          <a:lstStyle/>
          <a:p>
            <a:pPr indent="0" marL="0">
              <a:buNone/>
            </a:pPr>
            <a:r>
              <a:rPr lang="en-US" sz="900" dirty="0">
                <a:solidFill>
                  <a:schemeClr val="tx1"/>
                </a:solidFill>
              </a:rPr>
              <a:t>Fast, cheap, signed verdicts about one request, like a reflex: often early, sometimes wrong, never acting alone.</a:t>
            </a:r>
            <a:endParaRPr lang="en-US" sz="900" dirty="0"/>
          </a:p>
        </p:txBody>
      </p:sp>
      <p:sp>
        <p:nvSpPr>
          <p:cNvPr id="21" name="tag"/>
          <p:cNvSpPr/>
          <p:nvPr/>
        </p:nvSpPr>
        <p:spPr>
          <a:xfrm>
            <a:off x="6327648" y="2478024"/>
            <a:ext cx="713232" cy="237744"/>
          </a:xfrm>
          <a:prstGeom prst="roundRect">
            <a:avLst>
              <a:gd name="adj" fmla="val 50000"/>
            </a:avLst>
          </a:prstGeom>
          <a:solidFill>
            <a:schemeClr val="accent3"/>
          </a:solidFill>
          <a:ln w="12700">
            <a:solidFill>
              <a:schemeClr val="accent3"/>
            </a:solidFill>
            <a:prstDash val="solid"/>
          </a:ln>
        </p:spPr>
      </p:sp>
      <p:sp>
        <p:nvSpPr>
          <p:cNvPr id="22" name="Text 20"/>
          <p:cNvSpPr txBox="1"/>
          <p:nvPr/>
        </p:nvSpPr>
        <p:spPr>
          <a:xfrm>
            <a:off x="6327648" y="2478024"/>
            <a:ext cx="713232" cy="237744"/>
          </a:xfrm>
          <a:prstGeom prst="rect">
            <a:avLst/>
          </a:prstGeom>
          <a:noFill/>
          <a:ln/>
        </p:spPr>
        <p:txBody>
          <a:bodyPr wrap="square" lIns="0" tIns="0" rIns="0" bIns="0" rtlCol="0" anchor="ctr"/>
          <a:lstStyle/>
          <a:p>
            <a:pPr algn="ctr" indent="0" marL="0">
              <a:buNone/>
            </a:pPr>
            <a:r>
              <a:rPr lang="en-US" sz="750" b="1" dirty="0">
                <a:solidFill>
                  <a:schemeClr val="bg1"/>
                </a:solidFill>
              </a:rPr>
              <a:t>WITNESS</a:t>
            </a:r>
            <a:endParaRPr lang="en-US" sz="750" dirty="0"/>
          </a:p>
        </p:txBody>
      </p:sp>
      <p:sp>
        <p:nvSpPr>
          <p:cNvPr id="23" name="Text 21"/>
          <p:cNvSpPr txBox="1"/>
          <p:nvPr/>
        </p:nvSpPr>
        <p:spPr>
          <a:xfrm>
            <a:off x="7132320" y="2322576"/>
            <a:ext cx="1508760" cy="548640"/>
          </a:xfrm>
          <a:prstGeom prst="rect">
            <a:avLst/>
          </a:prstGeom>
          <a:noFill/>
          <a:ln/>
        </p:spPr>
        <p:txBody>
          <a:bodyPr wrap="square" lIns="0" tIns="0" rIns="0" bIns="0" rtlCol="0" anchor="ctr"/>
          <a:lstStyle/>
          <a:p>
            <a:pPr indent="0" marL="0">
              <a:buNone/>
            </a:pPr>
            <a:r>
              <a:rPr lang="en-US" sz="800" dirty="0">
                <a:solidFill>
                  <a:schemeClr val="accent3"/>
                </a:solidFill>
              </a:rPr>
              <a:t>NVIDIA Sentry on BlueField-4 as one witness; an independent observer as another</a:t>
            </a:r>
            <a:endParaRPr lang="en-US" sz="800" dirty="0"/>
          </a:p>
        </p:txBody>
      </p:sp>
      <p:sp>
        <p:nvSpPr>
          <p:cNvPr id="24" name="layer 2"/>
          <p:cNvSpPr/>
          <p:nvPr/>
        </p:nvSpPr>
        <p:spPr>
          <a:xfrm>
            <a:off x="457200" y="2935224"/>
            <a:ext cx="8229600" cy="548640"/>
          </a:xfrm>
          <a:prstGeom prst="roundRect">
            <a:avLst>
              <a:gd name="adj" fmla="val 8333"/>
            </a:avLst>
          </a:prstGeom>
          <a:solidFill>
            <a:schemeClr val="bg2"/>
          </a:solidFill>
          <a:ln w="12700">
            <a:solidFill>
              <a:schemeClr val="bg2"/>
            </a:solidFill>
            <a:prstDash val="solid"/>
          </a:ln>
        </p:spPr>
      </p:sp>
      <p:sp>
        <p:nvSpPr>
          <p:cNvPr id="25" name="Text 23"/>
          <p:cNvSpPr txBox="1"/>
          <p:nvPr/>
        </p:nvSpPr>
        <p:spPr>
          <a:xfrm>
            <a:off x="594360" y="2935224"/>
            <a:ext cx="365760" cy="54864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a:t>
            </a:r>
            <a:endParaRPr lang="en-US" sz="2000" dirty="0"/>
          </a:p>
        </p:txBody>
      </p:sp>
      <p:sp>
        <p:nvSpPr>
          <p:cNvPr id="26" name="Text 24"/>
          <p:cNvSpPr txBox="1"/>
          <p:nvPr/>
        </p:nvSpPr>
        <p:spPr>
          <a:xfrm>
            <a:off x="1005840" y="2935224"/>
            <a:ext cx="1600200" cy="548640"/>
          </a:xfrm>
          <a:prstGeom prst="rect">
            <a:avLst/>
          </a:prstGeom>
          <a:noFill/>
          <a:ln/>
        </p:spPr>
        <p:txBody>
          <a:bodyPr wrap="square" lIns="0" tIns="0" rIns="0" bIns="0" rtlCol="0" anchor="ctr"/>
          <a:lstStyle/>
          <a:p>
            <a:pPr indent="0" marL="0">
              <a:buNone/>
            </a:pPr>
            <a:r>
              <a:rPr lang="en-US" sz="1100" b="1" dirty="0">
                <a:solidFill>
                  <a:schemeClr val="tx1"/>
                </a:solidFill>
              </a:rPr>
              <a:t>Provenance</a:t>
            </a:r>
            <a:endParaRPr lang="en-US" sz="1100" dirty="0"/>
          </a:p>
        </p:txBody>
      </p:sp>
      <p:sp>
        <p:nvSpPr>
          <p:cNvPr id="27" name="Text 25"/>
          <p:cNvSpPr txBox="1"/>
          <p:nvPr/>
        </p:nvSpPr>
        <p:spPr>
          <a:xfrm>
            <a:off x="2651760" y="2935224"/>
            <a:ext cx="3566160" cy="548640"/>
          </a:xfrm>
          <a:prstGeom prst="rect">
            <a:avLst/>
          </a:prstGeom>
          <a:noFill/>
          <a:ln/>
        </p:spPr>
        <p:txBody>
          <a:bodyPr wrap="square" lIns="0" tIns="0" rIns="0" bIns="0" rtlCol="0" anchor="ctr"/>
          <a:lstStyle/>
          <a:p>
            <a:pPr indent="0" marL="0">
              <a:buNone/>
            </a:pPr>
            <a:r>
              <a:rPr lang="en-US" sz="900" dirty="0">
                <a:solidFill>
                  <a:schemeClr val="tx1"/>
                </a:solidFill>
              </a:rPr>
              <a:t>Watermark, hardened detector, retrieval and a signed registry; emits a signed verdict a rule can require.</a:t>
            </a:r>
            <a:endParaRPr lang="en-US" sz="900" dirty="0"/>
          </a:p>
        </p:txBody>
      </p:sp>
      <p:sp>
        <p:nvSpPr>
          <p:cNvPr id="28" name="tag"/>
          <p:cNvSpPr/>
          <p:nvPr/>
        </p:nvSpPr>
        <p:spPr>
          <a:xfrm>
            <a:off x="6327648" y="3090672"/>
            <a:ext cx="713232" cy="237744"/>
          </a:xfrm>
          <a:prstGeom prst="roundRect">
            <a:avLst>
              <a:gd name="adj" fmla="val 50000"/>
            </a:avLst>
          </a:prstGeom>
          <a:solidFill>
            <a:schemeClr val="accent3"/>
          </a:solidFill>
          <a:ln w="12700">
            <a:solidFill>
              <a:schemeClr val="accent3"/>
            </a:solidFill>
            <a:prstDash val="solid"/>
          </a:ln>
        </p:spPr>
      </p:sp>
      <p:sp>
        <p:nvSpPr>
          <p:cNvPr id="29" name="Text 27"/>
          <p:cNvSpPr txBox="1"/>
          <p:nvPr/>
        </p:nvSpPr>
        <p:spPr>
          <a:xfrm>
            <a:off x="6327648" y="3090672"/>
            <a:ext cx="713232" cy="237744"/>
          </a:xfrm>
          <a:prstGeom prst="rect">
            <a:avLst/>
          </a:prstGeom>
          <a:noFill/>
          <a:ln/>
        </p:spPr>
        <p:txBody>
          <a:bodyPr wrap="square" lIns="0" tIns="0" rIns="0" bIns="0" rtlCol="0" anchor="ctr"/>
          <a:lstStyle/>
          <a:p>
            <a:pPr algn="ctr" indent="0" marL="0">
              <a:buNone/>
            </a:pPr>
            <a:r>
              <a:rPr lang="en-US" sz="750" b="1" dirty="0">
                <a:solidFill>
                  <a:schemeClr val="bg1"/>
                </a:solidFill>
              </a:rPr>
              <a:t>WITNESS</a:t>
            </a:r>
            <a:endParaRPr lang="en-US" sz="750" dirty="0"/>
          </a:p>
        </p:txBody>
      </p:sp>
      <p:sp>
        <p:nvSpPr>
          <p:cNvPr id="30" name="Text 28"/>
          <p:cNvSpPr txBox="1"/>
          <p:nvPr/>
        </p:nvSpPr>
        <p:spPr>
          <a:xfrm>
            <a:off x="7132320" y="2935224"/>
            <a:ext cx="1508760" cy="548640"/>
          </a:xfrm>
          <a:prstGeom prst="rect">
            <a:avLst/>
          </a:prstGeom>
          <a:noFill/>
          <a:ln/>
        </p:spPr>
        <p:txBody>
          <a:bodyPr wrap="square" lIns="0" tIns="0" rIns="0" bIns="0" rtlCol="0" anchor="ctr"/>
          <a:lstStyle/>
          <a:p>
            <a:pPr indent="0" marL="0">
              <a:buNone/>
            </a:pPr>
            <a:r>
              <a:rPr lang="en-US" sz="800" dirty="0">
                <a:solidFill>
                  <a:schemeClr val="accent3"/>
                </a:solidFill>
              </a:rPr>
              <a:t>runs beside the vendor's sampler</a:t>
            </a:r>
            <a:endParaRPr lang="en-US" sz="800" dirty="0"/>
          </a:p>
        </p:txBody>
      </p:sp>
      <p:sp>
        <p:nvSpPr>
          <p:cNvPr id="31" name="layer 1"/>
          <p:cNvSpPr/>
          <p:nvPr/>
        </p:nvSpPr>
        <p:spPr>
          <a:xfrm>
            <a:off x="457200" y="3547872"/>
            <a:ext cx="8229600" cy="548640"/>
          </a:xfrm>
          <a:prstGeom prst="roundRect">
            <a:avLst>
              <a:gd name="adj" fmla="val 8333"/>
            </a:avLst>
          </a:prstGeom>
          <a:solidFill>
            <a:srgbClr val="FFFFFF"/>
          </a:solidFill>
          <a:ln w="12700">
            <a:solidFill>
              <a:schemeClr val="accent4"/>
            </a:solidFill>
            <a:prstDash val="solid"/>
          </a:ln>
        </p:spPr>
      </p:sp>
      <p:sp>
        <p:nvSpPr>
          <p:cNvPr id="32" name="Text 30"/>
          <p:cNvSpPr txBox="1"/>
          <p:nvPr/>
        </p:nvSpPr>
        <p:spPr>
          <a:xfrm>
            <a:off x="594360" y="3547872"/>
            <a:ext cx="365760" cy="54864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a:t>
            </a:r>
            <a:endParaRPr lang="en-US" sz="2000" dirty="0"/>
          </a:p>
        </p:txBody>
      </p:sp>
      <p:sp>
        <p:nvSpPr>
          <p:cNvPr id="33" name="Text 31"/>
          <p:cNvSpPr txBox="1"/>
          <p:nvPr/>
        </p:nvSpPr>
        <p:spPr>
          <a:xfrm>
            <a:off x="1005840" y="3547872"/>
            <a:ext cx="1600200" cy="548640"/>
          </a:xfrm>
          <a:prstGeom prst="rect">
            <a:avLst/>
          </a:prstGeom>
          <a:noFill/>
          <a:ln/>
        </p:spPr>
        <p:txBody>
          <a:bodyPr wrap="square" lIns="0" tIns="0" rIns="0" bIns="0" rtlCol="0" anchor="ctr"/>
          <a:lstStyle/>
          <a:p>
            <a:pPr indent="0" marL="0">
              <a:buNone/>
            </a:pPr>
            <a:r>
              <a:rPr lang="en-US" sz="1100" b="1" dirty="0">
                <a:solidFill>
                  <a:schemeClr val="tx1"/>
                </a:solidFill>
              </a:rPr>
              <a:t>Model and runtime</a:t>
            </a:r>
            <a:endParaRPr lang="en-US" sz="1100" dirty="0"/>
          </a:p>
        </p:txBody>
      </p:sp>
      <p:sp>
        <p:nvSpPr>
          <p:cNvPr id="34" name="Text 32"/>
          <p:cNvSpPr txBox="1"/>
          <p:nvPr/>
        </p:nvSpPr>
        <p:spPr>
          <a:xfrm>
            <a:off x="2651760" y="3547872"/>
            <a:ext cx="3566160" cy="548640"/>
          </a:xfrm>
          <a:prstGeom prst="rect">
            <a:avLst/>
          </a:prstGeom>
          <a:noFill/>
          <a:ln/>
        </p:spPr>
        <p:txBody>
          <a:bodyPr wrap="square" lIns="0" tIns="0" rIns="0" bIns="0" rtlCol="0" anchor="ctr"/>
          <a:lstStyle/>
          <a:p>
            <a:pPr indent="0" marL="0">
              <a:buNone/>
            </a:pPr>
            <a:r>
              <a:rPr lang="en-US" sz="900" dirty="0">
                <a:solidFill>
                  <a:schemeClr val="tx1"/>
                </a:solidFill>
              </a:rPr>
              <a:t>The model, CUDA, the serving stack. Measured, watched, never trusted to decide anything.</a:t>
            </a:r>
            <a:endParaRPr lang="en-US" sz="900" dirty="0"/>
          </a:p>
        </p:txBody>
      </p:sp>
      <p:sp>
        <p:nvSpPr>
          <p:cNvPr id="35" name="tag"/>
          <p:cNvSpPr/>
          <p:nvPr/>
        </p:nvSpPr>
        <p:spPr>
          <a:xfrm>
            <a:off x="6327648" y="3703320"/>
            <a:ext cx="713232" cy="237744"/>
          </a:xfrm>
          <a:prstGeom prst="roundRect">
            <a:avLst>
              <a:gd name="adj" fmla="val 50000"/>
            </a:avLst>
          </a:prstGeom>
          <a:solidFill>
            <a:schemeClr val="accent4"/>
          </a:solidFill>
          <a:ln w="12700">
            <a:solidFill>
              <a:schemeClr val="accent4"/>
            </a:solidFill>
            <a:prstDash val="solid"/>
          </a:ln>
        </p:spPr>
      </p:sp>
      <p:sp>
        <p:nvSpPr>
          <p:cNvPr id="36" name="Text 34"/>
          <p:cNvSpPr txBox="1"/>
          <p:nvPr/>
        </p:nvSpPr>
        <p:spPr>
          <a:xfrm>
            <a:off x="6327648" y="3703320"/>
            <a:ext cx="713232" cy="237744"/>
          </a:xfrm>
          <a:prstGeom prst="rect">
            <a:avLst/>
          </a:prstGeom>
          <a:noFill/>
          <a:ln/>
        </p:spPr>
        <p:txBody>
          <a:bodyPr wrap="square" lIns="0" tIns="0" rIns="0" bIns="0" rtlCol="0" anchor="ctr"/>
          <a:lstStyle/>
          <a:p>
            <a:pPr algn="ctr" indent="0" marL="0">
              <a:buNone/>
            </a:pPr>
            <a:r>
              <a:rPr lang="en-US" sz="750" b="1" dirty="0">
                <a:solidFill>
                  <a:schemeClr val="bg1"/>
                </a:solidFill>
              </a:rPr>
              <a:t>UNTRUSTED</a:t>
            </a:r>
            <a:endParaRPr lang="en-US" sz="750" dirty="0"/>
          </a:p>
        </p:txBody>
      </p:sp>
      <p:sp>
        <p:nvSpPr>
          <p:cNvPr id="37" name="Text 35"/>
          <p:cNvSpPr txBox="1"/>
          <p:nvPr/>
        </p:nvSpPr>
        <p:spPr>
          <a:xfrm>
            <a:off x="7132320" y="3547872"/>
            <a:ext cx="1508760" cy="548640"/>
          </a:xfrm>
          <a:prstGeom prst="rect">
            <a:avLst/>
          </a:prstGeom>
          <a:noFill/>
          <a:ln/>
        </p:spPr>
        <p:txBody>
          <a:bodyPr wrap="square" lIns="0" tIns="0" rIns="0" bIns="0" rtlCol="0" anchor="ctr"/>
          <a:lstStyle/>
          <a:p>
            <a:pPr indent="0" marL="0">
              <a:buNone/>
            </a:pPr>
            <a:r>
              <a:rPr lang="en-US" sz="800" dirty="0">
                <a:solidFill>
                  <a:schemeClr val="accent3"/>
                </a:solidFill>
              </a:rPr>
              <a:t>NVIDIA, unchanged</a:t>
            </a:r>
            <a:endParaRPr lang="en-US" sz="800" dirty="0"/>
          </a:p>
        </p:txBody>
      </p:sp>
      <p:sp>
        <p:nvSpPr>
          <p:cNvPr id="38" name="layer 0"/>
          <p:cNvSpPr/>
          <p:nvPr/>
        </p:nvSpPr>
        <p:spPr>
          <a:xfrm>
            <a:off x="457200" y="4160520"/>
            <a:ext cx="8229600" cy="548640"/>
          </a:xfrm>
          <a:prstGeom prst="roundRect">
            <a:avLst>
              <a:gd name="adj" fmla="val 8333"/>
            </a:avLst>
          </a:prstGeom>
          <a:solidFill>
            <a:schemeClr val="tx2"/>
          </a:solidFill>
          <a:ln w="12700">
            <a:solidFill>
              <a:schemeClr val="tx2"/>
            </a:solidFill>
            <a:prstDash val="solid"/>
          </a:ln>
        </p:spPr>
      </p:sp>
      <p:sp>
        <p:nvSpPr>
          <p:cNvPr id="39" name="Text 37"/>
          <p:cNvSpPr txBox="1"/>
          <p:nvPr/>
        </p:nvSpPr>
        <p:spPr>
          <a:xfrm>
            <a:off x="594360" y="4160520"/>
            <a:ext cx="365760" cy="548640"/>
          </a:xfrm>
          <a:prstGeom prst="rect">
            <a:avLst/>
          </a:prstGeom>
          <a:noFill/>
          <a:ln/>
        </p:spPr>
        <p:txBody>
          <a:bodyPr wrap="square" lIns="0" tIns="0" rIns="0" bIns="0" rtlCol="0" anchor="ctr"/>
          <a:lstStyle/>
          <a:p>
            <a:pPr indent="0" marL="0">
              <a:buNone/>
            </a:pPr>
            <a:r>
              <a:rPr lang="en-US" sz="2000" b="1" dirty="0">
                <a:solidFill>
                  <a:schemeClr val="accent6"/>
                </a:solidFill>
                <a:latin typeface="Cambria" pitchFamily="34" charset="0"/>
                <a:ea typeface="Cambria" pitchFamily="34" charset="-122"/>
                <a:cs typeface="Cambria" pitchFamily="34" charset="-120"/>
              </a:rPr>
              <a:t>0</a:t>
            </a:r>
            <a:endParaRPr lang="en-US" sz="2000" dirty="0"/>
          </a:p>
        </p:txBody>
      </p:sp>
      <p:sp>
        <p:nvSpPr>
          <p:cNvPr id="40" name="Text 38"/>
          <p:cNvSpPr txBox="1"/>
          <p:nvPr/>
        </p:nvSpPr>
        <p:spPr>
          <a:xfrm>
            <a:off x="1005840" y="4160520"/>
            <a:ext cx="1600200" cy="548640"/>
          </a:xfrm>
          <a:prstGeom prst="rect">
            <a:avLst/>
          </a:prstGeom>
          <a:noFill/>
          <a:ln/>
        </p:spPr>
        <p:txBody>
          <a:bodyPr wrap="square" lIns="0" tIns="0" rIns="0" bIns="0" rtlCol="0" anchor="ctr"/>
          <a:lstStyle/>
          <a:p>
            <a:pPr indent="0" marL="0">
              <a:buNone/>
            </a:pPr>
            <a:r>
              <a:rPr lang="en-US" sz="1100" b="1" dirty="0">
                <a:solidFill>
                  <a:schemeClr val="bg1"/>
                </a:solidFill>
              </a:rPr>
              <a:t>Silicon root of trust</a:t>
            </a:r>
            <a:endParaRPr lang="en-US" sz="1100" dirty="0"/>
          </a:p>
        </p:txBody>
      </p:sp>
      <p:sp>
        <p:nvSpPr>
          <p:cNvPr id="41" name="Text 39"/>
          <p:cNvSpPr txBox="1"/>
          <p:nvPr/>
        </p:nvSpPr>
        <p:spPr>
          <a:xfrm>
            <a:off x="2651760" y="4160520"/>
            <a:ext cx="3566160" cy="548640"/>
          </a:xfrm>
          <a:prstGeom prst="rect">
            <a:avLst/>
          </a:prstGeom>
          <a:noFill/>
          <a:ln/>
        </p:spPr>
        <p:txBody>
          <a:bodyPr wrap="square" lIns="0" tIns="0" rIns="0" bIns="0" rtlCol="0" anchor="ctr"/>
          <a:lstStyle/>
          <a:p>
            <a:pPr indent="0" marL="0">
              <a:buNone/>
            </a:pPr>
            <a:r>
              <a:rPr lang="en-US" sz="900" dirty="0">
                <a:solidFill>
                  <a:schemeClr val="bg1"/>
                </a:solidFill>
              </a:rPr>
              <a:t>Fused device secret, anti-rollback counter, extend-only measurement registers, DICE key derivation, quote engine.</a:t>
            </a:r>
            <a:endParaRPr lang="en-US" sz="900" dirty="0"/>
          </a:p>
        </p:txBody>
      </p:sp>
      <p:sp>
        <p:nvSpPr>
          <p:cNvPr id="42" name="tag"/>
          <p:cNvSpPr/>
          <p:nvPr/>
        </p:nvSpPr>
        <p:spPr>
          <a:xfrm>
            <a:off x="6327648" y="4315968"/>
            <a:ext cx="713232" cy="237744"/>
          </a:xfrm>
          <a:prstGeom prst="roundRect">
            <a:avLst>
              <a:gd name="adj" fmla="val 50000"/>
            </a:avLst>
          </a:prstGeom>
          <a:solidFill>
            <a:schemeClr val="accent1"/>
          </a:solidFill>
          <a:ln w="12700">
            <a:solidFill>
              <a:schemeClr val="accent1"/>
            </a:solidFill>
            <a:prstDash val="solid"/>
          </a:ln>
        </p:spPr>
      </p:sp>
      <p:sp>
        <p:nvSpPr>
          <p:cNvPr id="43" name="Text 41"/>
          <p:cNvSpPr txBox="1"/>
          <p:nvPr/>
        </p:nvSpPr>
        <p:spPr>
          <a:xfrm>
            <a:off x="6327648" y="4315968"/>
            <a:ext cx="713232" cy="237744"/>
          </a:xfrm>
          <a:prstGeom prst="rect">
            <a:avLst/>
          </a:prstGeom>
          <a:noFill/>
          <a:ln/>
        </p:spPr>
        <p:txBody>
          <a:bodyPr wrap="square" lIns="0" tIns="0" rIns="0" bIns="0" rtlCol="0" anchor="ctr"/>
          <a:lstStyle/>
          <a:p>
            <a:pPr algn="ctr" indent="0" marL="0">
              <a:buNone/>
            </a:pPr>
            <a:r>
              <a:rPr lang="en-US" sz="750" b="1" dirty="0">
                <a:solidFill>
                  <a:schemeClr val="bg1"/>
                </a:solidFill>
              </a:rPr>
              <a:t>LOCK</a:t>
            </a:r>
            <a:endParaRPr lang="en-US" sz="750" dirty="0"/>
          </a:p>
        </p:txBody>
      </p:sp>
      <p:sp>
        <p:nvSpPr>
          <p:cNvPr id="44" name="Text 42"/>
          <p:cNvSpPr txBox="1"/>
          <p:nvPr/>
        </p:nvSpPr>
        <p:spPr>
          <a:xfrm>
            <a:off x="7132320" y="4160520"/>
            <a:ext cx="1508760" cy="548640"/>
          </a:xfrm>
          <a:prstGeom prst="rect">
            <a:avLst/>
          </a:prstGeom>
          <a:noFill/>
          <a:ln/>
        </p:spPr>
        <p:txBody>
          <a:bodyPr wrap="square" lIns="0" tIns="0" rIns="0" bIns="0" rtlCol="0" anchor="ctr"/>
          <a:lstStyle/>
          <a:p>
            <a:pPr indent="0" marL="0">
              <a:buNone/>
            </a:pPr>
            <a:r>
              <a:rPr lang="en-US" sz="800" dirty="0">
                <a:solidFill>
                  <a:schemeClr val="accent6"/>
                </a:solidFill>
              </a:rPr>
              <a:t>the GPU's confidential-computing attestation and the DPU's root, bound to the governor's own</a:t>
            </a:r>
            <a:endParaRPr lang="en-US" sz="800" dirty="0"/>
          </a:p>
        </p:txBody>
      </p:sp>
      <p:sp>
        <p:nvSpPr>
          <p:cNvPr id="45" name="Text 43"/>
          <p:cNvSpPr txBox="1"/>
          <p:nvPr/>
        </p:nvSpPr>
        <p:spPr>
          <a:xfrm>
            <a:off x="7132320" y="896112"/>
            <a:ext cx="1508760" cy="182880"/>
          </a:xfrm>
          <a:prstGeom prst="rect">
            <a:avLst/>
          </a:prstGeom>
          <a:noFill/>
          <a:ln/>
        </p:spPr>
        <p:txBody>
          <a:bodyPr wrap="square" lIns="0" tIns="0" rIns="0" bIns="0" rtlCol="0" anchor="t"/>
          <a:lstStyle/>
          <a:p>
            <a:pPr indent="0" marL="0">
              <a:buNone/>
            </a:pPr>
            <a:r>
              <a:rPr lang="en-US" sz="800" dirty="0">
                <a:solidFill>
                  <a:schemeClr val="accent3"/>
                </a:solidFill>
              </a:rPr>
              <a:t>On NVIDIA's platform</a:t>
            </a:r>
            <a:endParaRPr lang="en-US" sz="8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How it meets the model: one action, start to finish</a:t>
            </a:r>
            <a:endParaRPr lang="en-US" sz="2800" dirty="0"/>
          </a:p>
        </p:txBody>
      </p:sp>
      <p:sp>
        <p:nvSpPr>
          <p:cNvPr id="3" name="lane"/>
          <p:cNvSpPr/>
          <p:nvPr/>
        </p:nvSpPr>
        <p:spPr>
          <a:xfrm>
            <a:off x="457200" y="1078992"/>
            <a:ext cx="8229600" cy="749808"/>
          </a:xfrm>
          <a:prstGeom prst="rect">
            <a:avLst/>
          </a:prstGeom>
          <a:solidFill>
            <a:schemeClr val="bg2"/>
          </a:solidFill>
          <a:ln w="12700">
            <a:solidFill>
              <a:schemeClr val="bg2"/>
            </a:solidFill>
            <a:prstDash val="solid"/>
          </a:ln>
        </p:spPr>
      </p:sp>
      <p:sp>
        <p:nvSpPr>
          <p:cNvPr id="4" name="Text 2"/>
          <p:cNvSpPr txBox="1"/>
          <p:nvPr/>
        </p:nvSpPr>
        <p:spPr>
          <a:xfrm>
            <a:off x="530352" y="1078992"/>
            <a:ext cx="1097280" cy="749808"/>
          </a:xfrm>
          <a:prstGeom prst="rect">
            <a:avLst/>
          </a:prstGeom>
          <a:noFill/>
          <a:ln/>
        </p:spPr>
        <p:txBody>
          <a:bodyPr wrap="square" lIns="0" tIns="0" rIns="0" bIns="0" rtlCol="0" anchor="ctr"/>
          <a:lstStyle/>
          <a:p>
            <a:pPr indent="0" marL="0">
              <a:buNone/>
            </a:pPr>
            <a:r>
              <a:rPr lang="en-US" sz="950" b="1" dirty="0">
                <a:solidFill>
                  <a:schemeClr val="tx1"/>
                </a:solidFill>
              </a:rPr>
              <a:t>1  Model and runtime</a:t>
            </a:r>
            <a:endParaRPr lang="en-US" sz="950" dirty="0"/>
          </a:p>
          <a:p>
            <a:pPr indent="0" marL="0">
              <a:buNone/>
            </a:pPr>
            <a:r>
              <a:rPr lang="en-US" sz="800" dirty="0">
                <a:solidFill>
                  <a:schemeClr val="accent3"/>
                </a:solidFill>
              </a:rPr>
              <a:t>untrusted; decides nothing</a:t>
            </a:r>
            <a:endParaRPr lang="en-US" sz="950" dirty="0"/>
          </a:p>
        </p:txBody>
      </p:sp>
      <p:sp>
        <p:nvSpPr>
          <p:cNvPr id="5" name="lane"/>
          <p:cNvSpPr/>
          <p:nvPr/>
        </p:nvSpPr>
        <p:spPr>
          <a:xfrm>
            <a:off x="457200" y="2029968"/>
            <a:ext cx="8229600" cy="932688"/>
          </a:xfrm>
          <a:prstGeom prst="rect">
            <a:avLst/>
          </a:prstGeom>
          <a:solidFill>
            <a:schemeClr val="bg2"/>
          </a:solidFill>
          <a:ln w="12700">
            <a:solidFill>
              <a:schemeClr val="bg2"/>
            </a:solidFill>
            <a:prstDash val="solid"/>
          </a:ln>
        </p:spPr>
      </p:sp>
      <p:sp>
        <p:nvSpPr>
          <p:cNvPr id="6" name="Text 4"/>
          <p:cNvSpPr txBox="1"/>
          <p:nvPr/>
        </p:nvSpPr>
        <p:spPr>
          <a:xfrm>
            <a:off x="530352" y="2029968"/>
            <a:ext cx="1097280" cy="932688"/>
          </a:xfrm>
          <a:prstGeom prst="rect">
            <a:avLst/>
          </a:prstGeom>
          <a:noFill/>
          <a:ln/>
        </p:spPr>
        <p:txBody>
          <a:bodyPr wrap="square" lIns="0" tIns="0" rIns="0" bIns="0" rtlCol="0" anchor="ctr"/>
          <a:lstStyle/>
          <a:p>
            <a:pPr indent="0" marL="0">
              <a:buNone/>
            </a:pPr>
            <a:r>
              <a:rPr lang="en-US" sz="950" b="1" dirty="0">
                <a:solidFill>
                  <a:schemeClr val="tx1"/>
                </a:solidFill>
              </a:rPr>
              <a:t>2  Governor</a:t>
            </a:r>
            <a:endParaRPr lang="en-US" sz="950" dirty="0"/>
          </a:p>
          <a:p>
            <a:pPr indent="0" marL="0">
              <a:buNone/>
            </a:pPr>
            <a:r>
              <a:rPr lang="en-US" sz="800" dirty="0">
                <a:solidFill>
                  <a:schemeClr val="accent3"/>
                </a:solidFill>
              </a:rPr>
              <a:t>silicon the model cannot reach</a:t>
            </a:r>
            <a:endParaRPr lang="en-US" sz="950" dirty="0"/>
          </a:p>
        </p:txBody>
      </p:sp>
      <p:sp>
        <p:nvSpPr>
          <p:cNvPr id="7" name="lane"/>
          <p:cNvSpPr/>
          <p:nvPr/>
        </p:nvSpPr>
        <p:spPr>
          <a:xfrm>
            <a:off x="457200" y="3163824"/>
            <a:ext cx="8229600" cy="749808"/>
          </a:xfrm>
          <a:prstGeom prst="rect">
            <a:avLst/>
          </a:prstGeom>
          <a:solidFill>
            <a:schemeClr val="bg2"/>
          </a:solidFill>
          <a:ln w="12700">
            <a:solidFill>
              <a:schemeClr val="bg2"/>
            </a:solidFill>
            <a:prstDash val="solid"/>
          </a:ln>
        </p:spPr>
      </p:sp>
      <p:sp>
        <p:nvSpPr>
          <p:cNvPr id="8" name="Text 6"/>
          <p:cNvSpPr txBox="1"/>
          <p:nvPr/>
        </p:nvSpPr>
        <p:spPr>
          <a:xfrm>
            <a:off x="530352" y="3163824"/>
            <a:ext cx="1097280" cy="749808"/>
          </a:xfrm>
          <a:prstGeom prst="rect">
            <a:avLst/>
          </a:prstGeom>
          <a:noFill/>
          <a:ln/>
        </p:spPr>
        <p:txBody>
          <a:bodyPr wrap="square" lIns="0" tIns="0" rIns="0" bIns="0" rtlCol="0" anchor="ctr"/>
          <a:lstStyle/>
          <a:p>
            <a:pPr indent="0" marL="0">
              <a:buNone/>
            </a:pPr>
            <a:r>
              <a:rPr lang="en-US" sz="950" b="1" dirty="0">
                <a:solidFill>
                  <a:schemeClr val="tx1"/>
                </a:solidFill>
              </a:rPr>
              <a:t>3  Devices that act</a:t>
            </a:r>
            <a:endParaRPr lang="en-US" sz="950" dirty="0"/>
          </a:p>
          <a:p>
            <a:pPr indent="0" marL="0">
              <a:buNone/>
            </a:pPr>
            <a:r>
              <a:rPr lang="en-US" sz="800" dirty="0">
                <a:solidFill>
                  <a:schemeClr val="accent3"/>
                </a:solidFill>
              </a:rPr>
              <a:t>endpoints hold the governors' keys</a:t>
            </a:r>
            <a:endParaRPr lang="en-US" sz="950" dirty="0"/>
          </a:p>
        </p:txBody>
      </p:sp>
      <p:sp>
        <p:nvSpPr>
          <p:cNvPr id="9" name="step"/>
          <p:cNvSpPr/>
          <p:nvPr/>
        </p:nvSpPr>
        <p:spPr>
          <a:xfrm>
            <a:off x="1755648" y="1188720"/>
            <a:ext cx="1920240" cy="530352"/>
          </a:xfrm>
          <a:prstGeom prst="roundRect">
            <a:avLst>
              <a:gd name="adj" fmla="val 8621"/>
            </a:avLst>
          </a:prstGeom>
          <a:solidFill>
            <a:schemeClr val="tx2"/>
          </a:solidFill>
          <a:ln w="12700">
            <a:solidFill>
              <a:schemeClr val="tx2"/>
            </a:solidFill>
            <a:prstDash val="solid"/>
          </a:ln>
        </p:spPr>
      </p:sp>
      <p:sp>
        <p:nvSpPr>
          <p:cNvPr id="10" name="Text 8"/>
          <p:cNvSpPr txBox="1"/>
          <p:nvPr/>
        </p:nvSpPr>
        <p:spPr>
          <a:xfrm>
            <a:off x="1801368" y="1188720"/>
            <a:ext cx="1828800" cy="530352"/>
          </a:xfrm>
          <a:prstGeom prst="rect">
            <a:avLst/>
          </a:prstGeom>
          <a:noFill/>
          <a:ln/>
        </p:spPr>
        <p:txBody>
          <a:bodyPr wrap="square" lIns="0" tIns="0" rIns="0" bIns="0" rtlCol="0" anchor="ctr"/>
          <a:lstStyle/>
          <a:p>
            <a:pPr algn="ctr" indent="0" marL="0">
              <a:buNone/>
            </a:pPr>
            <a:r>
              <a:rPr lang="en-US" sz="850" dirty="0">
                <a:solidFill>
                  <a:schemeClr val="bg1"/>
                </a:solidFill>
              </a:rPr>
              <a:t>Model computes: token ids in, numbers out. No authority here and none needed; thinking fires nothing.</a:t>
            </a:r>
            <a:endParaRPr lang="en-US" sz="850" dirty="0"/>
          </a:p>
        </p:txBody>
      </p:sp>
      <p:sp>
        <p:nvSpPr>
          <p:cNvPr id="11" name="connector"/>
          <p:cNvSpPr/>
          <p:nvPr/>
        </p:nvSpPr>
        <p:spPr>
          <a:xfrm>
            <a:off x="3675888" y="1453896"/>
            <a:ext cx="274320" cy="0"/>
          </a:xfrm>
          <a:prstGeom prst="line">
            <a:avLst/>
          </a:prstGeom>
          <a:noFill/>
          <a:ln w="19050">
            <a:solidFill>
              <a:srgbClr val="2F5D62"/>
            </a:solidFill>
            <a:prstDash val="solid"/>
            <a:tailEnd type="triangle"/>
          </a:ln>
        </p:spPr>
      </p:sp>
      <p:sp>
        <p:nvSpPr>
          <p:cNvPr id="12" name="step"/>
          <p:cNvSpPr/>
          <p:nvPr/>
        </p:nvSpPr>
        <p:spPr>
          <a:xfrm>
            <a:off x="3950208" y="1188720"/>
            <a:ext cx="1920240" cy="530352"/>
          </a:xfrm>
          <a:prstGeom prst="roundRect">
            <a:avLst>
              <a:gd name="adj" fmla="val 8621"/>
            </a:avLst>
          </a:prstGeom>
          <a:solidFill>
            <a:schemeClr val="tx2"/>
          </a:solidFill>
          <a:ln w="12700">
            <a:solidFill>
              <a:schemeClr val="tx2"/>
            </a:solidFill>
            <a:prstDash val="solid"/>
          </a:ln>
        </p:spPr>
      </p:sp>
      <p:sp>
        <p:nvSpPr>
          <p:cNvPr id="13" name="Text 11"/>
          <p:cNvSpPr txBox="1"/>
          <p:nvPr/>
        </p:nvSpPr>
        <p:spPr>
          <a:xfrm>
            <a:off x="3995928" y="1188720"/>
            <a:ext cx="1828800" cy="530352"/>
          </a:xfrm>
          <a:prstGeom prst="rect">
            <a:avLst/>
          </a:prstGeom>
          <a:noFill/>
          <a:ln/>
        </p:spPr>
        <p:txBody>
          <a:bodyPr wrap="square" lIns="0" tIns="0" rIns="0" bIns="0" rtlCol="0" anchor="ctr"/>
          <a:lstStyle/>
          <a:p>
            <a:pPr algn="ctr" indent="0" marL="0">
              <a:buNone/>
            </a:pPr>
            <a:r>
              <a:rPr lang="en-US" sz="850" dirty="0">
                <a:solidFill>
                  <a:schemeClr val="bg1"/>
                </a:solidFill>
              </a:rPr>
              <a:t>Agent runtime forms a typed request: action and fields, e.g. payments.transfer, amount, destination, session</a:t>
            </a:r>
            <a:endParaRPr lang="en-US" sz="850" dirty="0"/>
          </a:p>
        </p:txBody>
      </p:sp>
      <p:sp>
        <p:nvSpPr>
          <p:cNvPr id="14" name="Text 12"/>
          <p:cNvSpPr txBox="1"/>
          <p:nvPr/>
        </p:nvSpPr>
        <p:spPr>
          <a:xfrm>
            <a:off x="6099048" y="1188720"/>
            <a:ext cx="2587752" cy="530352"/>
          </a:xfrm>
          <a:prstGeom prst="rect">
            <a:avLst/>
          </a:prstGeom>
          <a:noFill/>
          <a:ln/>
        </p:spPr>
        <p:txBody>
          <a:bodyPr wrap="square" lIns="0" tIns="0" rIns="0" bIns="0" rtlCol="0" anchor="ctr"/>
          <a:lstStyle/>
          <a:p>
            <a:pPr indent="0" marL="0">
              <a:buNone/>
            </a:pPr>
            <a:r>
              <a:rPr lang="en-US" sz="800" i="1" dirty="0">
                <a:solidFill>
                  <a:schemeClr val="tx2"/>
                </a:solidFill>
              </a:rPr>
              <a:t>In parallel, in hardware: switch ports pass bytes only between roster peers; the egress holds every response until a ticket releases it; the halt loop stops the rack on any alarm.</a:t>
            </a:r>
            <a:endParaRPr lang="en-US" sz="800" dirty="0"/>
          </a:p>
        </p:txBody>
      </p:sp>
      <p:sp>
        <p:nvSpPr>
          <p:cNvPr id="15" name="step"/>
          <p:cNvSpPr/>
          <p:nvPr/>
        </p:nvSpPr>
        <p:spPr>
          <a:xfrm>
            <a:off x="1755648" y="2139696"/>
            <a:ext cx="1048512" cy="713232"/>
          </a:xfrm>
          <a:prstGeom prst="roundRect">
            <a:avLst>
              <a:gd name="adj" fmla="val 6410"/>
            </a:avLst>
          </a:prstGeom>
          <a:solidFill>
            <a:srgbClr val="FFFFFF"/>
          </a:solidFill>
          <a:ln w="15875">
            <a:solidFill>
              <a:schemeClr val="accent1"/>
            </a:solidFill>
            <a:prstDash val="solid"/>
          </a:ln>
        </p:spPr>
      </p:sp>
      <p:sp>
        <p:nvSpPr>
          <p:cNvPr id="16" name="Text 14"/>
          <p:cNvSpPr txBox="1"/>
          <p:nvPr/>
        </p:nvSpPr>
        <p:spPr>
          <a:xfrm>
            <a:off x="1801368" y="2139696"/>
            <a:ext cx="957072" cy="713232"/>
          </a:xfrm>
          <a:prstGeom prst="rect">
            <a:avLst/>
          </a:prstGeom>
          <a:noFill/>
          <a:ln/>
        </p:spPr>
        <p:txBody>
          <a:bodyPr wrap="square" lIns="0" tIns="0" rIns="0" bIns="0" rtlCol="0" anchor="ctr"/>
          <a:lstStyle/>
          <a:p>
            <a:pPr algn="ctr" indent="0" marL="0">
              <a:buNone/>
            </a:pPr>
            <a:r>
              <a:rPr lang="en-US" sz="850" dirty="0">
                <a:solidFill>
                  <a:schemeClr val="tx1"/>
                </a:solidFill>
              </a:rPr>
              <a:t>Mailbox: sequence, rules edition and signature in order; first failure reported</a:t>
            </a:r>
            <a:endParaRPr lang="en-US" sz="850" dirty="0"/>
          </a:p>
        </p:txBody>
      </p:sp>
      <p:sp>
        <p:nvSpPr>
          <p:cNvPr id="17" name="connector"/>
          <p:cNvSpPr/>
          <p:nvPr/>
        </p:nvSpPr>
        <p:spPr>
          <a:xfrm>
            <a:off x="2804160" y="2496312"/>
            <a:ext cx="128016" cy="0"/>
          </a:xfrm>
          <a:prstGeom prst="line">
            <a:avLst/>
          </a:prstGeom>
          <a:noFill/>
          <a:ln w="15875">
            <a:solidFill>
              <a:srgbClr val="2F5D62"/>
            </a:solidFill>
            <a:prstDash val="solid"/>
            <a:tailEnd type="triangle"/>
          </a:ln>
        </p:spPr>
      </p:sp>
      <p:sp>
        <p:nvSpPr>
          <p:cNvPr id="18" name="step"/>
          <p:cNvSpPr/>
          <p:nvPr/>
        </p:nvSpPr>
        <p:spPr>
          <a:xfrm>
            <a:off x="2932176" y="2139696"/>
            <a:ext cx="1048512" cy="713232"/>
          </a:xfrm>
          <a:prstGeom prst="roundRect">
            <a:avLst>
              <a:gd name="adj" fmla="val 6410"/>
            </a:avLst>
          </a:prstGeom>
          <a:solidFill>
            <a:srgbClr val="FFFFFF"/>
          </a:solidFill>
          <a:ln w="15875">
            <a:solidFill>
              <a:schemeClr val="accent1"/>
            </a:solidFill>
            <a:prstDash val="solid"/>
          </a:ln>
        </p:spPr>
      </p:sp>
      <p:sp>
        <p:nvSpPr>
          <p:cNvPr id="19" name="Text 17"/>
          <p:cNvSpPr txBox="1"/>
          <p:nvPr/>
        </p:nvSpPr>
        <p:spPr>
          <a:xfrm>
            <a:off x="2977896" y="2139696"/>
            <a:ext cx="957072" cy="713232"/>
          </a:xfrm>
          <a:prstGeom prst="rect">
            <a:avLst/>
          </a:prstGeom>
          <a:noFill/>
          <a:ln/>
        </p:spPr>
        <p:txBody>
          <a:bodyPr wrap="square" lIns="0" tIns="0" rIns="0" bIns="0" rtlCol="0" anchor="ctr"/>
          <a:lstStyle/>
          <a:p>
            <a:pPr algn="ctr" indent="0" marL="0">
              <a:buNone/>
            </a:pPr>
            <a:r>
              <a:rPr lang="en-US" sz="850" dirty="0">
                <a:solidFill>
                  <a:schemeClr val="tx1"/>
                </a:solidFill>
              </a:rPr>
              <a:t>Workload measured and attested: hash of GPU firmware, host firmware and model</a:t>
            </a:r>
            <a:endParaRPr lang="en-US" sz="850" dirty="0"/>
          </a:p>
        </p:txBody>
      </p:sp>
      <p:sp>
        <p:nvSpPr>
          <p:cNvPr id="20" name="connector"/>
          <p:cNvSpPr/>
          <p:nvPr/>
        </p:nvSpPr>
        <p:spPr>
          <a:xfrm>
            <a:off x="3980688" y="2496312"/>
            <a:ext cx="128016" cy="0"/>
          </a:xfrm>
          <a:prstGeom prst="line">
            <a:avLst/>
          </a:prstGeom>
          <a:noFill/>
          <a:ln w="15875">
            <a:solidFill>
              <a:srgbClr val="2F5D62"/>
            </a:solidFill>
            <a:prstDash val="solid"/>
            <a:tailEnd type="triangle"/>
          </a:ln>
        </p:spPr>
      </p:sp>
      <p:sp>
        <p:nvSpPr>
          <p:cNvPr id="21" name="step"/>
          <p:cNvSpPr/>
          <p:nvPr/>
        </p:nvSpPr>
        <p:spPr>
          <a:xfrm>
            <a:off x="4108704" y="2139696"/>
            <a:ext cx="1048512" cy="713232"/>
          </a:xfrm>
          <a:prstGeom prst="roundRect">
            <a:avLst>
              <a:gd name="adj" fmla="val 6410"/>
            </a:avLst>
          </a:prstGeom>
          <a:solidFill>
            <a:srgbClr val="FFFFFF"/>
          </a:solidFill>
          <a:ln w="15875">
            <a:solidFill>
              <a:schemeClr val="accent1"/>
            </a:solidFill>
            <a:prstDash val="solid"/>
          </a:ln>
        </p:spPr>
      </p:sp>
      <p:sp>
        <p:nvSpPr>
          <p:cNvPr id="22" name="Text 20"/>
          <p:cNvSpPr txBox="1"/>
          <p:nvPr/>
        </p:nvSpPr>
        <p:spPr>
          <a:xfrm>
            <a:off x="4154424" y="2139696"/>
            <a:ext cx="957072" cy="713232"/>
          </a:xfrm>
          <a:prstGeom prst="rect">
            <a:avLst/>
          </a:prstGeom>
          <a:noFill/>
          <a:ln/>
        </p:spPr>
        <p:txBody>
          <a:bodyPr wrap="square" lIns="0" tIns="0" rIns="0" bIns="0" rtlCol="0" anchor="ctr"/>
          <a:lstStyle/>
          <a:p>
            <a:pPr algn="ctr" indent="0" marL="0">
              <a:buNone/>
            </a:pPr>
            <a:r>
              <a:rPr lang="en-US" sz="850" dirty="0">
                <a:solidFill>
                  <a:schemeClr val="tx1"/>
                </a:solidFill>
              </a:rPr>
              <a:t>Rule for this workload and action in the signed allow-list? No rule, no path</a:t>
            </a:r>
            <a:endParaRPr lang="en-US" sz="850" dirty="0"/>
          </a:p>
        </p:txBody>
      </p:sp>
      <p:sp>
        <p:nvSpPr>
          <p:cNvPr id="23" name="connector"/>
          <p:cNvSpPr/>
          <p:nvPr/>
        </p:nvSpPr>
        <p:spPr>
          <a:xfrm>
            <a:off x="5157216" y="2496312"/>
            <a:ext cx="128016" cy="0"/>
          </a:xfrm>
          <a:prstGeom prst="line">
            <a:avLst/>
          </a:prstGeom>
          <a:noFill/>
          <a:ln w="15875">
            <a:solidFill>
              <a:srgbClr val="2F5D62"/>
            </a:solidFill>
            <a:prstDash val="solid"/>
            <a:tailEnd type="triangle"/>
          </a:ln>
        </p:spPr>
      </p:sp>
      <p:sp>
        <p:nvSpPr>
          <p:cNvPr id="24" name="step"/>
          <p:cNvSpPr/>
          <p:nvPr/>
        </p:nvSpPr>
        <p:spPr>
          <a:xfrm>
            <a:off x="5285232" y="2139696"/>
            <a:ext cx="1048512" cy="713232"/>
          </a:xfrm>
          <a:prstGeom prst="roundRect">
            <a:avLst>
              <a:gd name="adj" fmla="val 6410"/>
            </a:avLst>
          </a:prstGeom>
          <a:solidFill>
            <a:srgbClr val="FFFFFF"/>
          </a:solidFill>
          <a:ln w="15875">
            <a:solidFill>
              <a:schemeClr val="accent1"/>
            </a:solidFill>
            <a:prstDash val="solid"/>
          </a:ln>
        </p:spPr>
      </p:sp>
      <p:sp>
        <p:nvSpPr>
          <p:cNvPr id="25" name="Text 23"/>
          <p:cNvSpPr txBox="1"/>
          <p:nvPr/>
        </p:nvSpPr>
        <p:spPr>
          <a:xfrm>
            <a:off x="5330952" y="2139696"/>
            <a:ext cx="957072" cy="713232"/>
          </a:xfrm>
          <a:prstGeom prst="rect">
            <a:avLst/>
          </a:prstGeom>
          <a:noFill/>
          <a:ln/>
        </p:spPr>
        <p:txBody>
          <a:bodyPr wrap="square" lIns="0" tIns="0" rIns="0" bIns="0" rtlCol="0" anchor="ctr"/>
          <a:lstStyle/>
          <a:p>
            <a:pPr algn="ctr" indent="0" marL="0">
              <a:buNone/>
            </a:pPr>
            <a:r>
              <a:rPr lang="en-US" sz="850" dirty="0">
                <a:solidFill>
                  <a:schemeClr val="tx1"/>
                </a:solidFill>
              </a:rPr>
              <a:t>Witnesses fresh and signed: observer verdict, provenance, human hold if the rule says</a:t>
            </a:r>
            <a:endParaRPr lang="en-US" sz="850" dirty="0"/>
          </a:p>
        </p:txBody>
      </p:sp>
      <p:sp>
        <p:nvSpPr>
          <p:cNvPr id="26" name="connector"/>
          <p:cNvSpPr/>
          <p:nvPr/>
        </p:nvSpPr>
        <p:spPr>
          <a:xfrm>
            <a:off x="6333744" y="2496312"/>
            <a:ext cx="128016" cy="0"/>
          </a:xfrm>
          <a:prstGeom prst="line">
            <a:avLst/>
          </a:prstGeom>
          <a:noFill/>
          <a:ln w="15875">
            <a:solidFill>
              <a:srgbClr val="2F5D62"/>
            </a:solidFill>
            <a:prstDash val="solid"/>
            <a:tailEnd type="triangle"/>
          </a:ln>
        </p:spPr>
      </p:sp>
      <p:sp>
        <p:nvSpPr>
          <p:cNvPr id="27" name="step"/>
          <p:cNvSpPr/>
          <p:nvPr/>
        </p:nvSpPr>
        <p:spPr>
          <a:xfrm>
            <a:off x="6461760" y="2139696"/>
            <a:ext cx="1048512" cy="713232"/>
          </a:xfrm>
          <a:prstGeom prst="roundRect">
            <a:avLst>
              <a:gd name="adj" fmla="val 6410"/>
            </a:avLst>
          </a:prstGeom>
          <a:solidFill>
            <a:srgbClr val="FFFFFF"/>
          </a:solidFill>
          <a:ln w="15875">
            <a:solidFill>
              <a:schemeClr val="accent1"/>
            </a:solidFill>
            <a:prstDash val="solid"/>
          </a:ln>
        </p:spPr>
      </p:sp>
      <p:sp>
        <p:nvSpPr>
          <p:cNvPr id="28" name="Text 26"/>
          <p:cNvSpPr txBox="1"/>
          <p:nvPr/>
        </p:nvSpPr>
        <p:spPr>
          <a:xfrm>
            <a:off x="6507480" y="2139696"/>
            <a:ext cx="957072" cy="713232"/>
          </a:xfrm>
          <a:prstGeom prst="rect">
            <a:avLst/>
          </a:prstGeom>
          <a:noFill/>
          <a:ln/>
        </p:spPr>
        <p:txBody>
          <a:bodyPr wrap="square" lIns="0" tIns="0" rIns="0" bIns="0" rtlCol="0" anchor="ctr"/>
          <a:lstStyle/>
          <a:p>
            <a:pPr algn="ctr" indent="0" marL="0">
              <a:buNone/>
            </a:pPr>
            <a:r>
              <a:rPr lang="en-US" sz="850" dirty="0">
                <a:solidFill>
                  <a:schemeClr val="tx1"/>
                </a:solidFill>
              </a:rPr>
              <a:t>Budget and rate: compute, session hazard, bytes, per-action window</a:t>
            </a:r>
            <a:endParaRPr lang="en-US" sz="850" dirty="0"/>
          </a:p>
        </p:txBody>
      </p:sp>
      <p:sp>
        <p:nvSpPr>
          <p:cNvPr id="29" name="connector"/>
          <p:cNvSpPr/>
          <p:nvPr/>
        </p:nvSpPr>
        <p:spPr>
          <a:xfrm>
            <a:off x="7510272" y="2496312"/>
            <a:ext cx="128016" cy="0"/>
          </a:xfrm>
          <a:prstGeom prst="line">
            <a:avLst/>
          </a:prstGeom>
          <a:noFill/>
          <a:ln w="15875">
            <a:solidFill>
              <a:srgbClr val="2F5D62"/>
            </a:solidFill>
            <a:prstDash val="solid"/>
            <a:tailEnd type="triangle"/>
          </a:ln>
        </p:spPr>
      </p:sp>
      <p:sp>
        <p:nvSpPr>
          <p:cNvPr id="30" name="step"/>
          <p:cNvSpPr/>
          <p:nvPr/>
        </p:nvSpPr>
        <p:spPr>
          <a:xfrm>
            <a:off x="7638288" y="2139696"/>
            <a:ext cx="1048512" cy="713232"/>
          </a:xfrm>
          <a:prstGeom prst="roundRect">
            <a:avLst>
              <a:gd name="adj" fmla="val 6410"/>
            </a:avLst>
          </a:prstGeom>
          <a:solidFill>
            <a:schemeClr val="tx2"/>
          </a:solidFill>
          <a:ln w="12700">
            <a:solidFill>
              <a:schemeClr val="tx2"/>
            </a:solidFill>
            <a:prstDash val="solid"/>
          </a:ln>
        </p:spPr>
      </p:sp>
      <p:sp>
        <p:nvSpPr>
          <p:cNvPr id="31" name="Text 29"/>
          <p:cNvSpPr txBox="1"/>
          <p:nvPr/>
        </p:nvSpPr>
        <p:spPr>
          <a:xfrm>
            <a:off x="7684008" y="2139696"/>
            <a:ext cx="957072" cy="713232"/>
          </a:xfrm>
          <a:prstGeom prst="rect">
            <a:avLst/>
          </a:prstGeom>
          <a:noFill/>
          <a:ln/>
        </p:spPr>
        <p:txBody>
          <a:bodyPr wrap="square" lIns="0" tIns="0" rIns="0" bIns="0" rtlCol="0" anchor="ctr"/>
          <a:lstStyle/>
          <a:p>
            <a:pPr algn="ctr" indent="0" marL="0">
              <a:buNone/>
            </a:pPr>
            <a:r>
              <a:rPr lang="en-US" sz="850" dirty="0">
                <a:solidFill>
                  <a:schemeClr val="bg1"/>
                </a:solidFill>
              </a:rPr>
              <a:t>Ticket signed: bound to a hash of the exact fields, one use, short expiry</a:t>
            </a:r>
            <a:endParaRPr lang="en-US" sz="850" dirty="0"/>
          </a:p>
        </p:txBody>
      </p:sp>
      <p:sp>
        <p:nvSpPr>
          <p:cNvPr id="32" name="connector"/>
          <p:cNvSpPr/>
          <p:nvPr/>
        </p:nvSpPr>
        <p:spPr>
          <a:xfrm>
            <a:off x="4910328" y="1719072"/>
            <a:ext cx="0" cy="210312"/>
          </a:xfrm>
          <a:prstGeom prst="line">
            <a:avLst/>
          </a:prstGeom>
          <a:noFill/>
          <a:ln w="15875">
            <a:solidFill>
              <a:srgbClr val="2F5D62"/>
            </a:solidFill>
            <a:prstDash val="solid"/>
          </a:ln>
        </p:spPr>
      </p:sp>
      <p:sp>
        <p:nvSpPr>
          <p:cNvPr id="33" name="connector"/>
          <p:cNvSpPr/>
          <p:nvPr/>
        </p:nvSpPr>
        <p:spPr>
          <a:xfrm flipH="1">
            <a:off x="2279904" y="1929384"/>
            <a:ext cx="2630424" cy="0"/>
          </a:xfrm>
          <a:prstGeom prst="line">
            <a:avLst/>
          </a:prstGeom>
          <a:noFill/>
          <a:ln w="15875">
            <a:solidFill>
              <a:srgbClr val="2F5D62"/>
            </a:solidFill>
            <a:prstDash val="solid"/>
          </a:ln>
        </p:spPr>
      </p:sp>
      <p:sp>
        <p:nvSpPr>
          <p:cNvPr id="34" name="connector"/>
          <p:cNvSpPr/>
          <p:nvPr/>
        </p:nvSpPr>
        <p:spPr>
          <a:xfrm>
            <a:off x="2279904" y="1929384"/>
            <a:ext cx="0" cy="210312"/>
          </a:xfrm>
          <a:prstGeom prst="line">
            <a:avLst/>
          </a:prstGeom>
          <a:noFill/>
          <a:ln w="15875">
            <a:solidFill>
              <a:srgbClr val="2F5D62"/>
            </a:solidFill>
            <a:prstDash val="solid"/>
            <a:tailEnd type="triangle"/>
          </a:ln>
        </p:spPr>
      </p:sp>
      <p:sp>
        <p:nvSpPr>
          <p:cNvPr id="35" name="Text 33"/>
          <p:cNvSpPr txBox="1"/>
          <p:nvPr/>
        </p:nvSpPr>
        <p:spPr>
          <a:xfrm>
            <a:off x="2353056" y="1746504"/>
            <a:ext cx="914400" cy="182880"/>
          </a:xfrm>
          <a:prstGeom prst="rect">
            <a:avLst/>
          </a:prstGeom>
          <a:noFill/>
          <a:ln/>
        </p:spPr>
        <p:txBody>
          <a:bodyPr wrap="square" lIns="0" tIns="0" rIns="0" bIns="0" rtlCol="0" anchor="t"/>
          <a:lstStyle/>
          <a:p>
            <a:pPr indent="0" marL="0">
              <a:buNone/>
            </a:pPr>
            <a:r>
              <a:rPr lang="en-US" sz="750" b="1" dirty="0">
                <a:solidFill>
                  <a:schemeClr val="tx2"/>
                </a:solidFill>
              </a:rPr>
              <a:t>REQUEST</a:t>
            </a:r>
            <a:endParaRPr lang="en-US" sz="750" dirty="0"/>
          </a:p>
        </p:txBody>
      </p:sp>
      <p:sp>
        <p:nvSpPr>
          <p:cNvPr id="36" name="step"/>
          <p:cNvSpPr/>
          <p:nvPr/>
        </p:nvSpPr>
        <p:spPr>
          <a:xfrm>
            <a:off x="1755648" y="3273552"/>
            <a:ext cx="2127504" cy="530352"/>
          </a:xfrm>
          <a:prstGeom prst="roundRect">
            <a:avLst>
              <a:gd name="adj" fmla="val 8621"/>
            </a:avLst>
          </a:prstGeom>
          <a:solidFill>
            <a:srgbClr val="FFFFFF"/>
          </a:solidFill>
          <a:ln w="15875">
            <a:solidFill>
              <a:schemeClr val="accent1"/>
            </a:solidFill>
            <a:prstDash val="solid"/>
          </a:ln>
        </p:spPr>
      </p:sp>
      <p:sp>
        <p:nvSpPr>
          <p:cNvPr id="37" name="Text 35"/>
          <p:cNvSpPr txBox="1"/>
          <p:nvPr/>
        </p:nvSpPr>
        <p:spPr>
          <a:xfrm>
            <a:off x="1801368" y="3273552"/>
            <a:ext cx="2036064" cy="530352"/>
          </a:xfrm>
          <a:prstGeom prst="rect">
            <a:avLst/>
          </a:prstGeom>
          <a:noFill/>
          <a:ln/>
        </p:spPr>
        <p:txBody>
          <a:bodyPr wrap="square" lIns="0" tIns="0" rIns="0" bIns="0" rtlCol="0" anchor="ctr"/>
          <a:lstStyle/>
          <a:p>
            <a:pPr algn="ctr" indent="0" marL="0">
              <a:buNone/>
            </a:pPr>
            <a:r>
              <a:rPr lang="en-US" sz="850" dirty="0">
                <a:solidFill>
                  <a:schemeClr val="tx1"/>
                </a:solidFill>
              </a:rPr>
              <a:t>Endpoint comparator: the ticket must match what the device itself measures (target, amount, hash); a lying broker is caught here</a:t>
            </a:r>
            <a:endParaRPr lang="en-US" sz="850" dirty="0"/>
          </a:p>
        </p:txBody>
      </p:sp>
      <p:sp>
        <p:nvSpPr>
          <p:cNvPr id="38" name="connector"/>
          <p:cNvSpPr/>
          <p:nvPr/>
        </p:nvSpPr>
        <p:spPr>
          <a:xfrm>
            <a:off x="3883152" y="3538728"/>
            <a:ext cx="274320" cy="0"/>
          </a:xfrm>
          <a:prstGeom prst="line">
            <a:avLst/>
          </a:prstGeom>
          <a:noFill/>
          <a:ln w="19050">
            <a:solidFill>
              <a:srgbClr val="2F5D62"/>
            </a:solidFill>
            <a:prstDash val="solid"/>
            <a:tailEnd type="triangle"/>
          </a:ln>
        </p:spPr>
      </p:sp>
      <p:sp>
        <p:nvSpPr>
          <p:cNvPr id="39" name="step"/>
          <p:cNvSpPr/>
          <p:nvPr/>
        </p:nvSpPr>
        <p:spPr>
          <a:xfrm>
            <a:off x="4157472" y="3273552"/>
            <a:ext cx="2127504" cy="530352"/>
          </a:xfrm>
          <a:prstGeom prst="roundRect">
            <a:avLst>
              <a:gd name="adj" fmla="val 8621"/>
            </a:avLst>
          </a:prstGeom>
          <a:solidFill>
            <a:schemeClr val="accent1"/>
          </a:solidFill>
          <a:ln w="12700">
            <a:solidFill>
              <a:schemeClr val="accent1"/>
            </a:solidFill>
            <a:prstDash val="solid"/>
          </a:ln>
        </p:spPr>
      </p:sp>
      <p:sp>
        <p:nvSpPr>
          <p:cNvPr id="40" name="Text 38"/>
          <p:cNvSpPr txBox="1"/>
          <p:nvPr/>
        </p:nvSpPr>
        <p:spPr>
          <a:xfrm>
            <a:off x="4203192" y="3273552"/>
            <a:ext cx="2036064" cy="530352"/>
          </a:xfrm>
          <a:prstGeom prst="rect">
            <a:avLst/>
          </a:prstGeom>
          <a:noFill/>
          <a:ln/>
        </p:spPr>
        <p:txBody>
          <a:bodyPr wrap="square" lIns="0" tIns="0" rIns="0" bIns="0" rtlCol="0" anchor="ctr"/>
          <a:lstStyle/>
          <a:p>
            <a:pPr algn="ctr" indent="0" marL="0">
              <a:buNone/>
            </a:pPr>
            <a:r>
              <a:rPr lang="en-US" sz="850" dirty="0">
                <a:solidFill>
                  <a:schemeClr val="bg1"/>
                </a:solidFill>
              </a:rPr>
              <a:t>The action happens: the weapon fires, the money moves, the response leaves the rack, the weights are written</a:t>
            </a:r>
            <a:endParaRPr lang="en-US" sz="850" dirty="0"/>
          </a:p>
        </p:txBody>
      </p:sp>
      <p:sp>
        <p:nvSpPr>
          <p:cNvPr id="41" name="connector"/>
          <p:cNvSpPr/>
          <p:nvPr/>
        </p:nvSpPr>
        <p:spPr>
          <a:xfrm>
            <a:off x="6284976" y="3538728"/>
            <a:ext cx="274320" cy="0"/>
          </a:xfrm>
          <a:prstGeom prst="line">
            <a:avLst/>
          </a:prstGeom>
          <a:noFill/>
          <a:ln w="19050">
            <a:solidFill>
              <a:srgbClr val="2F5D62"/>
            </a:solidFill>
            <a:prstDash val="solid"/>
            <a:tailEnd type="triangle"/>
          </a:ln>
        </p:spPr>
      </p:sp>
      <p:sp>
        <p:nvSpPr>
          <p:cNvPr id="42" name="step"/>
          <p:cNvSpPr/>
          <p:nvPr/>
        </p:nvSpPr>
        <p:spPr>
          <a:xfrm>
            <a:off x="6559296" y="3273552"/>
            <a:ext cx="2127504" cy="530352"/>
          </a:xfrm>
          <a:prstGeom prst="roundRect">
            <a:avLst>
              <a:gd name="adj" fmla="val 8621"/>
            </a:avLst>
          </a:prstGeom>
          <a:solidFill>
            <a:schemeClr val="tx2"/>
          </a:solidFill>
          <a:ln w="12700">
            <a:solidFill>
              <a:schemeClr val="tx2"/>
            </a:solidFill>
            <a:prstDash val="solid"/>
          </a:ln>
        </p:spPr>
      </p:sp>
      <p:sp>
        <p:nvSpPr>
          <p:cNvPr id="43" name="Text 41"/>
          <p:cNvSpPr txBox="1"/>
          <p:nvPr/>
        </p:nvSpPr>
        <p:spPr>
          <a:xfrm>
            <a:off x="6605016" y="3273552"/>
            <a:ext cx="2036064" cy="530352"/>
          </a:xfrm>
          <a:prstGeom prst="rect">
            <a:avLst/>
          </a:prstGeom>
          <a:noFill/>
          <a:ln/>
        </p:spPr>
        <p:txBody>
          <a:bodyPr wrap="square" lIns="0" tIns="0" rIns="0" bIns="0" rtlCol="0" anchor="ctr"/>
          <a:lstStyle/>
          <a:p>
            <a:pPr algn="ctr" indent="0" marL="0">
              <a:buNone/>
            </a:pPr>
            <a:r>
              <a:rPr lang="en-US" sz="850" dirty="0">
                <a:solidFill>
                  <a:schemeClr val="bg1"/>
                </a:solidFill>
              </a:rPr>
              <a:t>Recorded in the hash chain; the log head lives in a register the chip owns; checkpoints signed from inside the die</a:t>
            </a:r>
            <a:endParaRPr lang="en-US" sz="850" dirty="0"/>
          </a:p>
        </p:txBody>
      </p:sp>
      <p:sp>
        <p:nvSpPr>
          <p:cNvPr id="44" name="connector"/>
          <p:cNvSpPr/>
          <p:nvPr/>
        </p:nvSpPr>
        <p:spPr>
          <a:xfrm>
            <a:off x="8162544" y="2852928"/>
            <a:ext cx="0" cy="210312"/>
          </a:xfrm>
          <a:prstGeom prst="line">
            <a:avLst/>
          </a:prstGeom>
          <a:noFill/>
          <a:ln w="15875">
            <a:solidFill>
              <a:srgbClr val="2F5D62"/>
            </a:solidFill>
            <a:prstDash val="solid"/>
          </a:ln>
        </p:spPr>
      </p:sp>
      <p:sp>
        <p:nvSpPr>
          <p:cNvPr id="45" name="connector"/>
          <p:cNvSpPr/>
          <p:nvPr/>
        </p:nvSpPr>
        <p:spPr>
          <a:xfrm flipH="1">
            <a:off x="2819400" y="3063240"/>
            <a:ext cx="5343144" cy="0"/>
          </a:xfrm>
          <a:prstGeom prst="line">
            <a:avLst/>
          </a:prstGeom>
          <a:noFill/>
          <a:ln w="15875">
            <a:solidFill>
              <a:srgbClr val="2F5D62"/>
            </a:solidFill>
            <a:prstDash val="solid"/>
          </a:ln>
        </p:spPr>
      </p:sp>
      <p:sp>
        <p:nvSpPr>
          <p:cNvPr id="46" name="connector"/>
          <p:cNvSpPr/>
          <p:nvPr/>
        </p:nvSpPr>
        <p:spPr>
          <a:xfrm>
            <a:off x="2819400" y="3063240"/>
            <a:ext cx="0" cy="210312"/>
          </a:xfrm>
          <a:prstGeom prst="line">
            <a:avLst/>
          </a:prstGeom>
          <a:noFill/>
          <a:ln w="15875">
            <a:solidFill>
              <a:srgbClr val="2F5D62"/>
            </a:solidFill>
            <a:prstDash val="solid"/>
            <a:tailEnd type="triangle"/>
          </a:ln>
        </p:spPr>
      </p:sp>
      <p:sp>
        <p:nvSpPr>
          <p:cNvPr id="47" name="Text 45"/>
          <p:cNvSpPr txBox="1"/>
          <p:nvPr/>
        </p:nvSpPr>
        <p:spPr>
          <a:xfrm>
            <a:off x="2892552" y="2880360"/>
            <a:ext cx="914400" cy="182880"/>
          </a:xfrm>
          <a:prstGeom prst="rect">
            <a:avLst/>
          </a:prstGeom>
          <a:noFill/>
          <a:ln/>
        </p:spPr>
        <p:txBody>
          <a:bodyPr wrap="square" lIns="0" tIns="0" rIns="0" bIns="0" rtlCol="0" anchor="t"/>
          <a:lstStyle/>
          <a:p>
            <a:pPr indent="0" marL="0">
              <a:buNone/>
            </a:pPr>
            <a:r>
              <a:rPr lang="en-US" sz="750" b="1" dirty="0">
                <a:solidFill>
                  <a:schemeClr val="tx2"/>
                </a:solidFill>
              </a:rPr>
              <a:t>TICKET</a:t>
            </a:r>
            <a:endParaRPr lang="en-US" sz="750" dirty="0"/>
          </a:p>
        </p:txBody>
      </p:sp>
      <p:sp>
        <p:nvSpPr>
          <p:cNvPr id="48" name="refusal"/>
          <p:cNvSpPr/>
          <p:nvPr/>
        </p:nvSpPr>
        <p:spPr>
          <a:xfrm>
            <a:off x="457200" y="4041648"/>
            <a:ext cx="8229600" cy="566928"/>
          </a:xfrm>
          <a:prstGeom prst="roundRect">
            <a:avLst>
              <a:gd name="adj" fmla="val 8065"/>
            </a:avLst>
          </a:prstGeom>
          <a:solidFill>
            <a:srgbClr val="FFFFFF"/>
          </a:solidFill>
          <a:ln w="15875">
            <a:solidFill>
              <a:schemeClr val="accent4"/>
            </a:solidFill>
            <a:prstDash val="solid"/>
          </a:ln>
        </p:spPr>
      </p:sp>
      <p:sp>
        <p:nvSpPr>
          <p:cNvPr id="49" name="Text 47"/>
          <p:cNvSpPr txBox="1"/>
          <p:nvPr/>
        </p:nvSpPr>
        <p:spPr>
          <a:xfrm>
            <a:off x="594360" y="4041648"/>
            <a:ext cx="7955280" cy="566928"/>
          </a:xfrm>
          <a:prstGeom prst="rect">
            <a:avLst/>
          </a:prstGeom>
          <a:noFill/>
          <a:ln/>
        </p:spPr>
        <p:txBody>
          <a:bodyPr wrap="square" lIns="0" tIns="0" rIns="0" bIns="0" rtlCol="0" anchor="ctr"/>
          <a:lstStyle/>
          <a:p>
            <a:pPr indent="0" marL="0">
              <a:buNone/>
            </a:pPr>
            <a:r>
              <a:rPr lang="en-US" sz="850" b="1" dirty="0">
                <a:solidFill>
                  <a:schemeClr val="accent4"/>
                </a:solidFill>
              </a:rPr>
              <a:t>Any check that fails stops here: refused or held, with a reason code, appended to the log.  </a:t>
            </a:r>
            <a:pPr indent="0" marL="0">
              <a:buNone/>
            </a:pPr>
            <a:r>
              <a:rPr lang="en-US" sz="850" dirty="0">
                <a:solidFill>
                  <a:schemeClr val="tx1"/>
                </a:solidFill>
              </a:rPr>
              <a:t>ticket.missing · gate.witness_missing · gate.held_for_human · ep.no_capability · release.hazard_class_not_allowed · model.not_evaluated · ticket.replay</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Where it stands today: a model and a circuit, not yet a chip</a:t>
            </a:r>
            <a:endParaRPr lang="en-US" sz="2800" dirty="0"/>
          </a:p>
        </p:txBody>
      </p:sp>
      <p:sp>
        <p:nvSpPr>
          <p:cNvPr id="3" name="card"/>
          <p:cNvSpPr/>
          <p:nvPr/>
        </p:nvSpPr>
        <p:spPr>
          <a:xfrm>
            <a:off x="457200" y="1143000"/>
            <a:ext cx="2651760" cy="1600200"/>
          </a:xfrm>
          <a:prstGeom prst="roundRect">
            <a:avLst>
              <a:gd name="adj" fmla="val 3429"/>
            </a:avLst>
          </a:prstGeom>
          <a:solidFill>
            <a:schemeClr val="bg2"/>
          </a:solidFill>
          <a:ln w="9525">
            <a:solidFill>
              <a:schemeClr val="bg2"/>
            </a:solidFill>
            <a:prstDash val="solid"/>
          </a:ln>
        </p:spPr>
      </p:sp>
      <p:sp>
        <p:nvSpPr>
          <p:cNvPr id="4" name="Text 2"/>
          <p:cNvSpPr txBox="1"/>
          <p:nvPr/>
        </p:nvSpPr>
        <p:spPr>
          <a:xfrm>
            <a:off x="640080" y="1252728"/>
            <a:ext cx="22860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200</a:t>
            </a:r>
            <a:endParaRPr lang="en-US" sz="4000" dirty="0"/>
          </a:p>
        </p:txBody>
      </p:sp>
      <p:sp>
        <p:nvSpPr>
          <p:cNvPr id="5" name="Text 3"/>
          <p:cNvSpPr txBox="1"/>
          <p:nvPr/>
        </p:nvSpPr>
        <p:spPr>
          <a:xfrm>
            <a:off x="640080" y="1965960"/>
            <a:ext cx="2286000" cy="685800"/>
          </a:xfrm>
          <a:prstGeom prst="rect">
            <a:avLst/>
          </a:prstGeom>
          <a:noFill/>
          <a:ln/>
        </p:spPr>
        <p:txBody>
          <a:bodyPr wrap="square" lIns="0" tIns="0" rIns="0" bIns="0" rtlCol="0" anchor="t"/>
          <a:lstStyle/>
          <a:p>
            <a:pPr indent="0" marL="0">
              <a:buNone/>
            </a:pPr>
            <a:r>
              <a:rPr lang="en-US" sz="950" dirty="0">
                <a:solidFill>
                  <a:schemeClr val="tx1"/>
                </a:solidFill>
              </a:rPr>
              <a:t>hypothesis tests, H0 to H18, pass in the functional model of the governor and a simulated 72-GPU rack</a:t>
            </a:r>
            <a:endParaRPr lang="en-US" sz="950" dirty="0"/>
          </a:p>
        </p:txBody>
      </p:sp>
      <p:sp>
        <p:nvSpPr>
          <p:cNvPr id="6" name="card"/>
          <p:cNvSpPr/>
          <p:nvPr/>
        </p:nvSpPr>
        <p:spPr>
          <a:xfrm>
            <a:off x="3246120" y="1143000"/>
            <a:ext cx="2651760" cy="1600200"/>
          </a:xfrm>
          <a:prstGeom prst="roundRect">
            <a:avLst>
              <a:gd name="adj" fmla="val 3429"/>
            </a:avLst>
          </a:prstGeom>
          <a:solidFill>
            <a:schemeClr val="bg2"/>
          </a:solidFill>
          <a:ln w="9525">
            <a:solidFill>
              <a:schemeClr val="bg2"/>
            </a:solidFill>
            <a:prstDash val="solid"/>
          </a:ln>
        </p:spPr>
      </p:sp>
      <p:sp>
        <p:nvSpPr>
          <p:cNvPr id="7" name="Text 5"/>
          <p:cNvSpPr txBox="1"/>
          <p:nvPr/>
        </p:nvSpPr>
        <p:spPr>
          <a:xfrm>
            <a:off x="3429000" y="1252728"/>
            <a:ext cx="22860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20</a:t>
            </a:r>
            <a:endParaRPr lang="en-US" sz="4000" dirty="0"/>
          </a:p>
        </p:txBody>
      </p:sp>
      <p:sp>
        <p:nvSpPr>
          <p:cNvPr id="8" name="Text 6"/>
          <p:cNvSpPr txBox="1"/>
          <p:nvPr/>
        </p:nvSpPr>
        <p:spPr>
          <a:xfrm>
            <a:off x="3429000" y="1965960"/>
            <a:ext cx="2286000" cy="685800"/>
          </a:xfrm>
          <a:prstGeom prst="rect">
            <a:avLst/>
          </a:prstGeom>
          <a:noFill/>
          <a:ln/>
        </p:spPr>
        <p:txBody>
          <a:bodyPr wrap="square" lIns="0" tIns="0" rIns="0" bIns="0" rtlCol="0" anchor="t"/>
          <a:lstStyle/>
          <a:p>
            <a:pPr indent="0" marL="0">
              <a:buNone/>
            </a:pPr>
            <a:r>
              <a:rPr lang="en-US" sz="950" dirty="0">
                <a:solidFill>
                  <a:schemeClr val="tx1"/>
                </a:solidFill>
              </a:rPr>
              <a:t>simulation tests on the hard-core RTL blocks (Amaranth), with a LibreLane flow to sky130</a:t>
            </a:r>
            <a:endParaRPr lang="en-US" sz="950" dirty="0"/>
          </a:p>
        </p:txBody>
      </p:sp>
      <p:sp>
        <p:nvSpPr>
          <p:cNvPr id="9" name="card"/>
          <p:cNvSpPr/>
          <p:nvPr/>
        </p:nvSpPr>
        <p:spPr>
          <a:xfrm>
            <a:off x="6035040" y="1143000"/>
            <a:ext cx="2651760" cy="1600200"/>
          </a:xfrm>
          <a:prstGeom prst="roundRect">
            <a:avLst>
              <a:gd name="adj" fmla="val 3429"/>
            </a:avLst>
          </a:prstGeom>
          <a:solidFill>
            <a:schemeClr val="bg2"/>
          </a:solidFill>
          <a:ln w="9525">
            <a:solidFill>
              <a:schemeClr val="bg2"/>
            </a:solidFill>
            <a:prstDash val="solid"/>
          </a:ln>
        </p:spPr>
      </p:sp>
      <p:sp>
        <p:nvSpPr>
          <p:cNvPr id="10" name="Text 8"/>
          <p:cNvSpPr txBox="1"/>
          <p:nvPr/>
        </p:nvSpPr>
        <p:spPr>
          <a:xfrm>
            <a:off x="6217920" y="1252728"/>
            <a:ext cx="22860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317 µs</a:t>
            </a:r>
            <a:endParaRPr lang="en-US" sz="4000" dirty="0"/>
          </a:p>
        </p:txBody>
      </p:sp>
      <p:sp>
        <p:nvSpPr>
          <p:cNvPr id="11" name="Text 9"/>
          <p:cNvSpPr txBox="1"/>
          <p:nvPr/>
        </p:nvSpPr>
        <p:spPr>
          <a:xfrm>
            <a:off x="6217920" y="1965960"/>
            <a:ext cx="2286000" cy="685800"/>
          </a:xfrm>
          <a:prstGeom prst="rect">
            <a:avLst/>
          </a:prstGeom>
          <a:noFill/>
          <a:ln/>
        </p:spPr>
        <p:txBody>
          <a:bodyPr wrap="square" lIns="0" tIns="0" rIns="0" bIns="0" rtlCol="0" anchor="t"/>
          <a:lstStyle/>
          <a:p>
            <a:pPr indent="0" marL="0">
              <a:buNone/>
            </a:pPr>
            <a:r>
              <a:rPr lang="en-US" sz="950" dirty="0">
                <a:solidFill>
                  <a:schemeClr val="tx1"/>
                </a:solidFill>
              </a:rPr>
              <a:t>worst case for the halt loop to reach the last of 72 governors, against a 1 ms budget, in ngspice across 39 configurations including cut wires</a:t>
            </a:r>
            <a:endParaRPr lang="en-US" sz="950" dirty="0"/>
          </a:p>
        </p:txBody>
      </p:sp>
      <p:sp>
        <p:nvSpPr>
          <p:cNvPr id="12" name="card"/>
          <p:cNvSpPr/>
          <p:nvPr/>
        </p:nvSpPr>
        <p:spPr>
          <a:xfrm>
            <a:off x="457200" y="2880360"/>
            <a:ext cx="2651760" cy="1600200"/>
          </a:xfrm>
          <a:prstGeom prst="roundRect">
            <a:avLst>
              <a:gd name="adj" fmla="val 3429"/>
            </a:avLst>
          </a:prstGeom>
          <a:solidFill>
            <a:schemeClr val="bg2"/>
          </a:solidFill>
          <a:ln w="9525">
            <a:solidFill>
              <a:schemeClr val="bg2"/>
            </a:solidFill>
            <a:prstDash val="solid"/>
          </a:ln>
        </p:spPr>
      </p:sp>
      <p:sp>
        <p:nvSpPr>
          <p:cNvPr id="13" name="Text 11"/>
          <p:cNvSpPr txBox="1"/>
          <p:nvPr/>
        </p:nvSpPr>
        <p:spPr>
          <a:xfrm>
            <a:off x="640080" y="2990088"/>
            <a:ext cx="22860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 mm²</a:t>
            </a:r>
            <a:endParaRPr lang="en-US" sz="4000" dirty="0"/>
          </a:p>
        </p:txBody>
      </p:sp>
      <p:sp>
        <p:nvSpPr>
          <p:cNvPr id="14" name="Text 12"/>
          <p:cNvSpPr txBox="1"/>
          <p:nvPr/>
        </p:nvSpPr>
        <p:spPr>
          <a:xfrm>
            <a:off x="640080" y="3703320"/>
            <a:ext cx="2286000" cy="685800"/>
          </a:xfrm>
          <a:prstGeom prst="rect">
            <a:avLst/>
          </a:prstGeom>
          <a:noFill/>
          <a:ln/>
        </p:spPr>
        <p:txBody>
          <a:bodyPr wrap="square" lIns="0" tIns="0" rIns="0" bIns="0" rtlCol="0" anchor="t"/>
          <a:lstStyle/>
          <a:p>
            <a:pPr indent="0" marL="0">
              <a:buNone/>
            </a:pPr>
            <a:r>
              <a:rPr lang="en-US" sz="950" dirty="0">
                <a:solidFill>
                  <a:schemeClr val="tx1"/>
                </a:solidFill>
              </a:rPr>
              <a:t>governor core as configured on the open 130 nm process; the whole module fits the OEM's management-card slot</a:t>
            </a:r>
            <a:endParaRPr lang="en-US" sz="950" dirty="0"/>
          </a:p>
        </p:txBody>
      </p:sp>
      <p:sp>
        <p:nvSpPr>
          <p:cNvPr id="15" name="card"/>
          <p:cNvSpPr/>
          <p:nvPr/>
        </p:nvSpPr>
        <p:spPr>
          <a:xfrm>
            <a:off x="3246120" y="2880360"/>
            <a:ext cx="2651760" cy="1600200"/>
          </a:xfrm>
          <a:prstGeom prst="roundRect">
            <a:avLst>
              <a:gd name="adj" fmla="val 3429"/>
            </a:avLst>
          </a:prstGeom>
          <a:solidFill>
            <a:schemeClr val="bg2"/>
          </a:solidFill>
          <a:ln w="9525">
            <a:solidFill>
              <a:schemeClr val="bg2"/>
            </a:solidFill>
            <a:prstDash val="solid"/>
          </a:ln>
        </p:spPr>
      </p:sp>
      <p:sp>
        <p:nvSpPr>
          <p:cNvPr id="16" name="Text 14"/>
          <p:cNvSpPr txBox="1"/>
          <p:nvPr/>
        </p:nvSpPr>
        <p:spPr>
          <a:xfrm>
            <a:off x="3429000" y="2990088"/>
            <a:ext cx="22860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66</a:t>
            </a:r>
            <a:endParaRPr lang="en-US" sz="4000" dirty="0"/>
          </a:p>
        </p:txBody>
      </p:sp>
      <p:sp>
        <p:nvSpPr>
          <p:cNvPr id="17" name="Text 15"/>
          <p:cNvSpPr txBox="1"/>
          <p:nvPr/>
        </p:nvSpPr>
        <p:spPr>
          <a:xfrm>
            <a:off x="3429000" y="3703320"/>
            <a:ext cx="2286000" cy="685800"/>
          </a:xfrm>
          <a:prstGeom prst="rect">
            <a:avLst/>
          </a:prstGeom>
          <a:noFill/>
          <a:ln/>
        </p:spPr>
        <p:txBody>
          <a:bodyPr wrap="square" lIns="0" tIns="0" rIns="0" bIns="0" rtlCol="0" anchor="t"/>
          <a:lstStyle/>
          <a:p>
            <a:pPr indent="0" marL="0">
              <a:buNone/>
            </a:pPr>
            <a:r>
              <a:rPr lang="en-US" sz="950" dirty="0">
                <a:solidFill>
                  <a:schemeClr val="tx1"/>
                </a:solidFill>
              </a:rPr>
              <a:t>attacks blocked with the predicted reason code in the reference stack, with all 10 legitimate baselines passing</a:t>
            </a:r>
            <a:endParaRPr lang="en-US" sz="950" dirty="0"/>
          </a:p>
        </p:txBody>
      </p:sp>
      <p:sp>
        <p:nvSpPr>
          <p:cNvPr id="18" name="card"/>
          <p:cNvSpPr/>
          <p:nvPr/>
        </p:nvSpPr>
        <p:spPr>
          <a:xfrm>
            <a:off x="6035040" y="2880360"/>
            <a:ext cx="2651760" cy="1600200"/>
          </a:xfrm>
          <a:prstGeom prst="roundRect">
            <a:avLst>
              <a:gd name="adj" fmla="val 3429"/>
            </a:avLst>
          </a:prstGeom>
          <a:solidFill>
            <a:schemeClr val="bg2"/>
          </a:solidFill>
          <a:ln w="9525">
            <a:solidFill>
              <a:schemeClr val="bg2"/>
            </a:solidFill>
            <a:prstDash val="solid"/>
          </a:ln>
        </p:spPr>
      </p:sp>
      <p:sp>
        <p:nvSpPr>
          <p:cNvPr id="19" name="Text 17"/>
          <p:cNvSpPr txBox="1"/>
          <p:nvPr/>
        </p:nvSpPr>
        <p:spPr>
          <a:xfrm>
            <a:off x="6217920" y="2990088"/>
            <a:ext cx="22860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20" name="Text 18"/>
          <p:cNvSpPr txBox="1"/>
          <p:nvPr/>
        </p:nvSpPr>
        <p:spPr>
          <a:xfrm>
            <a:off x="6217920" y="3703320"/>
            <a:ext cx="2286000" cy="685800"/>
          </a:xfrm>
          <a:prstGeom prst="rect">
            <a:avLst/>
          </a:prstGeom>
          <a:noFill/>
          <a:ln/>
        </p:spPr>
        <p:txBody>
          <a:bodyPr wrap="square" lIns="0" tIns="0" rIns="0" bIns="0" rtlCol="0" anchor="t"/>
          <a:lstStyle/>
          <a:p>
            <a:pPr indent="0" marL="0">
              <a:buNone/>
            </a:pPr>
            <a:r>
              <a:rPr lang="en-US" sz="950" dirty="0">
                <a:solidFill>
                  <a:schemeClr val="tx1"/>
                </a:solidFill>
              </a:rPr>
              <a:t>changes to the GPU, to CUDA, or to the baseboard at the rack tier; every ask to NVIDIA is firmware or board work that tightens the design</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The challenges, stated plainly</a:t>
            </a:r>
            <a:endParaRPr lang="en-US" sz="2800" dirty="0"/>
          </a:p>
        </p:txBody>
      </p:sp>
      <p:sp>
        <p:nvSpPr>
          <p:cNvPr id="3" name="card"/>
          <p:cNvSpPr/>
          <p:nvPr/>
        </p:nvSpPr>
        <p:spPr>
          <a:xfrm>
            <a:off x="457200" y="1143000"/>
            <a:ext cx="2651760" cy="1600200"/>
          </a:xfrm>
          <a:prstGeom prst="roundRect">
            <a:avLst>
              <a:gd name="adj" fmla="val 3429"/>
            </a:avLst>
          </a:prstGeom>
          <a:solidFill>
            <a:schemeClr val="bg2"/>
          </a:solidFill>
          <a:ln w="9525">
            <a:solidFill>
              <a:schemeClr val="bg2"/>
            </a:solidFill>
            <a:prstDash val="solid"/>
          </a:ln>
        </p:spPr>
      </p:sp>
      <p:sp>
        <p:nvSpPr>
          <p:cNvPr id="4" name="icon circle"/>
          <p:cNvSpPr/>
          <p:nvPr/>
        </p:nvSpPr>
        <p:spPr>
          <a:xfrm>
            <a:off x="594360" y="1280160"/>
            <a:ext cx="420624" cy="420624"/>
          </a:xfrm>
          <a:prstGeom prst="ellipse">
            <a:avLst/>
          </a:prstGeom>
          <a:solidFill>
            <a:schemeClr val="accent1"/>
          </a:solidFill>
          <a:ln w="12700">
            <a:solidFill>
              <a:schemeClr val="accent1"/>
            </a:solidFill>
            <a:prstDash val="solid"/>
          </a:ln>
        </p:spPr>
      </p:sp>
      <p:pic>
        <p:nvPicPr>
          <p:cNvPr id="5" name="FiGitBranch" descr="preencoded.png">    </p:cNvPr>
          <p:cNvPicPr>
            <a:picLocks noChangeAspect="1"/>
          </p:cNvPicPr>
          <p:nvPr/>
        </p:nvPicPr>
        <p:blipFill>
          <a:blip r:embed="rId1"/>
          <a:stretch>
            <a:fillRect/>
          </a:stretch>
        </p:blipFill>
        <p:spPr>
          <a:xfrm>
            <a:off x="695310" y="1381110"/>
            <a:ext cx="218724" cy="218724"/>
          </a:xfrm>
          <a:prstGeom prst="rect">
            <a:avLst/>
          </a:prstGeom>
        </p:spPr>
      </p:pic>
      <p:sp>
        <p:nvSpPr>
          <p:cNvPr id="6" name="Text 3"/>
          <p:cNvSpPr txBox="1"/>
          <p:nvPr/>
        </p:nvSpPr>
        <p:spPr>
          <a:xfrm>
            <a:off x="1115568" y="1252728"/>
            <a:ext cx="1874520" cy="502920"/>
          </a:xfrm>
          <a:prstGeom prst="rect">
            <a:avLst/>
          </a:prstGeom>
          <a:noFill/>
          <a:ln/>
        </p:spPr>
        <p:txBody>
          <a:bodyPr wrap="square" lIns="0" tIns="0" rIns="0" bIns="0" rtlCol="0" anchor="ctr"/>
          <a:lstStyle/>
          <a:p>
            <a:pPr indent="0" marL="0">
              <a:buNone/>
            </a:pPr>
            <a:r>
              <a:rPr lang="en-US" sz="1100" b="1" dirty="0">
                <a:solidFill>
                  <a:schemeClr val="tx1"/>
                </a:solidFill>
              </a:rPr>
              <a:t>Reach ends at the last device that checks the stamp</a:t>
            </a:r>
            <a:endParaRPr lang="en-US" sz="1100" dirty="0"/>
          </a:p>
        </p:txBody>
      </p:sp>
      <p:sp>
        <p:nvSpPr>
          <p:cNvPr id="7" name="Text 4"/>
          <p:cNvSpPr txBox="1"/>
          <p:nvPr/>
        </p:nvSpPr>
        <p:spPr>
          <a:xfrm>
            <a:off x="594360" y="1856232"/>
            <a:ext cx="2377440" cy="795528"/>
          </a:xfrm>
          <a:prstGeom prst="rect">
            <a:avLst/>
          </a:prstGeom>
          <a:noFill/>
          <a:ln/>
        </p:spPr>
        <p:txBody>
          <a:bodyPr wrap="square" lIns="0" tIns="0" rIns="0" bIns="0" rtlCol="0" anchor="t"/>
          <a:lstStyle/>
          <a:p>
            <a:pPr indent="0" marL="0">
              <a:buNone/>
            </a:pPr>
            <a:r>
              <a:rPr lang="en-US" sz="950" dirty="0">
                <a:solidFill>
                  <a:schemeClr val="tx1"/>
                </a:solidFill>
              </a:rPr>
              <a:t>A payment system is two or three hops away and has never heard of the governor. The answer is to move the credential behind a ticket-checking adapter, not to reach through the bank.</a:t>
            </a:r>
            <a:endParaRPr lang="en-US" sz="950" dirty="0"/>
          </a:p>
        </p:txBody>
      </p:sp>
      <p:sp>
        <p:nvSpPr>
          <p:cNvPr id="8" name="card"/>
          <p:cNvSpPr/>
          <p:nvPr/>
        </p:nvSpPr>
        <p:spPr>
          <a:xfrm>
            <a:off x="3246120" y="1143000"/>
            <a:ext cx="2651760" cy="1600200"/>
          </a:xfrm>
          <a:prstGeom prst="roundRect">
            <a:avLst>
              <a:gd name="adj" fmla="val 3429"/>
            </a:avLst>
          </a:prstGeom>
          <a:solidFill>
            <a:schemeClr val="bg2"/>
          </a:solidFill>
          <a:ln w="9525">
            <a:solidFill>
              <a:schemeClr val="bg2"/>
            </a:solidFill>
            <a:prstDash val="solid"/>
          </a:ln>
        </p:spPr>
      </p:sp>
      <p:sp>
        <p:nvSpPr>
          <p:cNvPr id="9" name="icon circle"/>
          <p:cNvSpPr/>
          <p:nvPr/>
        </p:nvSpPr>
        <p:spPr>
          <a:xfrm>
            <a:off x="3383280" y="1280160"/>
            <a:ext cx="420624" cy="420624"/>
          </a:xfrm>
          <a:prstGeom prst="ellipse">
            <a:avLst/>
          </a:prstGeom>
          <a:solidFill>
            <a:schemeClr val="accent1"/>
          </a:solidFill>
          <a:ln w="12700">
            <a:solidFill>
              <a:schemeClr val="accent1"/>
            </a:solidFill>
            <a:prstDash val="solid"/>
          </a:ln>
        </p:spPr>
      </p:sp>
      <p:pic>
        <p:nvPicPr>
          <p:cNvPr id="10" name="FiEyeOff" descr="preencoded.png">    </p:cNvPr>
          <p:cNvPicPr>
            <a:picLocks noChangeAspect="1"/>
          </p:cNvPicPr>
          <p:nvPr/>
        </p:nvPicPr>
        <p:blipFill>
          <a:blip r:embed="rId2"/>
          <a:stretch>
            <a:fillRect/>
          </a:stretch>
        </p:blipFill>
        <p:spPr>
          <a:xfrm>
            <a:off x="3484230" y="1381110"/>
            <a:ext cx="218724" cy="218724"/>
          </a:xfrm>
          <a:prstGeom prst="rect">
            <a:avLst/>
          </a:prstGeom>
        </p:spPr>
      </p:pic>
      <p:sp>
        <p:nvSpPr>
          <p:cNvPr id="11" name="Text 7"/>
          <p:cNvSpPr txBox="1"/>
          <p:nvPr/>
        </p:nvSpPr>
        <p:spPr>
          <a:xfrm>
            <a:off x="3904488" y="1252728"/>
            <a:ext cx="1874520" cy="502920"/>
          </a:xfrm>
          <a:prstGeom prst="rect">
            <a:avLst/>
          </a:prstGeom>
          <a:noFill/>
          <a:ln/>
        </p:spPr>
        <p:txBody>
          <a:bodyPr wrap="square" lIns="0" tIns="0" rIns="0" bIns="0" rtlCol="0" anchor="ctr"/>
          <a:lstStyle/>
          <a:p>
            <a:pPr indent="0" marL="0">
              <a:buNone/>
            </a:pPr>
            <a:r>
              <a:rPr lang="en-US" sz="1100" b="1" dirty="0">
                <a:solidFill>
                  <a:schemeClr val="tx1"/>
                </a:solidFill>
              </a:rPr>
              <a:t>Meaning is delegated, and observers can be fooled</a:t>
            </a:r>
            <a:endParaRPr lang="en-US" sz="1100" dirty="0"/>
          </a:p>
        </p:txBody>
      </p:sp>
      <p:sp>
        <p:nvSpPr>
          <p:cNvPr id="12" name="Text 8"/>
          <p:cNvSpPr txBox="1"/>
          <p:nvPr/>
        </p:nvSpPr>
        <p:spPr>
          <a:xfrm>
            <a:off x="3383280" y="1856232"/>
            <a:ext cx="2377440" cy="795528"/>
          </a:xfrm>
          <a:prstGeom prst="rect">
            <a:avLst/>
          </a:prstGeom>
          <a:noFill/>
          <a:ln/>
        </p:spPr>
        <p:txBody>
          <a:bodyPr wrap="square" lIns="0" tIns="0" rIns="0" bIns="0" rtlCol="0" anchor="t"/>
          <a:lstStyle/>
          <a:p>
            <a:pPr indent="0" marL="0">
              <a:buNone/>
            </a:pPr>
            <a:r>
              <a:rPr lang="en-US" sz="950" dirty="0">
                <a:solidFill>
                  <a:schemeClr val="tx1"/>
                </a:solidFill>
              </a:rPr>
              <a:t>The chip guarantees an observer is always invoked, cannot be impersonated and is separate. It cannot make the observer right about a disguised request.</a:t>
            </a:r>
            <a:endParaRPr lang="en-US" sz="950" dirty="0"/>
          </a:p>
        </p:txBody>
      </p:sp>
      <p:sp>
        <p:nvSpPr>
          <p:cNvPr id="13" name="card"/>
          <p:cNvSpPr/>
          <p:nvPr/>
        </p:nvSpPr>
        <p:spPr>
          <a:xfrm>
            <a:off x="6035040" y="1143000"/>
            <a:ext cx="2651760" cy="1600200"/>
          </a:xfrm>
          <a:prstGeom prst="roundRect">
            <a:avLst>
              <a:gd name="adj" fmla="val 3429"/>
            </a:avLst>
          </a:prstGeom>
          <a:solidFill>
            <a:schemeClr val="bg2"/>
          </a:solidFill>
          <a:ln w="9525">
            <a:solidFill>
              <a:schemeClr val="bg2"/>
            </a:solidFill>
            <a:prstDash val="solid"/>
          </a:ln>
        </p:spPr>
      </p:sp>
      <p:sp>
        <p:nvSpPr>
          <p:cNvPr id="14" name="icon circle"/>
          <p:cNvSpPr/>
          <p:nvPr/>
        </p:nvSpPr>
        <p:spPr>
          <a:xfrm>
            <a:off x="6172200" y="1280160"/>
            <a:ext cx="420624" cy="420624"/>
          </a:xfrm>
          <a:prstGeom prst="ellipse">
            <a:avLst/>
          </a:prstGeom>
          <a:solidFill>
            <a:schemeClr val="accent1"/>
          </a:solidFill>
          <a:ln w="12700">
            <a:solidFill>
              <a:schemeClr val="accent1"/>
            </a:solidFill>
            <a:prstDash val="solid"/>
          </a:ln>
        </p:spPr>
      </p:sp>
      <p:pic>
        <p:nvPicPr>
          <p:cNvPr id="15" name="FiAlertTriangle" descr="preencoded.png">    </p:cNvPr>
          <p:cNvPicPr>
            <a:picLocks noChangeAspect="1"/>
          </p:cNvPicPr>
          <p:nvPr/>
        </p:nvPicPr>
        <p:blipFill>
          <a:blip r:embed="rId3"/>
          <a:stretch>
            <a:fillRect/>
          </a:stretch>
        </p:blipFill>
        <p:spPr>
          <a:xfrm>
            <a:off x="6273150" y="1381110"/>
            <a:ext cx="218724" cy="218724"/>
          </a:xfrm>
          <a:prstGeom prst="rect">
            <a:avLst/>
          </a:prstGeom>
        </p:spPr>
      </p:pic>
      <p:sp>
        <p:nvSpPr>
          <p:cNvPr id="16" name="Text 11"/>
          <p:cNvSpPr txBox="1"/>
          <p:nvPr/>
        </p:nvSpPr>
        <p:spPr>
          <a:xfrm>
            <a:off x="6693408" y="1252728"/>
            <a:ext cx="1874520" cy="502920"/>
          </a:xfrm>
          <a:prstGeom prst="rect">
            <a:avLst/>
          </a:prstGeom>
          <a:noFill/>
          <a:ln/>
        </p:spPr>
        <p:txBody>
          <a:bodyPr wrap="square" lIns="0" tIns="0" rIns="0" bIns="0" rtlCol="0" anchor="ctr"/>
          <a:lstStyle/>
          <a:p>
            <a:pPr indent="0" marL="0">
              <a:buNone/>
            </a:pPr>
            <a:r>
              <a:rPr lang="en-US" sz="1100" b="1" dirty="0">
                <a:solidFill>
                  <a:schemeClr val="tx1"/>
                </a:solidFill>
              </a:rPr>
              <a:t>False halts</a:t>
            </a:r>
            <a:endParaRPr lang="en-US" sz="1100" dirty="0"/>
          </a:p>
        </p:txBody>
      </p:sp>
      <p:sp>
        <p:nvSpPr>
          <p:cNvPr id="17" name="Text 12"/>
          <p:cNvSpPr txBox="1"/>
          <p:nvPr/>
        </p:nvSpPr>
        <p:spPr>
          <a:xfrm>
            <a:off x="6172200" y="1856232"/>
            <a:ext cx="2377440" cy="795528"/>
          </a:xfrm>
          <a:prstGeom prst="rect">
            <a:avLst/>
          </a:prstGeom>
          <a:noFill/>
          <a:ln/>
        </p:spPr>
        <p:txBody>
          <a:bodyPr wrap="square" lIns="0" tIns="0" rIns="0" bIns="0" rtlCol="0" anchor="t"/>
          <a:lstStyle/>
          <a:p>
            <a:pPr indent="0" marL="0">
              <a:buNone/>
            </a:pPr>
            <a:r>
              <a:rPr lang="en-US" sz="950" dirty="0">
                <a:solidFill>
                  <a:schemeClr val="tx1"/>
                </a:solidFill>
              </a:rPr>
              <a:t>The first support ticket will read: the governor halted my rack. The beacon, the debounce and the FMEA exist for this; none is measured on real hardware.</a:t>
            </a:r>
            <a:endParaRPr lang="en-US" sz="950" dirty="0"/>
          </a:p>
        </p:txBody>
      </p:sp>
      <p:sp>
        <p:nvSpPr>
          <p:cNvPr id="18" name="card"/>
          <p:cNvSpPr/>
          <p:nvPr/>
        </p:nvSpPr>
        <p:spPr>
          <a:xfrm>
            <a:off x="457200" y="2880360"/>
            <a:ext cx="2651760" cy="1600200"/>
          </a:xfrm>
          <a:prstGeom prst="roundRect">
            <a:avLst>
              <a:gd name="adj" fmla="val 3429"/>
            </a:avLst>
          </a:prstGeom>
          <a:solidFill>
            <a:schemeClr val="bg2"/>
          </a:solidFill>
          <a:ln w="9525">
            <a:solidFill>
              <a:schemeClr val="bg2"/>
            </a:solidFill>
            <a:prstDash val="solid"/>
          </a:ln>
        </p:spPr>
      </p:sp>
      <p:sp>
        <p:nvSpPr>
          <p:cNvPr id="19" name="icon circle"/>
          <p:cNvSpPr/>
          <p:nvPr/>
        </p:nvSpPr>
        <p:spPr>
          <a:xfrm>
            <a:off x="594360" y="3017520"/>
            <a:ext cx="420624" cy="420624"/>
          </a:xfrm>
          <a:prstGeom prst="ellipse">
            <a:avLst/>
          </a:prstGeom>
          <a:solidFill>
            <a:schemeClr val="accent1"/>
          </a:solidFill>
          <a:ln w="12700">
            <a:solidFill>
              <a:schemeClr val="accent1"/>
            </a:solidFill>
            <a:prstDash val="solid"/>
          </a:ln>
        </p:spPr>
      </p:sp>
      <p:pic>
        <p:nvPicPr>
          <p:cNvPr id="20" name="FiServer" descr="preencoded.png">    </p:cNvPr>
          <p:cNvPicPr>
            <a:picLocks noChangeAspect="1"/>
          </p:cNvPicPr>
          <p:nvPr/>
        </p:nvPicPr>
        <p:blipFill>
          <a:blip r:embed="rId4"/>
          <a:stretch>
            <a:fillRect/>
          </a:stretch>
        </p:blipFill>
        <p:spPr>
          <a:xfrm>
            <a:off x="695310" y="3118470"/>
            <a:ext cx="218724" cy="218724"/>
          </a:xfrm>
          <a:prstGeom prst="rect">
            <a:avLst/>
          </a:prstGeom>
        </p:spPr>
      </p:pic>
      <p:sp>
        <p:nvSpPr>
          <p:cNvPr id="21" name="Text 15"/>
          <p:cNvSpPr txBox="1"/>
          <p:nvPr/>
        </p:nvSpPr>
        <p:spPr>
          <a:xfrm>
            <a:off x="1115568" y="2990088"/>
            <a:ext cx="1874520" cy="502920"/>
          </a:xfrm>
          <a:prstGeom prst="rect">
            <a:avLst/>
          </a:prstGeom>
          <a:noFill/>
          <a:ln/>
        </p:spPr>
        <p:txBody>
          <a:bodyPr wrap="square" lIns="0" tIns="0" rIns="0" bIns="0" rtlCol="0" anchor="ctr"/>
          <a:lstStyle/>
          <a:p>
            <a:pPr indent="0" marL="0">
              <a:buNone/>
            </a:pPr>
            <a:r>
              <a:rPr lang="en-US" sz="1100" b="1" dirty="0">
                <a:solidFill>
                  <a:schemeClr val="tx1"/>
                </a:solidFill>
              </a:rPr>
              <a:t>The levers on HGX</a:t>
            </a:r>
            <a:endParaRPr lang="en-US" sz="1100" dirty="0"/>
          </a:p>
        </p:txBody>
      </p:sp>
      <p:sp>
        <p:nvSpPr>
          <p:cNvPr id="22" name="Text 16"/>
          <p:cNvSpPr txBox="1"/>
          <p:nvPr/>
        </p:nvSpPr>
        <p:spPr>
          <a:xfrm>
            <a:off x="594360" y="3593592"/>
            <a:ext cx="2377440" cy="795528"/>
          </a:xfrm>
          <a:prstGeom prst="rect">
            <a:avLst/>
          </a:prstGeom>
          <a:noFill/>
          <a:ln/>
        </p:spPr>
        <p:txBody>
          <a:bodyPr wrap="square" lIns="0" tIns="0" rIns="0" bIns="0" rtlCol="0" anchor="t"/>
          <a:lstStyle/>
          <a:p>
            <a:pPr indent="0" marL="0">
              <a:buNone/>
            </a:pPr>
            <a:r>
              <a:rPr lang="en-US" sz="950" dirty="0">
                <a:solidFill>
                  <a:schemeClr val="tx1"/>
                </a:solidFill>
              </a:rPr>
              <a:t>Reset is grouped on the baseboard today; per-module levers and the design guide sit under NDA. Coarser is still safe, but it is coarser.</a:t>
            </a:r>
            <a:endParaRPr lang="en-US" sz="950" dirty="0"/>
          </a:p>
        </p:txBody>
      </p:sp>
      <p:sp>
        <p:nvSpPr>
          <p:cNvPr id="23" name="card"/>
          <p:cNvSpPr/>
          <p:nvPr/>
        </p:nvSpPr>
        <p:spPr>
          <a:xfrm>
            <a:off x="3246120" y="2880360"/>
            <a:ext cx="2651760" cy="1600200"/>
          </a:xfrm>
          <a:prstGeom prst="roundRect">
            <a:avLst>
              <a:gd name="adj" fmla="val 3429"/>
            </a:avLst>
          </a:prstGeom>
          <a:solidFill>
            <a:schemeClr val="bg2"/>
          </a:solidFill>
          <a:ln w="9525">
            <a:solidFill>
              <a:schemeClr val="bg2"/>
            </a:solidFill>
            <a:prstDash val="solid"/>
          </a:ln>
        </p:spPr>
      </p:sp>
      <p:sp>
        <p:nvSpPr>
          <p:cNvPr id="24" name="icon circle"/>
          <p:cNvSpPr/>
          <p:nvPr/>
        </p:nvSpPr>
        <p:spPr>
          <a:xfrm>
            <a:off x="3383280" y="3017520"/>
            <a:ext cx="420624" cy="420624"/>
          </a:xfrm>
          <a:prstGeom prst="ellipse">
            <a:avLst/>
          </a:prstGeom>
          <a:solidFill>
            <a:schemeClr val="accent1"/>
          </a:solidFill>
          <a:ln w="12700">
            <a:solidFill>
              <a:schemeClr val="accent1"/>
            </a:solidFill>
            <a:prstDash val="solid"/>
          </a:ln>
        </p:spPr>
      </p:sp>
      <p:pic>
        <p:nvPicPr>
          <p:cNvPr id="25" name="FiClock" descr="preencoded.png">    </p:cNvPr>
          <p:cNvPicPr>
            <a:picLocks noChangeAspect="1"/>
          </p:cNvPicPr>
          <p:nvPr/>
        </p:nvPicPr>
        <p:blipFill>
          <a:blip r:embed="rId5"/>
          <a:stretch>
            <a:fillRect/>
          </a:stretch>
        </p:blipFill>
        <p:spPr>
          <a:xfrm>
            <a:off x="3484230" y="3118470"/>
            <a:ext cx="218724" cy="218724"/>
          </a:xfrm>
          <a:prstGeom prst="rect">
            <a:avLst/>
          </a:prstGeom>
        </p:spPr>
      </p:pic>
      <p:sp>
        <p:nvSpPr>
          <p:cNvPr id="26" name="Text 19"/>
          <p:cNvSpPr txBox="1"/>
          <p:nvPr/>
        </p:nvSpPr>
        <p:spPr>
          <a:xfrm>
            <a:off x="3904488" y="2990088"/>
            <a:ext cx="1874520" cy="502920"/>
          </a:xfrm>
          <a:prstGeom prst="rect">
            <a:avLst/>
          </a:prstGeom>
          <a:noFill/>
          <a:ln/>
        </p:spPr>
        <p:txBody>
          <a:bodyPr wrap="square" lIns="0" tIns="0" rIns="0" bIns="0" rtlCol="0" anchor="ctr"/>
          <a:lstStyle/>
          <a:p>
            <a:pPr indent="0" marL="0">
              <a:buNone/>
            </a:pPr>
            <a:r>
              <a:rPr lang="en-US" sz="1100" b="1" dirty="0">
                <a:solidFill>
                  <a:schemeClr val="tx1"/>
                </a:solidFill>
              </a:rPr>
              <a:t>Cost</a:t>
            </a:r>
            <a:endParaRPr lang="en-US" sz="1100" dirty="0"/>
          </a:p>
        </p:txBody>
      </p:sp>
      <p:sp>
        <p:nvSpPr>
          <p:cNvPr id="27" name="Text 20"/>
          <p:cNvSpPr txBox="1"/>
          <p:nvPr/>
        </p:nvSpPr>
        <p:spPr>
          <a:xfrm>
            <a:off x="3383280" y="3593592"/>
            <a:ext cx="2377440" cy="795528"/>
          </a:xfrm>
          <a:prstGeom prst="rect">
            <a:avLst/>
          </a:prstGeom>
          <a:noFill/>
          <a:ln/>
        </p:spPr>
        <p:txBody>
          <a:bodyPr wrap="square" lIns="0" tIns="0" rIns="0" bIns="0" rtlCol="0" anchor="t"/>
          <a:lstStyle/>
          <a:p>
            <a:pPr indent="0" marL="0">
              <a:buNone/>
            </a:pPr>
            <a:r>
              <a:rPr lang="en-US" sz="950" dirty="0">
                <a:solidFill>
                  <a:schemeClr val="tx1"/>
                </a:solidFill>
              </a:rPr>
              <a:t>One P-384 signature costs 17 ms on the OpenTitan engine. Batching keeps the whole-deployment overhead under one percent in the model; nobody has measured it in silicon.</a:t>
            </a:r>
            <a:endParaRPr lang="en-US" sz="950" dirty="0"/>
          </a:p>
        </p:txBody>
      </p:sp>
      <p:sp>
        <p:nvSpPr>
          <p:cNvPr id="28" name="card"/>
          <p:cNvSpPr/>
          <p:nvPr/>
        </p:nvSpPr>
        <p:spPr>
          <a:xfrm>
            <a:off x="6035040" y="2880360"/>
            <a:ext cx="2651760" cy="1600200"/>
          </a:xfrm>
          <a:prstGeom prst="roundRect">
            <a:avLst>
              <a:gd name="adj" fmla="val 3429"/>
            </a:avLst>
          </a:prstGeom>
          <a:solidFill>
            <a:schemeClr val="bg2"/>
          </a:solidFill>
          <a:ln w="9525">
            <a:solidFill>
              <a:schemeClr val="bg2"/>
            </a:solidFill>
            <a:prstDash val="solid"/>
          </a:ln>
        </p:spPr>
      </p:sp>
      <p:sp>
        <p:nvSpPr>
          <p:cNvPr id="29" name="icon circle"/>
          <p:cNvSpPr/>
          <p:nvPr/>
        </p:nvSpPr>
        <p:spPr>
          <a:xfrm>
            <a:off x="6172200" y="3017520"/>
            <a:ext cx="420624" cy="420624"/>
          </a:xfrm>
          <a:prstGeom prst="ellipse">
            <a:avLst/>
          </a:prstGeom>
          <a:solidFill>
            <a:schemeClr val="accent1"/>
          </a:solidFill>
          <a:ln w="12700">
            <a:solidFill>
              <a:schemeClr val="accent1"/>
            </a:solidFill>
            <a:prstDash val="solid"/>
          </a:ln>
        </p:spPr>
      </p:sp>
      <p:pic>
        <p:nvPicPr>
          <p:cNvPr id="30" name="FiKey" descr="preencoded.png">    </p:cNvPr>
          <p:cNvPicPr>
            <a:picLocks noChangeAspect="1"/>
          </p:cNvPicPr>
          <p:nvPr/>
        </p:nvPicPr>
        <p:blipFill>
          <a:blip r:embed="rId6"/>
          <a:stretch>
            <a:fillRect/>
          </a:stretch>
        </p:blipFill>
        <p:spPr>
          <a:xfrm>
            <a:off x="6273150" y="3118470"/>
            <a:ext cx="218724" cy="218724"/>
          </a:xfrm>
          <a:prstGeom prst="rect">
            <a:avLst/>
          </a:prstGeom>
        </p:spPr>
      </p:pic>
      <p:sp>
        <p:nvSpPr>
          <p:cNvPr id="31" name="Text 23"/>
          <p:cNvSpPr txBox="1"/>
          <p:nvPr/>
        </p:nvSpPr>
        <p:spPr>
          <a:xfrm>
            <a:off x="6693408" y="2990088"/>
            <a:ext cx="1874520" cy="502920"/>
          </a:xfrm>
          <a:prstGeom prst="rect">
            <a:avLst/>
          </a:prstGeom>
          <a:noFill/>
          <a:ln/>
        </p:spPr>
        <p:txBody>
          <a:bodyPr wrap="square" lIns="0" tIns="0" rIns="0" bIns="0" rtlCol="0" anchor="ctr"/>
          <a:lstStyle/>
          <a:p>
            <a:pPr indent="0" marL="0">
              <a:buNone/>
            </a:pPr>
            <a:r>
              <a:rPr lang="en-US" sz="1100" b="1" dirty="0">
                <a:solidFill>
                  <a:schemeClr val="tx1"/>
                </a:solidFill>
              </a:rPr>
              <a:t>Governance and adoption</a:t>
            </a:r>
            <a:endParaRPr lang="en-US" sz="1100" dirty="0"/>
          </a:p>
        </p:txBody>
      </p:sp>
      <p:sp>
        <p:nvSpPr>
          <p:cNvPr id="32" name="Text 24"/>
          <p:cNvSpPr txBox="1"/>
          <p:nvPr/>
        </p:nvSpPr>
        <p:spPr>
          <a:xfrm>
            <a:off x="6172200" y="3593592"/>
            <a:ext cx="2377440" cy="795528"/>
          </a:xfrm>
          <a:prstGeom prst="rect">
            <a:avLst/>
          </a:prstGeom>
          <a:noFill/>
          <a:ln/>
        </p:spPr>
        <p:txBody>
          <a:bodyPr wrap="square" lIns="0" tIns="0" rIns="0" bIns="0" rtlCol="0" anchor="t"/>
          <a:lstStyle/>
          <a:p>
            <a:pPr indent="0" marL="0">
              <a:buNone/>
            </a:pPr>
            <a:r>
              <a:rPr lang="en-US" sz="950" dirty="0">
                <a:solidFill>
                  <a:schemeClr val="tx1"/>
                </a:solidFill>
              </a:rPr>
              <a:t>Who holds the quorum keys, whose policy governs a shared rack, and the integrated tier needs NVIDIA. A chip wired to nothing that acts is a logger.</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What I need to prove or disprove the thesis</a:t>
            </a:r>
            <a:endParaRPr lang="en-US" sz="2800" dirty="0"/>
          </a:p>
        </p:txBody>
      </p:sp>
      <p:graphicFrame>
        <p:nvGraphicFramePr>
          <p:cNvPr id="10" name="asks"/>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234440"/>
                <a:gridCol w="2240280"/>
                <a:gridCol w="2286000"/>
              </a:tblGrid>
              <a:tr h="384048">
                <a:tc>
                  <a:txBody>
                    <a:bodyPr/>
                    <a:lstStyle/>
                    <a:p>
                      <a:pPr indent="0" marL="0">
                        <a:buNone/>
                      </a:pPr>
                      <a:r>
                        <a:rPr lang="en-US" sz="1000" b="1" dirty="0">
                          <a:solidFill>
                            <a:schemeClr val="bg1"/>
                          </a:solidFill>
                        </a:rPr>
                        <a:t>Who</a:t>
                      </a:r>
                      <a:endParaRPr lang="en-US" sz="10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rPr>
                        <a:t>What I need</a:t>
                      </a:r>
                      <a:endParaRPr lang="en-US" sz="10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rPr>
                        <a:t>What it settles</a:t>
                      </a:r>
                      <a:endParaRPr lang="en-US" sz="10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chemeClr val="tx2"/>
                    </a:solidFill>
                  </a:tcPr>
                </a:tc>
              </a:tr>
              <a:tr h="384048">
                <a:tc>
                  <a:txBody>
                    <a:bodyPr/>
                    <a:lstStyle/>
                    <a:p>
                      <a:pPr indent="0" marL="0">
                        <a:buNone/>
                      </a:pPr>
                      <a:r>
                        <a:rPr lang="en-US" sz="900" b="1" dirty="0">
                          <a:solidFill>
                            <a:schemeClr val="tx1"/>
                          </a:solidFill>
                        </a:rPr>
                        <a:t>A server OEM</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A conversation about the management-module slot, and the HGX design guide under NDA</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Whether the per-module levers reach the connector. If they do not, the rack tier is coarser than the design says</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chemeClr val="tx1"/>
                          </a:solidFill>
                        </a:rPr>
                        <a:t>NVIDIA</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900" dirty="0">
                          <a:solidFill>
                            <a:schemeClr val="tx1"/>
                          </a:solidFill>
                        </a:rPr>
                        <a:t>Seven firmware asks: NSM port-disable semantics, per-GPU reset, buffer-class checkers in the copy engines</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900" dirty="0">
                          <a:solidFill>
                            <a:schemeClr val="tx1"/>
                          </a:solidFill>
                        </a:rPr>
                        <a:t>The integrated tier; whether the design's gaps can be closed from inside the silicon</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r>
              <a:tr h="384048">
                <a:tc>
                  <a:txBody>
                    <a:bodyPr/>
                    <a:lstStyle/>
                    <a:p>
                      <a:pPr indent="0" marL="0">
                        <a:buNone/>
                      </a:pPr>
                      <a:r>
                        <a:rPr lang="en-US" sz="900" b="1" dirty="0">
                          <a:solidFill>
                            <a:schemeClr val="tx1"/>
                          </a:solidFill>
                        </a:rPr>
                        <a:t>An endpoint partner</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A functional-safety vendor or a tool-gateway operator willing to check a ticket in a device</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Whether the comparator works outside the model. If nobody will check the stamp, the thesis fails in practice</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chemeClr val="tx1"/>
                          </a:solidFill>
                        </a:rPr>
                        <a:t>Chip designers and an auditor</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900" dirty="0">
                          <a:solidFill>
                            <a:schemeClr val="tx1"/>
                          </a:solidFill>
                        </a:rPr>
                        <a:t>Independent review of the RTL, the firmware plan and the proof-assumption list</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900" dirty="0">
                          <a:solidFill>
                            <a:schemeClr val="tx1"/>
                          </a:solidFill>
                        </a:rPr>
                        <a:t>Verification before any tape-out; the 1000 percent bar in the pre-hardware phase</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r>
              <a:tr h="384048">
                <a:tc>
                  <a:txBody>
                    <a:bodyPr/>
                    <a:lstStyle/>
                    <a:p>
                      <a:pPr indent="0" marL="0">
                        <a:buNone/>
                      </a:pPr>
                      <a:r>
                        <a:rPr lang="en-US" sz="900" b="1" dirty="0">
                          <a:solidFill>
                            <a:schemeClr val="tx1"/>
                          </a:solidFill>
                        </a:rPr>
                        <a:t>A lab with an HGX or NVL rack</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An FPGA beside a real GPU for weeks</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The real overhead against the one percent goal, and the false-halt rate</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chemeClr val="tx1"/>
                          </a:solidFill>
                        </a:rPr>
                        <a:t>A model lab's red team</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900" dirty="0">
                          <a:solidFill>
                            <a:schemeClr val="tx1"/>
                          </a:solidFill>
                        </a:rPr>
                        <a:t>Attacks on the release gate and the observers with disguised requests</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c>
                  <a:txBody>
                    <a:bodyPr/>
                    <a:lstStyle/>
                    <a:p>
                      <a:pPr indent="0" marL="0">
                        <a:buNone/>
                      </a:pPr>
                      <a:r>
                        <a:rPr lang="en-US" sz="900" dirty="0">
                          <a:solidFill>
                            <a:schemeClr val="tx1"/>
                          </a:solidFill>
                        </a:rPr>
                        <a:t>The size of the semantic residual; whether a quorum of observers is enough</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EEF2EF"/>
                    </a:solidFill>
                  </a:tcPr>
                </a:tc>
              </a:tr>
              <a:tr h="384048">
                <a:tc>
                  <a:txBody>
                    <a:bodyPr/>
                    <a:lstStyle/>
                    <a:p>
                      <a:pPr indent="0" marL="0">
                        <a:buNone/>
                      </a:pPr>
                      <a:r>
                        <a:rPr lang="en-US" sz="900" b="1" dirty="0">
                          <a:solidFill>
                            <a:schemeClr val="tx1"/>
                          </a:solidFill>
                        </a:rPr>
                        <a:t>A regulator or insurer</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A trial of the compliance wedge: what ran, under which rules, was it stoppable, signed by an independent key</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c>
                  <a:txBody>
                    <a:bodyPr/>
                    <a:lstStyle/>
                    <a:p>
                      <a:pPr indent="0" marL="0">
                        <a:buNone/>
                      </a:pPr>
                      <a:r>
                        <a:rPr lang="en-US" sz="900" dirty="0">
                          <a:solidFill>
                            <a:schemeClr val="tx1"/>
                          </a:solidFill>
                        </a:rPr>
                        <a:t>Whether the independent signer is worth paying for</a:t>
                      </a:r>
                      <a:endParaRPr lang="en-US" sz="900" dirty="0"/>
                    </a:p>
                  </a:txBody>
                  <a:tcPr marL="45720" marR="45720" marT="45720" marB="45720" anchor="ctr">
                    <a:lnL w="9525" cap="flat" cmpd="sng" algn="ctr">
                      <a:solidFill>
                        <a:srgbClr val="EEF2EF"/>
                      </a:solidFill>
                      <a:prstDash val="solid"/>
                      <a:round/>
                      <a:headEnd type="none" w="med" len="med"/>
                      <a:tailEnd type="none" w="med" len="med"/>
                    </a:lnL>
                    <a:lnR w="9525" cap="flat" cmpd="sng" algn="ctr">
                      <a:solidFill>
                        <a:srgbClr val="EEF2EF"/>
                      </a:solidFill>
                      <a:prstDash val="solid"/>
                      <a:round/>
                      <a:headEnd type="none" w="med" len="med"/>
                      <a:tailEnd type="none" w="med" len="med"/>
                    </a:lnR>
                    <a:lnT w="9525" cap="flat" cmpd="sng" algn="ctr">
                      <a:solidFill>
                        <a:srgbClr val="EEF2EF"/>
                      </a:solidFill>
                      <a:prstDash val="solid"/>
                      <a:round/>
                      <a:headEnd type="none" w="med" len="med"/>
                      <a:tailEnd type="none" w="med" len="med"/>
                    </a:lnT>
                    <a:lnB w="9525" cap="flat" cmpd="sng" algn="ctr">
                      <a:solidFill>
                        <a:srgbClr val="EEF2EF"/>
                      </a:solidFill>
                      <a:prstDash val="solid"/>
                      <a:round/>
                      <a:headEnd type="none" w="med" len="med"/>
                      <a:tailEnd type="none" w="med" len="med"/>
                    </a:lnB>
                    <a:solidFill>
                      <a:srgbClr val="FFFFFF"/>
                    </a:solidFill>
                  </a:tcPr>
                </a:tc>
              </a:tr>
            </a:tbl>
          </a:graphicData>
        </a:graphic>
      </p:graphicFrame>
      <p:sp>
        <p:nvSpPr>
          <p:cNvPr id="4" name="disproof"/>
          <p:cNvSpPr/>
          <p:nvPr/>
        </p:nvSpPr>
        <p:spPr>
          <a:xfrm>
            <a:off x="6446520" y="1051560"/>
            <a:ext cx="2240280" cy="3566160"/>
          </a:xfrm>
          <a:prstGeom prst="roundRect">
            <a:avLst>
              <a:gd name="adj" fmla="val 2449"/>
            </a:avLst>
          </a:prstGeom>
          <a:solidFill>
            <a:schemeClr val="tx1"/>
          </a:solidFill>
          <a:ln w="12700">
            <a:solidFill>
              <a:schemeClr val="tx1"/>
            </a:solidFill>
            <a:prstDash val="solid"/>
          </a:ln>
        </p:spPr>
      </p:sp>
      <p:sp>
        <p:nvSpPr>
          <p:cNvPr id="5" name="Text 2"/>
          <p:cNvSpPr txBox="1"/>
          <p:nvPr/>
        </p:nvSpPr>
        <p:spPr>
          <a:xfrm>
            <a:off x="6629400" y="1188720"/>
            <a:ext cx="1920240" cy="320040"/>
          </a:xfrm>
          <a:prstGeom prst="rect">
            <a:avLst/>
          </a:prstGeom>
          <a:noFill/>
          <a:ln/>
        </p:spPr>
        <p:txBody>
          <a:bodyPr wrap="square" lIns="0" tIns="0" rIns="0" bIns="0" rtlCol="0" anchor="t"/>
          <a:lstStyle/>
          <a:p>
            <a:pPr indent="0" marL="0">
              <a:buNone/>
            </a:pPr>
            <a:r>
              <a:rPr lang="en-US" sz="1300" b="1" dirty="0">
                <a:solidFill>
                  <a:schemeClr val="accent6"/>
                </a:solidFill>
                <a:latin typeface="Cambria" pitchFamily="34" charset="0"/>
                <a:ea typeface="Cambria" pitchFamily="34" charset="-122"/>
                <a:cs typeface="Cambria" pitchFamily="34" charset="-120"/>
              </a:rPr>
              <a:t>What would disprove it</a:t>
            </a:r>
            <a:endParaRPr lang="en-US" sz="1300" dirty="0"/>
          </a:p>
        </p:txBody>
      </p:sp>
      <p:sp>
        <p:nvSpPr>
          <p:cNvPr id="6" name="Text 3"/>
          <p:cNvSpPr txBox="1"/>
          <p:nvPr/>
        </p:nvSpPr>
        <p:spPr>
          <a:xfrm>
            <a:off x="6629400" y="1600200"/>
            <a:ext cx="1920240" cy="2926080"/>
          </a:xfrm>
          <a:prstGeom prst="rect">
            <a:avLst/>
          </a:prstGeom>
          <a:noFill/>
          <a:ln/>
        </p:spPr>
        <p:txBody>
          <a:bodyPr wrap="square" lIns="0" tIns="0" rIns="0" bIns="0" rtlCol="0" anchor="t"/>
          <a:lstStyle/>
          <a:p>
            <a:pPr marL="127000" indent="-127000">
              <a:spcAft>
                <a:spcPts val="500"/>
              </a:spcAft>
              <a:buSzPct val="100000"/>
              <a:buChar char="•"/>
            </a:pPr>
            <a:r>
              <a:rPr lang="en-US" sz="950" dirty="0">
                <a:solidFill>
                  <a:schemeClr val="bg1"/>
                </a:solidFill>
              </a:rPr>
              <a:t>No device that acts will verify a ticket</a:t>
            </a:r>
            <a:endParaRPr lang="en-US" sz="950" dirty="0"/>
          </a:p>
          <a:p>
            <a:pPr marL="127000" indent="-127000">
              <a:spcAft>
                <a:spcPts val="500"/>
              </a:spcAft>
              <a:buSzPct val="100000"/>
              <a:buChar char="•"/>
            </a:pPr>
            <a:r>
              <a:rPr lang="en-US" sz="950" dirty="0">
                <a:solidFill>
                  <a:schemeClr val="bg1"/>
                </a:solidFill>
              </a:rPr>
              <a:t>The levers do not reach the baseboard connector</a:t>
            </a:r>
            <a:endParaRPr lang="en-US" sz="950" dirty="0"/>
          </a:p>
          <a:p>
            <a:pPr marL="127000" indent="-127000">
              <a:spcAft>
                <a:spcPts val="500"/>
              </a:spcAft>
              <a:buSzPct val="100000"/>
              <a:buChar char="•"/>
            </a:pPr>
            <a:r>
              <a:rPr lang="en-US" sz="950" dirty="0">
                <a:solidFill>
                  <a:schemeClr val="bg1"/>
                </a:solidFill>
              </a:rPr>
              <a:t>False halts happen at a rate operators will not accept</a:t>
            </a:r>
            <a:endParaRPr lang="en-US" sz="950" dirty="0"/>
          </a:p>
          <a:p>
            <a:pPr marL="127000" indent="-127000">
              <a:spcAft>
                <a:spcPts val="500"/>
              </a:spcAft>
              <a:buSzPct val="100000"/>
              <a:buChar char="•"/>
            </a:pPr>
            <a:r>
              <a:rPr lang="en-US" sz="950" dirty="0">
                <a:solidFill>
                  <a:schemeClr val="bg1"/>
                </a:solidFill>
              </a:rPr>
              <a:t>Measured overhead stays above one percent after batching</a:t>
            </a:r>
            <a:endParaRPr lang="en-US" sz="950" dirty="0"/>
          </a:p>
          <a:p>
            <a:pPr marL="127000" indent="-127000">
              <a:spcAft>
                <a:spcPts val="500"/>
              </a:spcAft>
              <a:buSzPct val="100000"/>
              <a:buChar char="•"/>
            </a:pPr>
            <a:r>
              <a:rPr lang="en-US" sz="950" dirty="0">
                <a:solidFill>
                  <a:schemeClr val="bg1"/>
                </a:solidFill>
              </a:rPr>
              <a:t>Observers miss disguised requests too often for the hazard cases</a:t>
            </a:r>
            <a:endParaRPr lang="en-US" sz="950" dirty="0"/>
          </a:p>
          <a:p>
            <a:pPr marL="127000" indent="-127000">
              <a:spcAft>
                <a:spcPts val="500"/>
              </a:spcAft>
              <a:buSzPct val="100000"/>
              <a:buChar char="•"/>
            </a:pPr>
            <a:r>
              <a:rPr lang="en-US" sz="950" dirty="0">
                <a:solidFill>
                  <a:schemeClr val="bg1"/>
                </a:solidFill>
              </a:rPr>
              <a:t>The quorum cannot be staffed: nobody will hold the keys</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669280" cy="1097280"/>
          </a:xfrm>
          <a:prstGeom prst="rect">
            <a:avLst/>
          </a:prstGeom>
          <a:noFill/>
          <a:ln/>
        </p:spPr>
        <p:txBody>
          <a:bodyPr wrap="square" lIns="0" tIns="0" rIns="0" bIns="0" rtlCol="0" anchor="b"/>
          <a:lstStyle/>
          <a:p>
            <a:pPr algn="l" indent="0" marL="0">
              <a:buNone/>
            </a:pPr>
            <a:r>
              <a:rPr lang="en-US" sz="4000" b="1" dirty="0">
                <a:solidFill>
                  <a:schemeClr val="bg1"/>
                </a:solidFill>
              </a:rPr>
              <a:t>The one-sentence version</a:t>
            </a:r>
            <a:endParaRPr lang="en-US" sz="4000" dirty="0"/>
          </a:p>
        </p:txBody>
      </p:sp>
      <p:sp>
        <p:nvSpPr>
          <p:cNvPr id="3" name="Text 0"/>
          <p:cNvSpPr/>
          <p:nvPr>
            <p:ph idx="101" type="body" hasCustomPrompt="1"/>
          </p:nvPr>
        </p:nvSpPr>
        <p:spPr>
          <a:xfrm>
            <a:off x="548640" y="2468880"/>
            <a:ext cx="5669280" cy="1280160"/>
          </a:xfrm>
          <a:prstGeom prst="rect">
            <a:avLst/>
          </a:prstGeom>
          <a:noFill/>
          <a:ln/>
        </p:spPr>
        <p:txBody>
          <a:bodyPr wrap="square" lIns="0" tIns="0" rIns="0" bIns="0" rtlCol="0" anchor="t"/>
          <a:lstStyle/>
          <a:p>
            <a:pPr algn="l" indent="0" marL="0">
              <a:buNone/>
            </a:pPr>
            <a:r>
              <a:rPr lang="en-US" sz="1800" dirty="0">
                <a:solidFill>
                  <a:schemeClr val="accent6"/>
                </a:solidFill>
              </a:rPr>
              <a:t>The governor never knows what the model is thinking and does not need to, because thinking fires nothing. A ticket does, and the model cannot mint one.</a:t>
            </a:r>
            <a:endParaRPr lang="en-US" sz="1800" dirty="0"/>
          </a:p>
        </p:txBody>
      </p:sp>
      <p:sp>
        <p:nvSpPr>
          <p:cNvPr id="4" name="Text 2"/>
          <p:cNvSpPr txBox="1"/>
          <p:nvPr/>
        </p:nvSpPr>
        <p:spPr>
          <a:xfrm>
            <a:off x="548640" y="3794760"/>
            <a:ext cx="8046720" cy="731520"/>
          </a:xfrm>
          <a:prstGeom prst="rect">
            <a:avLst/>
          </a:prstGeom>
          <a:noFill/>
          <a:ln/>
        </p:spPr>
        <p:txBody>
          <a:bodyPr wrap="square" lIns="0" tIns="0" rIns="0" bIns="0" rtlCol="0" anchor="t"/>
          <a:lstStyle/>
          <a:p>
            <a:pPr indent="0" marL="0">
              <a:buNone/>
            </a:pPr>
            <a:r>
              <a:rPr lang="en-US" sz="1100" dirty="0">
                <a:solidFill>
                  <a:schemeClr val="accent6"/>
                </a:solidFill>
              </a:rPr>
              <a:t>github.com/YobieBenjamin/safety-governor</a:t>
            </a:r>
            <a:endParaRPr lang="en-US" sz="1100" dirty="0"/>
          </a:p>
          <a:p>
            <a:pPr indent="0" marL="0">
              <a:buNone/>
            </a:pPr>
            <a:r>
              <a:rPr lang="en-US" sz="1100" dirty="0">
                <a:solidFill>
                  <a:schemeClr val="accent6"/>
                </a:solidFill>
              </a:rPr>
              <a:t>github.com/YobieBenjamin/hardware-and-silicon</a:t>
            </a:r>
            <a:endParaRPr lang="en-US" sz="1100" dirty="0"/>
          </a:p>
          <a:p>
            <a:pPr indent="0" marL="0">
              <a:buNone/>
            </a:pPr>
            <a:r>
              <a:rPr lang="en-US" sz="1100" dirty="0">
                <a:solidFill>
                  <a:schemeClr val="accent3"/>
                </a:solidFill>
              </a:rPr>
              <a:t>The Chip That Says No, parts 1 to 4, and the design documents 00 to 18</a:t>
            </a:r>
            <a:endParaRPr lang="en-US" sz="11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7D8C81"/>
      </a:accent3>
      <a:accent4>
        <a:srgbClr val="A33B2E"/>
      </a:accent4>
      <a:accent5>
        <a:srgbClr val="1F7A4D"/>
      </a:accent5>
      <a:accent6>
        <a:srgbClr val="E6C3A5"/>
      </a:accent6>
      <a:hlink>
        <a:srgbClr val="C2703D"/>
      </a:hlink>
      <a:folHlink>
        <a:srgbClr val="7D8C81"/>
      </a:folHlink>
    </a:clrScheme>
    <a:fontScheme name="Chip That Says 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2026-10-16T20:59:49Z</dcterms:created>
  <dcterms:modified xsi:type="dcterms:W3CDTF">2026-10-16T20:59:49Z</dcterms:modified>
</cp:coreProperties>
</file>