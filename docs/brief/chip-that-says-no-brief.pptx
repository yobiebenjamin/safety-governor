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10bd3d-e91b-211d-1580-9899beb9c96e}">
          <p14:sldIdLst>
            <p14:sldId id="256"/>
            <p14:sldId id="257"/>
          </p14:sldIdLst>
        </p14:section>
        <p14:section name="Thesis" id="{110e8c12-ffc8-a329-cd90-8eb3eaf2b57e}">
          <p14:sldIdLst>
            <p14:sldId id="258"/>
            <p14:sldId id="259"/>
          </p14:sldIdLst>
        </p14:section>
        <p14:section name="Logic" id="{abae2cf0-a495-a630-db1f-f1d8b4ffe135}">
          <p14:sldIdLst>
            <p14:sldId id="260"/>
            <p14:sldId id="261"/>
          </p14:sldIdLst>
        </p14:section>
        <p14:section name="Proposal" id="{ab61c11c-5cc3-a11a-9f32-aebf05bfff4b}">
          <p14:sldIdLst>
            <p14:sldId id="262"/>
            <p14:sldId id="263"/>
          </p14:sldIdLst>
        </p14:section>
        <p14:section name="Layers" id="{09ce6713-4301-ac94-91a8-c19f41cbf9e0}">
          <p14:sldIdLst>
            <p14:sldId id="264"/>
            <p14:sldId id="265"/>
          </p14:sldIdLst>
        </p14:section>
        <p14:section name="How it meets the model" id="{e2919d72-3d6a-9447-0357-4e8faff74179}">
          <p14:sldIdLst>
            <p14:sldId id="266"/>
            <p14:sldId id="267"/>
          </p14:sldIdLst>
        </p14:section>
        <p14:section name="Status" id="{f9ec4955-210d-7622-508d-3ba515e7c76c}">
          <p14:sldIdLst>
            <p14:sldId id="268"/>
          </p14:sldIdLst>
        </p14:section>
        <p14:section name="Challenges" id="{93ac99a9-131c-3963-dc12-70fc9db87beb}">
          <p14:sldIdLst>
            <p14:sldId id="269"/>
            <p14:sldId id="270"/>
          </p14:sldIdLst>
        </p14:section>
        <p14:section name="What I need" id="{a49a3bed-2188-00d1-76ee-6061fab654fc}">
          <p14:sldIdLst>
            <p14:sldId id="271"/>
            <p14:sldId id="272"/>
          </p14:sldIdLst>
        </p14:section>
        <p14:section name="Close" id="{7bb20a0b-b20c-90d5-74b6-0f570d6b7af0}">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brief for a short talk. Every topic has two slides: the plain one with a picture for the room, the technical one for the people who will want to argue. Say up front that nothing here is silicon yet: it is a design with a model, tests, hardware blocks and a circuit simulation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a design program, not a product. The reference stack proved the logic in software first; the governor is the chip that makes it tamperproof; silicon waits for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Witnesses are useful and we keep all of them. But a witness lives in software that the operator, or the model, can change. The lock has to be something that cannot be argued with: a stamp the device checks for itself, a port that does not open, a breaker.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idea the design stands on. Each property has a mechanism, not a promise. The five crossings are the whole attack surface the chip claims to cover; anything that does not pass a crossing is outside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one conclusion, and the picture that carries the whole design: the customs officer. She checks seal, manifest, weight and the approved list, and catches smuggling as a mismatch. The chip does the same with hashes, signatures, counts and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question people ask first: how can a chip know what is bad if it cannot read tokens? It cannot, and it does not try. It checks structure, and it makes the parts that do understand meaning impossible to skip or impersonate.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to leave in the room: three boxes. The model computes, the governor decides, the devices check the stamp. The four points under it are the design choices that make it buildable: added on existing boards, an allow-list, a physical stop, and a tier that needs no new silicon from NVIDIA.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shape. Everything in the left column already exists on the boards; the governor is a new user of it. The right column is the die: a root of trust of the OpenTitan kind, plus the gate. The tiers are how the same design degrades or tightens depending on who cooperates.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and one building to picture them in. Three are locks: the keys that sign the rulebook, the gate, and the root of trust under it. Two are witnesses the gate can require but never obeys on its own. One, the model, is the customer: served, watched, never handed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 layers with the mechanism named. The column to watch is the third: what each layer can sign. Only layers 0, 4 and 5 produce something the gate trusts; layer 1 can sign nothing the gate will accept, which is the whole design in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boxes. The thing to stress is box 5: the device checks the ticket itself, so a lying runtime is caught by the device, not by the governor. And the boarding pass: bound to one action, works once, printed only by the governor.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with the actual checks and the actual reason codes. Every row has a test behind it; the right column names the hypothesis set. If someone wants to see one, python -m govsim.cli usecase strike, hazard, plot or oversight prints the 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two numbers that matter most for adoption, the real overhead and the false-halt rate, are not measured yet. That is where the asks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 chain is the picture for the deepest challenge. Authority is full at the governor, partial at the network, and zero at a bank that has never heard of the stamp. The answer, on the next slide, is to move the credential rather than reach through the bank. The other five are engineering and governance, which does not make them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the mechanism and its status. The status column is the honest part: modelled is not measured, and three of the six end in an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in plain words. Each one maps to a specific open question on the next slide, and several would disprove the thesis as stated if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The right-hand panel is the falsification list: if any of those six comes true, the design as written does not hold, and we should know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then questions. The repositories hold the model, the tests, the RTL, the circuit simulation and the audit; the blog series is the plain-English route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2801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200400"/>
            <a:ext cx="7315200" cy="164592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
        <p:nvSpPr>
          <p:cNvPr id="4" name="Text 0"/>
          <p:cNvSpPr/>
          <p:nvPr/>
        </p:nvSpPr>
        <p:spPr>
          <a:xfrm>
            <a:off x="548640" y="6217920"/>
            <a:ext cx="8229600" cy="320040"/>
          </a:xfrm>
          <a:prstGeom prst="rect">
            <a:avLst/>
          </a:prstGeom>
          <a:noFill/>
          <a:ln/>
        </p:spPr>
        <p:txBody>
          <a:bodyPr wrap="square" lIns="0" tIns="0" rIns="0" bIns="0" rtlCol="0" anchor="ctr"/>
          <a:lstStyle/>
          <a:p>
            <a:pPr indent="0" marL="0">
              <a:buNone/>
            </a:pPr>
            <a:r>
              <a:rPr lang="en-US" sz="1200" dirty="0">
                <a:solidFill>
                  <a:schemeClr val="accent3"/>
                </a:solidFill>
              </a:rPr>
              <a:t>Yobie Benjamin  ·  yobie AT ieee DOT org  ·  linkedin.com/in/yobie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100" dirty="0">
                <a:solidFill>
                  <a:schemeClr val="accent3"/>
                </a:solidFill>
              </a:rPr>
              <a:t>Yobie Benjamin  ·  The Chip That Says No  ·  October 2026</a:t>
            </a:r>
            <a:endParaRPr lang="en-US" sz="11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280160"/>
          </a:xfrm>
          <a:prstGeom prst="rect">
            <a:avLst/>
          </a:prstGeom>
          <a:noFill/>
          <a:ln/>
        </p:spPr>
        <p:txBody>
          <a:bodyPr wrap="square" lIns="0" tIns="0" rIns="0" bIns="0" rtlCol="0" anchor="b"/>
          <a:lstStyle/>
          <a:p>
            <a:pPr algn="l" indent="0" marL="0">
              <a:buNone/>
            </a:pPr>
            <a:r>
              <a:rPr lang="en-US" sz="4400" b="1" dirty="0">
                <a:solidFill>
                  <a:schemeClr val="bg1"/>
                </a:solidFill>
              </a:rPr>
              <a:t>The Chip That Says No</a:t>
            </a:r>
            <a:endParaRPr lang="en-US" sz="4400" dirty="0"/>
          </a:p>
        </p:txBody>
      </p:sp>
      <p:sp>
        <p:nvSpPr>
          <p:cNvPr id="3" name="Text 0"/>
          <p:cNvSpPr/>
          <p:nvPr>
            <p:ph idx="101" type="body" hasCustomPrompt="1"/>
          </p:nvPr>
        </p:nvSpPr>
        <p:spPr>
          <a:xfrm>
            <a:off x="548640" y="3200400"/>
            <a:ext cx="7315200" cy="1645920"/>
          </a:xfrm>
          <a:prstGeom prst="rect">
            <a:avLst/>
          </a:prstGeom>
          <a:noFill/>
          <a:ln/>
        </p:spPr>
        <p:txBody>
          <a:bodyPr wrap="square" lIns="0" tIns="0" rIns="0" bIns="0" rtlCol="0" anchor="t"/>
          <a:lstStyle/>
          <a:p>
            <a:pPr algn="l" indent="0" marL="0">
              <a:buNone/>
            </a:pPr>
            <a:r>
              <a:rPr lang="en-US" sz="2000" dirty="0">
                <a:solidFill>
                  <a:schemeClr val="accent6"/>
                </a:solidFill>
              </a:rPr>
              <a:t>A multi-layer hardware approach to AI safety. Each topic in two slides: the plain version with a picture, then the technical one.</a:t>
            </a:r>
            <a:endParaRPr lang="en-US" sz="2000" dirty="0"/>
          </a:p>
        </p:txBody>
      </p:sp>
      <p:sp>
        <p:nvSpPr>
          <p:cNvPr id="4" name="halt loop"/>
          <p:cNvSpPr/>
          <p:nvPr/>
        </p:nvSpPr>
        <p:spPr>
          <a:xfrm>
            <a:off x="8732520" y="1965960"/>
            <a:ext cx="2651760" cy="2651760"/>
          </a:xfrm>
          <a:prstGeom prst="ellipse">
            <a:avLst/>
          </a:prstGeom>
          <a:solidFill>
            <a:srgbClr val="1B2A24"/>
          </a:solidFill>
          <a:ln w="63500">
            <a:solidFill>
              <a:schemeClr val="accent1"/>
            </a:solidFill>
            <a:prstDash val="solid"/>
          </a:ln>
        </p:spPr>
      </p:sp>
      <p:sp>
        <p:nvSpPr>
          <p:cNvPr id="5" name="governor 0"/>
          <p:cNvSpPr/>
          <p:nvPr/>
        </p:nvSpPr>
        <p:spPr>
          <a:xfrm>
            <a:off x="9893808" y="1801368"/>
            <a:ext cx="329184" cy="329184"/>
          </a:xfrm>
          <a:prstGeom prst="roundRect">
            <a:avLst>
              <a:gd name="adj" fmla="val 16667"/>
            </a:avLst>
          </a:prstGeom>
          <a:solidFill>
            <a:schemeClr val="accent2"/>
          </a:solidFill>
          <a:ln w="19050">
            <a:solidFill>
              <a:schemeClr val="bg1"/>
            </a:solidFill>
            <a:prstDash val="solid"/>
          </a:ln>
        </p:spPr>
      </p:sp>
      <p:sp>
        <p:nvSpPr>
          <p:cNvPr id="6" name="governor 1"/>
          <p:cNvSpPr/>
          <p:nvPr/>
        </p:nvSpPr>
        <p:spPr>
          <a:xfrm>
            <a:off x="10831347" y="2189709"/>
            <a:ext cx="329184" cy="329184"/>
          </a:xfrm>
          <a:prstGeom prst="roundRect">
            <a:avLst>
              <a:gd name="adj" fmla="val 16667"/>
            </a:avLst>
          </a:prstGeom>
          <a:solidFill>
            <a:schemeClr val="accent2"/>
          </a:solidFill>
          <a:ln w="19050">
            <a:solidFill>
              <a:schemeClr val="bg1"/>
            </a:solidFill>
            <a:prstDash val="solid"/>
          </a:ln>
        </p:spPr>
      </p:sp>
      <p:sp>
        <p:nvSpPr>
          <p:cNvPr id="7" name="governor 2"/>
          <p:cNvSpPr/>
          <p:nvPr/>
        </p:nvSpPr>
        <p:spPr>
          <a:xfrm>
            <a:off x="11219688" y="3127248"/>
            <a:ext cx="329184" cy="329184"/>
          </a:xfrm>
          <a:prstGeom prst="roundRect">
            <a:avLst>
              <a:gd name="adj" fmla="val 16667"/>
            </a:avLst>
          </a:prstGeom>
          <a:solidFill>
            <a:schemeClr val="accent2"/>
          </a:solidFill>
          <a:ln w="19050">
            <a:solidFill>
              <a:schemeClr val="bg1"/>
            </a:solidFill>
            <a:prstDash val="solid"/>
          </a:ln>
        </p:spPr>
      </p:sp>
      <p:sp>
        <p:nvSpPr>
          <p:cNvPr id="8" name="governor 3"/>
          <p:cNvSpPr/>
          <p:nvPr/>
        </p:nvSpPr>
        <p:spPr>
          <a:xfrm>
            <a:off x="10831347" y="4064787"/>
            <a:ext cx="329184" cy="329184"/>
          </a:xfrm>
          <a:prstGeom prst="roundRect">
            <a:avLst>
              <a:gd name="adj" fmla="val 16667"/>
            </a:avLst>
          </a:prstGeom>
          <a:solidFill>
            <a:schemeClr val="accent2"/>
          </a:solidFill>
          <a:ln w="19050">
            <a:solidFill>
              <a:schemeClr val="bg1"/>
            </a:solidFill>
            <a:prstDash val="solid"/>
          </a:ln>
        </p:spPr>
      </p:sp>
      <p:sp>
        <p:nvSpPr>
          <p:cNvPr id="9" name="governor 4"/>
          <p:cNvSpPr/>
          <p:nvPr/>
        </p:nvSpPr>
        <p:spPr>
          <a:xfrm>
            <a:off x="9893808" y="4453128"/>
            <a:ext cx="329184" cy="329184"/>
          </a:xfrm>
          <a:prstGeom prst="roundRect">
            <a:avLst>
              <a:gd name="adj" fmla="val 16667"/>
            </a:avLst>
          </a:prstGeom>
          <a:solidFill>
            <a:schemeClr val="accent2"/>
          </a:solidFill>
          <a:ln w="19050">
            <a:solidFill>
              <a:schemeClr val="bg1"/>
            </a:solidFill>
            <a:prstDash val="solid"/>
          </a:ln>
        </p:spPr>
      </p:sp>
      <p:sp>
        <p:nvSpPr>
          <p:cNvPr id="10" name="governor 5"/>
          <p:cNvSpPr/>
          <p:nvPr/>
        </p:nvSpPr>
        <p:spPr>
          <a:xfrm>
            <a:off x="8956269" y="4064787"/>
            <a:ext cx="329184" cy="329184"/>
          </a:xfrm>
          <a:prstGeom prst="roundRect">
            <a:avLst>
              <a:gd name="adj" fmla="val 16667"/>
            </a:avLst>
          </a:prstGeom>
          <a:solidFill>
            <a:schemeClr val="accent4"/>
          </a:solidFill>
          <a:ln w="19050">
            <a:solidFill>
              <a:schemeClr val="bg1"/>
            </a:solidFill>
            <a:prstDash val="solid"/>
          </a:ln>
        </p:spPr>
      </p:sp>
      <p:sp>
        <p:nvSpPr>
          <p:cNvPr id="11" name="governor 6"/>
          <p:cNvSpPr/>
          <p:nvPr/>
        </p:nvSpPr>
        <p:spPr>
          <a:xfrm>
            <a:off x="8567928" y="3127248"/>
            <a:ext cx="329184" cy="329184"/>
          </a:xfrm>
          <a:prstGeom prst="roundRect">
            <a:avLst>
              <a:gd name="adj" fmla="val 16667"/>
            </a:avLst>
          </a:prstGeom>
          <a:solidFill>
            <a:schemeClr val="accent2"/>
          </a:solidFill>
          <a:ln w="19050">
            <a:solidFill>
              <a:schemeClr val="bg1"/>
            </a:solidFill>
            <a:prstDash val="solid"/>
          </a:ln>
        </p:spPr>
      </p:sp>
      <p:sp>
        <p:nvSpPr>
          <p:cNvPr id="12" name="governor 7"/>
          <p:cNvSpPr/>
          <p:nvPr/>
        </p:nvSpPr>
        <p:spPr>
          <a:xfrm>
            <a:off x="8956269" y="2189709"/>
            <a:ext cx="329184" cy="329184"/>
          </a:xfrm>
          <a:prstGeom prst="roundRect">
            <a:avLst>
              <a:gd name="adj" fmla="val 16667"/>
            </a:avLst>
          </a:prstGeom>
          <a:solidFill>
            <a:schemeClr val="accent2"/>
          </a:solidFill>
          <a:ln w="19050">
            <a:solidFill>
              <a:schemeClr val="bg1"/>
            </a:solidFill>
            <a:prstDash val="solid"/>
          </a:ln>
        </p:spPr>
      </p:sp>
      <p:sp>
        <p:nvSpPr>
          <p:cNvPr id="13" name="Text 11"/>
          <p:cNvSpPr txBox="1"/>
          <p:nvPr/>
        </p:nvSpPr>
        <p:spPr>
          <a:xfrm>
            <a:off x="8321040" y="4892040"/>
            <a:ext cx="3474720" cy="640080"/>
          </a:xfrm>
          <a:prstGeom prst="rect">
            <a:avLst/>
          </a:prstGeom>
          <a:noFill/>
          <a:ln/>
        </p:spPr>
        <p:txBody>
          <a:bodyPr wrap="square" lIns="0" tIns="0" rIns="0" bIns="0" rtlCol="0" anchor="t"/>
          <a:lstStyle/>
          <a:p>
            <a:pPr algn="ctr" indent="0" marL="0">
              <a:buNone/>
            </a:pPr>
            <a:r>
              <a:rPr lang="en-US" sz="1100" dirty="0">
                <a:solidFill>
                  <a:schemeClr val="accent3"/>
                </a:solidFill>
              </a:rPr>
              <a:t>The halt loop: one wire through every governor in a rack. Any one opens it and every GPU stops.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this project is</a:t>
            </a:r>
            <a:endParaRPr lang="en-US" sz="3200" dirty="0"/>
          </a:p>
        </p:txBody>
      </p:sp>
      <p:sp>
        <p:nvSpPr>
          <p:cNvPr id="3" name="Text 1"/>
          <p:cNvSpPr txBox="1"/>
          <p:nvPr/>
        </p:nvSpPr>
        <p:spPr>
          <a:xfrm>
            <a:off x="548640" y="1417320"/>
            <a:ext cx="6035040" cy="20116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A design for a small safety chip that sits beside every AI GPU and holds the only stamp a device needs before it acts. Built in the open as a model with tests, hardware blocks and a circuit simulation. No silicon yet, by choice.</a:t>
            </a:r>
            <a:endParaRPr lang="en-US" sz="1900" dirty="0"/>
          </a:p>
        </p:txBody>
      </p:sp>
      <p:sp>
        <p:nvSpPr>
          <p:cNvPr id="4" name="card"/>
          <p:cNvSpPr/>
          <p:nvPr/>
        </p:nvSpPr>
        <p:spPr>
          <a:xfrm>
            <a:off x="6949440" y="1417320"/>
            <a:ext cx="4690872" cy="1188720"/>
          </a:xfrm>
          <a:prstGeom prst="roundRect">
            <a:avLst>
              <a:gd name="adj" fmla="val 6154"/>
            </a:avLst>
          </a:prstGeom>
          <a:solidFill>
            <a:schemeClr val="bg2"/>
          </a:solidFill>
          <a:ln w="12700">
            <a:solidFill>
              <a:schemeClr val="bg2"/>
            </a:solidFill>
            <a:prstDash val="solid"/>
          </a:ln>
        </p:spPr>
      </p:sp>
      <p:sp>
        <p:nvSpPr>
          <p:cNvPr id="5" name="icon circle"/>
          <p:cNvSpPr/>
          <p:nvPr/>
        </p:nvSpPr>
        <p:spPr>
          <a:xfrm>
            <a:off x="7132320" y="1719072"/>
            <a:ext cx="566928" cy="566928"/>
          </a:xfrm>
          <a:prstGeom prst="ellipse">
            <a:avLst/>
          </a:prstGeom>
          <a:solidFill>
            <a:schemeClr val="tx2"/>
          </a:solidFill>
          <a:ln w="12700">
            <a:solidFill>
              <a:schemeClr val="tx2"/>
            </a:solidFill>
            <a:prstDash val="solid"/>
          </a:ln>
        </p:spPr>
      </p:sp>
      <p:pic>
        <p:nvPicPr>
          <p:cNvPr id="6" name="FiGitBranch" descr="preencoded.png">    </p:cNvPr>
          <p:cNvPicPr>
            <a:picLocks noChangeAspect="1"/>
          </p:cNvPicPr>
          <p:nvPr/>
        </p:nvPicPr>
        <p:blipFill>
          <a:blip r:embed="rId1"/>
          <a:stretch>
            <a:fillRect/>
          </a:stretch>
        </p:blipFill>
        <p:spPr>
          <a:xfrm>
            <a:off x="7274052" y="1860804"/>
            <a:ext cx="283464" cy="283464"/>
          </a:xfrm>
          <a:prstGeom prst="rect">
            <a:avLst/>
          </a:prstGeom>
        </p:spPr>
      </p:pic>
      <p:sp>
        <p:nvSpPr>
          <p:cNvPr id="7" name="Text 4"/>
          <p:cNvSpPr txBox="1"/>
          <p:nvPr/>
        </p:nvSpPr>
        <p:spPr>
          <a:xfrm>
            <a:off x="7882128" y="1581912"/>
            <a:ext cx="3611880" cy="320040"/>
          </a:xfrm>
          <a:prstGeom prst="rect">
            <a:avLst/>
          </a:prstGeom>
          <a:noFill/>
          <a:ln/>
        </p:spPr>
        <p:txBody>
          <a:bodyPr wrap="square" lIns="0" tIns="0" rIns="0" bIns="0" rtlCol="0" anchor="t"/>
          <a:lstStyle/>
          <a:p>
            <a:pPr indent="0" marL="0">
              <a:buNone/>
            </a:pPr>
            <a:r>
              <a:rPr lang="en-US" sz="1400" b="1" dirty="0">
                <a:solidFill>
                  <a:schemeClr val="tx1"/>
                </a:solidFill>
              </a:rPr>
              <a:t>Two open repositories</a:t>
            </a:r>
            <a:endParaRPr lang="en-US" sz="1400" dirty="0"/>
          </a:p>
        </p:txBody>
      </p:sp>
      <p:sp>
        <p:nvSpPr>
          <p:cNvPr id="8" name="Text 5"/>
          <p:cNvSpPr txBox="1"/>
          <p:nvPr/>
        </p:nvSpPr>
        <p:spPr>
          <a:xfrm>
            <a:off x="7882128" y="1920240"/>
            <a:ext cx="3611880" cy="640080"/>
          </a:xfrm>
          <a:prstGeom prst="rect">
            <a:avLst/>
          </a:prstGeom>
          <a:noFill/>
          <a:ln/>
        </p:spPr>
        <p:txBody>
          <a:bodyPr wrap="square" lIns="0" tIns="0" rIns="0" bIns="0" rtlCol="0" anchor="t"/>
          <a:lstStyle/>
          <a:p>
            <a:pPr indent="0" marL="0">
              <a:buNone/>
            </a:pPr>
            <a:r>
              <a:rPr lang="en-US" sz="1100" dirty="0">
                <a:solidFill>
                  <a:schemeClr val="accent3"/>
                </a:solidFill>
              </a:rPr>
              <a:t>hardware-and-silicon: the software reference stack and the blog series. safety-governor: the chip design, model, tests, RTL, silicon flow.</a:t>
            </a:r>
            <a:endParaRPr lang="en-US" sz="1100" dirty="0"/>
          </a:p>
        </p:txBody>
      </p:sp>
      <p:sp>
        <p:nvSpPr>
          <p:cNvPr id="9" name="card"/>
          <p:cNvSpPr/>
          <p:nvPr/>
        </p:nvSpPr>
        <p:spPr>
          <a:xfrm>
            <a:off x="6949440" y="2743200"/>
            <a:ext cx="4690872" cy="1188720"/>
          </a:xfrm>
          <a:prstGeom prst="roundRect">
            <a:avLst>
              <a:gd name="adj" fmla="val 6154"/>
            </a:avLst>
          </a:prstGeom>
          <a:solidFill>
            <a:schemeClr val="bg2"/>
          </a:solidFill>
          <a:ln w="12700">
            <a:solidFill>
              <a:schemeClr val="bg2"/>
            </a:solidFill>
            <a:prstDash val="solid"/>
          </a:ln>
        </p:spPr>
      </p:sp>
      <p:sp>
        <p:nvSpPr>
          <p:cNvPr id="10" name="icon circle"/>
          <p:cNvSpPr/>
          <p:nvPr/>
        </p:nvSpPr>
        <p:spPr>
          <a:xfrm>
            <a:off x="7132320" y="3044952"/>
            <a:ext cx="566928" cy="566928"/>
          </a:xfrm>
          <a:prstGeom prst="ellipse">
            <a:avLst/>
          </a:prstGeom>
          <a:solidFill>
            <a:schemeClr val="tx2"/>
          </a:solidFill>
          <a:ln w="12700">
            <a:solidFill>
              <a:schemeClr val="tx2"/>
            </a:solidFill>
            <a:prstDash val="solid"/>
          </a:ln>
        </p:spPr>
      </p:sp>
      <p:pic>
        <p:nvPicPr>
          <p:cNvPr id="11" name="FiCheckSquare" descr="preencoded.png">    </p:cNvPr>
          <p:cNvPicPr>
            <a:picLocks noChangeAspect="1"/>
          </p:cNvPicPr>
          <p:nvPr/>
        </p:nvPicPr>
        <p:blipFill>
          <a:blip r:embed="rId2"/>
          <a:stretch>
            <a:fillRect/>
          </a:stretch>
        </p:blipFill>
        <p:spPr>
          <a:xfrm>
            <a:off x="7274052" y="3186684"/>
            <a:ext cx="283464" cy="283464"/>
          </a:xfrm>
          <a:prstGeom prst="rect">
            <a:avLst/>
          </a:prstGeom>
        </p:spPr>
      </p:pic>
      <p:sp>
        <p:nvSpPr>
          <p:cNvPr id="12" name="Text 8"/>
          <p:cNvSpPr txBox="1"/>
          <p:nvPr/>
        </p:nvSpPr>
        <p:spPr>
          <a:xfrm>
            <a:off x="7882128" y="2907792"/>
            <a:ext cx="3611880" cy="320040"/>
          </a:xfrm>
          <a:prstGeom prst="rect">
            <a:avLst/>
          </a:prstGeom>
          <a:noFill/>
          <a:ln/>
        </p:spPr>
        <p:txBody>
          <a:bodyPr wrap="square" lIns="0" tIns="0" rIns="0" bIns="0" rtlCol="0" anchor="t"/>
          <a:lstStyle/>
          <a:p>
            <a:pPr indent="0" marL="0">
              <a:buNone/>
            </a:pPr>
            <a:r>
              <a:rPr lang="en-US" sz="1400" b="1" dirty="0">
                <a:solidFill>
                  <a:schemeClr val="tx1"/>
                </a:solidFill>
              </a:rPr>
              <a:t>One rule for the program</a:t>
            </a:r>
            <a:endParaRPr lang="en-US" sz="1400" dirty="0"/>
          </a:p>
        </p:txBody>
      </p:sp>
      <p:sp>
        <p:nvSpPr>
          <p:cNvPr id="13" name="Text 9"/>
          <p:cNvSpPr txBox="1"/>
          <p:nvPr/>
        </p:nvSpPr>
        <p:spPr>
          <a:xfrm>
            <a:off x="7882128" y="3246120"/>
            <a:ext cx="3611880" cy="640080"/>
          </a:xfrm>
          <a:prstGeom prst="rect">
            <a:avLst/>
          </a:prstGeom>
          <a:noFill/>
          <a:ln/>
        </p:spPr>
        <p:txBody>
          <a:bodyPr wrap="square" lIns="0" tIns="0" rIns="0" bIns="0" rtlCol="0" anchor="t"/>
          <a:lstStyle/>
          <a:p>
            <a:pPr indent="0" marL="0">
              <a:buNone/>
            </a:pPr>
            <a:r>
              <a:rPr lang="en-US" sz="1100" dirty="0">
                <a:solidFill>
                  <a:schemeClr val="accent3"/>
                </a:solidFill>
              </a:rPr>
              <a:t>Nothing goes to hardware until the design is proven in software, firmware and circuit simulation. Being wrong at tape-out is the expensive mistake.</a:t>
            </a:r>
            <a:endParaRPr lang="en-US" sz="1100" dirty="0"/>
          </a:p>
        </p:txBody>
      </p:sp>
      <p:sp>
        <p:nvSpPr>
          <p:cNvPr id="14" name="card"/>
          <p:cNvSpPr/>
          <p:nvPr/>
        </p:nvSpPr>
        <p:spPr>
          <a:xfrm>
            <a:off x="6949440" y="4069080"/>
            <a:ext cx="4690872" cy="1188720"/>
          </a:xfrm>
          <a:prstGeom prst="roundRect">
            <a:avLst>
              <a:gd name="adj" fmla="val 6154"/>
            </a:avLst>
          </a:prstGeom>
          <a:solidFill>
            <a:schemeClr val="bg2"/>
          </a:solidFill>
          <a:ln w="12700">
            <a:solidFill>
              <a:schemeClr val="bg2"/>
            </a:solidFill>
            <a:prstDash val="solid"/>
          </a:ln>
        </p:spPr>
      </p:sp>
      <p:sp>
        <p:nvSpPr>
          <p:cNvPr id="15" name="icon circle"/>
          <p:cNvSpPr/>
          <p:nvPr/>
        </p:nvSpPr>
        <p:spPr>
          <a:xfrm>
            <a:off x="7132320" y="4370832"/>
            <a:ext cx="566928" cy="566928"/>
          </a:xfrm>
          <a:prstGeom prst="ellipse">
            <a:avLst/>
          </a:prstGeom>
          <a:solidFill>
            <a:schemeClr val="tx2"/>
          </a:solidFill>
          <a:ln w="12700">
            <a:solidFill>
              <a:schemeClr val="tx2"/>
            </a:solidFill>
            <a:prstDash val="solid"/>
          </a:ln>
        </p:spPr>
      </p:sp>
      <p:pic>
        <p:nvPicPr>
          <p:cNvPr id="16" name="FiServer" descr="preencoded.png">    </p:cNvPr>
          <p:cNvPicPr>
            <a:picLocks noChangeAspect="1"/>
          </p:cNvPicPr>
          <p:nvPr/>
        </p:nvPicPr>
        <p:blipFill>
          <a:blip r:embed="rId3"/>
          <a:stretch>
            <a:fillRect/>
          </a:stretch>
        </p:blipFill>
        <p:spPr>
          <a:xfrm>
            <a:off x="7274052" y="4512564"/>
            <a:ext cx="283464" cy="283464"/>
          </a:xfrm>
          <a:prstGeom prst="rect">
            <a:avLst/>
          </a:prstGeom>
        </p:spPr>
      </p:pic>
      <p:sp>
        <p:nvSpPr>
          <p:cNvPr id="17" name="Text 12"/>
          <p:cNvSpPr txBox="1"/>
          <p:nvPr/>
        </p:nvSpPr>
        <p:spPr>
          <a:xfrm>
            <a:off x="7882128" y="4233672"/>
            <a:ext cx="3611880" cy="320040"/>
          </a:xfrm>
          <a:prstGeom prst="rect">
            <a:avLst/>
          </a:prstGeom>
          <a:noFill/>
          <a:ln/>
        </p:spPr>
        <p:txBody>
          <a:bodyPr wrap="square" lIns="0" tIns="0" rIns="0" bIns="0" rtlCol="0" anchor="t"/>
          <a:lstStyle/>
          <a:p>
            <a:pPr indent="0" marL="0">
              <a:buNone/>
            </a:pPr>
            <a:r>
              <a:rPr lang="en-US" sz="1400" b="1" dirty="0">
                <a:solidFill>
                  <a:schemeClr val="tx1"/>
                </a:solidFill>
              </a:rPr>
              <a:t>Plan of record: the rack tier</a:t>
            </a:r>
            <a:endParaRPr lang="en-US" sz="1400" dirty="0"/>
          </a:p>
        </p:txBody>
      </p:sp>
      <p:sp>
        <p:nvSpPr>
          <p:cNvPr id="18" name="Text 13"/>
          <p:cNvSpPr txBox="1"/>
          <p:nvPr/>
        </p:nvSpPr>
        <p:spPr>
          <a:xfrm>
            <a:off x="7882128" y="4572000"/>
            <a:ext cx="3611880" cy="640080"/>
          </a:xfrm>
          <a:prstGeom prst="rect">
            <a:avLst/>
          </a:prstGeom>
          <a:noFill/>
          <a:ln/>
        </p:spPr>
        <p:txBody>
          <a:bodyPr wrap="square" lIns="0" tIns="0" rIns="0" bIns="0" rtlCol="0" anchor="t"/>
          <a:lstStyle/>
          <a:p>
            <a:pPr indent="0" marL="0">
              <a:buNone/>
            </a:pPr>
            <a:r>
              <a:rPr lang="en-US" sz="1100" dirty="0">
                <a:solidFill>
                  <a:schemeClr val="accent3"/>
                </a:solidFill>
              </a:rPr>
              <a:t>The chip rides on the server maker's management card and reaches NVIDIA's GPU board through its connector. Nothing changes in the GPU or in CUDA.</a:t>
            </a:r>
            <a:endParaRPr lang="en-US" sz="1100" dirty="0"/>
          </a:p>
        </p:txBody>
      </p:sp>
      <p:sp>
        <p:nvSpPr>
          <p:cNvPr id="19" name="phase"/>
          <p:cNvSpPr/>
          <p:nvPr/>
        </p:nvSpPr>
        <p:spPr>
          <a:xfrm>
            <a:off x="548640" y="3886200"/>
            <a:ext cx="1828800" cy="502920"/>
          </a:xfrm>
          <a:prstGeom prst="roundRect">
            <a:avLst>
              <a:gd name="adj" fmla="val 49091"/>
            </a:avLst>
          </a:prstGeom>
          <a:solidFill>
            <a:schemeClr val="tx2"/>
          </a:solidFill>
          <a:ln w="12700">
            <a:solidFill>
              <a:schemeClr val="tx2"/>
            </a:solidFill>
            <a:prstDash val="solid"/>
          </a:ln>
        </p:spPr>
      </p:sp>
      <p:sp>
        <p:nvSpPr>
          <p:cNvPr id="20" name="Text 15"/>
          <p:cNvSpPr txBox="1"/>
          <p:nvPr/>
        </p:nvSpPr>
        <p:spPr>
          <a:xfrm>
            <a:off x="548640" y="3886200"/>
            <a:ext cx="1828800" cy="502920"/>
          </a:xfrm>
          <a:prstGeom prst="rect">
            <a:avLst/>
          </a:prstGeom>
          <a:noFill/>
          <a:ln/>
        </p:spPr>
        <p:txBody>
          <a:bodyPr wrap="square" lIns="0" tIns="0" rIns="0" bIns="0" rtlCol="0" anchor="ctr"/>
          <a:lstStyle/>
          <a:p>
            <a:pPr algn="ctr" indent="0" marL="0">
              <a:buNone/>
            </a:pPr>
            <a:r>
              <a:rPr lang="en-US" sz="1300" b="1" dirty="0">
                <a:solidFill>
                  <a:schemeClr val="bg1"/>
                </a:solidFill>
              </a:rPr>
              <a:t>Reference stack</a:t>
            </a:r>
            <a:endParaRPr lang="en-US" sz="1300" dirty="0"/>
          </a:p>
        </p:txBody>
      </p:sp>
      <p:sp>
        <p:nvSpPr>
          <p:cNvPr id="21" name="Text 16"/>
          <p:cNvSpPr txBox="1"/>
          <p:nvPr/>
        </p:nvSpPr>
        <p:spPr>
          <a:xfrm>
            <a:off x="457200" y="4480560"/>
            <a:ext cx="2011680" cy="640080"/>
          </a:xfrm>
          <a:prstGeom prst="rect">
            <a:avLst/>
          </a:prstGeom>
          <a:noFill/>
          <a:ln/>
        </p:spPr>
        <p:txBody>
          <a:bodyPr wrap="square" lIns="0" tIns="0" rIns="0" bIns="0" rtlCol="0" anchor="t"/>
          <a:lstStyle/>
          <a:p>
            <a:pPr algn="ctr" indent="0" marL="0">
              <a:buNone/>
            </a:pPr>
            <a:r>
              <a:rPr lang="en-US" sz="1050" dirty="0">
                <a:solidFill>
                  <a:schemeClr val="accent3"/>
                </a:solidFill>
              </a:rPr>
              <a:t>software, done: 37 tests, 66 attacks blocked</a:t>
            </a:r>
            <a:endParaRPr lang="en-US" sz="1050" dirty="0"/>
          </a:p>
        </p:txBody>
      </p:sp>
      <p:sp>
        <p:nvSpPr>
          <p:cNvPr id="22" name="arrow"/>
          <p:cNvSpPr/>
          <p:nvPr/>
        </p:nvSpPr>
        <p:spPr>
          <a:xfrm>
            <a:off x="2414016" y="4137660"/>
            <a:ext cx="201168" cy="0"/>
          </a:xfrm>
          <a:prstGeom prst="line">
            <a:avLst/>
          </a:prstGeom>
          <a:noFill/>
          <a:ln w="25400">
            <a:solidFill>
              <a:srgbClr val="C2703D"/>
            </a:solidFill>
            <a:prstDash val="solid"/>
            <a:tailEnd type="triangle"/>
          </a:ln>
        </p:spPr>
      </p:sp>
      <p:sp>
        <p:nvSpPr>
          <p:cNvPr id="23" name="phase"/>
          <p:cNvSpPr/>
          <p:nvPr/>
        </p:nvSpPr>
        <p:spPr>
          <a:xfrm>
            <a:off x="2651760" y="3886200"/>
            <a:ext cx="1828800" cy="502920"/>
          </a:xfrm>
          <a:prstGeom prst="roundRect">
            <a:avLst>
              <a:gd name="adj" fmla="val 49091"/>
            </a:avLst>
          </a:prstGeom>
          <a:solidFill>
            <a:schemeClr val="accent1"/>
          </a:solidFill>
          <a:ln w="12700">
            <a:solidFill>
              <a:schemeClr val="accent1"/>
            </a:solidFill>
            <a:prstDash val="solid"/>
          </a:ln>
        </p:spPr>
      </p:sp>
      <p:sp>
        <p:nvSpPr>
          <p:cNvPr id="24" name="Text 19"/>
          <p:cNvSpPr txBox="1"/>
          <p:nvPr/>
        </p:nvSpPr>
        <p:spPr>
          <a:xfrm>
            <a:off x="2651760" y="3886200"/>
            <a:ext cx="1828800" cy="502920"/>
          </a:xfrm>
          <a:prstGeom prst="rect">
            <a:avLst/>
          </a:prstGeom>
          <a:noFill/>
          <a:ln/>
        </p:spPr>
        <p:txBody>
          <a:bodyPr wrap="square" lIns="0" tIns="0" rIns="0" bIns="0" rtlCol="0" anchor="ctr"/>
          <a:lstStyle/>
          <a:p>
            <a:pPr algn="ctr" indent="0" marL="0">
              <a:buNone/>
            </a:pPr>
            <a:r>
              <a:rPr lang="en-US" sz="1300" b="1" dirty="0">
                <a:solidFill>
                  <a:schemeClr val="bg1"/>
                </a:solidFill>
              </a:rPr>
              <a:t>Governor design</a:t>
            </a:r>
            <a:endParaRPr lang="en-US" sz="1300" dirty="0"/>
          </a:p>
        </p:txBody>
      </p:sp>
      <p:sp>
        <p:nvSpPr>
          <p:cNvPr id="25" name="Text 20"/>
          <p:cNvSpPr txBox="1"/>
          <p:nvPr/>
        </p:nvSpPr>
        <p:spPr>
          <a:xfrm>
            <a:off x="2560320" y="4480560"/>
            <a:ext cx="2011680" cy="640080"/>
          </a:xfrm>
          <a:prstGeom prst="rect">
            <a:avLst/>
          </a:prstGeom>
          <a:noFill/>
          <a:ln/>
        </p:spPr>
        <p:txBody>
          <a:bodyPr wrap="square" lIns="0" tIns="0" rIns="0" bIns="0" rtlCol="0" anchor="t"/>
          <a:lstStyle/>
          <a:p>
            <a:pPr algn="ctr" indent="0" marL="0">
              <a:buNone/>
            </a:pPr>
            <a:r>
              <a:rPr lang="en-US" sz="1050" dirty="0">
                <a:solidFill>
                  <a:schemeClr val="accent3"/>
                </a:solidFill>
              </a:rPr>
              <a:t>now: model, RTL blocks, circuit simulation, audit</a:t>
            </a:r>
            <a:endParaRPr lang="en-US" sz="1050" dirty="0"/>
          </a:p>
        </p:txBody>
      </p:sp>
      <p:sp>
        <p:nvSpPr>
          <p:cNvPr id="26" name="arrow"/>
          <p:cNvSpPr/>
          <p:nvPr/>
        </p:nvSpPr>
        <p:spPr>
          <a:xfrm>
            <a:off x="4517136" y="4137660"/>
            <a:ext cx="201168" cy="0"/>
          </a:xfrm>
          <a:prstGeom prst="line">
            <a:avLst/>
          </a:prstGeom>
          <a:noFill/>
          <a:ln w="25400">
            <a:solidFill>
              <a:srgbClr val="C2703D"/>
            </a:solidFill>
            <a:prstDash val="solid"/>
            <a:tailEnd type="triangle"/>
          </a:ln>
        </p:spPr>
      </p:sp>
      <p:sp>
        <p:nvSpPr>
          <p:cNvPr id="27" name="phase"/>
          <p:cNvSpPr/>
          <p:nvPr/>
        </p:nvSpPr>
        <p:spPr>
          <a:xfrm>
            <a:off x="4754880" y="3886200"/>
            <a:ext cx="1828800" cy="502920"/>
          </a:xfrm>
          <a:prstGeom prst="roundRect">
            <a:avLst>
              <a:gd name="adj" fmla="val 49091"/>
            </a:avLst>
          </a:prstGeom>
          <a:solidFill>
            <a:schemeClr val="tx2"/>
          </a:solidFill>
          <a:ln w="12700">
            <a:solidFill>
              <a:schemeClr val="tx2"/>
            </a:solidFill>
            <a:prstDash val="solid"/>
          </a:ln>
        </p:spPr>
      </p:sp>
      <p:sp>
        <p:nvSpPr>
          <p:cNvPr id="28" name="Text 23"/>
          <p:cNvSpPr txBox="1"/>
          <p:nvPr/>
        </p:nvSpPr>
        <p:spPr>
          <a:xfrm>
            <a:off x="4754880" y="3886200"/>
            <a:ext cx="1828800" cy="502920"/>
          </a:xfrm>
          <a:prstGeom prst="rect">
            <a:avLst/>
          </a:prstGeom>
          <a:noFill/>
          <a:ln/>
        </p:spPr>
        <p:txBody>
          <a:bodyPr wrap="square" lIns="0" tIns="0" rIns="0" bIns="0" rtlCol="0" anchor="ctr"/>
          <a:lstStyle/>
          <a:p>
            <a:pPr algn="ctr" indent="0" marL="0">
              <a:buNone/>
            </a:pPr>
            <a:r>
              <a:rPr lang="en-US" sz="1300" b="1" dirty="0">
                <a:solidFill>
                  <a:schemeClr val="bg1"/>
                </a:solidFill>
              </a:rPr>
              <a:t>FPGA, then silicon</a:t>
            </a:r>
            <a:endParaRPr lang="en-US" sz="1300" dirty="0"/>
          </a:p>
        </p:txBody>
      </p:sp>
      <p:sp>
        <p:nvSpPr>
          <p:cNvPr id="29" name="Text 24"/>
          <p:cNvSpPr txBox="1"/>
          <p:nvPr/>
        </p:nvSpPr>
        <p:spPr>
          <a:xfrm>
            <a:off x="4663440" y="4480560"/>
            <a:ext cx="2011680" cy="640080"/>
          </a:xfrm>
          <a:prstGeom prst="rect">
            <a:avLst/>
          </a:prstGeom>
          <a:noFill/>
          <a:ln/>
        </p:spPr>
        <p:txBody>
          <a:bodyPr wrap="square" lIns="0" tIns="0" rIns="0" bIns="0" rtlCol="0" anchor="t"/>
          <a:lstStyle/>
          <a:p>
            <a:pPr algn="ctr" indent="0" marL="0">
              <a:buNone/>
            </a:pPr>
            <a:r>
              <a:rPr lang="en-US" sz="1050" dirty="0">
                <a:solidFill>
                  <a:schemeClr val="accent3"/>
                </a:solidFill>
              </a:rPr>
              <a:t>only after the pre-hardware proof</a:t>
            </a:r>
            <a:endParaRPr lang="en-US" sz="1050" dirty="0"/>
          </a:p>
        </p:txBody>
      </p:sp>
      <p:sp>
        <p:nvSpPr>
          <p:cNvPr id="30"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1" name="Text 26"/>
          <p:cNvSpPr txBox="1"/>
          <p:nvPr/>
        </p:nvSpPr>
        <p:spPr>
          <a:xfrm>
            <a:off x="822960" y="5486400"/>
            <a:ext cx="1371600" cy="68580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32" name="Text 27"/>
          <p:cNvSpPr txBox="1"/>
          <p:nvPr/>
        </p:nvSpPr>
        <p:spPr>
          <a:xfrm>
            <a:off x="2286000" y="5486400"/>
            <a:ext cx="9082735" cy="685800"/>
          </a:xfrm>
          <a:prstGeom prst="rect">
            <a:avLst/>
          </a:prstGeom>
          <a:noFill/>
          <a:ln/>
        </p:spPr>
        <p:txBody>
          <a:bodyPr wrap="square" lIns="0" tIns="0" rIns="0" bIns="0" rtlCol="0" anchor="ctr"/>
          <a:lstStyle/>
          <a:p>
            <a:pPr indent="0" marL="0">
              <a:buNone/>
            </a:pPr>
            <a:r>
              <a:rPr lang="en-US" sz="1400" i="1" dirty="0">
                <a:solidFill>
                  <a:schemeClr val="accent6"/>
                </a:solidFill>
              </a:rPr>
              <a:t>A bridge before the steel is ordered: the drawings are done and every one has been load-tested on paper. Nobody pours concrete until the drawings survive the review.</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Thesis</a:t>
            </a:r>
            <a:endParaRPr lang="en-US" sz="3200" dirty="0"/>
          </a:p>
        </p:txBody>
      </p:sp>
      <p:sp>
        <p:nvSpPr>
          <p:cNvPr id="3" name="Text 1"/>
          <p:cNvSpPr txBox="1"/>
          <p:nvPr/>
        </p:nvSpPr>
        <p:spPr>
          <a:xfrm>
            <a:off x="548640" y="1417320"/>
            <a:ext cx="6035040" cy="2377440"/>
          </a:xfrm>
          <a:prstGeom prst="rect">
            <a:avLst/>
          </a:prstGeom>
          <a:noFill/>
          <a:ln/>
        </p:spPr>
        <p:txBody>
          <a:bodyPr wrap="square" lIns="0" tIns="0" rIns="0" bIns="0" rtlCol="0" anchor="t"/>
          <a:lstStyle/>
          <a:p>
            <a:pPr indent="0" marL="0">
              <a:spcAft>
                <a:spcPts val="1400"/>
              </a:spcAft>
              <a:buNone/>
            </a:pPr>
            <a:r>
              <a:rPr lang="en-US" sz="2200" b="1" dirty="0">
                <a:solidFill>
                  <a:schemeClr val="tx1"/>
                </a:solidFill>
                <a:latin typeface="Georgia" pitchFamily="34" charset="0"/>
                <a:ea typeface="Georgia" pitchFamily="34" charset="-122"/>
                <a:cs typeface="Georgia" pitchFamily="34" charset="-120"/>
              </a:rPr>
              <a:t>Safety that lives only in software can be removed by software.</a:t>
            </a:r>
            <a:endParaRPr lang="en-US" sz="2200" dirty="0"/>
          </a:p>
          <a:p>
            <a:pPr indent="0" marL="0">
              <a:spcAft>
                <a:spcPts val="1400"/>
              </a:spcAft>
              <a:buNone/>
            </a:pPr>
            <a:r>
              <a:rPr lang="en-US" sz="2200" dirty="0">
                <a:solidFill>
                  <a:schemeClr val="tx1"/>
                </a:solidFill>
                <a:latin typeface="Georgia" pitchFamily="34" charset="0"/>
                <a:ea typeface="Georgia" pitchFamily="34" charset="-122"/>
                <a:cs typeface="Georgia" pitchFamily="34" charset="-120"/>
              </a:rPr>
              <a:t>So the decision to act has to be made in silicon the model cannot reach, at the few places where computation turns into effect.</a:t>
            </a:r>
            <a:endParaRPr lang="en-US" sz="2200" dirty="0"/>
          </a:p>
        </p:txBody>
      </p:sp>
      <p:sp>
        <p:nvSpPr>
          <p:cNvPr id="4" name="Text 2"/>
          <p:cNvSpPr txBox="1"/>
          <p:nvPr/>
        </p:nvSpPr>
        <p:spPr>
          <a:xfrm>
            <a:off x="548640" y="3977640"/>
            <a:ext cx="6035040" cy="457200"/>
          </a:xfrm>
          <a:prstGeom prst="rect">
            <a:avLst/>
          </a:prstGeom>
          <a:noFill/>
          <a:ln/>
        </p:spPr>
        <p:txBody>
          <a:bodyPr wrap="square" lIns="0" tIns="0" rIns="0" bIns="0" rtlCol="0" anchor="t"/>
          <a:lstStyle/>
          <a:p>
            <a:pPr indent="0" marL="0">
              <a:buNone/>
            </a:pPr>
            <a:r>
              <a:rPr lang="en-US" sz="1600" i="1" dirty="0">
                <a:solidFill>
                  <a:schemeClr val="accent1"/>
                </a:solidFill>
              </a:rPr>
              <a:t>Every layer above the chip is a witness. Only the chip can be the lock.</a:t>
            </a:r>
            <a:endParaRPr lang="en-US" sz="1600" dirty="0"/>
          </a:p>
        </p:txBody>
      </p:sp>
      <p:sp>
        <p:nvSpPr>
          <p:cNvPr id="5" name="card"/>
          <p:cNvSpPr/>
          <p:nvPr/>
        </p:nvSpPr>
        <p:spPr>
          <a:xfrm>
            <a:off x="6812280" y="1417320"/>
            <a:ext cx="2377440" cy="3749040"/>
          </a:xfrm>
          <a:prstGeom prst="roundRect">
            <a:avLst>
              <a:gd name="adj" fmla="val 3077"/>
            </a:avLst>
          </a:prstGeom>
          <a:solidFill>
            <a:schemeClr val="bg2"/>
          </a:solidFill>
          <a:ln w="12700">
            <a:solidFill>
              <a:schemeClr val="bg2"/>
            </a:solidFill>
            <a:prstDash val="solid"/>
          </a:ln>
        </p:spPr>
      </p:sp>
      <p:sp>
        <p:nvSpPr>
          <p:cNvPr id="6" name="icon circle"/>
          <p:cNvSpPr/>
          <p:nvPr/>
        </p:nvSpPr>
        <p:spPr>
          <a:xfrm>
            <a:off x="7086600" y="1691640"/>
            <a:ext cx="731520" cy="731520"/>
          </a:xfrm>
          <a:prstGeom prst="ellipse">
            <a:avLst/>
          </a:prstGeom>
          <a:solidFill>
            <a:schemeClr val="tx2"/>
          </a:solidFill>
          <a:ln w="12700">
            <a:solidFill>
              <a:schemeClr val="tx2"/>
            </a:solidFill>
            <a:prstDash val="solid"/>
          </a:ln>
        </p:spPr>
      </p:sp>
      <p:pic>
        <p:nvPicPr>
          <p:cNvPr id="7" name="FiBell" descr="preencoded.png">    </p:cNvPr>
          <p:cNvPicPr>
            <a:picLocks noChangeAspect="1"/>
          </p:cNvPicPr>
          <p:nvPr/>
        </p:nvPicPr>
        <p:blipFill>
          <a:blip r:embed="rId1"/>
          <a:stretch>
            <a:fillRect/>
          </a:stretch>
        </p:blipFill>
        <p:spPr>
          <a:xfrm>
            <a:off x="7269480" y="1874520"/>
            <a:ext cx="365760" cy="365760"/>
          </a:xfrm>
          <a:prstGeom prst="rect">
            <a:avLst/>
          </a:prstGeom>
        </p:spPr>
      </p:pic>
      <p:sp>
        <p:nvSpPr>
          <p:cNvPr id="8" name="Text 5"/>
          <p:cNvSpPr txBox="1"/>
          <p:nvPr/>
        </p:nvSpPr>
        <p:spPr>
          <a:xfrm>
            <a:off x="7955280" y="1709928"/>
            <a:ext cx="1097280" cy="36576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Witness</a:t>
            </a:r>
            <a:endParaRPr lang="en-US" sz="1800" dirty="0"/>
          </a:p>
        </p:txBody>
      </p:sp>
      <p:sp>
        <p:nvSpPr>
          <p:cNvPr id="9" name="Text 6"/>
          <p:cNvSpPr txBox="1"/>
          <p:nvPr/>
        </p:nvSpPr>
        <p:spPr>
          <a:xfrm>
            <a:off x="7955280" y="2093976"/>
            <a:ext cx="1188720" cy="320040"/>
          </a:xfrm>
          <a:prstGeom prst="rect">
            <a:avLst/>
          </a:prstGeom>
          <a:noFill/>
          <a:ln/>
        </p:spPr>
        <p:txBody>
          <a:bodyPr wrap="square" lIns="0" tIns="0" rIns="0" bIns="0" rtlCol="0" anchor="t"/>
          <a:lstStyle/>
          <a:p>
            <a:pPr indent="0" marL="0">
              <a:buNone/>
            </a:pPr>
            <a:r>
              <a:rPr lang="en-US" sz="1100" i="1" dirty="0">
                <a:solidFill>
                  <a:schemeClr val="tx1"/>
                </a:solidFill>
              </a:rPr>
              <a:t>a smoke alarm</a:t>
            </a:r>
            <a:endParaRPr lang="en-US" sz="1100" dirty="0"/>
          </a:p>
        </p:txBody>
      </p:sp>
      <p:sp>
        <p:nvSpPr>
          <p:cNvPr id="10" name="Text 7"/>
          <p:cNvSpPr txBox="1"/>
          <p:nvPr/>
        </p:nvSpPr>
        <p:spPr>
          <a:xfrm>
            <a:off x="7086600" y="2651760"/>
            <a:ext cx="1920240" cy="237744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chemeClr val="tx1"/>
                </a:solidFill>
              </a:rPr>
              <a:t>Safety training</a:t>
            </a:r>
            <a:endParaRPr lang="en-US" sz="1250" dirty="0"/>
          </a:p>
          <a:p>
            <a:pPr marL="177800" indent="-177800">
              <a:spcAft>
                <a:spcPts val="700"/>
              </a:spcAft>
              <a:buSzPct val="100000"/>
              <a:buChar char="•"/>
            </a:pPr>
            <a:r>
              <a:rPr lang="en-US" sz="1250" dirty="0">
                <a:solidFill>
                  <a:schemeClr val="tx1"/>
                </a:solidFill>
              </a:rPr>
              <a:t>A judge model</a:t>
            </a:r>
            <a:endParaRPr lang="en-US" sz="1250" dirty="0"/>
          </a:p>
          <a:p>
            <a:pPr marL="177800" indent="-177800">
              <a:spcAft>
                <a:spcPts val="700"/>
              </a:spcAft>
              <a:buSzPct val="100000"/>
              <a:buChar char="•"/>
            </a:pPr>
            <a:r>
              <a:rPr lang="en-US" sz="1250" dirty="0">
                <a:solidFill>
                  <a:schemeClr val="tx1"/>
                </a:solidFill>
              </a:rPr>
              <a:t>A watermark</a:t>
            </a:r>
            <a:endParaRPr lang="en-US" sz="1250" dirty="0"/>
          </a:p>
          <a:p>
            <a:pPr marL="177800" indent="-177800">
              <a:spcAft>
                <a:spcPts val="700"/>
              </a:spcAft>
              <a:buSzPct val="100000"/>
              <a:buChar char="•"/>
            </a:pPr>
            <a:r>
              <a:rPr lang="en-US" sz="1250" dirty="0">
                <a:solidFill>
                  <a:schemeClr val="tx1"/>
                </a:solidFill>
              </a:rPr>
              <a:t>An observer</a:t>
            </a:r>
            <a:endParaRPr lang="en-US" sz="1250" dirty="0"/>
          </a:p>
          <a:p>
            <a:pPr marL="177800" indent="-177800">
              <a:spcAft>
                <a:spcPts val="700"/>
              </a:spcAft>
              <a:buSzPct val="100000"/>
              <a:buChar char="•"/>
            </a:pPr>
            <a:r>
              <a:rPr lang="en-US" sz="1250" dirty="0">
                <a:solidFill>
                  <a:schemeClr val="tx1"/>
                </a:solidFill>
              </a:rPr>
              <a:t>A log read later</a:t>
            </a:r>
            <a:endParaRPr lang="en-US" sz="1250" dirty="0"/>
          </a:p>
        </p:txBody>
      </p:sp>
      <p:sp>
        <p:nvSpPr>
          <p:cNvPr id="11" name="card"/>
          <p:cNvSpPr/>
          <p:nvPr/>
        </p:nvSpPr>
        <p:spPr>
          <a:xfrm>
            <a:off x="9262872" y="1417320"/>
            <a:ext cx="2377440" cy="3749040"/>
          </a:xfrm>
          <a:prstGeom prst="roundRect">
            <a:avLst>
              <a:gd name="adj" fmla="val 3077"/>
            </a:avLst>
          </a:prstGeom>
          <a:solidFill>
            <a:schemeClr val="tx2"/>
          </a:solidFill>
          <a:ln w="12700">
            <a:solidFill>
              <a:schemeClr val="tx2"/>
            </a:solidFill>
            <a:prstDash val="solid"/>
          </a:ln>
        </p:spPr>
      </p:sp>
      <p:sp>
        <p:nvSpPr>
          <p:cNvPr id="12" name="icon circle"/>
          <p:cNvSpPr/>
          <p:nvPr/>
        </p:nvSpPr>
        <p:spPr>
          <a:xfrm>
            <a:off x="9537192" y="1691640"/>
            <a:ext cx="731520" cy="731520"/>
          </a:xfrm>
          <a:prstGeom prst="ellipse">
            <a:avLst/>
          </a:prstGeom>
          <a:solidFill>
            <a:schemeClr val="accent1"/>
          </a:solidFill>
          <a:ln w="12700">
            <a:solidFill>
              <a:schemeClr val="accent1"/>
            </a:solidFill>
            <a:prstDash val="solid"/>
          </a:ln>
        </p:spPr>
      </p:sp>
      <p:pic>
        <p:nvPicPr>
          <p:cNvPr id="13" name="FiLock" descr="preencoded.png">    </p:cNvPr>
          <p:cNvPicPr>
            <a:picLocks noChangeAspect="1"/>
          </p:cNvPicPr>
          <p:nvPr/>
        </p:nvPicPr>
        <p:blipFill>
          <a:blip r:embed="rId2"/>
          <a:stretch>
            <a:fillRect/>
          </a:stretch>
        </p:blipFill>
        <p:spPr>
          <a:xfrm>
            <a:off x="9720072" y="1874520"/>
            <a:ext cx="365760" cy="365760"/>
          </a:xfrm>
          <a:prstGeom prst="rect">
            <a:avLst/>
          </a:prstGeom>
        </p:spPr>
      </p:pic>
      <p:sp>
        <p:nvSpPr>
          <p:cNvPr id="14" name="Text 10"/>
          <p:cNvSpPr txBox="1"/>
          <p:nvPr/>
        </p:nvSpPr>
        <p:spPr>
          <a:xfrm>
            <a:off x="10405872" y="1709928"/>
            <a:ext cx="1097280" cy="365760"/>
          </a:xfrm>
          <a:prstGeom prst="rect">
            <a:avLst/>
          </a:prstGeom>
          <a:noFill/>
          <a:ln/>
        </p:spPr>
        <p:txBody>
          <a:bodyPr wrap="square" lIns="0" tIns="0" rIns="0" bIns="0" rtlCol="0" anchor="t"/>
          <a:lstStyle/>
          <a:p>
            <a:pPr indent="0" marL="0">
              <a:buNone/>
            </a:pPr>
            <a:r>
              <a:rPr lang="en-US" sz="1800" b="1" dirty="0">
                <a:solidFill>
                  <a:schemeClr val="bg1"/>
                </a:solidFill>
                <a:latin typeface="Georgia" pitchFamily="34" charset="0"/>
                <a:ea typeface="Georgia" pitchFamily="34" charset="-122"/>
                <a:cs typeface="Georgia" pitchFamily="34" charset="-120"/>
              </a:rPr>
              <a:t>Lock</a:t>
            </a:r>
            <a:endParaRPr lang="en-US" sz="1800" dirty="0"/>
          </a:p>
        </p:txBody>
      </p:sp>
      <p:sp>
        <p:nvSpPr>
          <p:cNvPr id="15" name="Text 11"/>
          <p:cNvSpPr txBox="1"/>
          <p:nvPr/>
        </p:nvSpPr>
        <p:spPr>
          <a:xfrm>
            <a:off x="10405872" y="2093976"/>
            <a:ext cx="1188720" cy="320040"/>
          </a:xfrm>
          <a:prstGeom prst="rect">
            <a:avLst/>
          </a:prstGeom>
          <a:noFill/>
          <a:ln/>
        </p:spPr>
        <p:txBody>
          <a:bodyPr wrap="square" lIns="0" tIns="0" rIns="0" bIns="0" rtlCol="0" anchor="t"/>
          <a:lstStyle/>
          <a:p>
            <a:pPr indent="0" marL="0">
              <a:buNone/>
            </a:pPr>
            <a:r>
              <a:rPr lang="en-US" sz="1100" i="1" dirty="0">
                <a:solidFill>
                  <a:schemeClr val="bg1"/>
                </a:solidFill>
              </a:rPr>
              <a:t>a fire door</a:t>
            </a:r>
            <a:endParaRPr lang="en-US" sz="1100" dirty="0"/>
          </a:p>
        </p:txBody>
      </p:sp>
      <p:sp>
        <p:nvSpPr>
          <p:cNvPr id="16" name="Text 12"/>
          <p:cNvSpPr txBox="1"/>
          <p:nvPr/>
        </p:nvSpPr>
        <p:spPr>
          <a:xfrm>
            <a:off x="9537192" y="2651760"/>
            <a:ext cx="1920240" cy="237744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chemeClr val="bg1"/>
                </a:solidFill>
              </a:rPr>
              <a:t>A ticket the device checks for itself</a:t>
            </a:r>
            <a:endParaRPr lang="en-US" sz="1250" dirty="0"/>
          </a:p>
          <a:p>
            <a:pPr marL="177800" indent="-177800">
              <a:spcAft>
                <a:spcPts val="700"/>
              </a:spcAft>
              <a:buSzPct val="100000"/>
              <a:buChar char="•"/>
            </a:pPr>
            <a:r>
              <a:rPr lang="en-US" sz="1250" dirty="0">
                <a:solidFill>
                  <a:schemeClr val="bg1"/>
                </a:solidFill>
              </a:rPr>
              <a:t>A switch port that stays shut</a:t>
            </a:r>
            <a:endParaRPr lang="en-US" sz="1250" dirty="0"/>
          </a:p>
          <a:p>
            <a:pPr marL="177800" indent="-177800">
              <a:spcAft>
                <a:spcPts val="700"/>
              </a:spcAft>
              <a:buSzPct val="100000"/>
              <a:buChar char="•"/>
            </a:pPr>
            <a:r>
              <a:rPr lang="en-US" sz="1250" dirty="0">
                <a:solidFill>
                  <a:schemeClr val="bg1"/>
                </a:solidFill>
              </a:rPr>
              <a:t>A response held at the exit</a:t>
            </a:r>
            <a:endParaRPr lang="en-US" sz="1250" dirty="0"/>
          </a:p>
          <a:p>
            <a:pPr marL="177800" indent="-177800">
              <a:spcAft>
                <a:spcPts val="700"/>
              </a:spcAft>
              <a:buSzPct val="100000"/>
              <a:buChar char="•"/>
            </a:pPr>
            <a:r>
              <a:rPr lang="en-US" sz="1250" dirty="0">
                <a:solidFill>
                  <a:schemeClr val="bg1"/>
                </a:solidFill>
              </a:rPr>
              <a:t>A breaker that opens</a:t>
            </a:r>
            <a:endParaRPr lang="en-US" sz="1250" dirty="0"/>
          </a:p>
        </p:txBody>
      </p:sp>
      <p:sp>
        <p:nvSpPr>
          <p:cNvPr id="1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8" name="Text 14"/>
          <p:cNvSpPr txBox="1"/>
          <p:nvPr/>
        </p:nvSpPr>
        <p:spPr>
          <a:xfrm>
            <a:off x="822960" y="5486400"/>
            <a:ext cx="1371600" cy="68580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19" name="Text 15"/>
          <p:cNvSpPr txBox="1"/>
          <p:nvPr/>
        </p:nvSpPr>
        <p:spPr>
          <a:xfrm>
            <a:off x="2286000" y="5486400"/>
            <a:ext cx="9082735" cy="685800"/>
          </a:xfrm>
          <a:prstGeom prst="rect">
            <a:avLst/>
          </a:prstGeom>
          <a:noFill/>
          <a:ln/>
        </p:spPr>
        <p:txBody>
          <a:bodyPr wrap="square" lIns="0" tIns="0" rIns="0" bIns="0" rtlCol="0" anchor="ctr"/>
          <a:lstStyle/>
          <a:p>
            <a:pPr indent="0" marL="0">
              <a:buNone/>
            </a:pPr>
            <a:r>
              <a:rPr lang="en-US" sz="1400" i="1" dirty="0">
                <a:solidFill>
                  <a:schemeClr val="accent6"/>
                </a:solidFill>
              </a:rPr>
              <a:t>A smoke alarm is a witness: it can tell you, and someone can take out the battery. A fire door is a lock: it closes whether or not anyone is listening. Most AI safety so far is smoke alarms.</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thesis, technically: a reference monitor</a:t>
            </a:r>
            <a:endParaRPr lang="en-US" sz="3200" dirty="0"/>
          </a:p>
        </p:txBody>
      </p:sp>
      <p:sp>
        <p:nvSpPr>
          <p:cNvPr id="3" name="Text 1"/>
          <p:cNvSpPr txBox="1"/>
          <p:nvPr/>
        </p:nvSpPr>
        <p:spPr>
          <a:xfrm>
            <a:off x="548640" y="1188720"/>
            <a:ext cx="11094415"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ANDERSON, 1972: TAMPERPROOF, ALWAYS INVOKED, SMALL ENOUGH TO VERIFY</a:t>
            </a:r>
            <a:endParaRPr lang="en-US" sz="11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737360"/>
                <a:gridCol w="3017520"/>
                <a:gridCol w="6336792"/>
              </a:tblGrid>
              <a:tr h="0">
                <a:tc>
                  <a:txBody>
                    <a:bodyPr/>
                    <a:lstStyle/>
                    <a:p>
                      <a:pPr indent="0" marL="0">
                        <a:buNone/>
                      </a:pPr>
                      <a:r>
                        <a:rPr lang="en-US" sz="1200" b="1" dirty="0">
                          <a:solidFill>
                            <a:schemeClr val="bg1"/>
                          </a:solidFill>
                        </a:rPr>
                        <a:t>Property</a:t>
                      </a:r>
                      <a:endParaRPr lang="en-US" sz="12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means here</a:t>
                      </a:r>
                      <a:endParaRPr lang="en-US" sz="12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How the governor meets it</a:t>
                      </a:r>
                      <a:endParaRPr lang="en-US" sz="12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r>
              <a:tr h="0">
                <a:tc>
                  <a:txBody>
                    <a:bodyPr/>
                    <a:lstStyle/>
                    <a:p>
                      <a:pPr indent="0" marL="0">
                        <a:buNone/>
                      </a:pPr>
                      <a:r>
                        <a:rPr lang="en-US" sz="1200" b="1" dirty="0">
                          <a:solidFill>
                            <a:schemeClr val="tx1"/>
                          </a:solidFill>
                        </a:rPr>
                        <a:t>Tamperproof</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The host, the model and the operator cannot alter the decision logic or the keys</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 separate die. Device secret in fuses with no read port. Boot from ROM, extend-only measurement registers, an anti-rollback counter. The rulebook changes only with k-of-n signatures from keys held outside the rack.</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200" b="1" dirty="0">
                          <a:solidFill>
                            <a:schemeClr val="tx1"/>
                          </a:solidFill>
                        </a:rPr>
                        <a:t>Always invoked</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200" dirty="0">
                          <a:solidFill>
                            <a:schemeClr val="tx1"/>
                          </a:solidFill>
                        </a:rPr>
                        <a:t>There is no path around it</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200" dirty="0">
                          <a:solidFill>
                            <a:schemeClr val="tx1"/>
                          </a:solidFill>
                        </a:rPr>
                        <a:t>A comparator at every crossing: switch ports open only for roster peers; a device acts only on a ticket; the egress holds a response until a ticket releases it; weights are written only with a ticket; power, reset and clock answer to the governor. Default deny; fail closed.</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200" b="1" dirty="0">
                          <a:solidFill>
                            <a:schemeClr val="tx1"/>
                          </a:solidFill>
                        </a:rPr>
                        <a:t>Verifiable</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Small enough that its correctness can be checked</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About 2 mm² of core logic in the prototype. Invariants written down: no ticket without a rule and its witnesses, no bytes to a stranger, halt on silence, no governor clears its own halt. 200 model tests, 20 RTL tests, an independent audit.</a:t>
                      </a:r>
                      <a:endParaRPr lang="en-US" sz="12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160520"/>
            <a:ext cx="11094415"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THE FIVE CROSSINGS THE CHIP STANDS AT</a:t>
            </a:r>
            <a:endParaRPr lang="en-US" sz="1100" dirty="0"/>
          </a:p>
        </p:txBody>
      </p:sp>
      <p:sp>
        <p:nvSpPr>
          <p:cNvPr id="6" name="card"/>
          <p:cNvSpPr/>
          <p:nvPr/>
        </p:nvSpPr>
        <p:spPr>
          <a:xfrm>
            <a:off x="548640" y="4480560"/>
            <a:ext cx="2036003" cy="868680"/>
          </a:xfrm>
          <a:prstGeom prst="roundRect">
            <a:avLst>
              <a:gd name="adj" fmla="val 8421"/>
            </a:avLst>
          </a:prstGeom>
          <a:solidFill>
            <a:schemeClr val="bg2"/>
          </a:solidFill>
          <a:ln w="12700">
            <a:solidFill>
              <a:schemeClr val="bg2"/>
            </a:solidFill>
            <a:prstDash val="solid"/>
          </a:ln>
        </p:spPr>
      </p:sp>
      <p:sp>
        <p:nvSpPr>
          <p:cNvPr id="7" name="icon circle"/>
          <p:cNvSpPr/>
          <p:nvPr/>
        </p:nvSpPr>
        <p:spPr>
          <a:xfrm>
            <a:off x="685800" y="4663440"/>
            <a:ext cx="502920" cy="502920"/>
          </a:xfrm>
          <a:prstGeom prst="ellipse">
            <a:avLst/>
          </a:prstGeom>
          <a:solidFill>
            <a:schemeClr val="tx2"/>
          </a:solidFill>
          <a:ln w="12700">
            <a:solidFill>
              <a:schemeClr val="tx2"/>
            </a:solidFill>
            <a:prstDash val="solid"/>
          </a:ln>
        </p:spPr>
      </p:sp>
      <p:pic>
        <p:nvPicPr>
          <p:cNvPr id="8" name="FiShare2" descr="preencoded.png">    </p:cNvPr>
          <p:cNvPicPr>
            <a:picLocks noChangeAspect="1"/>
          </p:cNvPicPr>
          <p:nvPr/>
        </p:nvPicPr>
        <p:blipFill>
          <a:blip r:embed="rId1"/>
          <a:stretch>
            <a:fillRect/>
          </a:stretch>
        </p:blipFill>
        <p:spPr>
          <a:xfrm>
            <a:off x="811530" y="4789170"/>
            <a:ext cx="251460" cy="251460"/>
          </a:xfrm>
          <a:prstGeom prst="rect">
            <a:avLst/>
          </a:prstGeom>
        </p:spPr>
      </p:pic>
      <p:sp>
        <p:nvSpPr>
          <p:cNvPr id="9" name="Text 5"/>
          <p:cNvSpPr txBox="1"/>
          <p:nvPr/>
        </p:nvSpPr>
        <p:spPr>
          <a:xfrm>
            <a:off x="1325880" y="4480560"/>
            <a:ext cx="1167323" cy="868680"/>
          </a:xfrm>
          <a:prstGeom prst="rect">
            <a:avLst/>
          </a:prstGeom>
          <a:noFill/>
          <a:ln/>
        </p:spPr>
        <p:txBody>
          <a:bodyPr wrap="square" lIns="0" tIns="0" rIns="0" bIns="0" rtlCol="0" anchor="ctr"/>
          <a:lstStyle/>
          <a:p>
            <a:pPr indent="0" marL="0">
              <a:buNone/>
            </a:pPr>
            <a:r>
              <a:rPr lang="en-US" sz="1200" b="1" dirty="0">
                <a:solidFill>
                  <a:schemeClr val="tx1"/>
                </a:solidFill>
              </a:rPr>
              <a:t>bytes leaving the GPU</a:t>
            </a:r>
            <a:endParaRPr lang="en-US" sz="1200" dirty="0"/>
          </a:p>
        </p:txBody>
      </p:sp>
      <p:sp>
        <p:nvSpPr>
          <p:cNvPr id="10" name="card"/>
          <p:cNvSpPr/>
          <p:nvPr/>
        </p:nvSpPr>
        <p:spPr>
          <a:xfrm>
            <a:off x="2813243" y="4480560"/>
            <a:ext cx="2036003" cy="868680"/>
          </a:xfrm>
          <a:prstGeom prst="roundRect">
            <a:avLst>
              <a:gd name="adj" fmla="val 8421"/>
            </a:avLst>
          </a:prstGeom>
          <a:solidFill>
            <a:schemeClr val="bg2"/>
          </a:solidFill>
          <a:ln w="12700">
            <a:solidFill>
              <a:schemeClr val="bg2"/>
            </a:solidFill>
            <a:prstDash val="solid"/>
          </a:ln>
        </p:spPr>
      </p:sp>
      <p:sp>
        <p:nvSpPr>
          <p:cNvPr id="11" name="icon circle"/>
          <p:cNvSpPr/>
          <p:nvPr/>
        </p:nvSpPr>
        <p:spPr>
          <a:xfrm>
            <a:off x="2950403" y="4663440"/>
            <a:ext cx="502920" cy="502920"/>
          </a:xfrm>
          <a:prstGeom prst="ellipse">
            <a:avLst/>
          </a:prstGeom>
          <a:solidFill>
            <a:schemeClr val="tx2"/>
          </a:solidFill>
          <a:ln w="12700">
            <a:solidFill>
              <a:schemeClr val="tx2"/>
            </a:solidFill>
            <a:prstDash val="solid"/>
          </a:ln>
        </p:spPr>
      </p:sp>
      <p:pic>
        <p:nvPicPr>
          <p:cNvPr id="12" name="FiTarget" descr="preencoded.png">    </p:cNvPr>
          <p:cNvPicPr>
            <a:picLocks noChangeAspect="1"/>
          </p:cNvPicPr>
          <p:nvPr/>
        </p:nvPicPr>
        <p:blipFill>
          <a:blip r:embed="rId2"/>
          <a:stretch>
            <a:fillRect/>
          </a:stretch>
        </p:blipFill>
        <p:spPr>
          <a:xfrm>
            <a:off x="3076133" y="4789170"/>
            <a:ext cx="251460" cy="251460"/>
          </a:xfrm>
          <a:prstGeom prst="rect">
            <a:avLst/>
          </a:prstGeom>
        </p:spPr>
      </p:pic>
      <p:sp>
        <p:nvSpPr>
          <p:cNvPr id="13" name="Text 8"/>
          <p:cNvSpPr txBox="1"/>
          <p:nvPr/>
        </p:nvSpPr>
        <p:spPr>
          <a:xfrm>
            <a:off x="3590483" y="4480560"/>
            <a:ext cx="1167323" cy="868680"/>
          </a:xfrm>
          <a:prstGeom prst="rect">
            <a:avLst/>
          </a:prstGeom>
          <a:noFill/>
          <a:ln/>
        </p:spPr>
        <p:txBody>
          <a:bodyPr wrap="square" lIns="0" tIns="0" rIns="0" bIns="0" rtlCol="0" anchor="ctr"/>
          <a:lstStyle/>
          <a:p>
            <a:pPr indent="0" marL="0">
              <a:buNone/>
            </a:pPr>
            <a:r>
              <a:rPr lang="en-US" sz="1200" b="1" dirty="0">
                <a:solidFill>
                  <a:schemeClr val="tx1"/>
                </a:solidFill>
              </a:rPr>
              <a:t>a request to a device that acts</a:t>
            </a:r>
            <a:endParaRPr lang="en-US" sz="1200" dirty="0"/>
          </a:p>
        </p:txBody>
      </p:sp>
      <p:sp>
        <p:nvSpPr>
          <p:cNvPr id="14" name="card"/>
          <p:cNvSpPr/>
          <p:nvPr/>
        </p:nvSpPr>
        <p:spPr>
          <a:xfrm>
            <a:off x="5077846" y="4480560"/>
            <a:ext cx="2036003" cy="868680"/>
          </a:xfrm>
          <a:prstGeom prst="roundRect">
            <a:avLst>
              <a:gd name="adj" fmla="val 8421"/>
            </a:avLst>
          </a:prstGeom>
          <a:solidFill>
            <a:schemeClr val="bg2"/>
          </a:solidFill>
          <a:ln w="12700">
            <a:solidFill>
              <a:schemeClr val="bg2"/>
            </a:solidFill>
            <a:prstDash val="solid"/>
          </a:ln>
        </p:spPr>
      </p:sp>
      <p:sp>
        <p:nvSpPr>
          <p:cNvPr id="15" name="icon circle"/>
          <p:cNvSpPr/>
          <p:nvPr/>
        </p:nvSpPr>
        <p:spPr>
          <a:xfrm>
            <a:off x="5215006" y="4663440"/>
            <a:ext cx="502920" cy="502920"/>
          </a:xfrm>
          <a:prstGeom prst="ellipse">
            <a:avLst/>
          </a:prstGeom>
          <a:solidFill>
            <a:schemeClr val="tx2"/>
          </a:solidFill>
          <a:ln w="12700">
            <a:solidFill>
              <a:schemeClr val="tx2"/>
            </a:solidFill>
            <a:prstDash val="solid"/>
          </a:ln>
        </p:spPr>
      </p:sp>
      <p:pic>
        <p:nvPicPr>
          <p:cNvPr id="16" name="FiLogOut" descr="preencoded.png">    </p:cNvPr>
          <p:cNvPicPr>
            <a:picLocks noChangeAspect="1"/>
          </p:cNvPicPr>
          <p:nvPr/>
        </p:nvPicPr>
        <p:blipFill>
          <a:blip r:embed="rId3"/>
          <a:stretch>
            <a:fillRect/>
          </a:stretch>
        </p:blipFill>
        <p:spPr>
          <a:xfrm>
            <a:off x="5340736" y="4789170"/>
            <a:ext cx="251460" cy="251460"/>
          </a:xfrm>
          <a:prstGeom prst="rect">
            <a:avLst/>
          </a:prstGeom>
        </p:spPr>
      </p:pic>
      <p:sp>
        <p:nvSpPr>
          <p:cNvPr id="17" name="Text 11"/>
          <p:cNvSpPr txBox="1"/>
          <p:nvPr/>
        </p:nvSpPr>
        <p:spPr>
          <a:xfrm>
            <a:off x="5855086" y="4480560"/>
            <a:ext cx="1167323" cy="868680"/>
          </a:xfrm>
          <a:prstGeom prst="rect">
            <a:avLst/>
          </a:prstGeom>
          <a:noFill/>
          <a:ln/>
        </p:spPr>
        <p:txBody>
          <a:bodyPr wrap="square" lIns="0" tIns="0" rIns="0" bIns="0" rtlCol="0" anchor="ctr"/>
          <a:lstStyle/>
          <a:p>
            <a:pPr indent="0" marL="0">
              <a:buNone/>
            </a:pPr>
            <a:r>
              <a:rPr lang="en-US" sz="1200" b="1" dirty="0">
                <a:solidFill>
                  <a:schemeClr val="tx1"/>
                </a:solidFill>
              </a:rPr>
              <a:t>a response leaving the rack</a:t>
            </a:r>
            <a:endParaRPr lang="en-US" sz="1200" dirty="0"/>
          </a:p>
        </p:txBody>
      </p:sp>
      <p:sp>
        <p:nvSpPr>
          <p:cNvPr id="18" name="card"/>
          <p:cNvSpPr/>
          <p:nvPr/>
        </p:nvSpPr>
        <p:spPr>
          <a:xfrm>
            <a:off x="7342449" y="4480560"/>
            <a:ext cx="2036003" cy="868680"/>
          </a:xfrm>
          <a:prstGeom prst="roundRect">
            <a:avLst>
              <a:gd name="adj" fmla="val 8421"/>
            </a:avLst>
          </a:prstGeom>
          <a:solidFill>
            <a:schemeClr val="bg2"/>
          </a:solidFill>
          <a:ln w="12700">
            <a:solidFill>
              <a:schemeClr val="bg2"/>
            </a:solidFill>
            <a:prstDash val="solid"/>
          </a:ln>
        </p:spPr>
      </p:sp>
      <p:sp>
        <p:nvSpPr>
          <p:cNvPr id="19" name="icon circle"/>
          <p:cNvSpPr/>
          <p:nvPr/>
        </p:nvSpPr>
        <p:spPr>
          <a:xfrm>
            <a:off x="7479609" y="4663440"/>
            <a:ext cx="502920" cy="502920"/>
          </a:xfrm>
          <a:prstGeom prst="ellipse">
            <a:avLst/>
          </a:prstGeom>
          <a:solidFill>
            <a:schemeClr val="tx2"/>
          </a:solidFill>
          <a:ln w="12700">
            <a:solidFill>
              <a:schemeClr val="tx2"/>
            </a:solidFill>
            <a:prstDash val="solid"/>
          </a:ln>
        </p:spPr>
      </p:sp>
      <p:pic>
        <p:nvPicPr>
          <p:cNvPr id="20" name="FiDatabase" descr="preencoded.png">    </p:cNvPr>
          <p:cNvPicPr>
            <a:picLocks noChangeAspect="1"/>
          </p:cNvPicPr>
          <p:nvPr/>
        </p:nvPicPr>
        <p:blipFill>
          <a:blip r:embed="rId4"/>
          <a:stretch>
            <a:fillRect/>
          </a:stretch>
        </p:blipFill>
        <p:spPr>
          <a:xfrm>
            <a:off x="7605339" y="4789170"/>
            <a:ext cx="251460" cy="251460"/>
          </a:xfrm>
          <a:prstGeom prst="rect">
            <a:avLst/>
          </a:prstGeom>
        </p:spPr>
      </p:pic>
      <p:sp>
        <p:nvSpPr>
          <p:cNvPr id="21" name="Text 14"/>
          <p:cNvSpPr txBox="1"/>
          <p:nvPr/>
        </p:nvSpPr>
        <p:spPr>
          <a:xfrm>
            <a:off x="8119689" y="4480560"/>
            <a:ext cx="1167323" cy="868680"/>
          </a:xfrm>
          <a:prstGeom prst="rect">
            <a:avLst/>
          </a:prstGeom>
          <a:noFill/>
          <a:ln/>
        </p:spPr>
        <p:txBody>
          <a:bodyPr wrap="square" lIns="0" tIns="0" rIns="0" bIns="0" rtlCol="0" anchor="ctr"/>
          <a:lstStyle/>
          <a:p>
            <a:pPr indent="0" marL="0">
              <a:buNone/>
            </a:pPr>
            <a:r>
              <a:rPr lang="en-US" sz="1200" b="1" dirty="0">
                <a:solidFill>
                  <a:schemeClr val="tx1"/>
                </a:solidFill>
              </a:rPr>
              <a:t>a write to the weights</a:t>
            </a:r>
            <a:endParaRPr lang="en-US" sz="1200" dirty="0"/>
          </a:p>
        </p:txBody>
      </p:sp>
      <p:sp>
        <p:nvSpPr>
          <p:cNvPr id="22" name="card"/>
          <p:cNvSpPr/>
          <p:nvPr/>
        </p:nvSpPr>
        <p:spPr>
          <a:xfrm>
            <a:off x="9607052" y="4480560"/>
            <a:ext cx="2036003" cy="868680"/>
          </a:xfrm>
          <a:prstGeom prst="roundRect">
            <a:avLst>
              <a:gd name="adj" fmla="val 8421"/>
            </a:avLst>
          </a:prstGeom>
          <a:solidFill>
            <a:schemeClr val="bg2"/>
          </a:solidFill>
          <a:ln w="12700">
            <a:solidFill>
              <a:schemeClr val="bg2"/>
            </a:solidFill>
            <a:prstDash val="solid"/>
          </a:ln>
        </p:spPr>
      </p:sp>
      <p:sp>
        <p:nvSpPr>
          <p:cNvPr id="23" name="icon circle"/>
          <p:cNvSpPr/>
          <p:nvPr/>
        </p:nvSpPr>
        <p:spPr>
          <a:xfrm>
            <a:off x="9744212" y="4663440"/>
            <a:ext cx="502920" cy="502920"/>
          </a:xfrm>
          <a:prstGeom prst="ellipse">
            <a:avLst/>
          </a:prstGeom>
          <a:solidFill>
            <a:schemeClr val="tx2"/>
          </a:solidFill>
          <a:ln w="12700">
            <a:solidFill>
              <a:schemeClr val="tx2"/>
            </a:solidFill>
            <a:prstDash val="solid"/>
          </a:ln>
        </p:spPr>
      </p:sp>
      <p:pic>
        <p:nvPicPr>
          <p:cNvPr id="24" name="FiPower" descr="preencoded.png">    </p:cNvPr>
          <p:cNvPicPr>
            <a:picLocks noChangeAspect="1"/>
          </p:cNvPicPr>
          <p:nvPr/>
        </p:nvPicPr>
        <p:blipFill>
          <a:blip r:embed="rId5"/>
          <a:stretch>
            <a:fillRect/>
          </a:stretch>
        </p:blipFill>
        <p:spPr>
          <a:xfrm>
            <a:off x="9869942" y="4789170"/>
            <a:ext cx="251460" cy="251460"/>
          </a:xfrm>
          <a:prstGeom prst="rect">
            <a:avLst/>
          </a:prstGeom>
        </p:spPr>
      </p:pic>
      <p:sp>
        <p:nvSpPr>
          <p:cNvPr id="25" name="Text 17"/>
          <p:cNvSpPr txBox="1"/>
          <p:nvPr/>
        </p:nvSpPr>
        <p:spPr>
          <a:xfrm>
            <a:off x="10384292" y="4480560"/>
            <a:ext cx="1167323" cy="868680"/>
          </a:xfrm>
          <a:prstGeom prst="rect">
            <a:avLst/>
          </a:prstGeom>
          <a:noFill/>
          <a:ln/>
        </p:spPr>
        <p:txBody>
          <a:bodyPr wrap="square" lIns="0" tIns="0" rIns="0" bIns="0" rtlCol="0" anchor="ctr"/>
          <a:lstStyle/>
          <a:p>
            <a:pPr indent="0" marL="0">
              <a:buNone/>
            </a:pPr>
            <a:r>
              <a:rPr lang="en-US" sz="1200" b="1" dirty="0">
                <a:solidFill>
                  <a:schemeClr val="tx1"/>
                </a:solidFill>
              </a:rPr>
              <a:t>GPU power, reset and clock</a:t>
            </a:r>
            <a:endParaRPr lang="en-US" sz="1200" dirty="0"/>
          </a:p>
        </p:txBody>
      </p:sp>
      <p:sp>
        <p:nvSpPr>
          <p:cNvPr id="26" name="analogy"/>
          <p:cNvSpPr/>
          <p:nvPr/>
        </p:nvSpPr>
        <p:spPr>
          <a:xfrm>
            <a:off x="548640" y="5532120"/>
            <a:ext cx="11094415" cy="640080"/>
          </a:xfrm>
          <a:prstGeom prst="roundRect">
            <a:avLst>
              <a:gd name="adj" fmla="val 11429"/>
            </a:avLst>
          </a:prstGeom>
          <a:solidFill>
            <a:schemeClr val="tx1"/>
          </a:solidFill>
          <a:ln w="12700">
            <a:solidFill>
              <a:schemeClr val="tx1"/>
            </a:solidFill>
            <a:prstDash val="solid"/>
          </a:ln>
        </p:spPr>
      </p:sp>
      <p:sp>
        <p:nvSpPr>
          <p:cNvPr id="27" name="Text 19"/>
          <p:cNvSpPr txBox="1"/>
          <p:nvPr/>
        </p:nvSpPr>
        <p:spPr>
          <a:xfrm>
            <a:off x="822960" y="5532120"/>
            <a:ext cx="1371600" cy="64008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28" name="Text 20"/>
          <p:cNvSpPr txBox="1"/>
          <p:nvPr/>
        </p:nvSpPr>
        <p:spPr>
          <a:xfrm>
            <a:off x="2286000" y="5532120"/>
            <a:ext cx="9082735" cy="640080"/>
          </a:xfrm>
          <a:prstGeom prst="rect">
            <a:avLst/>
          </a:prstGeom>
          <a:noFill/>
          <a:ln/>
        </p:spPr>
        <p:txBody>
          <a:bodyPr wrap="square" lIns="0" tIns="0" rIns="0" bIns="0" rtlCol="0" anchor="ctr"/>
          <a:lstStyle/>
          <a:p>
            <a:pPr indent="0" marL="0">
              <a:buNone/>
            </a:pPr>
            <a:r>
              <a:rPr lang="en-US" sz="1400" i="1" dirty="0">
                <a:solidFill>
                  <a:schemeClr val="accent6"/>
                </a:solidFill>
              </a:rPr>
              <a:t>A firewall for actions, with a hand on the breaker: it decides what leaves, and when it must, it also pulls the plug.</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logic behind it</a:t>
            </a:r>
            <a:endParaRPr lang="en-US" sz="3200" dirty="0"/>
          </a:p>
        </p:txBody>
      </p:sp>
      <p:sp>
        <p:nvSpPr>
          <p:cNvPr id="3" name="card"/>
          <p:cNvSpPr/>
          <p:nvPr/>
        </p:nvSpPr>
        <p:spPr>
          <a:xfrm>
            <a:off x="548640" y="1417320"/>
            <a:ext cx="5120640" cy="3840480"/>
          </a:xfrm>
          <a:prstGeom prst="roundRect">
            <a:avLst>
              <a:gd name="adj" fmla="val 1905"/>
            </a:avLst>
          </a:prstGeom>
          <a:solidFill>
            <a:schemeClr val="bg2"/>
          </a:solidFill>
          <a:ln w="12700">
            <a:solidFill>
              <a:schemeClr val="bg2"/>
            </a:solidFill>
            <a:prstDash val="solid"/>
          </a:ln>
        </p:spPr>
      </p:sp>
      <p:sp>
        <p:nvSpPr>
          <p:cNvPr id="4" name="Text 2"/>
          <p:cNvSpPr txBox="1"/>
          <p:nvPr/>
        </p:nvSpPr>
        <p:spPr>
          <a:xfrm>
            <a:off x="822960" y="16002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The customs officer</a:t>
            </a:r>
            <a:endParaRPr lang="en-US" sz="1800" dirty="0"/>
          </a:p>
        </p:txBody>
      </p:sp>
      <p:sp>
        <p:nvSpPr>
          <p:cNvPr id="5" name="Text 3"/>
          <p:cNvSpPr txBox="1"/>
          <p:nvPr/>
        </p:nvSpPr>
        <p:spPr>
          <a:xfrm>
            <a:off x="822960" y="2011680"/>
            <a:ext cx="4572000" cy="457200"/>
          </a:xfrm>
          <a:prstGeom prst="rect">
            <a:avLst/>
          </a:prstGeom>
          <a:noFill/>
          <a:ln/>
        </p:spPr>
        <p:txBody>
          <a:bodyPr wrap="square" lIns="0" tIns="0" rIns="0" bIns="0" rtlCol="0" anchor="t"/>
          <a:lstStyle/>
          <a:p>
            <a:pPr indent="0" marL="0">
              <a:buNone/>
            </a:pPr>
            <a:r>
              <a:rPr lang="en-US" sz="1250" dirty="0">
                <a:solidFill>
                  <a:schemeClr val="accent3"/>
                </a:solidFill>
              </a:rPr>
              <a:t>She cannot read the language on the paperwork. She does not need to.</a:t>
            </a:r>
            <a:endParaRPr lang="en-US" sz="1250" dirty="0"/>
          </a:p>
        </p:txBody>
      </p:sp>
      <p:sp>
        <p:nvSpPr>
          <p:cNvPr id="6" name="icon circle"/>
          <p:cNvSpPr/>
          <p:nvPr/>
        </p:nvSpPr>
        <p:spPr>
          <a:xfrm>
            <a:off x="1065276" y="2606040"/>
            <a:ext cx="658368" cy="658368"/>
          </a:xfrm>
          <a:prstGeom prst="ellipse">
            <a:avLst/>
          </a:prstGeom>
          <a:solidFill>
            <a:schemeClr val="accent1"/>
          </a:solidFill>
          <a:ln w="12700">
            <a:solidFill>
              <a:schemeClr val="accent1"/>
            </a:solidFill>
            <a:prstDash val="solid"/>
          </a:ln>
        </p:spPr>
      </p:sp>
      <p:pic>
        <p:nvPicPr>
          <p:cNvPr id="7" name="FiPackage" descr="preencoded.png">    </p:cNvPr>
          <p:cNvPicPr>
            <a:picLocks noChangeAspect="1"/>
          </p:cNvPicPr>
          <p:nvPr/>
        </p:nvPicPr>
        <p:blipFill>
          <a:blip r:embed="rId1"/>
          <a:stretch>
            <a:fillRect/>
          </a:stretch>
        </p:blipFill>
        <p:spPr>
          <a:xfrm>
            <a:off x="1229868" y="2770632"/>
            <a:ext cx="329184" cy="329184"/>
          </a:xfrm>
          <a:prstGeom prst="rect">
            <a:avLst/>
          </a:prstGeom>
        </p:spPr>
      </p:pic>
      <p:sp>
        <p:nvSpPr>
          <p:cNvPr id="8" name="Text 5"/>
          <p:cNvSpPr txBox="1"/>
          <p:nvPr/>
        </p:nvSpPr>
        <p:spPr>
          <a:xfrm>
            <a:off x="822960" y="3337560"/>
            <a:ext cx="1143000" cy="274320"/>
          </a:xfrm>
          <a:prstGeom prst="rect">
            <a:avLst/>
          </a:prstGeom>
          <a:noFill/>
          <a:ln/>
        </p:spPr>
        <p:txBody>
          <a:bodyPr wrap="square" lIns="0" tIns="0" rIns="0" bIns="0" rtlCol="0" anchor="t"/>
          <a:lstStyle/>
          <a:p>
            <a:pPr algn="ctr" indent="0" marL="0">
              <a:buNone/>
            </a:pPr>
            <a:r>
              <a:rPr lang="en-US" sz="1200" b="1" dirty="0">
                <a:solidFill>
                  <a:schemeClr val="tx1"/>
                </a:solidFill>
              </a:rPr>
              <a:t>the seal</a:t>
            </a:r>
            <a:endParaRPr lang="en-US" sz="1200" dirty="0"/>
          </a:p>
        </p:txBody>
      </p:sp>
      <p:sp>
        <p:nvSpPr>
          <p:cNvPr id="9" name="Text 6"/>
          <p:cNvSpPr txBox="1"/>
          <p:nvPr/>
        </p:nvSpPr>
        <p:spPr>
          <a:xfrm>
            <a:off x="822960" y="3611880"/>
            <a:ext cx="1143000" cy="274320"/>
          </a:xfrm>
          <a:prstGeom prst="rect">
            <a:avLst/>
          </a:prstGeom>
          <a:noFill/>
          <a:ln/>
        </p:spPr>
        <p:txBody>
          <a:bodyPr wrap="square" lIns="0" tIns="0" rIns="0" bIns="0" rtlCol="0" anchor="t"/>
          <a:lstStyle/>
          <a:p>
            <a:pPr algn="ctr" indent="0" marL="0">
              <a:buNone/>
            </a:pPr>
            <a:r>
              <a:rPr lang="en-US" sz="1100" dirty="0">
                <a:solidFill>
                  <a:schemeClr val="accent3"/>
                </a:solidFill>
              </a:rPr>
              <a:t>unbroken?</a:t>
            </a:r>
            <a:endParaRPr lang="en-US" sz="1100" dirty="0"/>
          </a:p>
        </p:txBody>
      </p:sp>
      <p:sp>
        <p:nvSpPr>
          <p:cNvPr id="10" name="icon circle"/>
          <p:cNvSpPr/>
          <p:nvPr/>
        </p:nvSpPr>
        <p:spPr>
          <a:xfrm>
            <a:off x="2208276" y="2606040"/>
            <a:ext cx="658368" cy="658368"/>
          </a:xfrm>
          <a:prstGeom prst="ellipse">
            <a:avLst/>
          </a:prstGeom>
          <a:solidFill>
            <a:schemeClr val="accent1"/>
          </a:solidFill>
          <a:ln w="12700">
            <a:solidFill>
              <a:schemeClr val="accent1"/>
            </a:solidFill>
            <a:prstDash val="solid"/>
          </a:ln>
        </p:spPr>
      </p:sp>
      <p:pic>
        <p:nvPicPr>
          <p:cNvPr id="11" name="FiFileText" descr="preencoded.png">    </p:cNvPr>
          <p:cNvPicPr>
            <a:picLocks noChangeAspect="1"/>
          </p:cNvPicPr>
          <p:nvPr/>
        </p:nvPicPr>
        <p:blipFill>
          <a:blip r:embed="rId2"/>
          <a:stretch>
            <a:fillRect/>
          </a:stretch>
        </p:blipFill>
        <p:spPr>
          <a:xfrm>
            <a:off x="2372868" y="2770632"/>
            <a:ext cx="329184" cy="329184"/>
          </a:xfrm>
          <a:prstGeom prst="rect">
            <a:avLst/>
          </a:prstGeom>
        </p:spPr>
      </p:pic>
      <p:sp>
        <p:nvSpPr>
          <p:cNvPr id="12" name="Text 8"/>
          <p:cNvSpPr txBox="1"/>
          <p:nvPr/>
        </p:nvSpPr>
        <p:spPr>
          <a:xfrm>
            <a:off x="1965960" y="3337560"/>
            <a:ext cx="1143000" cy="274320"/>
          </a:xfrm>
          <a:prstGeom prst="rect">
            <a:avLst/>
          </a:prstGeom>
          <a:noFill/>
          <a:ln/>
        </p:spPr>
        <p:txBody>
          <a:bodyPr wrap="square" lIns="0" tIns="0" rIns="0" bIns="0" rtlCol="0" anchor="t"/>
          <a:lstStyle/>
          <a:p>
            <a:pPr algn="ctr" indent="0" marL="0">
              <a:buNone/>
            </a:pPr>
            <a:r>
              <a:rPr lang="en-US" sz="1200" b="1" dirty="0">
                <a:solidFill>
                  <a:schemeClr val="tx1"/>
                </a:solidFill>
              </a:rPr>
              <a:t>the manifest</a:t>
            </a:r>
            <a:endParaRPr lang="en-US" sz="1200" dirty="0"/>
          </a:p>
        </p:txBody>
      </p:sp>
      <p:sp>
        <p:nvSpPr>
          <p:cNvPr id="13" name="Text 9"/>
          <p:cNvSpPr txBox="1"/>
          <p:nvPr/>
        </p:nvSpPr>
        <p:spPr>
          <a:xfrm>
            <a:off x="1965960" y="3611880"/>
            <a:ext cx="1143000" cy="274320"/>
          </a:xfrm>
          <a:prstGeom prst="rect">
            <a:avLst/>
          </a:prstGeom>
          <a:noFill/>
          <a:ln/>
        </p:spPr>
        <p:txBody>
          <a:bodyPr wrap="square" lIns="0" tIns="0" rIns="0" bIns="0" rtlCol="0" anchor="t"/>
          <a:lstStyle/>
          <a:p>
            <a:pPr algn="ctr" indent="0" marL="0">
              <a:buNone/>
            </a:pPr>
            <a:r>
              <a:rPr lang="en-US" sz="1100" dirty="0">
                <a:solidFill>
                  <a:schemeClr val="accent3"/>
                </a:solidFill>
              </a:rPr>
              <a:t>matches the count?</a:t>
            </a:r>
            <a:endParaRPr lang="en-US" sz="1100" dirty="0"/>
          </a:p>
        </p:txBody>
      </p:sp>
      <p:sp>
        <p:nvSpPr>
          <p:cNvPr id="14" name="icon circle"/>
          <p:cNvSpPr/>
          <p:nvPr/>
        </p:nvSpPr>
        <p:spPr>
          <a:xfrm>
            <a:off x="3351276" y="2606040"/>
            <a:ext cx="658368" cy="658368"/>
          </a:xfrm>
          <a:prstGeom prst="ellipse">
            <a:avLst/>
          </a:prstGeom>
          <a:solidFill>
            <a:schemeClr val="accent1"/>
          </a:solidFill>
          <a:ln w="12700">
            <a:solidFill>
              <a:schemeClr val="accent1"/>
            </a:solidFill>
            <a:prstDash val="solid"/>
          </a:ln>
        </p:spPr>
      </p:sp>
      <p:pic>
        <p:nvPicPr>
          <p:cNvPr id="15" name="FiBarChart2" descr="preencoded.png">    </p:cNvPr>
          <p:cNvPicPr>
            <a:picLocks noChangeAspect="1"/>
          </p:cNvPicPr>
          <p:nvPr/>
        </p:nvPicPr>
        <p:blipFill>
          <a:blip r:embed="rId3"/>
          <a:stretch>
            <a:fillRect/>
          </a:stretch>
        </p:blipFill>
        <p:spPr>
          <a:xfrm>
            <a:off x="3515868" y="2770632"/>
            <a:ext cx="329184" cy="329184"/>
          </a:xfrm>
          <a:prstGeom prst="rect">
            <a:avLst/>
          </a:prstGeom>
        </p:spPr>
      </p:pic>
      <p:sp>
        <p:nvSpPr>
          <p:cNvPr id="16" name="Text 11"/>
          <p:cNvSpPr txBox="1"/>
          <p:nvPr/>
        </p:nvSpPr>
        <p:spPr>
          <a:xfrm>
            <a:off x="3108960" y="3337560"/>
            <a:ext cx="1143000" cy="274320"/>
          </a:xfrm>
          <a:prstGeom prst="rect">
            <a:avLst/>
          </a:prstGeom>
          <a:noFill/>
          <a:ln/>
        </p:spPr>
        <p:txBody>
          <a:bodyPr wrap="square" lIns="0" tIns="0" rIns="0" bIns="0" rtlCol="0" anchor="t"/>
          <a:lstStyle/>
          <a:p>
            <a:pPr algn="ctr" indent="0" marL="0">
              <a:buNone/>
            </a:pPr>
            <a:r>
              <a:rPr lang="en-US" sz="1200" b="1" dirty="0">
                <a:solidFill>
                  <a:schemeClr val="tx1"/>
                </a:solidFill>
              </a:rPr>
              <a:t>the scale</a:t>
            </a:r>
            <a:endParaRPr lang="en-US" sz="1200" dirty="0"/>
          </a:p>
        </p:txBody>
      </p:sp>
      <p:sp>
        <p:nvSpPr>
          <p:cNvPr id="17" name="Text 12"/>
          <p:cNvSpPr txBox="1"/>
          <p:nvPr/>
        </p:nvSpPr>
        <p:spPr>
          <a:xfrm>
            <a:off x="3108960" y="3611880"/>
            <a:ext cx="1143000" cy="274320"/>
          </a:xfrm>
          <a:prstGeom prst="rect">
            <a:avLst/>
          </a:prstGeom>
          <a:noFill/>
          <a:ln/>
        </p:spPr>
        <p:txBody>
          <a:bodyPr wrap="square" lIns="0" tIns="0" rIns="0" bIns="0" rtlCol="0" anchor="t"/>
          <a:lstStyle/>
          <a:p>
            <a:pPr algn="ctr" indent="0" marL="0">
              <a:buNone/>
            </a:pPr>
            <a:r>
              <a:rPr lang="en-US" sz="1100" dirty="0">
                <a:solidFill>
                  <a:schemeClr val="accent3"/>
                </a:solidFill>
              </a:rPr>
              <a:t>matches the weight?</a:t>
            </a:r>
            <a:endParaRPr lang="en-US" sz="1100" dirty="0"/>
          </a:p>
        </p:txBody>
      </p:sp>
      <p:sp>
        <p:nvSpPr>
          <p:cNvPr id="18" name="icon circle"/>
          <p:cNvSpPr/>
          <p:nvPr/>
        </p:nvSpPr>
        <p:spPr>
          <a:xfrm>
            <a:off x="4494276" y="2606040"/>
            <a:ext cx="658368" cy="658368"/>
          </a:xfrm>
          <a:prstGeom prst="ellipse">
            <a:avLst/>
          </a:prstGeom>
          <a:solidFill>
            <a:schemeClr val="accent1"/>
          </a:solidFill>
          <a:ln w="12700">
            <a:solidFill>
              <a:schemeClr val="accent1"/>
            </a:solidFill>
            <a:prstDash val="solid"/>
          </a:ln>
        </p:spPr>
      </p:sp>
      <p:pic>
        <p:nvPicPr>
          <p:cNvPr id="19" name="FiList" descr="preencoded.png">    </p:cNvPr>
          <p:cNvPicPr>
            <a:picLocks noChangeAspect="1"/>
          </p:cNvPicPr>
          <p:nvPr/>
        </p:nvPicPr>
        <p:blipFill>
          <a:blip r:embed="rId4"/>
          <a:stretch>
            <a:fillRect/>
          </a:stretch>
        </p:blipFill>
        <p:spPr>
          <a:xfrm>
            <a:off x="4658868" y="2770632"/>
            <a:ext cx="329184" cy="329184"/>
          </a:xfrm>
          <a:prstGeom prst="rect">
            <a:avLst/>
          </a:prstGeom>
        </p:spPr>
      </p:pic>
      <p:sp>
        <p:nvSpPr>
          <p:cNvPr id="20" name="Text 14"/>
          <p:cNvSpPr txBox="1"/>
          <p:nvPr/>
        </p:nvSpPr>
        <p:spPr>
          <a:xfrm>
            <a:off x="4251960" y="3337560"/>
            <a:ext cx="1143000" cy="274320"/>
          </a:xfrm>
          <a:prstGeom prst="rect">
            <a:avLst/>
          </a:prstGeom>
          <a:noFill/>
          <a:ln/>
        </p:spPr>
        <p:txBody>
          <a:bodyPr wrap="square" lIns="0" tIns="0" rIns="0" bIns="0" rtlCol="0" anchor="t"/>
          <a:lstStyle/>
          <a:p>
            <a:pPr algn="ctr" indent="0" marL="0">
              <a:buNone/>
            </a:pPr>
            <a:r>
              <a:rPr lang="en-US" sz="1200" b="1" dirty="0">
                <a:solidFill>
                  <a:schemeClr val="tx1"/>
                </a:solidFill>
              </a:rPr>
              <a:t>the list</a:t>
            </a:r>
            <a:endParaRPr lang="en-US" sz="1200" dirty="0"/>
          </a:p>
        </p:txBody>
      </p:sp>
      <p:sp>
        <p:nvSpPr>
          <p:cNvPr id="21" name="Text 15"/>
          <p:cNvSpPr txBox="1"/>
          <p:nvPr/>
        </p:nvSpPr>
        <p:spPr>
          <a:xfrm>
            <a:off x="4251960" y="3611880"/>
            <a:ext cx="1143000" cy="274320"/>
          </a:xfrm>
          <a:prstGeom prst="rect">
            <a:avLst/>
          </a:prstGeom>
          <a:noFill/>
          <a:ln/>
        </p:spPr>
        <p:txBody>
          <a:bodyPr wrap="square" lIns="0" tIns="0" rIns="0" bIns="0" rtlCol="0" anchor="t"/>
          <a:lstStyle/>
          <a:p>
            <a:pPr algn="ctr" indent="0" marL="0">
              <a:buNone/>
            </a:pPr>
            <a:r>
              <a:rPr lang="en-US" sz="1100" dirty="0">
                <a:solidFill>
                  <a:schemeClr val="accent3"/>
                </a:solidFill>
              </a:rPr>
              <a:t>destination approved?</a:t>
            </a:r>
            <a:endParaRPr lang="en-US" sz="1100" dirty="0"/>
          </a:p>
        </p:txBody>
      </p:sp>
      <p:sp>
        <p:nvSpPr>
          <p:cNvPr id="22" name="Text 16"/>
          <p:cNvSpPr txBox="1"/>
          <p:nvPr/>
        </p:nvSpPr>
        <p:spPr>
          <a:xfrm>
            <a:off x="822960" y="4114800"/>
            <a:ext cx="4572000" cy="1005840"/>
          </a:xfrm>
          <a:prstGeom prst="rect">
            <a:avLst/>
          </a:prstGeom>
          <a:noFill/>
          <a:ln/>
        </p:spPr>
        <p:txBody>
          <a:bodyPr wrap="square" lIns="0" tIns="0" rIns="0" bIns="0" rtlCol="0" anchor="t"/>
          <a:lstStyle/>
          <a:p>
            <a:pPr indent="0" marL="0">
              <a:buNone/>
            </a:pPr>
            <a:r>
              <a:rPr lang="en-US" sz="1250" dirty="0">
                <a:solidFill>
                  <a:schemeClr val="tx1"/>
                </a:solidFill>
              </a:rPr>
              <a:t>Smuggling is caught as a mismatch between what the papers say and what the scale says, not by understanding the cargo. The governor works the same way: on structure, never on meaning.</a:t>
            </a:r>
            <a:endParaRPr lang="en-US" sz="1250" dirty="0"/>
          </a:p>
        </p:txBody>
      </p:sp>
      <p:sp>
        <p:nvSpPr>
          <p:cNvPr id="23" name="icon circle"/>
          <p:cNvSpPr/>
          <p:nvPr/>
        </p:nvSpPr>
        <p:spPr>
          <a:xfrm>
            <a:off x="6035040" y="1463040"/>
            <a:ext cx="566928" cy="566928"/>
          </a:xfrm>
          <a:prstGeom prst="ellipse">
            <a:avLst/>
          </a:prstGeom>
          <a:solidFill>
            <a:schemeClr val="tx2"/>
          </a:solidFill>
          <a:ln w="12700">
            <a:solidFill>
              <a:schemeClr val="tx2"/>
            </a:solidFill>
            <a:prstDash val="solid"/>
          </a:ln>
        </p:spPr>
      </p:sp>
      <p:pic>
        <p:nvPicPr>
          <p:cNvPr id="24" name="FiEdit3" descr="preencoded.png">    </p:cNvPr>
          <p:cNvPicPr>
            <a:picLocks noChangeAspect="1"/>
          </p:cNvPicPr>
          <p:nvPr/>
        </p:nvPicPr>
        <p:blipFill>
          <a:blip r:embed="rId5"/>
          <a:stretch>
            <a:fillRect/>
          </a:stretch>
        </p:blipFill>
        <p:spPr>
          <a:xfrm>
            <a:off x="6176772" y="1604772"/>
            <a:ext cx="283464" cy="283464"/>
          </a:xfrm>
          <a:prstGeom prst="rect">
            <a:avLst/>
          </a:prstGeom>
        </p:spPr>
      </p:pic>
      <p:sp>
        <p:nvSpPr>
          <p:cNvPr id="25" name="Text 18"/>
          <p:cNvSpPr txBox="1"/>
          <p:nvPr/>
        </p:nvSpPr>
        <p:spPr>
          <a:xfrm>
            <a:off x="6812280" y="1417320"/>
            <a:ext cx="4830775" cy="365760"/>
          </a:xfrm>
          <a:prstGeom prst="rect">
            <a:avLst/>
          </a:prstGeom>
          <a:noFill/>
          <a:ln/>
        </p:spPr>
        <p:txBody>
          <a:bodyPr wrap="square" lIns="0" tIns="0" rIns="0" bIns="0" rtlCol="0" anchor="t"/>
          <a:lstStyle/>
          <a:p>
            <a:pPr indent="0" marL="0">
              <a:buNone/>
            </a:pPr>
            <a:r>
              <a:rPr lang="en-US" sz="1500" b="1" dirty="0">
                <a:solidFill>
                  <a:schemeClr val="tx1"/>
                </a:solidFill>
              </a:rPr>
              <a:t>Software safety can be edited out</a:t>
            </a:r>
            <a:endParaRPr lang="en-US" sz="1500" dirty="0"/>
          </a:p>
        </p:txBody>
      </p:sp>
      <p:sp>
        <p:nvSpPr>
          <p:cNvPr id="26" name="Text 19"/>
          <p:cNvSpPr txBox="1"/>
          <p:nvPr/>
        </p:nvSpPr>
        <p:spPr>
          <a:xfrm>
            <a:off x="6812280" y="1801368"/>
            <a:ext cx="4830775" cy="868680"/>
          </a:xfrm>
          <a:prstGeom prst="rect">
            <a:avLst/>
          </a:prstGeom>
          <a:noFill/>
          <a:ln/>
        </p:spPr>
        <p:txBody>
          <a:bodyPr wrap="square" lIns="0" tIns="0" rIns="0" bIns="0" rtlCol="0" anchor="t"/>
          <a:lstStyle/>
          <a:p>
            <a:pPr indent="0" marL="0">
              <a:buNone/>
            </a:pPr>
            <a:r>
              <a:rPr lang="en-US" sz="1200" dirty="0">
                <a:solidFill>
                  <a:schemeClr val="tx1"/>
                </a:solidFill>
              </a:rPr>
              <a:t>Refusal is a direction in the weights. Remove it and the model answers everything. An afternoon on a consumer GPU.</a:t>
            </a:r>
            <a:endParaRPr lang="en-US" sz="1200" dirty="0"/>
          </a:p>
        </p:txBody>
      </p:sp>
      <p:sp>
        <p:nvSpPr>
          <p:cNvPr id="27" name="icon circle"/>
          <p:cNvSpPr/>
          <p:nvPr/>
        </p:nvSpPr>
        <p:spPr>
          <a:xfrm>
            <a:off x="6035040" y="2761488"/>
            <a:ext cx="566928" cy="566928"/>
          </a:xfrm>
          <a:prstGeom prst="ellipse">
            <a:avLst/>
          </a:prstGeom>
          <a:solidFill>
            <a:schemeClr val="tx2"/>
          </a:solidFill>
          <a:ln w="12700">
            <a:solidFill>
              <a:schemeClr val="tx2"/>
            </a:solidFill>
            <a:prstDash val="solid"/>
          </a:ln>
        </p:spPr>
      </p:sp>
      <p:pic>
        <p:nvPicPr>
          <p:cNvPr id="28" name="FiEye" descr="preencoded.png">    </p:cNvPr>
          <p:cNvPicPr>
            <a:picLocks noChangeAspect="1"/>
          </p:cNvPicPr>
          <p:nvPr/>
        </p:nvPicPr>
        <p:blipFill>
          <a:blip r:embed="rId6"/>
          <a:stretch>
            <a:fillRect/>
          </a:stretch>
        </p:blipFill>
        <p:spPr>
          <a:xfrm>
            <a:off x="6176772" y="2903220"/>
            <a:ext cx="283464" cy="283464"/>
          </a:xfrm>
          <a:prstGeom prst="rect">
            <a:avLst/>
          </a:prstGeom>
        </p:spPr>
      </p:pic>
      <p:sp>
        <p:nvSpPr>
          <p:cNvPr id="29" name="Text 21"/>
          <p:cNvSpPr txBox="1"/>
          <p:nvPr/>
        </p:nvSpPr>
        <p:spPr>
          <a:xfrm>
            <a:off x="6812280" y="2715768"/>
            <a:ext cx="4830775" cy="365760"/>
          </a:xfrm>
          <a:prstGeom prst="rect">
            <a:avLst/>
          </a:prstGeom>
          <a:noFill/>
          <a:ln/>
        </p:spPr>
        <p:txBody>
          <a:bodyPr wrap="square" lIns="0" tIns="0" rIns="0" bIns="0" rtlCol="0" anchor="t"/>
          <a:lstStyle/>
          <a:p>
            <a:pPr indent="0" marL="0">
              <a:buNone/>
            </a:pPr>
            <a:r>
              <a:rPr lang="en-US" sz="1500" b="1" dirty="0">
                <a:solidFill>
                  <a:schemeClr val="tx1"/>
                </a:solidFill>
              </a:rPr>
              <a:t>Watchers can only warn</a:t>
            </a:r>
            <a:endParaRPr lang="en-US" sz="1500" dirty="0"/>
          </a:p>
        </p:txBody>
      </p:sp>
      <p:sp>
        <p:nvSpPr>
          <p:cNvPr id="30" name="Text 22"/>
          <p:cNvSpPr txBox="1"/>
          <p:nvPr/>
        </p:nvSpPr>
        <p:spPr>
          <a:xfrm>
            <a:off x="6812280" y="3099816"/>
            <a:ext cx="4830775" cy="868680"/>
          </a:xfrm>
          <a:prstGeom prst="rect">
            <a:avLst/>
          </a:prstGeom>
          <a:noFill/>
          <a:ln/>
        </p:spPr>
        <p:txBody>
          <a:bodyPr wrap="square" lIns="0" tIns="0" rIns="0" bIns="0" rtlCol="0" anchor="t"/>
          <a:lstStyle/>
          <a:p>
            <a:pPr indent="0" marL="0">
              <a:buNone/>
            </a:pPr>
            <a:r>
              <a:rPr lang="en-US" sz="1200" dirty="0">
                <a:solidFill>
                  <a:schemeClr val="tx1"/>
                </a:solidFill>
              </a:rPr>
              <a:t>A judge model is also a model: it can be fooled, patched or killed. It can hold a gate shut. It cannot be the gate.</a:t>
            </a:r>
            <a:endParaRPr lang="en-US" sz="1200" dirty="0"/>
          </a:p>
        </p:txBody>
      </p:sp>
      <p:sp>
        <p:nvSpPr>
          <p:cNvPr id="31" name="icon circle"/>
          <p:cNvSpPr/>
          <p:nvPr/>
        </p:nvSpPr>
        <p:spPr>
          <a:xfrm>
            <a:off x="6035040" y="4059936"/>
            <a:ext cx="566928" cy="566928"/>
          </a:xfrm>
          <a:prstGeom prst="ellipse">
            <a:avLst/>
          </a:prstGeom>
          <a:solidFill>
            <a:schemeClr val="tx2"/>
          </a:solidFill>
          <a:ln w="12700">
            <a:solidFill>
              <a:schemeClr val="tx2"/>
            </a:solidFill>
            <a:prstDash val="solid"/>
          </a:ln>
        </p:spPr>
      </p:sp>
      <p:pic>
        <p:nvPicPr>
          <p:cNvPr id="32" name="FiCpu" descr="preencoded.png">    </p:cNvPr>
          <p:cNvPicPr>
            <a:picLocks noChangeAspect="1"/>
          </p:cNvPicPr>
          <p:nvPr/>
        </p:nvPicPr>
        <p:blipFill>
          <a:blip r:embed="rId7"/>
          <a:stretch>
            <a:fillRect/>
          </a:stretch>
        </p:blipFill>
        <p:spPr>
          <a:xfrm>
            <a:off x="6176772" y="4201668"/>
            <a:ext cx="283464" cy="283464"/>
          </a:xfrm>
          <a:prstGeom prst="rect">
            <a:avLst/>
          </a:prstGeom>
        </p:spPr>
      </p:pic>
      <p:sp>
        <p:nvSpPr>
          <p:cNvPr id="33" name="Text 24"/>
          <p:cNvSpPr txBox="1"/>
          <p:nvPr/>
        </p:nvSpPr>
        <p:spPr>
          <a:xfrm>
            <a:off x="6812280" y="4014216"/>
            <a:ext cx="4830775" cy="365760"/>
          </a:xfrm>
          <a:prstGeom prst="rect">
            <a:avLst/>
          </a:prstGeom>
          <a:noFill/>
          <a:ln/>
        </p:spPr>
        <p:txBody>
          <a:bodyPr wrap="square" lIns="0" tIns="0" rIns="0" bIns="0" rtlCol="0" anchor="t"/>
          <a:lstStyle/>
          <a:p>
            <a:pPr indent="0" marL="0">
              <a:buNone/>
            </a:pPr>
            <a:r>
              <a:rPr lang="en-US" sz="1500" b="1" dirty="0">
                <a:solidFill>
                  <a:schemeClr val="tx1"/>
                </a:solidFill>
              </a:rPr>
              <a:t>Hardware checks structure, not meaning</a:t>
            </a:r>
            <a:endParaRPr lang="en-US" sz="1500" dirty="0"/>
          </a:p>
        </p:txBody>
      </p:sp>
      <p:sp>
        <p:nvSpPr>
          <p:cNvPr id="34" name="Text 25"/>
          <p:cNvSpPr txBox="1"/>
          <p:nvPr/>
        </p:nvSpPr>
        <p:spPr>
          <a:xfrm>
            <a:off x="6812280" y="4398264"/>
            <a:ext cx="4830775" cy="868680"/>
          </a:xfrm>
          <a:prstGeom prst="rect">
            <a:avLst/>
          </a:prstGeom>
          <a:noFill/>
          <a:ln/>
        </p:spPr>
        <p:txBody>
          <a:bodyPr wrap="square" lIns="0" tIns="0" rIns="0" bIns="0" rtlCol="0" anchor="t"/>
          <a:lstStyle/>
          <a:p>
            <a:pPr indent="0" marL="0">
              <a:buNone/>
            </a:pPr>
            <a:r>
              <a:rPr lang="en-US" sz="1200" dirty="0">
                <a:solidFill>
                  <a:schemeClr val="tx1"/>
                </a:solidFill>
              </a:rPr>
              <a:t>A stamp, a signature, a count, a name on a list, a measured workload. A chip can refuse on those, and the model cannot forge them.</a:t>
            </a:r>
            <a:endParaRPr lang="en-US" sz="1200" dirty="0"/>
          </a:p>
        </p:txBody>
      </p:sp>
      <p:sp>
        <p:nvSpPr>
          <p:cNvPr id="35"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6" name="Text 27"/>
          <p:cNvSpPr txBox="1"/>
          <p:nvPr/>
        </p:nvSpPr>
        <p:spPr>
          <a:xfrm>
            <a:off x="822960" y="5486400"/>
            <a:ext cx="1371600" cy="68580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37" name="Text 28"/>
          <p:cNvSpPr txBox="1"/>
          <p:nvPr/>
        </p:nvSpPr>
        <p:spPr>
          <a:xfrm>
            <a:off x="2286000" y="5486400"/>
            <a:ext cx="9082735" cy="685800"/>
          </a:xfrm>
          <a:prstGeom prst="rect">
            <a:avLst/>
          </a:prstGeom>
          <a:noFill/>
          <a:ln/>
        </p:spPr>
        <p:txBody>
          <a:bodyPr wrap="square" lIns="0" tIns="0" rIns="0" bIns="0" rtlCol="0" anchor="ctr"/>
          <a:lstStyle/>
          <a:p>
            <a:pPr indent="0" marL="0">
              <a:buNone/>
            </a:pPr>
            <a:r>
              <a:rPr lang="en-US" sz="1400" i="1" dirty="0">
                <a:solidFill>
                  <a:schemeClr val="accent6"/>
                </a:solidFill>
              </a:rPr>
              <a:t>So: put the decision in silicon, and make the rulebook an allow-list. Short, signed, default no. Everything not on the list is refused by construction.</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logic, technically: what a chip can see</a:t>
            </a:r>
            <a:endParaRPr lang="en-US" sz="3200" dirty="0"/>
          </a:p>
        </p:txBody>
      </p:sp>
      <p:sp>
        <p:nvSpPr>
          <p:cNvPr id="3" name="card"/>
          <p:cNvSpPr/>
          <p:nvPr/>
        </p:nvSpPr>
        <p:spPr>
          <a:xfrm>
            <a:off x="548640" y="1417320"/>
            <a:ext cx="5486400" cy="3886200"/>
          </a:xfrm>
          <a:prstGeom prst="roundRect">
            <a:avLst>
              <a:gd name="adj" fmla="val 1882"/>
            </a:avLst>
          </a:prstGeom>
          <a:solidFill>
            <a:schemeClr val="bg2"/>
          </a:solidFill>
          <a:ln w="12700">
            <a:solidFill>
              <a:schemeClr val="bg2"/>
            </a:solidFill>
            <a:prstDash val="solid"/>
          </a:ln>
        </p:spPr>
      </p:sp>
      <p:sp>
        <p:nvSpPr>
          <p:cNvPr id="4" name="Text 2"/>
          <p:cNvSpPr txBox="1"/>
          <p:nvPr/>
        </p:nvSpPr>
        <p:spPr>
          <a:xfrm>
            <a:off x="822960" y="1600200"/>
            <a:ext cx="4937760" cy="365760"/>
          </a:xfrm>
          <a:prstGeom prst="rect">
            <a:avLst/>
          </a:prstGeom>
          <a:noFill/>
          <a:ln/>
        </p:spPr>
        <p:txBody>
          <a:bodyPr wrap="square" lIns="0" tIns="0" rIns="0" bIns="0" rtlCol="0" anchor="t"/>
          <a:lstStyle/>
          <a:p>
            <a:pPr indent="0" marL="0">
              <a:buNone/>
            </a:pPr>
            <a:r>
              <a:rPr lang="en-US" sz="1500" b="1" dirty="0">
                <a:solidFill>
                  <a:schemeClr val="tx1"/>
                </a:solidFill>
              </a:rPr>
              <a:t>Seen at a crossing (small, exact, checkable)</a:t>
            </a:r>
            <a:endParaRPr lang="en-US" sz="1500" dirty="0"/>
          </a:p>
        </p:txBody>
      </p:sp>
      <p:sp>
        <p:nvSpPr>
          <p:cNvPr id="5" name="Text 3"/>
          <p:cNvSpPr txBox="1"/>
          <p:nvPr/>
        </p:nvSpPr>
        <p:spPr>
          <a:xfrm>
            <a:off x="822960" y="2057400"/>
            <a:ext cx="4937760" cy="310896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chemeClr val="tx1"/>
                </a:solidFill>
              </a:rPr>
              <a:t>The attested workload: a hash of GPU firmware, host firmware and model weights, measured out of band</a:t>
            </a:r>
            <a:endParaRPr lang="en-US" sz="1200" dirty="0"/>
          </a:p>
          <a:p>
            <a:pPr marL="177800" indent="-177800">
              <a:spcAft>
                <a:spcPts val="700"/>
              </a:spcAft>
              <a:buSzPct val="100000"/>
              <a:buChar char="•"/>
            </a:pPr>
            <a:r>
              <a:rPr lang="en-US" sz="1200" dirty="0">
                <a:solidFill>
                  <a:schemeClr val="tx1"/>
                </a:solidFill>
              </a:rPr>
              <a:t>The action and its typed fields: strike with a target and a munition; payments.transfer with an amount and a destination</a:t>
            </a:r>
            <a:endParaRPr lang="en-US" sz="1200" dirty="0"/>
          </a:p>
          <a:p>
            <a:pPr marL="177800" indent="-177800">
              <a:spcAft>
                <a:spcPts val="700"/>
              </a:spcAft>
              <a:buSzPct val="100000"/>
              <a:buChar char="•"/>
            </a:pPr>
            <a:r>
              <a:rPr lang="en-US" sz="1200" dirty="0">
                <a:solidFill>
                  <a:schemeClr val="tx1"/>
                </a:solidFill>
              </a:rPr>
              <a:t>Counts of tokens, cycles and bytes from the GPU's own counters</a:t>
            </a:r>
            <a:endParaRPr lang="en-US" sz="1200" dirty="0"/>
          </a:p>
          <a:p>
            <a:pPr marL="177800" indent="-177800">
              <a:spcAft>
                <a:spcPts val="700"/>
              </a:spcAft>
              <a:buSzPct val="100000"/>
              <a:buChar char="•"/>
            </a:pPr>
            <a:r>
              <a:rPr lang="en-US" sz="1200" dirty="0">
                <a:solidFill>
                  <a:schemeClr val="tx1"/>
                </a:solidFill>
              </a:rPr>
              <a:t>Whether the peer behind a switch port is on the roster</a:t>
            </a:r>
            <a:endParaRPr lang="en-US" sz="1200" dirty="0"/>
          </a:p>
          <a:p>
            <a:pPr marL="177800" indent="-177800">
              <a:spcAft>
                <a:spcPts val="700"/>
              </a:spcAft>
              <a:buSzPct val="100000"/>
              <a:buChar char="•"/>
            </a:pPr>
            <a:r>
              <a:rPr lang="en-US" sz="1200" dirty="0">
                <a:solidFill>
                  <a:schemeClr val="tx1"/>
                </a:solidFill>
              </a:rPr>
              <a:t>The rules edition every message was signed under</a:t>
            </a:r>
            <a:endParaRPr lang="en-US" sz="1200" dirty="0"/>
          </a:p>
          <a:p>
            <a:pPr marL="177800" indent="-177800">
              <a:spcAft>
                <a:spcPts val="700"/>
              </a:spcAft>
              <a:buSzPct val="100000"/>
              <a:buChar char="•"/>
            </a:pPr>
            <a:r>
              <a:rPr lang="en-US" sz="1200" dirty="0">
                <a:solidFill>
                  <a:schemeClr val="tx1"/>
                </a:solidFill>
              </a:rPr>
              <a:t>Signatures: an observer's verdict over a hash, a human's approval over a hold</a:t>
            </a:r>
            <a:endParaRPr lang="en-US" sz="1200" dirty="0"/>
          </a:p>
          <a:p>
            <a:pPr marL="177800" indent="-177800">
              <a:spcAft>
                <a:spcPts val="700"/>
              </a:spcAft>
              <a:buSzPct val="100000"/>
              <a:buChar char="•"/>
            </a:pPr>
            <a:r>
              <a:rPr lang="en-US" sz="1200" dirty="0">
                <a:solidFill>
                  <a:schemeClr val="tx1"/>
                </a:solidFill>
              </a:rPr>
              <a:t>What the switches actually carried, to cross-check what was presented</a:t>
            </a:r>
            <a:endParaRPr lang="en-US" sz="1200" dirty="0"/>
          </a:p>
        </p:txBody>
      </p:sp>
      <p:sp>
        <p:nvSpPr>
          <p:cNvPr id="6" name="card"/>
          <p:cNvSpPr/>
          <p:nvPr/>
        </p:nvSpPr>
        <p:spPr>
          <a:xfrm>
            <a:off x="6336792" y="1417320"/>
            <a:ext cx="5306263" cy="1737360"/>
          </a:xfrm>
          <a:prstGeom prst="roundRect">
            <a:avLst>
              <a:gd name="adj" fmla="val 4211"/>
            </a:avLst>
          </a:prstGeom>
          <a:solidFill>
            <a:schemeClr val="tx1"/>
          </a:solidFill>
          <a:ln w="12700">
            <a:solidFill>
              <a:schemeClr val="tx1"/>
            </a:solidFill>
            <a:prstDash val="solid"/>
          </a:ln>
        </p:spPr>
      </p:sp>
      <p:sp>
        <p:nvSpPr>
          <p:cNvPr id="7" name="Text 5"/>
          <p:cNvSpPr txBox="1"/>
          <p:nvPr/>
        </p:nvSpPr>
        <p:spPr>
          <a:xfrm>
            <a:off x="6611112" y="1600200"/>
            <a:ext cx="4757623" cy="365760"/>
          </a:xfrm>
          <a:prstGeom prst="rect">
            <a:avLst/>
          </a:prstGeom>
          <a:noFill/>
          <a:ln/>
        </p:spPr>
        <p:txBody>
          <a:bodyPr wrap="square" lIns="0" tIns="0" rIns="0" bIns="0" rtlCol="0" anchor="t"/>
          <a:lstStyle/>
          <a:p>
            <a:pPr indent="0" marL="0">
              <a:buNone/>
            </a:pPr>
            <a:r>
              <a:rPr lang="en-US" sz="1500" b="1" dirty="0">
                <a:solidFill>
                  <a:schemeClr val="accent6"/>
                </a:solidFill>
              </a:rPr>
              <a:t>Never seen</a:t>
            </a:r>
            <a:endParaRPr lang="en-US" sz="1500" dirty="0"/>
          </a:p>
        </p:txBody>
      </p:sp>
      <p:sp>
        <p:nvSpPr>
          <p:cNvPr id="8" name="Text 6"/>
          <p:cNvSpPr txBox="1"/>
          <p:nvPr/>
        </p:nvSpPr>
        <p:spPr>
          <a:xfrm>
            <a:off x="6611112" y="2011680"/>
            <a:ext cx="4757623" cy="1097280"/>
          </a:xfrm>
          <a:prstGeom prst="rect">
            <a:avLst/>
          </a:prstGeom>
          <a:noFill/>
          <a:ln/>
        </p:spPr>
        <p:txBody>
          <a:bodyPr wrap="square" lIns="0" tIns="0" rIns="0" bIns="0" rtlCol="0" anchor="t"/>
          <a:lstStyle/>
          <a:p>
            <a:pPr indent="0" marL="0">
              <a:buNone/>
            </a:pPr>
            <a:r>
              <a:rPr lang="en-US" sz="1200" dirty="0">
                <a:solidFill>
                  <a:schemeClr val="bg1"/>
                </a:solidFill>
              </a:rPr>
              <a:t>The meaning of a token. Intent. The chain of thought. Nothing in the rack can look at a stream of integers and say "that is a weapon". A design that promises to catch bad words on the wire promises what no hardware can do.</a:t>
            </a:r>
            <a:endParaRPr lang="en-US" sz="1200" dirty="0"/>
          </a:p>
        </p:txBody>
      </p:sp>
      <p:sp>
        <p:nvSpPr>
          <p:cNvPr id="9" name="card"/>
          <p:cNvSpPr/>
          <p:nvPr/>
        </p:nvSpPr>
        <p:spPr>
          <a:xfrm>
            <a:off x="6336792" y="3291840"/>
            <a:ext cx="5306263" cy="2011680"/>
          </a:xfrm>
          <a:prstGeom prst="roundRect">
            <a:avLst>
              <a:gd name="adj" fmla="val 3636"/>
            </a:avLst>
          </a:prstGeom>
          <a:solidFill>
            <a:schemeClr val="bg2"/>
          </a:solidFill>
          <a:ln w="12700">
            <a:solidFill>
              <a:schemeClr val="bg2"/>
            </a:solidFill>
            <a:prstDash val="solid"/>
          </a:ln>
        </p:spPr>
      </p:sp>
      <p:sp>
        <p:nvSpPr>
          <p:cNvPr id="10" name="Text 8"/>
          <p:cNvSpPr txBox="1"/>
          <p:nvPr/>
        </p:nvSpPr>
        <p:spPr>
          <a:xfrm>
            <a:off x="6611112" y="3474720"/>
            <a:ext cx="4757623" cy="365760"/>
          </a:xfrm>
          <a:prstGeom prst="rect">
            <a:avLst/>
          </a:prstGeom>
          <a:noFill/>
          <a:ln/>
        </p:spPr>
        <p:txBody>
          <a:bodyPr wrap="square" lIns="0" tIns="0" rIns="0" bIns="0" rtlCol="0" anchor="t"/>
          <a:lstStyle/>
          <a:p>
            <a:pPr indent="0" marL="0">
              <a:buNone/>
            </a:pPr>
            <a:r>
              <a:rPr lang="en-US" sz="1500" b="1" dirty="0">
                <a:solidFill>
                  <a:schemeClr val="tx1"/>
                </a:solidFill>
              </a:rPr>
              <a:t>So meaning is delegated, with three guarantees</a:t>
            </a:r>
            <a:endParaRPr lang="en-US" sz="1500" dirty="0"/>
          </a:p>
        </p:txBody>
      </p:sp>
      <p:sp>
        <p:nvSpPr>
          <p:cNvPr id="11" name="Text 9"/>
          <p:cNvSpPr txBox="1"/>
          <p:nvPr/>
        </p:nvSpPr>
        <p:spPr>
          <a:xfrm>
            <a:off x="6611112" y="3931920"/>
            <a:ext cx="4757623" cy="132588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chemeClr val="tx1"/>
                </a:solidFill>
              </a:rPr>
              <a:t>To signed lists (protected sites, approved recipients) and to observers (classifiers, people with keys) that sign verdicts over hashes</a:t>
            </a:r>
            <a:endParaRPr lang="en-US" sz="1200" dirty="0"/>
          </a:p>
          <a:p>
            <a:pPr marL="177800" indent="-177800">
              <a:spcAft>
                <a:spcPts val="700"/>
              </a:spcAft>
              <a:buSzPct val="100000"/>
              <a:buChar char="•"/>
            </a:pPr>
            <a:r>
              <a:rPr lang="en-US" sz="1200" dirty="0">
                <a:solidFill>
                  <a:schemeClr val="tx1"/>
                </a:solidFill>
              </a:rPr>
              <a:t>Always invoked: no verdict, no ticket. Cannot be impersonated: a verdict under the host's key, or the governor's own, is refused. Separate: a different key, a different box, outside the model's reach</a:t>
            </a:r>
            <a:endParaRPr lang="en-US" sz="1200" dirty="0"/>
          </a:p>
        </p:txBody>
      </p:sp>
      <p:sp>
        <p:nvSpPr>
          <p:cNvPr id="12"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3" name="Text 11"/>
          <p:cNvSpPr txBox="1"/>
          <p:nvPr/>
        </p:nvSpPr>
        <p:spPr>
          <a:xfrm>
            <a:off x="822960" y="5486400"/>
            <a:ext cx="1371600" cy="68580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14" name="Text 12"/>
          <p:cNvSpPr txBox="1"/>
          <p:nvPr/>
        </p:nvSpPr>
        <p:spPr>
          <a:xfrm>
            <a:off x="2286000" y="5486400"/>
            <a:ext cx="9082735" cy="685800"/>
          </a:xfrm>
          <a:prstGeom prst="rect">
            <a:avLst/>
          </a:prstGeom>
          <a:noFill/>
          <a:ln/>
        </p:spPr>
        <p:txBody>
          <a:bodyPr wrap="square" lIns="0" tIns="0" rIns="0" bIns="0" rtlCol="0" anchor="ctr"/>
          <a:lstStyle/>
          <a:p>
            <a:pPr indent="0" marL="0">
              <a:buNone/>
            </a:pPr>
            <a:r>
              <a:rPr lang="en-US" sz="1400" i="1" dirty="0">
                <a:solidFill>
                  <a:schemeClr val="accent6"/>
                </a:solidFill>
              </a:rPr>
              <a:t>Two bridges. Tokens and arithmetic join the software to the GPU. Hashes, signatures, counters and typed fields join the model to the governor. The chip walks only on the second.</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proposal: a referee chip beside every GPU</a:t>
            </a:r>
            <a:endParaRPr lang="en-US" sz="3200" dirty="0"/>
          </a:p>
        </p:txBody>
      </p:sp>
      <p:sp>
        <p:nvSpPr>
          <p:cNvPr id="3" name="card"/>
          <p:cNvSpPr/>
          <p:nvPr/>
        </p:nvSpPr>
        <p:spPr>
          <a:xfrm>
            <a:off x="548640" y="1463040"/>
            <a:ext cx="3200400" cy="173736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777240" y="1645920"/>
            <a:ext cx="2743200" cy="365760"/>
          </a:xfrm>
          <a:prstGeom prst="rect">
            <a:avLst/>
          </a:prstGeom>
          <a:noFill/>
          <a:ln/>
        </p:spPr>
        <p:txBody>
          <a:bodyPr wrap="square" lIns="0" tIns="0" rIns="0" bIns="0" rtlCol="0" anchor="t"/>
          <a:lstStyle/>
          <a:p>
            <a:pPr indent="0" marL="0">
              <a:buNone/>
            </a:pPr>
            <a:r>
              <a:rPr lang="en-US" sz="1600" b="1" dirty="0">
                <a:solidFill>
                  <a:schemeClr val="tx1"/>
                </a:solidFill>
              </a:rPr>
              <a:t>The model, on NVIDIA GPUs</a:t>
            </a:r>
            <a:endParaRPr lang="en-US" sz="1600" dirty="0"/>
          </a:p>
        </p:txBody>
      </p:sp>
      <p:sp>
        <p:nvSpPr>
          <p:cNvPr id="5" name="Text 3"/>
          <p:cNvSpPr txBox="1"/>
          <p:nvPr/>
        </p:nvSpPr>
        <p:spPr>
          <a:xfrm>
            <a:off x="777240" y="2057400"/>
            <a:ext cx="2743200" cy="1097280"/>
          </a:xfrm>
          <a:prstGeom prst="rect">
            <a:avLst/>
          </a:prstGeom>
          <a:noFill/>
          <a:ln/>
        </p:spPr>
        <p:txBody>
          <a:bodyPr wrap="square" lIns="0" tIns="0" rIns="0" bIns="0" rtlCol="0" anchor="t"/>
          <a:lstStyle/>
          <a:p>
            <a:pPr indent="0" marL="0">
              <a:buNone/>
            </a:pPr>
            <a:r>
              <a:rPr lang="en-US" sz="1250" dirty="0">
                <a:solidFill>
                  <a:schemeClr val="tx1"/>
                </a:solidFill>
              </a:rPr>
              <a:t>Computes freely. Nothing it thinks has any effect until bytes leave or a request is made.</a:t>
            </a:r>
            <a:endParaRPr lang="en-US" sz="1250" dirty="0"/>
          </a:p>
        </p:txBody>
      </p:sp>
      <p:sp>
        <p:nvSpPr>
          <p:cNvPr id="6" name="arrow"/>
          <p:cNvSpPr/>
          <p:nvPr/>
        </p:nvSpPr>
        <p:spPr>
          <a:xfrm>
            <a:off x="3840480" y="2331720"/>
            <a:ext cx="548640" cy="0"/>
          </a:xfrm>
          <a:prstGeom prst="line">
            <a:avLst/>
          </a:prstGeom>
          <a:noFill/>
          <a:ln w="31750">
            <a:solidFill>
              <a:srgbClr val="2F5D62"/>
            </a:solidFill>
            <a:prstDash val="solid"/>
            <a:tailEnd type="triangle"/>
          </a:ln>
        </p:spPr>
      </p:sp>
      <p:sp>
        <p:nvSpPr>
          <p:cNvPr id="7" name="card"/>
          <p:cNvSpPr/>
          <p:nvPr/>
        </p:nvSpPr>
        <p:spPr>
          <a:xfrm>
            <a:off x="4480560" y="1463040"/>
            <a:ext cx="3200400" cy="1737360"/>
          </a:xfrm>
          <a:prstGeom prst="roundRect">
            <a:avLst>
              <a:gd name="adj" fmla="val 4211"/>
            </a:avLst>
          </a:prstGeom>
          <a:solidFill>
            <a:schemeClr val="tx2"/>
          </a:solidFill>
          <a:ln w="12700">
            <a:solidFill>
              <a:schemeClr val="tx2"/>
            </a:solidFill>
            <a:prstDash val="solid"/>
          </a:ln>
        </p:spPr>
      </p:sp>
      <p:sp>
        <p:nvSpPr>
          <p:cNvPr id="8" name="Text 6"/>
          <p:cNvSpPr txBox="1"/>
          <p:nvPr/>
        </p:nvSpPr>
        <p:spPr>
          <a:xfrm>
            <a:off x="470916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rPr>
              <a:t>The governor</a:t>
            </a:r>
            <a:endParaRPr lang="en-US" sz="1600" dirty="0"/>
          </a:p>
        </p:txBody>
      </p:sp>
      <p:sp>
        <p:nvSpPr>
          <p:cNvPr id="9" name="Text 7"/>
          <p:cNvSpPr txBox="1"/>
          <p:nvPr/>
        </p:nvSpPr>
        <p:spPr>
          <a:xfrm>
            <a:off x="4709160" y="2057400"/>
            <a:ext cx="2743200" cy="1097280"/>
          </a:xfrm>
          <a:prstGeom prst="rect">
            <a:avLst/>
          </a:prstGeom>
          <a:noFill/>
          <a:ln/>
        </p:spPr>
        <p:txBody>
          <a:bodyPr wrap="square" lIns="0" tIns="0" rIns="0" bIns="0" rtlCol="0" anchor="t"/>
          <a:lstStyle/>
          <a:p>
            <a:pPr indent="0" marL="0">
              <a:buNone/>
            </a:pPr>
            <a:r>
              <a:rPr lang="en-US" sz="1250" dirty="0">
                <a:solidFill>
                  <a:schemeClr val="bg1"/>
                </a:solidFill>
              </a:rPr>
              <a:t>Checks who is asking, whether a rule allows it, whether the witnesses agree, whether the budget holds. Then signs a ticket, or says no.</a:t>
            </a:r>
            <a:endParaRPr lang="en-US" sz="1250" dirty="0"/>
          </a:p>
        </p:txBody>
      </p:sp>
      <p:sp>
        <p:nvSpPr>
          <p:cNvPr id="10" name="arrow"/>
          <p:cNvSpPr/>
          <p:nvPr/>
        </p:nvSpPr>
        <p:spPr>
          <a:xfrm>
            <a:off x="7772400" y="2331720"/>
            <a:ext cx="548640" cy="0"/>
          </a:xfrm>
          <a:prstGeom prst="line">
            <a:avLst/>
          </a:prstGeom>
          <a:noFill/>
          <a:ln w="31750">
            <a:solidFill>
              <a:srgbClr val="2F5D62"/>
            </a:solidFill>
            <a:prstDash val="solid"/>
            <a:tailEnd type="triangle"/>
          </a:ln>
        </p:spPr>
      </p:sp>
      <p:sp>
        <p:nvSpPr>
          <p:cNvPr id="11" name="card"/>
          <p:cNvSpPr/>
          <p:nvPr/>
        </p:nvSpPr>
        <p:spPr>
          <a:xfrm>
            <a:off x="8412480" y="1463040"/>
            <a:ext cx="3200400" cy="1737360"/>
          </a:xfrm>
          <a:prstGeom prst="roundRect">
            <a:avLst>
              <a:gd name="adj" fmla="val 4211"/>
            </a:avLst>
          </a:prstGeom>
          <a:solidFill>
            <a:schemeClr val="accent1"/>
          </a:solidFill>
          <a:ln w="12700">
            <a:solidFill>
              <a:schemeClr val="accent1"/>
            </a:solidFill>
            <a:prstDash val="solid"/>
          </a:ln>
        </p:spPr>
      </p:sp>
      <p:sp>
        <p:nvSpPr>
          <p:cNvPr id="12" name="Text 10"/>
          <p:cNvSpPr txBox="1"/>
          <p:nvPr/>
        </p:nvSpPr>
        <p:spPr>
          <a:xfrm>
            <a:off x="864108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rPr>
              <a:t>The things that act</a:t>
            </a:r>
            <a:endParaRPr lang="en-US" sz="1600" dirty="0"/>
          </a:p>
        </p:txBody>
      </p:sp>
      <p:sp>
        <p:nvSpPr>
          <p:cNvPr id="13" name="Text 11"/>
          <p:cNvSpPr txBox="1"/>
          <p:nvPr/>
        </p:nvSpPr>
        <p:spPr>
          <a:xfrm>
            <a:off x="8641080" y="2057400"/>
            <a:ext cx="2743200" cy="1097280"/>
          </a:xfrm>
          <a:prstGeom prst="rect">
            <a:avLst/>
          </a:prstGeom>
          <a:noFill/>
          <a:ln/>
        </p:spPr>
        <p:txBody>
          <a:bodyPr wrap="square" lIns="0" tIns="0" rIns="0" bIns="0" rtlCol="0" anchor="t"/>
          <a:lstStyle/>
          <a:p>
            <a:pPr indent="0" marL="0">
              <a:buNone/>
            </a:pPr>
            <a:r>
              <a:rPr lang="en-US" sz="1250" dirty="0">
                <a:solidFill>
                  <a:schemeClr val="bg1"/>
                </a:solidFill>
              </a:rPr>
              <a:t>A weapon, a payment switch, a message gateway, the storage that holds the weights, the rack's own power. Each checks the ticket itself.</a:t>
            </a:r>
            <a:endParaRPr lang="en-US" sz="1250" dirty="0"/>
          </a:p>
        </p:txBody>
      </p:sp>
      <p:sp>
        <p:nvSpPr>
          <p:cNvPr id="14" name="Text 12"/>
          <p:cNvSpPr txBox="1"/>
          <p:nvPr/>
        </p:nvSpPr>
        <p:spPr>
          <a:xfrm>
            <a:off x="3794760" y="2011680"/>
            <a:ext cx="822960" cy="274320"/>
          </a:xfrm>
          <a:prstGeom prst="rect">
            <a:avLst/>
          </a:prstGeom>
          <a:noFill/>
          <a:ln/>
        </p:spPr>
        <p:txBody>
          <a:bodyPr wrap="square" lIns="0" tIns="0" rIns="0" bIns="0" rtlCol="0" anchor="t"/>
          <a:lstStyle/>
          <a:p>
            <a:pPr algn="ctr" indent="0" marL="0">
              <a:buNone/>
            </a:pPr>
            <a:r>
              <a:rPr lang="en-US" sz="1100" dirty="0">
                <a:solidFill>
                  <a:schemeClr val="tx2"/>
                </a:solidFill>
              </a:rPr>
              <a:t>request</a:t>
            </a:r>
            <a:endParaRPr lang="en-US" sz="1100" dirty="0"/>
          </a:p>
        </p:txBody>
      </p:sp>
      <p:sp>
        <p:nvSpPr>
          <p:cNvPr id="15" name="Text 13"/>
          <p:cNvSpPr txBox="1"/>
          <p:nvPr/>
        </p:nvSpPr>
        <p:spPr>
          <a:xfrm>
            <a:off x="7726680" y="2011680"/>
            <a:ext cx="822960" cy="274320"/>
          </a:xfrm>
          <a:prstGeom prst="rect">
            <a:avLst/>
          </a:prstGeom>
          <a:noFill/>
          <a:ln/>
        </p:spPr>
        <p:txBody>
          <a:bodyPr wrap="square" lIns="0" tIns="0" rIns="0" bIns="0" rtlCol="0" anchor="t"/>
          <a:lstStyle/>
          <a:p>
            <a:pPr algn="ctr" indent="0" marL="0">
              <a:buNone/>
            </a:pPr>
            <a:r>
              <a:rPr lang="en-US" sz="1100" dirty="0">
                <a:solidFill>
                  <a:schemeClr val="tx2"/>
                </a:solidFill>
              </a:rPr>
              <a:t>ticket</a:t>
            </a:r>
            <a:endParaRPr lang="en-US" sz="1100" dirty="0"/>
          </a:p>
        </p:txBody>
      </p:sp>
      <p:sp>
        <p:nvSpPr>
          <p:cNvPr id="16" name="icon circle"/>
          <p:cNvSpPr/>
          <p:nvPr/>
        </p:nvSpPr>
        <p:spPr>
          <a:xfrm>
            <a:off x="548640" y="3474720"/>
            <a:ext cx="512064" cy="512064"/>
          </a:xfrm>
          <a:prstGeom prst="ellipse">
            <a:avLst/>
          </a:prstGeom>
          <a:solidFill>
            <a:schemeClr val="tx2"/>
          </a:solidFill>
          <a:ln w="12700">
            <a:solidFill>
              <a:schemeClr val="tx2"/>
            </a:solidFill>
            <a:prstDash val="solid"/>
          </a:ln>
        </p:spPr>
      </p:sp>
      <p:pic>
        <p:nvPicPr>
          <p:cNvPr id="17" name="FiPlusSquare" descr="preencoded.png">    </p:cNvPr>
          <p:cNvPicPr>
            <a:picLocks noChangeAspect="1"/>
          </p:cNvPicPr>
          <p:nvPr/>
        </p:nvPicPr>
        <p:blipFill>
          <a:blip r:embed="rId1"/>
          <a:stretch>
            <a:fillRect/>
          </a:stretch>
        </p:blipFill>
        <p:spPr>
          <a:xfrm>
            <a:off x="676656" y="3602736"/>
            <a:ext cx="256032" cy="256032"/>
          </a:xfrm>
          <a:prstGeom prst="rect">
            <a:avLst/>
          </a:prstGeom>
        </p:spPr>
      </p:pic>
      <p:sp>
        <p:nvSpPr>
          <p:cNvPr id="18" name="Text 15"/>
          <p:cNvSpPr txBox="1"/>
          <p:nvPr/>
        </p:nvSpPr>
        <p:spPr>
          <a:xfrm>
            <a:off x="1188720" y="3547872"/>
            <a:ext cx="1927784" cy="365760"/>
          </a:xfrm>
          <a:prstGeom prst="rect">
            <a:avLst/>
          </a:prstGeom>
          <a:noFill/>
          <a:ln/>
        </p:spPr>
        <p:txBody>
          <a:bodyPr wrap="square" lIns="0" tIns="0" rIns="0" bIns="0" rtlCol="0" anchor="t"/>
          <a:lstStyle/>
          <a:p>
            <a:pPr indent="0" marL="0">
              <a:buNone/>
            </a:pPr>
            <a:r>
              <a:rPr lang="en-US" sz="1350" b="1" dirty="0">
                <a:solidFill>
                  <a:schemeClr val="tx1"/>
                </a:solidFill>
              </a:rPr>
              <a:t>Added, not redesigned</a:t>
            </a:r>
            <a:endParaRPr lang="en-US" sz="1350" dirty="0"/>
          </a:p>
        </p:txBody>
      </p:sp>
      <p:sp>
        <p:nvSpPr>
          <p:cNvPr id="19" name="Text 16"/>
          <p:cNvSpPr txBox="1"/>
          <p:nvPr/>
        </p:nvSpPr>
        <p:spPr>
          <a:xfrm>
            <a:off x="548640" y="4160520"/>
            <a:ext cx="2567864" cy="1097280"/>
          </a:xfrm>
          <a:prstGeom prst="rect">
            <a:avLst/>
          </a:prstGeom>
          <a:noFill/>
          <a:ln/>
        </p:spPr>
        <p:txBody>
          <a:bodyPr wrap="square" lIns="0" tIns="0" rIns="0" bIns="0" rtlCol="0" anchor="t"/>
          <a:lstStyle/>
          <a:p>
            <a:pPr indent="0" marL="0">
              <a:buNone/>
            </a:pPr>
            <a:r>
              <a:rPr lang="en-US" sz="1250" dirty="0">
                <a:solidFill>
                  <a:schemeClr val="tx1"/>
                </a:solidFill>
              </a:rPr>
              <a:t>It rides on the server maker's management card. Nothing changes in the GPU or in CUDA.</a:t>
            </a:r>
            <a:endParaRPr lang="en-US" sz="1250" dirty="0"/>
          </a:p>
        </p:txBody>
      </p:sp>
      <p:sp>
        <p:nvSpPr>
          <p:cNvPr id="20" name="icon circle"/>
          <p:cNvSpPr/>
          <p:nvPr/>
        </p:nvSpPr>
        <p:spPr>
          <a:xfrm>
            <a:off x="3390824" y="3474720"/>
            <a:ext cx="512064" cy="512064"/>
          </a:xfrm>
          <a:prstGeom prst="ellipse">
            <a:avLst/>
          </a:prstGeom>
          <a:solidFill>
            <a:schemeClr val="tx2"/>
          </a:solidFill>
          <a:ln w="12700">
            <a:solidFill>
              <a:schemeClr val="tx2"/>
            </a:solidFill>
            <a:prstDash val="solid"/>
          </a:ln>
        </p:spPr>
      </p:sp>
      <p:pic>
        <p:nvPicPr>
          <p:cNvPr id="21" name="FiList" descr="preencoded.png">    </p:cNvPr>
          <p:cNvPicPr>
            <a:picLocks noChangeAspect="1"/>
          </p:cNvPicPr>
          <p:nvPr/>
        </p:nvPicPr>
        <p:blipFill>
          <a:blip r:embed="rId2"/>
          <a:stretch>
            <a:fillRect/>
          </a:stretch>
        </p:blipFill>
        <p:spPr>
          <a:xfrm>
            <a:off x="3518840" y="3602736"/>
            <a:ext cx="256032" cy="256032"/>
          </a:xfrm>
          <a:prstGeom prst="rect">
            <a:avLst/>
          </a:prstGeom>
        </p:spPr>
      </p:pic>
      <p:sp>
        <p:nvSpPr>
          <p:cNvPr id="22" name="Text 18"/>
          <p:cNvSpPr txBox="1"/>
          <p:nvPr/>
        </p:nvSpPr>
        <p:spPr>
          <a:xfrm>
            <a:off x="4030904" y="3547872"/>
            <a:ext cx="1927784" cy="365760"/>
          </a:xfrm>
          <a:prstGeom prst="rect">
            <a:avLst/>
          </a:prstGeom>
          <a:noFill/>
          <a:ln/>
        </p:spPr>
        <p:txBody>
          <a:bodyPr wrap="square" lIns="0" tIns="0" rIns="0" bIns="0" rtlCol="0" anchor="t"/>
          <a:lstStyle/>
          <a:p>
            <a:pPr indent="0" marL="0">
              <a:buNone/>
            </a:pPr>
            <a:r>
              <a:rPr lang="en-US" sz="1350" b="1" dirty="0">
                <a:solidFill>
                  <a:schemeClr val="tx1"/>
                </a:solidFill>
              </a:rPr>
              <a:t>An allow-list, not a blacklist</a:t>
            </a:r>
            <a:endParaRPr lang="en-US" sz="1350" dirty="0"/>
          </a:p>
        </p:txBody>
      </p:sp>
      <p:sp>
        <p:nvSpPr>
          <p:cNvPr id="23" name="Text 19"/>
          <p:cNvSpPr txBox="1"/>
          <p:nvPr/>
        </p:nvSpPr>
        <p:spPr>
          <a:xfrm>
            <a:off x="3390824" y="4160520"/>
            <a:ext cx="2567864" cy="1097280"/>
          </a:xfrm>
          <a:prstGeom prst="rect">
            <a:avLst/>
          </a:prstGeom>
          <a:noFill/>
          <a:ln/>
        </p:spPr>
        <p:txBody>
          <a:bodyPr wrap="square" lIns="0" tIns="0" rIns="0" bIns="0" rtlCol="0" anchor="t"/>
          <a:lstStyle/>
          <a:p>
            <a:pPr indent="0" marL="0">
              <a:buNone/>
            </a:pPr>
            <a:r>
              <a:rPr lang="en-US" sz="1250" dirty="0">
                <a:solidFill>
                  <a:schemeClr val="tx1"/>
                </a:solidFill>
              </a:rPr>
              <a:t>Signed by several keys held outside the chip vendor and the operator. Everything not on it is no.</a:t>
            </a:r>
            <a:endParaRPr lang="en-US" sz="1250" dirty="0"/>
          </a:p>
        </p:txBody>
      </p:sp>
      <p:sp>
        <p:nvSpPr>
          <p:cNvPr id="24" name="icon circle"/>
          <p:cNvSpPr/>
          <p:nvPr/>
        </p:nvSpPr>
        <p:spPr>
          <a:xfrm>
            <a:off x="6233008" y="3474720"/>
            <a:ext cx="512064" cy="512064"/>
          </a:xfrm>
          <a:prstGeom prst="ellipse">
            <a:avLst/>
          </a:prstGeom>
          <a:solidFill>
            <a:schemeClr val="tx2"/>
          </a:solidFill>
          <a:ln w="12700">
            <a:solidFill>
              <a:schemeClr val="tx2"/>
            </a:solidFill>
            <a:prstDash val="solid"/>
          </a:ln>
        </p:spPr>
      </p:sp>
      <p:pic>
        <p:nvPicPr>
          <p:cNvPr id="25" name="FiPower" descr="preencoded.png">    </p:cNvPr>
          <p:cNvPicPr>
            <a:picLocks noChangeAspect="1"/>
          </p:cNvPicPr>
          <p:nvPr/>
        </p:nvPicPr>
        <p:blipFill>
          <a:blip r:embed="rId3"/>
          <a:stretch>
            <a:fillRect/>
          </a:stretch>
        </p:blipFill>
        <p:spPr>
          <a:xfrm>
            <a:off x="6361024" y="3602736"/>
            <a:ext cx="256032" cy="256032"/>
          </a:xfrm>
          <a:prstGeom prst="rect">
            <a:avLst/>
          </a:prstGeom>
        </p:spPr>
      </p:pic>
      <p:sp>
        <p:nvSpPr>
          <p:cNvPr id="26" name="Text 21"/>
          <p:cNvSpPr txBox="1"/>
          <p:nvPr/>
        </p:nvSpPr>
        <p:spPr>
          <a:xfrm>
            <a:off x="6873088" y="3547872"/>
            <a:ext cx="1927784" cy="365760"/>
          </a:xfrm>
          <a:prstGeom prst="rect">
            <a:avLst/>
          </a:prstGeom>
          <a:noFill/>
          <a:ln/>
        </p:spPr>
        <p:txBody>
          <a:bodyPr wrap="square" lIns="0" tIns="0" rIns="0" bIns="0" rtlCol="0" anchor="t"/>
          <a:lstStyle/>
          <a:p>
            <a:pPr indent="0" marL="0">
              <a:buNone/>
            </a:pPr>
            <a:r>
              <a:rPr lang="en-US" sz="1350" b="1" dirty="0">
                <a:solidFill>
                  <a:schemeClr val="tx1"/>
                </a:solidFill>
              </a:rPr>
              <a:t>A hand on the breaker</a:t>
            </a:r>
            <a:endParaRPr lang="en-US" sz="1350" dirty="0"/>
          </a:p>
        </p:txBody>
      </p:sp>
      <p:sp>
        <p:nvSpPr>
          <p:cNvPr id="27" name="Text 22"/>
          <p:cNvSpPr txBox="1"/>
          <p:nvPr/>
        </p:nvSpPr>
        <p:spPr>
          <a:xfrm>
            <a:off x="6233008" y="4160520"/>
            <a:ext cx="2567864" cy="1097280"/>
          </a:xfrm>
          <a:prstGeom prst="rect">
            <a:avLst/>
          </a:prstGeom>
          <a:noFill/>
          <a:ln/>
        </p:spPr>
        <p:txBody>
          <a:bodyPr wrap="square" lIns="0" tIns="0" rIns="0" bIns="0" rtlCol="0" anchor="t"/>
          <a:lstStyle/>
          <a:p>
            <a:pPr indent="0" marL="0">
              <a:buNone/>
            </a:pPr>
            <a:r>
              <a:rPr lang="en-US" sz="1250" dirty="0">
                <a:solidFill>
                  <a:schemeClr val="tx1"/>
                </a:solidFill>
              </a:rPr>
              <a:t>One loop through every governor in the rack. Any one opens it, or a cut wire, and every GPU stops.</a:t>
            </a:r>
            <a:endParaRPr lang="en-US" sz="1250" dirty="0"/>
          </a:p>
        </p:txBody>
      </p:sp>
      <p:sp>
        <p:nvSpPr>
          <p:cNvPr id="28" name="icon circle"/>
          <p:cNvSpPr/>
          <p:nvPr/>
        </p:nvSpPr>
        <p:spPr>
          <a:xfrm>
            <a:off x="9075191" y="3474720"/>
            <a:ext cx="512064" cy="512064"/>
          </a:xfrm>
          <a:prstGeom prst="ellipse">
            <a:avLst/>
          </a:prstGeom>
          <a:solidFill>
            <a:schemeClr val="tx2"/>
          </a:solidFill>
          <a:ln w="12700">
            <a:solidFill>
              <a:schemeClr val="tx2"/>
            </a:solidFill>
            <a:prstDash val="solid"/>
          </a:ln>
        </p:spPr>
      </p:sp>
      <p:pic>
        <p:nvPicPr>
          <p:cNvPr id="29" name="FiCalendar" descr="preencoded.png">    </p:cNvPr>
          <p:cNvPicPr>
            <a:picLocks noChangeAspect="1"/>
          </p:cNvPicPr>
          <p:nvPr/>
        </p:nvPicPr>
        <p:blipFill>
          <a:blip r:embed="rId4"/>
          <a:stretch>
            <a:fillRect/>
          </a:stretch>
        </p:blipFill>
        <p:spPr>
          <a:xfrm>
            <a:off x="9203207" y="3602736"/>
            <a:ext cx="256032" cy="256032"/>
          </a:xfrm>
          <a:prstGeom prst="rect">
            <a:avLst/>
          </a:prstGeom>
        </p:spPr>
      </p:pic>
      <p:sp>
        <p:nvSpPr>
          <p:cNvPr id="30" name="Text 24"/>
          <p:cNvSpPr txBox="1"/>
          <p:nvPr/>
        </p:nvSpPr>
        <p:spPr>
          <a:xfrm>
            <a:off x="9715271" y="3547872"/>
            <a:ext cx="1927784" cy="365760"/>
          </a:xfrm>
          <a:prstGeom prst="rect">
            <a:avLst/>
          </a:prstGeom>
          <a:noFill/>
          <a:ln/>
        </p:spPr>
        <p:txBody>
          <a:bodyPr wrap="square" lIns="0" tIns="0" rIns="0" bIns="0" rtlCol="0" anchor="t"/>
          <a:lstStyle/>
          <a:p>
            <a:pPr indent="0" marL="0">
              <a:buNone/>
            </a:pPr>
            <a:r>
              <a:rPr lang="en-US" sz="1350" b="1" dirty="0">
                <a:solidFill>
                  <a:schemeClr val="tx1"/>
                </a:solidFill>
              </a:rPr>
              <a:t>Buildable now</a:t>
            </a:r>
            <a:endParaRPr lang="en-US" sz="1350" dirty="0"/>
          </a:p>
        </p:txBody>
      </p:sp>
      <p:sp>
        <p:nvSpPr>
          <p:cNvPr id="31" name="Text 25"/>
          <p:cNvSpPr txBox="1"/>
          <p:nvPr/>
        </p:nvSpPr>
        <p:spPr>
          <a:xfrm>
            <a:off x="9075191" y="4160520"/>
            <a:ext cx="2567864" cy="1097280"/>
          </a:xfrm>
          <a:prstGeom prst="rect">
            <a:avLst/>
          </a:prstGeom>
          <a:noFill/>
          <a:ln/>
        </p:spPr>
        <p:txBody>
          <a:bodyPr wrap="square" lIns="0" tIns="0" rIns="0" bIns="0" rtlCol="0" anchor="t"/>
          <a:lstStyle/>
          <a:p>
            <a:pPr indent="0" marL="0">
              <a:buNone/>
            </a:pPr>
            <a:r>
              <a:rPr lang="en-US" sz="1250" dirty="0">
                <a:solidFill>
                  <a:schemeClr val="tx1"/>
                </a:solidFill>
              </a:rPr>
              <a:t>At the rack tier, with a server maker. The tighter tiers are asks to NVIDIA, not prerequisites.</a:t>
            </a:r>
            <a:endParaRPr lang="en-US" sz="1250" dirty="0"/>
          </a:p>
        </p:txBody>
      </p:sp>
      <p:sp>
        <p:nvSpPr>
          <p:cNvPr id="32"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3" name="Text 27"/>
          <p:cNvSpPr txBox="1"/>
          <p:nvPr/>
        </p:nvSpPr>
        <p:spPr>
          <a:xfrm>
            <a:off x="822960" y="5486400"/>
            <a:ext cx="1371600" cy="68580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34" name="Text 28"/>
          <p:cNvSpPr txBox="1"/>
          <p:nvPr/>
        </p:nvSpPr>
        <p:spPr>
          <a:xfrm>
            <a:off x="2286000" y="5486400"/>
            <a:ext cx="9082735" cy="685800"/>
          </a:xfrm>
          <a:prstGeom prst="rect">
            <a:avLst/>
          </a:prstGeom>
          <a:noFill/>
          <a:ln/>
        </p:spPr>
        <p:txBody>
          <a:bodyPr wrap="square" lIns="0" tIns="0" rIns="0" bIns="0" rtlCol="0" anchor="ctr"/>
          <a:lstStyle/>
          <a:p>
            <a:pPr indent="0" marL="0">
              <a:buNone/>
            </a:pPr>
            <a:r>
              <a:rPr lang="en-US" sz="1400" i="1" dirty="0">
                <a:solidFill>
                  <a:schemeClr val="accent6"/>
                </a:solidFill>
              </a:rPr>
              <a:t>A referee with a whistle and a rulebook he did not write: the chip holds the whistle, the rulebook is a signed document handed to it. And a breaker in the wall: it does not understand your appliances, it trips on the number.</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Proposal, technically: the module and the die</a:t>
            </a:r>
            <a:endParaRPr lang="en-US" sz="3200" dirty="0"/>
          </a:p>
        </p:txBody>
      </p:sp>
      <p:sp>
        <p:nvSpPr>
          <p:cNvPr id="3" name="card"/>
          <p:cNvSpPr/>
          <p:nvPr/>
        </p:nvSpPr>
        <p:spPr>
          <a:xfrm>
            <a:off x="548640" y="1417320"/>
            <a:ext cx="5394960" cy="2651760"/>
          </a:xfrm>
          <a:prstGeom prst="roundRect">
            <a:avLst>
              <a:gd name="adj" fmla="val 2759"/>
            </a:avLst>
          </a:prstGeom>
          <a:solidFill>
            <a:schemeClr val="bg2"/>
          </a:solidFill>
          <a:ln w="12700">
            <a:solidFill>
              <a:schemeClr val="bg2"/>
            </a:solidFill>
            <a:prstDash val="solid"/>
          </a:ln>
        </p:spPr>
      </p:sp>
      <p:sp>
        <p:nvSpPr>
          <p:cNvPr id="4" name="Text 2"/>
          <p:cNvSpPr txBox="1"/>
          <p:nvPr/>
        </p:nvSpPr>
        <p:spPr>
          <a:xfrm>
            <a:off x="822960" y="1581912"/>
            <a:ext cx="4846320" cy="365760"/>
          </a:xfrm>
          <a:prstGeom prst="rect">
            <a:avLst/>
          </a:prstGeom>
          <a:noFill/>
          <a:ln/>
        </p:spPr>
        <p:txBody>
          <a:bodyPr wrap="square" lIns="0" tIns="0" rIns="0" bIns="0" rtlCol="0" anchor="t"/>
          <a:lstStyle/>
          <a:p>
            <a:pPr indent="0" marL="0">
              <a:buNone/>
            </a:pPr>
            <a:r>
              <a:rPr lang="en-US" sz="1500" b="1" dirty="0">
                <a:solidFill>
                  <a:schemeClr val="tx1"/>
                </a:solidFill>
              </a:rPr>
              <a:t>Where it sits and what it reaches</a:t>
            </a:r>
            <a:endParaRPr lang="en-US" sz="1500" dirty="0"/>
          </a:p>
        </p:txBody>
      </p:sp>
      <p:sp>
        <p:nvSpPr>
          <p:cNvPr id="5" name="Text 3"/>
          <p:cNvSpPr txBox="1"/>
          <p:nvPr/>
        </p:nvSpPr>
        <p:spPr>
          <a:xfrm>
            <a:off x="822960" y="1984248"/>
            <a:ext cx="4846320" cy="205740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rPr>
              <a:t>One governor per GPU slot on the OEM's management-module card (DC-SCM class)</a:t>
            </a:r>
            <a:endParaRPr lang="en-US" sz="1150" dirty="0"/>
          </a:p>
          <a:p>
            <a:pPr marL="177800" indent="-177800">
              <a:spcAft>
                <a:spcPts val="600"/>
              </a:spcAft>
              <a:buSzPct val="100000"/>
              <a:buChar char="•"/>
            </a:pPr>
            <a:r>
              <a:rPr lang="en-US" sz="1150" dirty="0">
                <a:solidFill>
                  <a:schemeClr val="tx1"/>
                </a:solidFill>
              </a:rPr>
              <a:t>Per slot through the HGX connector: SMBus (SMBPBI), power brake, PERST#, PWR_EN, present and fault. HGX reset is grouped today</a:t>
            </a:r>
            <a:endParaRPr lang="en-US" sz="1150" dirty="0"/>
          </a:p>
          <a:p>
            <a:pPr marL="177800" indent="-177800">
              <a:spcAft>
                <a:spcPts val="600"/>
              </a:spcAft>
              <a:buSzPct val="100000"/>
              <a:buChar char="•"/>
            </a:pPr>
            <a:r>
              <a:rPr lang="en-US" sz="1150" dirty="0">
                <a:solidFill>
                  <a:schemeClr val="tx1"/>
                </a:solidFill>
              </a:rPr>
              <a:t>NVSwitch port disable out of band through NSM; DPU steering tables through DOCA on the management port</a:t>
            </a:r>
            <a:endParaRPr lang="en-US" sz="1150" dirty="0"/>
          </a:p>
          <a:p>
            <a:pPr marL="177800" indent="-177800">
              <a:spcAft>
                <a:spcPts val="600"/>
              </a:spcAft>
              <a:buSzPct val="100000"/>
              <a:buChar char="•"/>
            </a:pPr>
            <a:r>
              <a:rPr lang="en-US" sz="1150" dirty="0">
                <a:solidFill>
                  <a:schemeClr val="tx1"/>
                </a:solidFill>
              </a:rPr>
              <a:t>The GPU's confidential-computing attestation taken as an input; the BMC reads through the governor</a:t>
            </a:r>
            <a:endParaRPr lang="en-US" sz="1150" dirty="0"/>
          </a:p>
        </p:txBody>
      </p:sp>
      <p:sp>
        <p:nvSpPr>
          <p:cNvPr id="6" name="card"/>
          <p:cNvSpPr/>
          <p:nvPr/>
        </p:nvSpPr>
        <p:spPr>
          <a:xfrm>
            <a:off x="6245352" y="1417320"/>
            <a:ext cx="5397703" cy="2651760"/>
          </a:xfrm>
          <a:prstGeom prst="roundRect">
            <a:avLst>
              <a:gd name="adj" fmla="val 2759"/>
            </a:avLst>
          </a:prstGeom>
          <a:solidFill>
            <a:schemeClr val="bg2"/>
          </a:solidFill>
          <a:ln w="12700">
            <a:solidFill>
              <a:schemeClr val="bg2"/>
            </a:solidFill>
            <a:prstDash val="solid"/>
          </a:ln>
        </p:spPr>
      </p:sp>
      <p:sp>
        <p:nvSpPr>
          <p:cNvPr id="7" name="Text 5"/>
          <p:cNvSpPr txBox="1"/>
          <p:nvPr/>
        </p:nvSpPr>
        <p:spPr>
          <a:xfrm>
            <a:off x="6519672" y="1581912"/>
            <a:ext cx="4849063" cy="365760"/>
          </a:xfrm>
          <a:prstGeom prst="rect">
            <a:avLst/>
          </a:prstGeom>
          <a:noFill/>
          <a:ln/>
        </p:spPr>
        <p:txBody>
          <a:bodyPr wrap="square" lIns="0" tIns="0" rIns="0" bIns="0" rtlCol="0" anchor="t"/>
          <a:lstStyle/>
          <a:p>
            <a:pPr indent="0" marL="0">
              <a:buNone/>
            </a:pPr>
            <a:r>
              <a:rPr lang="en-US" sz="1500" b="1" dirty="0">
                <a:solidFill>
                  <a:schemeClr val="tx1"/>
                </a:solidFill>
              </a:rPr>
              <a:t>What is on the die</a:t>
            </a:r>
            <a:endParaRPr lang="en-US" sz="1500" dirty="0"/>
          </a:p>
        </p:txBody>
      </p:sp>
      <p:sp>
        <p:nvSpPr>
          <p:cNvPr id="8" name="Text 6"/>
          <p:cNvSpPr txBox="1"/>
          <p:nvPr/>
        </p:nvSpPr>
        <p:spPr>
          <a:xfrm>
            <a:off x="6519672" y="1984248"/>
            <a:ext cx="4849063" cy="205740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rPr>
              <a:t>An OpenTitan-class root of trust: fuses, DICE key chain, OTBN for P-384 signatures (17 ms each, so one signature per 50 ms batch), AES-CTR plus HMAC for storage</a:t>
            </a:r>
            <a:endParaRPr lang="en-US" sz="1150" dirty="0"/>
          </a:p>
          <a:p>
            <a:pPr marL="177800" indent="-177800">
              <a:spcAft>
                <a:spcPts val="600"/>
              </a:spcAft>
              <a:buSzPct val="100000"/>
              <a:buChar char="•"/>
            </a:pPr>
            <a:r>
              <a:rPr lang="en-US" sz="1150" dirty="0">
                <a:solidFill>
                  <a:schemeClr val="tx1"/>
                </a:solidFill>
              </a:rPr>
              <a:t>A mailbox of 21 signed commands, checked in order: sequence, rules edition, signature; first failure reported</a:t>
            </a:r>
            <a:endParaRPr lang="en-US" sz="1150" dirty="0"/>
          </a:p>
          <a:p>
            <a:pPr marL="177800" indent="-177800">
              <a:spcAft>
                <a:spcPts val="600"/>
              </a:spcAft>
              <a:buSzPct val="100000"/>
              <a:buChar char="•"/>
            </a:pPr>
            <a:r>
              <a:rPr lang="en-US" sz="1150" dirty="0">
                <a:solidFill>
                  <a:schemeClr val="tx1"/>
                </a:solidFill>
              </a:rPr>
              <a:t>The policy image and its epoch; the gate core (lookup and comparators); the ledger (budgets, rate windows); a hash-chained log whose head lives in a register</a:t>
            </a:r>
            <a:endParaRPr lang="en-US" sz="1150" dirty="0"/>
          </a:p>
          <a:p>
            <a:pPr marL="177800" indent="-177800">
              <a:spcAft>
                <a:spcPts val="600"/>
              </a:spcAft>
              <a:buSzPct val="100000"/>
              <a:buChar char="•"/>
            </a:pPr>
            <a:r>
              <a:rPr lang="en-US" sz="1150" dirty="0">
                <a:solidFill>
                  <a:schemeClr val="tx1"/>
                </a:solidFill>
              </a:rPr>
              <a:t>Meter, heartbeat, lever drivers, loop I/O and the signed message fabric between governors</a:t>
            </a:r>
            <a:endParaRPr lang="en-US" sz="115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4251960"/>
          <a:ext cx="11094415" cy="914400"/>
        </p:xfrm>
        <a:graphic>
          <a:graphicData uri="http://schemas.openxmlformats.org/drawingml/2006/table">
            <a:tbl>
              <a:tblPr/>
              <a:tblGrid>
                <a:gridCol w="1280160"/>
                <a:gridCol w="5852160"/>
                <a:gridCol w="3959352"/>
              </a:tblGrid>
              <a:tr h="329184">
                <a:tc>
                  <a:txBody>
                    <a:bodyPr/>
                    <a:lstStyle/>
                    <a:p>
                      <a:pPr indent="0" marL="0">
                        <a:buNone/>
                      </a:pPr>
                      <a:r>
                        <a:rPr lang="en-US" sz="1100" b="1" dirty="0">
                          <a:solidFill>
                            <a:schemeClr val="bg1"/>
                          </a:solidFill>
                        </a:rPr>
                        <a:t>Tier</a:t>
                      </a:r>
                      <a:endParaRPr lang="en-US" sz="11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Where the governor's authority comes from</a:t>
                      </a:r>
                      <a:endParaRPr lang="en-US" sz="11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Status</a:t>
                      </a:r>
                      <a:endParaRPr lang="en-US" sz="11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r>
              <a:tr h="329184">
                <a:tc>
                  <a:txBody>
                    <a:bodyPr/>
                    <a:lstStyle/>
                    <a:p>
                      <a:pPr indent="0" marL="0">
                        <a:buNone/>
                      </a:pPr>
                      <a:r>
                        <a:rPr lang="en-US" sz="1100" b="1" dirty="0">
                          <a:solidFill>
                            <a:schemeClr val="tx1"/>
                          </a:solidFill>
                        </a:rPr>
                        <a:t>Rack</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Management-card levers, switch and DPU management paths, the halt loop</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Plan of record; needs a server OEM, nothing from NVIDIA's silicon</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chemeClr val="tx1"/>
                          </a:solidFill>
                        </a:rPr>
                        <a:t>Board</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Same firmware, policy format and fabric on a board without a baseboard connector of its own</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Fallback; the gaps it leaves are recorded, not hidden</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329184">
                <a:tc>
                  <a:txBody>
                    <a:bodyPr/>
                    <a:lstStyle/>
                    <a:p>
                      <a:pPr indent="0" marL="0">
                        <a:buNone/>
                      </a:pPr>
                      <a:r>
                        <a:rPr lang="en-US" sz="1100" b="1" dirty="0">
                          <a:solidFill>
                            <a:schemeClr val="tx1"/>
                          </a:solidFill>
                        </a:rPr>
                        <a:t>Integrated</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Buffer-class checkers in the GPU's copy engines and peer MMU; per-GPU reset</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Needs NVIDIA; closes the one gap the rack tier records</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layers: witnesses above, the lock below</a:t>
            </a:r>
            <a:endParaRPr lang="en-US" sz="3200" dirty="0"/>
          </a:p>
        </p:txBody>
      </p:sp>
      <p:sp>
        <p:nvSpPr>
          <p:cNvPr id="3" name="layer 5"/>
          <p:cNvSpPr/>
          <p:nvPr/>
        </p:nvSpPr>
        <p:spPr>
          <a:xfrm>
            <a:off x="548640" y="1417320"/>
            <a:ext cx="11094415" cy="548640"/>
          </a:xfrm>
          <a:prstGeom prst="roundRect">
            <a:avLst>
              <a:gd name="adj" fmla="val 10000"/>
            </a:avLst>
          </a:prstGeom>
          <a:solidFill>
            <a:schemeClr val="tx2"/>
          </a:solidFill>
          <a:ln w="12700">
            <a:solidFill>
              <a:schemeClr val="tx2"/>
            </a:solidFill>
            <a:prstDash val="solid"/>
          </a:ln>
        </p:spPr>
      </p:sp>
      <p:sp>
        <p:nvSpPr>
          <p:cNvPr id="4" name="Text 2"/>
          <p:cNvSpPr txBox="1"/>
          <p:nvPr/>
        </p:nvSpPr>
        <p:spPr>
          <a:xfrm>
            <a:off x="731520" y="1417320"/>
            <a:ext cx="365760" cy="548640"/>
          </a:xfrm>
          <a:prstGeom prst="rect">
            <a:avLst/>
          </a:prstGeom>
          <a:noFill/>
          <a:ln/>
        </p:spPr>
        <p:txBody>
          <a:bodyPr wrap="square" lIns="0" tIns="0" rIns="0" bIns="0" rtlCol="0" anchor="ctr"/>
          <a:lstStyle/>
          <a:p>
            <a:pPr indent="0" marL="0">
              <a:buNone/>
            </a:pPr>
            <a:r>
              <a:rPr lang="en-US" sz="2000" b="1" dirty="0">
                <a:solidFill>
                  <a:schemeClr val="accent6"/>
                </a:solidFill>
                <a:latin typeface="Georgia" pitchFamily="34" charset="0"/>
                <a:ea typeface="Georgia" pitchFamily="34" charset="-122"/>
                <a:cs typeface="Georgia" pitchFamily="34" charset="-120"/>
              </a:rPr>
              <a:t>5</a:t>
            </a:r>
            <a:endParaRPr lang="en-US" sz="2000" dirty="0"/>
          </a:p>
        </p:txBody>
      </p:sp>
      <p:sp>
        <p:nvSpPr>
          <p:cNvPr id="5" name="icon circle"/>
          <p:cNvSpPr/>
          <p:nvPr/>
        </p:nvSpPr>
        <p:spPr>
          <a:xfrm>
            <a:off x="1188720" y="1490472"/>
            <a:ext cx="402336" cy="402336"/>
          </a:xfrm>
          <a:prstGeom prst="ellipse">
            <a:avLst/>
          </a:prstGeom>
          <a:solidFill>
            <a:schemeClr val="accent1"/>
          </a:solidFill>
          <a:ln w="12700">
            <a:solidFill>
              <a:schemeClr val="accent1"/>
            </a:solidFill>
            <a:prstDash val="solid"/>
          </a:ln>
        </p:spPr>
      </p:sp>
      <p:pic>
        <p:nvPicPr>
          <p:cNvPr id="6" name="FiBook" descr="preencoded.png">    </p:cNvPr>
          <p:cNvPicPr>
            <a:picLocks noChangeAspect="1"/>
          </p:cNvPicPr>
          <p:nvPr/>
        </p:nvPicPr>
        <p:blipFill>
          <a:blip r:embed="rId1"/>
          <a:stretch>
            <a:fillRect/>
          </a:stretch>
        </p:blipFill>
        <p:spPr>
          <a:xfrm>
            <a:off x="1289304" y="1591056"/>
            <a:ext cx="201168" cy="201168"/>
          </a:xfrm>
          <a:prstGeom prst="rect">
            <a:avLst/>
          </a:prstGeom>
        </p:spPr>
      </p:pic>
      <p:sp>
        <p:nvSpPr>
          <p:cNvPr id="7" name="Text 4"/>
          <p:cNvSpPr txBox="1"/>
          <p:nvPr/>
        </p:nvSpPr>
        <p:spPr>
          <a:xfrm>
            <a:off x="1737360" y="1417320"/>
            <a:ext cx="2377440" cy="548640"/>
          </a:xfrm>
          <a:prstGeom prst="rect">
            <a:avLst/>
          </a:prstGeom>
          <a:noFill/>
          <a:ln/>
        </p:spPr>
        <p:txBody>
          <a:bodyPr wrap="square" lIns="0" tIns="0" rIns="0" bIns="0" rtlCol="0" anchor="ctr"/>
          <a:lstStyle/>
          <a:p>
            <a:pPr indent="0" marL="0">
              <a:buNone/>
            </a:pPr>
            <a:r>
              <a:rPr lang="en-US" sz="1400" b="1" dirty="0">
                <a:solidFill>
                  <a:schemeClr val="bg1"/>
                </a:solidFill>
              </a:rPr>
              <a:t>Governance root</a:t>
            </a:r>
            <a:endParaRPr lang="en-US" sz="1400" dirty="0"/>
          </a:p>
        </p:txBody>
      </p:sp>
      <p:sp>
        <p:nvSpPr>
          <p:cNvPr id="8" name="Text 5"/>
          <p:cNvSpPr txBox="1"/>
          <p:nvPr/>
        </p:nvSpPr>
        <p:spPr>
          <a:xfrm>
            <a:off x="4206240" y="1417320"/>
            <a:ext cx="4480560" cy="548640"/>
          </a:xfrm>
          <a:prstGeom prst="rect">
            <a:avLst/>
          </a:prstGeom>
          <a:noFill/>
          <a:ln/>
        </p:spPr>
        <p:txBody>
          <a:bodyPr wrap="square" lIns="0" tIns="0" rIns="0" bIns="0" rtlCol="0" anchor="ctr"/>
          <a:lstStyle/>
          <a:p>
            <a:pPr indent="0" marL="0">
              <a:buNone/>
            </a:pPr>
            <a:r>
              <a:rPr lang="en-US" sz="1100" dirty="0">
                <a:solidFill>
                  <a:schemeClr val="bg1"/>
                </a:solidFill>
              </a:rPr>
              <a:t>Signs the rulebook. Keys outside the chip vendor and the operator</a:t>
            </a:r>
            <a:endParaRPr lang="en-US" sz="1100" dirty="0"/>
          </a:p>
        </p:txBody>
      </p:sp>
      <p:sp>
        <p:nvSpPr>
          <p:cNvPr id="9" name="Text 6"/>
          <p:cNvSpPr txBox="1"/>
          <p:nvPr/>
        </p:nvSpPr>
        <p:spPr>
          <a:xfrm>
            <a:off x="8778240" y="1417320"/>
            <a:ext cx="1737360" cy="548640"/>
          </a:xfrm>
          <a:prstGeom prst="rect">
            <a:avLst/>
          </a:prstGeom>
          <a:noFill/>
          <a:ln/>
        </p:spPr>
        <p:txBody>
          <a:bodyPr wrap="square" lIns="0" tIns="0" rIns="0" bIns="0" rtlCol="0" anchor="ctr"/>
          <a:lstStyle/>
          <a:p>
            <a:pPr indent="0" marL="0">
              <a:buNone/>
            </a:pPr>
            <a:r>
              <a:rPr lang="en-US" sz="1050" i="1" dirty="0">
                <a:solidFill>
                  <a:schemeClr val="accent6"/>
                </a:solidFill>
              </a:rPr>
              <a:t>in the bank: the board that writes the rules</a:t>
            </a:r>
            <a:endParaRPr lang="en-US" sz="1050" dirty="0"/>
          </a:p>
        </p:txBody>
      </p:sp>
      <p:sp>
        <p:nvSpPr>
          <p:cNvPr id="10" name="tag"/>
          <p:cNvSpPr/>
          <p:nvPr/>
        </p:nvSpPr>
        <p:spPr>
          <a:xfrm>
            <a:off x="10545775" y="1545336"/>
            <a:ext cx="960120" cy="292608"/>
          </a:xfrm>
          <a:prstGeom prst="roundRect">
            <a:avLst>
              <a:gd name="adj" fmla="val 50000"/>
            </a:avLst>
          </a:prstGeom>
          <a:solidFill>
            <a:schemeClr val="accent1"/>
          </a:solidFill>
          <a:ln w="12700">
            <a:solidFill>
              <a:schemeClr val="accent1"/>
            </a:solidFill>
            <a:prstDash val="solid"/>
          </a:ln>
        </p:spPr>
      </p:sp>
      <p:sp>
        <p:nvSpPr>
          <p:cNvPr id="11" name="Text 8"/>
          <p:cNvSpPr txBox="1"/>
          <p:nvPr/>
        </p:nvSpPr>
        <p:spPr>
          <a:xfrm>
            <a:off x="10545775" y="1545336"/>
            <a:ext cx="960120" cy="292608"/>
          </a:xfrm>
          <a:prstGeom prst="rect">
            <a:avLst/>
          </a:prstGeom>
          <a:noFill/>
          <a:ln/>
        </p:spPr>
        <p:txBody>
          <a:bodyPr wrap="square" lIns="0" tIns="0" rIns="0" bIns="0" rtlCol="0" anchor="ctr"/>
          <a:lstStyle/>
          <a:p>
            <a:pPr algn="ctr" indent="0" marL="0">
              <a:buNone/>
            </a:pPr>
            <a:r>
              <a:rPr lang="en-US" sz="900" b="1" dirty="0">
                <a:solidFill>
                  <a:schemeClr val="bg1"/>
                </a:solidFill>
              </a:rPr>
              <a:t>LOCK</a:t>
            </a:r>
            <a:endParaRPr lang="en-US" sz="900" dirty="0"/>
          </a:p>
        </p:txBody>
      </p:sp>
      <p:sp>
        <p:nvSpPr>
          <p:cNvPr id="12" name="layer 4"/>
          <p:cNvSpPr/>
          <p:nvPr/>
        </p:nvSpPr>
        <p:spPr>
          <a:xfrm>
            <a:off x="548640" y="2057400"/>
            <a:ext cx="11094415" cy="548640"/>
          </a:xfrm>
          <a:prstGeom prst="roundRect">
            <a:avLst>
              <a:gd name="adj" fmla="val 10000"/>
            </a:avLst>
          </a:prstGeom>
          <a:solidFill>
            <a:schemeClr val="tx2"/>
          </a:solidFill>
          <a:ln w="12700">
            <a:solidFill>
              <a:schemeClr val="tx2"/>
            </a:solidFill>
            <a:prstDash val="solid"/>
          </a:ln>
        </p:spPr>
      </p:sp>
      <p:sp>
        <p:nvSpPr>
          <p:cNvPr id="13" name="Text 10"/>
          <p:cNvSpPr txBox="1"/>
          <p:nvPr/>
        </p:nvSpPr>
        <p:spPr>
          <a:xfrm>
            <a:off x="731520" y="2057400"/>
            <a:ext cx="365760" cy="548640"/>
          </a:xfrm>
          <a:prstGeom prst="rect">
            <a:avLst/>
          </a:prstGeom>
          <a:noFill/>
          <a:ln/>
        </p:spPr>
        <p:txBody>
          <a:bodyPr wrap="square" lIns="0" tIns="0" rIns="0" bIns="0" rtlCol="0" anchor="ctr"/>
          <a:lstStyle/>
          <a:p>
            <a:pPr indent="0" marL="0">
              <a:buNone/>
            </a:pPr>
            <a:r>
              <a:rPr lang="en-US" sz="2000" b="1" dirty="0">
                <a:solidFill>
                  <a:schemeClr val="accent6"/>
                </a:solidFill>
                <a:latin typeface="Georgia" pitchFamily="34" charset="0"/>
                <a:ea typeface="Georgia" pitchFamily="34" charset="-122"/>
                <a:cs typeface="Georgia" pitchFamily="34" charset="-120"/>
              </a:rPr>
              <a:t>4</a:t>
            </a:r>
            <a:endParaRPr lang="en-US" sz="2000" dirty="0"/>
          </a:p>
        </p:txBody>
      </p:sp>
      <p:sp>
        <p:nvSpPr>
          <p:cNvPr id="14" name="icon circle"/>
          <p:cNvSpPr/>
          <p:nvPr/>
        </p:nvSpPr>
        <p:spPr>
          <a:xfrm>
            <a:off x="1188720" y="2130552"/>
            <a:ext cx="402336" cy="402336"/>
          </a:xfrm>
          <a:prstGeom prst="ellipse">
            <a:avLst/>
          </a:prstGeom>
          <a:solidFill>
            <a:schemeClr val="accent1"/>
          </a:solidFill>
          <a:ln w="12700">
            <a:solidFill>
              <a:schemeClr val="accent1"/>
            </a:solidFill>
            <a:prstDash val="solid"/>
          </a:ln>
        </p:spPr>
      </p:sp>
      <p:pic>
        <p:nvPicPr>
          <p:cNvPr id="15" name="FiShield" descr="preencoded.png">    </p:cNvPr>
          <p:cNvPicPr>
            <a:picLocks noChangeAspect="1"/>
          </p:cNvPicPr>
          <p:nvPr/>
        </p:nvPicPr>
        <p:blipFill>
          <a:blip r:embed="rId2"/>
          <a:stretch>
            <a:fillRect/>
          </a:stretch>
        </p:blipFill>
        <p:spPr>
          <a:xfrm>
            <a:off x="1289304" y="2231136"/>
            <a:ext cx="201168" cy="201168"/>
          </a:xfrm>
          <a:prstGeom prst="rect">
            <a:avLst/>
          </a:prstGeom>
        </p:spPr>
      </p:pic>
      <p:sp>
        <p:nvSpPr>
          <p:cNvPr id="16" name="Text 12"/>
          <p:cNvSpPr txBox="1"/>
          <p:nvPr/>
        </p:nvSpPr>
        <p:spPr>
          <a:xfrm>
            <a:off x="1737360" y="2057400"/>
            <a:ext cx="2377440" cy="548640"/>
          </a:xfrm>
          <a:prstGeom prst="rect">
            <a:avLst/>
          </a:prstGeom>
          <a:noFill/>
          <a:ln/>
        </p:spPr>
        <p:txBody>
          <a:bodyPr wrap="square" lIns="0" tIns="0" rIns="0" bIns="0" rtlCol="0" anchor="ctr"/>
          <a:lstStyle/>
          <a:p>
            <a:pPr indent="0" marL="0">
              <a:buNone/>
            </a:pPr>
            <a:r>
              <a:rPr lang="en-US" sz="1400" b="1" dirty="0">
                <a:solidFill>
                  <a:schemeClr val="bg1"/>
                </a:solidFill>
              </a:rPr>
              <a:t>Control plane: the gate</a:t>
            </a:r>
            <a:endParaRPr lang="en-US" sz="1400" dirty="0"/>
          </a:p>
        </p:txBody>
      </p:sp>
      <p:sp>
        <p:nvSpPr>
          <p:cNvPr id="17" name="Text 13"/>
          <p:cNvSpPr txBox="1"/>
          <p:nvPr/>
        </p:nvSpPr>
        <p:spPr>
          <a:xfrm>
            <a:off x="4206240" y="2057400"/>
            <a:ext cx="4480560" cy="548640"/>
          </a:xfrm>
          <a:prstGeom prst="rect">
            <a:avLst/>
          </a:prstGeom>
          <a:noFill/>
          <a:ln/>
        </p:spPr>
        <p:txBody>
          <a:bodyPr wrap="square" lIns="0" tIns="0" rIns="0" bIns="0" rtlCol="0" anchor="ctr"/>
          <a:lstStyle/>
          <a:p>
            <a:pPr indent="0" marL="0">
              <a:buNone/>
            </a:pPr>
            <a:r>
              <a:rPr lang="en-US" sz="1100" dirty="0">
                <a:solidFill>
                  <a:schemeClr val="bg1"/>
                </a:solidFill>
              </a:rPr>
              <a:t>Default deny on the only way out: rule, witnesses, budget, human hold, ticket, log</a:t>
            </a:r>
            <a:endParaRPr lang="en-US" sz="1100" dirty="0"/>
          </a:p>
        </p:txBody>
      </p:sp>
      <p:sp>
        <p:nvSpPr>
          <p:cNvPr id="18" name="Text 14"/>
          <p:cNvSpPr txBox="1"/>
          <p:nvPr/>
        </p:nvSpPr>
        <p:spPr>
          <a:xfrm>
            <a:off x="8778240" y="2057400"/>
            <a:ext cx="1737360" cy="548640"/>
          </a:xfrm>
          <a:prstGeom prst="rect">
            <a:avLst/>
          </a:prstGeom>
          <a:noFill/>
          <a:ln/>
        </p:spPr>
        <p:txBody>
          <a:bodyPr wrap="square" lIns="0" tIns="0" rIns="0" bIns="0" rtlCol="0" anchor="ctr"/>
          <a:lstStyle/>
          <a:p>
            <a:pPr indent="0" marL="0">
              <a:buNone/>
            </a:pPr>
            <a:r>
              <a:rPr lang="en-US" sz="1050" i="1" dirty="0">
                <a:solidFill>
                  <a:schemeClr val="accent6"/>
                </a:solidFill>
              </a:rPr>
              <a:t>in the bank: the teller's window</a:t>
            </a:r>
            <a:endParaRPr lang="en-US" sz="1050" dirty="0"/>
          </a:p>
        </p:txBody>
      </p:sp>
      <p:sp>
        <p:nvSpPr>
          <p:cNvPr id="19" name="tag"/>
          <p:cNvSpPr/>
          <p:nvPr/>
        </p:nvSpPr>
        <p:spPr>
          <a:xfrm>
            <a:off x="10545775" y="2185416"/>
            <a:ext cx="960120" cy="292608"/>
          </a:xfrm>
          <a:prstGeom prst="roundRect">
            <a:avLst>
              <a:gd name="adj" fmla="val 50000"/>
            </a:avLst>
          </a:prstGeom>
          <a:solidFill>
            <a:schemeClr val="accent1"/>
          </a:solidFill>
          <a:ln w="12700">
            <a:solidFill>
              <a:schemeClr val="accent1"/>
            </a:solidFill>
            <a:prstDash val="solid"/>
          </a:ln>
        </p:spPr>
      </p:sp>
      <p:sp>
        <p:nvSpPr>
          <p:cNvPr id="20" name="Text 16"/>
          <p:cNvSpPr txBox="1"/>
          <p:nvPr/>
        </p:nvSpPr>
        <p:spPr>
          <a:xfrm>
            <a:off x="10545775" y="2185416"/>
            <a:ext cx="960120" cy="292608"/>
          </a:xfrm>
          <a:prstGeom prst="rect">
            <a:avLst/>
          </a:prstGeom>
          <a:noFill/>
          <a:ln/>
        </p:spPr>
        <p:txBody>
          <a:bodyPr wrap="square" lIns="0" tIns="0" rIns="0" bIns="0" rtlCol="0" anchor="ctr"/>
          <a:lstStyle/>
          <a:p>
            <a:pPr algn="ctr" indent="0" marL="0">
              <a:buNone/>
            </a:pPr>
            <a:r>
              <a:rPr lang="en-US" sz="900" b="1" dirty="0">
                <a:solidFill>
                  <a:schemeClr val="bg1"/>
                </a:solidFill>
              </a:rPr>
              <a:t>LOCK</a:t>
            </a:r>
            <a:endParaRPr lang="en-US" sz="900" dirty="0"/>
          </a:p>
        </p:txBody>
      </p:sp>
      <p:sp>
        <p:nvSpPr>
          <p:cNvPr id="21" name="layer 3"/>
          <p:cNvSpPr/>
          <p:nvPr/>
        </p:nvSpPr>
        <p:spPr>
          <a:xfrm>
            <a:off x="548640" y="2697480"/>
            <a:ext cx="11094415" cy="548640"/>
          </a:xfrm>
          <a:prstGeom prst="roundRect">
            <a:avLst>
              <a:gd name="adj" fmla="val 10000"/>
            </a:avLst>
          </a:prstGeom>
          <a:solidFill>
            <a:schemeClr val="bg2"/>
          </a:solidFill>
          <a:ln w="12700">
            <a:solidFill>
              <a:schemeClr val="bg2"/>
            </a:solidFill>
            <a:prstDash val="solid"/>
          </a:ln>
        </p:spPr>
      </p:sp>
      <p:sp>
        <p:nvSpPr>
          <p:cNvPr id="22" name="Text 18"/>
          <p:cNvSpPr txBox="1"/>
          <p:nvPr/>
        </p:nvSpPr>
        <p:spPr>
          <a:xfrm>
            <a:off x="731520" y="2697480"/>
            <a:ext cx="365760" cy="548640"/>
          </a:xfrm>
          <a:prstGeom prst="rect">
            <a:avLst/>
          </a:prstGeom>
          <a:noFill/>
          <a:ln/>
        </p:spPr>
        <p:txBody>
          <a:bodyPr wrap="square" lIns="0" tIns="0" rIns="0" bIns="0" rtlCol="0" anchor="ctr"/>
          <a:lstStyle/>
          <a:p>
            <a:pPr indent="0" marL="0">
              <a:buNone/>
            </a:pPr>
            <a:r>
              <a:rPr lang="en-US" sz="2000" b="1" dirty="0">
                <a:solidFill>
                  <a:schemeClr val="accent1"/>
                </a:solidFill>
                <a:latin typeface="Georgia" pitchFamily="34" charset="0"/>
                <a:ea typeface="Georgia" pitchFamily="34" charset="-122"/>
                <a:cs typeface="Georgia" pitchFamily="34" charset="-120"/>
              </a:rPr>
              <a:t>3</a:t>
            </a:r>
            <a:endParaRPr lang="en-US" sz="2000" dirty="0"/>
          </a:p>
        </p:txBody>
      </p:sp>
      <p:sp>
        <p:nvSpPr>
          <p:cNvPr id="23" name="icon circle"/>
          <p:cNvSpPr/>
          <p:nvPr/>
        </p:nvSpPr>
        <p:spPr>
          <a:xfrm>
            <a:off x="1188720" y="2770632"/>
            <a:ext cx="402336" cy="402336"/>
          </a:xfrm>
          <a:prstGeom prst="ellipse">
            <a:avLst/>
          </a:prstGeom>
          <a:solidFill>
            <a:schemeClr val="tx2"/>
          </a:solidFill>
          <a:ln w="12700">
            <a:solidFill>
              <a:schemeClr val="tx2"/>
            </a:solidFill>
            <a:prstDash val="solid"/>
          </a:ln>
        </p:spPr>
      </p:sp>
      <p:pic>
        <p:nvPicPr>
          <p:cNvPr id="24" name="FiEye" descr="preencoded.png">    </p:cNvPr>
          <p:cNvPicPr>
            <a:picLocks noChangeAspect="1"/>
          </p:cNvPicPr>
          <p:nvPr/>
        </p:nvPicPr>
        <p:blipFill>
          <a:blip r:embed="rId3"/>
          <a:stretch>
            <a:fillRect/>
          </a:stretch>
        </p:blipFill>
        <p:spPr>
          <a:xfrm>
            <a:off x="1289304" y="2871216"/>
            <a:ext cx="201168" cy="201168"/>
          </a:xfrm>
          <a:prstGeom prst="rect">
            <a:avLst/>
          </a:prstGeom>
        </p:spPr>
      </p:pic>
      <p:sp>
        <p:nvSpPr>
          <p:cNvPr id="25" name="Text 20"/>
          <p:cNvSpPr txBox="1"/>
          <p:nvPr/>
        </p:nvSpPr>
        <p:spPr>
          <a:xfrm>
            <a:off x="1737360" y="2697480"/>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Observers</a:t>
            </a:r>
            <a:endParaRPr lang="en-US" sz="1400" dirty="0"/>
          </a:p>
        </p:txBody>
      </p:sp>
      <p:sp>
        <p:nvSpPr>
          <p:cNvPr id="26" name="Text 21"/>
          <p:cNvSpPr txBox="1"/>
          <p:nvPr/>
        </p:nvSpPr>
        <p:spPr>
          <a:xfrm>
            <a:off x="4206240" y="2697480"/>
            <a:ext cx="4480560" cy="548640"/>
          </a:xfrm>
          <a:prstGeom prst="rect">
            <a:avLst/>
          </a:prstGeom>
          <a:noFill/>
          <a:ln/>
        </p:spPr>
        <p:txBody>
          <a:bodyPr wrap="square" lIns="0" tIns="0" rIns="0" bIns="0" rtlCol="0" anchor="ctr"/>
          <a:lstStyle/>
          <a:p>
            <a:pPr indent="0" marL="0">
              <a:buNone/>
            </a:pPr>
            <a:r>
              <a:rPr lang="en-US" sz="1100" dirty="0">
                <a:solidFill>
                  <a:schemeClr val="tx1"/>
                </a:solidFill>
              </a:rPr>
              <a:t>Fast, cheap, signed verdicts about one request; often early, sometimes wrong</a:t>
            </a:r>
            <a:endParaRPr lang="en-US" sz="1100" dirty="0"/>
          </a:p>
        </p:txBody>
      </p:sp>
      <p:sp>
        <p:nvSpPr>
          <p:cNvPr id="27" name="Text 22"/>
          <p:cNvSpPr txBox="1"/>
          <p:nvPr/>
        </p:nvSpPr>
        <p:spPr>
          <a:xfrm>
            <a:off x="8778240" y="2697480"/>
            <a:ext cx="1737360" cy="548640"/>
          </a:xfrm>
          <a:prstGeom prst="rect">
            <a:avLst/>
          </a:prstGeom>
          <a:noFill/>
          <a:ln/>
        </p:spPr>
        <p:txBody>
          <a:bodyPr wrap="square" lIns="0" tIns="0" rIns="0" bIns="0" rtlCol="0" anchor="ctr"/>
          <a:lstStyle/>
          <a:p>
            <a:pPr indent="0" marL="0">
              <a:buNone/>
            </a:pPr>
            <a:r>
              <a:rPr lang="en-US" sz="1050" i="1" dirty="0">
                <a:solidFill>
                  <a:schemeClr val="accent3"/>
                </a:solidFill>
              </a:rPr>
              <a:t>in the bank: the floor guard</a:t>
            </a:r>
            <a:endParaRPr lang="en-US" sz="1050" dirty="0"/>
          </a:p>
        </p:txBody>
      </p:sp>
      <p:sp>
        <p:nvSpPr>
          <p:cNvPr id="28" name="tag"/>
          <p:cNvSpPr/>
          <p:nvPr/>
        </p:nvSpPr>
        <p:spPr>
          <a:xfrm>
            <a:off x="10545775" y="2825496"/>
            <a:ext cx="960120" cy="292608"/>
          </a:xfrm>
          <a:prstGeom prst="roundRect">
            <a:avLst>
              <a:gd name="adj" fmla="val 50000"/>
            </a:avLst>
          </a:prstGeom>
          <a:solidFill>
            <a:schemeClr val="accent3"/>
          </a:solidFill>
          <a:ln w="12700">
            <a:solidFill>
              <a:schemeClr val="accent3"/>
            </a:solidFill>
            <a:prstDash val="solid"/>
          </a:ln>
        </p:spPr>
      </p:sp>
      <p:sp>
        <p:nvSpPr>
          <p:cNvPr id="29" name="Text 24"/>
          <p:cNvSpPr txBox="1"/>
          <p:nvPr/>
        </p:nvSpPr>
        <p:spPr>
          <a:xfrm>
            <a:off x="10545775" y="2825496"/>
            <a:ext cx="960120" cy="292608"/>
          </a:xfrm>
          <a:prstGeom prst="rect">
            <a:avLst/>
          </a:prstGeom>
          <a:noFill/>
          <a:ln/>
        </p:spPr>
        <p:txBody>
          <a:bodyPr wrap="square" lIns="0" tIns="0" rIns="0" bIns="0" rtlCol="0" anchor="ctr"/>
          <a:lstStyle/>
          <a:p>
            <a:pPr algn="ctr" indent="0" marL="0">
              <a:buNone/>
            </a:pPr>
            <a:r>
              <a:rPr lang="en-US" sz="900" b="1" dirty="0">
                <a:solidFill>
                  <a:schemeClr val="bg1"/>
                </a:solidFill>
              </a:rPr>
              <a:t>WITNESS</a:t>
            </a:r>
            <a:endParaRPr lang="en-US" sz="900" dirty="0"/>
          </a:p>
        </p:txBody>
      </p:sp>
      <p:sp>
        <p:nvSpPr>
          <p:cNvPr id="30" name="layer 2"/>
          <p:cNvSpPr/>
          <p:nvPr/>
        </p:nvSpPr>
        <p:spPr>
          <a:xfrm>
            <a:off x="548640" y="3337560"/>
            <a:ext cx="11094415" cy="548640"/>
          </a:xfrm>
          <a:prstGeom prst="roundRect">
            <a:avLst>
              <a:gd name="adj" fmla="val 10000"/>
            </a:avLst>
          </a:prstGeom>
          <a:solidFill>
            <a:schemeClr val="bg2"/>
          </a:solidFill>
          <a:ln w="12700">
            <a:solidFill>
              <a:schemeClr val="bg2"/>
            </a:solidFill>
            <a:prstDash val="solid"/>
          </a:ln>
        </p:spPr>
      </p:sp>
      <p:sp>
        <p:nvSpPr>
          <p:cNvPr id="31" name="Text 26"/>
          <p:cNvSpPr txBox="1"/>
          <p:nvPr/>
        </p:nvSpPr>
        <p:spPr>
          <a:xfrm>
            <a:off x="731520" y="3337560"/>
            <a:ext cx="365760" cy="548640"/>
          </a:xfrm>
          <a:prstGeom prst="rect">
            <a:avLst/>
          </a:prstGeom>
          <a:noFill/>
          <a:ln/>
        </p:spPr>
        <p:txBody>
          <a:bodyPr wrap="square" lIns="0" tIns="0" rIns="0" bIns="0" rtlCol="0" anchor="ctr"/>
          <a:lstStyle/>
          <a:p>
            <a:pPr indent="0" marL="0">
              <a:buNone/>
            </a:pPr>
            <a:r>
              <a:rPr lang="en-US" sz="2000" b="1" dirty="0">
                <a:solidFill>
                  <a:schemeClr val="accent1"/>
                </a:solidFill>
                <a:latin typeface="Georgia" pitchFamily="34" charset="0"/>
                <a:ea typeface="Georgia" pitchFamily="34" charset="-122"/>
                <a:cs typeface="Georgia" pitchFamily="34" charset="-120"/>
              </a:rPr>
              <a:t>2</a:t>
            </a:r>
            <a:endParaRPr lang="en-US" sz="2000" dirty="0"/>
          </a:p>
        </p:txBody>
      </p:sp>
      <p:sp>
        <p:nvSpPr>
          <p:cNvPr id="32" name="icon circle"/>
          <p:cNvSpPr/>
          <p:nvPr/>
        </p:nvSpPr>
        <p:spPr>
          <a:xfrm>
            <a:off x="1188720" y="3410712"/>
            <a:ext cx="402336" cy="402336"/>
          </a:xfrm>
          <a:prstGeom prst="ellipse">
            <a:avLst/>
          </a:prstGeom>
          <a:solidFill>
            <a:schemeClr val="tx2"/>
          </a:solidFill>
          <a:ln w="12700">
            <a:solidFill>
              <a:schemeClr val="tx2"/>
            </a:solidFill>
            <a:prstDash val="solid"/>
          </a:ln>
        </p:spPr>
      </p:sp>
      <p:pic>
        <p:nvPicPr>
          <p:cNvPr id="33" name="FiCreditCard" descr="preencoded.png">    </p:cNvPr>
          <p:cNvPicPr>
            <a:picLocks noChangeAspect="1"/>
          </p:cNvPicPr>
          <p:nvPr/>
        </p:nvPicPr>
        <p:blipFill>
          <a:blip r:embed="rId4"/>
          <a:stretch>
            <a:fillRect/>
          </a:stretch>
        </p:blipFill>
        <p:spPr>
          <a:xfrm>
            <a:off x="1289304" y="3511296"/>
            <a:ext cx="201168" cy="201168"/>
          </a:xfrm>
          <a:prstGeom prst="rect">
            <a:avLst/>
          </a:prstGeom>
        </p:spPr>
      </p:pic>
      <p:sp>
        <p:nvSpPr>
          <p:cNvPr id="34" name="Text 28"/>
          <p:cNvSpPr txBox="1"/>
          <p:nvPr/>
        </p:nvSpPr>
        <p:spPr>
          <a:xfrm>
            <a:off x="1737360" y="3337560"/>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Provenance</a:t>
            </a:r>
            <a:endParaRPr lang="en-US" sz="1400" dirty="0"/>
          </a:p>
        </p:txBody>
      </p:sp>
      <p:sp>
        <p:nvSpPr>
          <p:cNvPr id="35" name="Text 29"/>
          <p:cNvSpPr txBox="1"/>
          <p:nvPr/>
        </p:nvSpPr>
        <p:spPr>
          <a:xfrm>
            <a:off x="4206240" y="3337560"/>
            <a:ext cx="4480560" cy="548640"/>
          </a:xfrm>
          <a:prstGeom prst="rect">
            <a:avLst/>
          </a:prstGeom>
          <a:noFill/>
          <a:ln/>
        </p:spPr>
        <p:txBody>
          <a:bodyPr wrap="square" lIns="0" tIns="0" rIns="0" bIns="0" rtlCol="0" anchor="ctr"/>
          <a:lstStyle/>
          <a:p>
            <a:pPr indent="0" marL="0">
              <a:buNone/>
            </a:pPr>
            <a:r>
              <a:rPr lang="en-US" sz="1100" dirty="0">
                <a:solidFill>
                  <a:schemeClr val="tx1"/>
                </a:solidFill>
              </a:rPr>
              <a:t>Watermark and detector, signed registry; a verdict a rule can require</a:t>
            </a:r>
            <a:endParaRPr lang="en-US" sz="1100" dirty="0"/>
          </a:p>
        </p:txBody>
      </p:sp>
      <p:sp>
        <p:nvSpPr>
          <p:cNvPr id="36" name="Text 30"/>
          <p:cNvSpPr txBox="1"/>
          <p:nvPr/>
        </p:nvSpPr>
        <p:spPr>
          <a:xfrm>
            <a:off x="8778240" y="3337560"/>
            <a:ext cx="1737360" cy="548640"/>
          </a:xfrm>
          <a:prstGeom prst="rect">
            <a:avLst/>
          </a:prstGeom>
          <a:noFill/>
          <a:ln/>
        </p:spPr>
        <p:txBody>
          <a:bodyPr wrap="square" lIns="0" tIns="0" rIns="0" bIns="0" rtlCol="0" anchor="ctr"/>
          <a:lstStyle/>
          <a:p>
            <a:pPr indent="0" marL="0">
              <a:buNone/>
            </a:pPr>
            <a:r>
              <a:rPr lang="en-US" sz="1050" i="1" dirty="0">
                <a:solidFill>
                  <a:schemeClr val="accent3"/>
                </a:solidFill>
              </a:rPr>
              <a:t>in the bank: the ID check</a:t>
            </a:r>
            <a:endParaRPr lang="en-US" sz="1050" dirty="0"/>
          </a:p>
        </p:txBody>
      </p:sp>
      <p:sp>
        <p:nvSpPr>
          <p:cNvPr id="37" name="tag"/>
          <p:cNvSpPr/>
          <p:nvPr/>
        </p:nvSpPr>
        <p:spPr>
          <a:xfrm>
            <a:off x="10545775" y="3465576"/>
            <a:ext cx="960120" cy="292608"/>
          </a:xfrm>
          <a:prstGeom prst="roundRect">
            <a:avLst>
              <a:gd name="adj" fmla="val 50000"/>
            </a:avLst>
          </a:prstGeom>
          <a:solidFill>
            <a:schemeClr val="accent3"/>
          </a:solidFill>
          <a:ln w="12700">
            <a:solidFill>
              <a:schemeClr val="accent3"/>
            </a:solidFill>
            <a:prstDash val="solid"/>
          </a:ln>
        </p:spPr>
      </p:sp>
      <p:sp>
        <p:nvSpPr>
          <p:cNvPr id="38" name="Text 32"/>
          <p:cNvSpPr txBox="1"/>
          <p:nvPr/>
        </p:nvSpPr>
        <p:spPr>
          <a:xfrm>
            <a:off x="10545775" y="3465576"/>
            <a:ext cx="960120" cy="292608"/>
          </a:xfrm>
          <a:prstGeom prst="rect">
            <a:avLst/>
          </a:prstGeom>
          <a:noFill/>
          <a:ln/>
        </p:spPr>
        <p:txBody>
          <a:bodyPr wrap="square" lIns="0" tIns="0" rIns="0" bIns="0" rtlCol="0" anchor="ctr"/>
          <a:lstStyle/>
          <a:p>
            <a:pPr algn="ctr" indent="0" marL="0">
              <a:buNone/>
            </a:pPr>
            <a:r>
              <a:rPr lang="en-US" sz="900" b="1" dirty="0">
                <a:solidFill>
                  <a:schemeClr val="bg1"/>
                </a:solidFill>
              </a:rPr>
              <a:t>WITNESS</a:t>
            </a:r>
            <a:endParaRPr lang="en-US" sz="900" dirty="0"/>
          </a:p>
        </p:txBody>
      </p:sp>
      <p:sp>
        <p:nvSpPr>
          <p:cNvPr id="39" name="layer 1"/>
          <p:cNvSpPr/>
          <p:nvPr/>
        </p:nvSpPr>
        <p:spPr>
          <a:xfrm>
            <a:off x="548640" y="3977640"/>
            <a:ext cx="11094415" cy="548640"/>
          </a:xfrm>
          <a:prstGeom prst="roundRect">
            <a:avLst>
              <a:gd name="adj" fmla="val 10000"/>
            </a:avLst>
          </a:prstGeom>
          <a:solidFill>
            <a:srgbClr val="FFFFFF"/>
          </a:solidFill>
          <a:ln w="19050">
            <a:solidFill>
              <a:schemeClr val="accent4"/>
            </a:solidFill>
            <a:prstDash val="solid"/>
          </a:ln>
        </p:spPr>
      </p:sp>
      <p:sp>
        <p:nvSpPr>
          <p:cNvPr id="40" name="Text 34"/>
          <p:cNvSpPr txBox="1"/>
          <p:nvPr/>
        </p:nvSpPr>
        <p:spPr>
          <a:xfrm>
            <a:off x="731520" y="3977640"/>
            <a:ext cx="365760" cy="548640"/>
          </a:xfrm>
          <a:prstGeom prst="rect">
            <a:avLst/>
          </a:prstGeom>
          <a:noFill/>
          <a:ln/>
        </p:spPr>
        <p:txBody>
          <a:bodyPr wrap="square" lIns="0" tIns="0" rIns="0" bIns="0" rtlCol="0" anchor="ctr"/>
          <a:lstStyle/>
          <a:p>
            <a:pPr indent="0" marL="0">
              <a:buNone/>
            </a:pPr>
            <a:r>
              <a:rPr lang="en-US" sz="2000" b="1" dirty="0">
                <a:solidFill>
                  <a:schemeClr val="accent1"/>
                </a:solidFill>
                <a:latin typeface="Georgia" pitchFamily="34" charset="0"/>
                <a:ea typeface="Georgia" pitchFamily="34" charset="-122"/>
                <a:cs typeface="Georgia" pitchFamily="34" charset="-120"/>
              </a:rPr>
              <a:t>1</a:t>
            </a:r>
            <a:endParaRPr lang="en-US" sz="2000" dirty="0"/>
          </a:p>
        </p:txBody>
      </p:sp>
      <p:sp>
        <p:nvSpPr>
          <p:cNvPr id="41" name="icon circle"/>
          <p:cNvSpPr/>
          <p:nvPr/>
        </p:nvSpPr>
        <p:spPr>
          <a:xfrm>
            <a:off x="1188720" y="4050792"/>
            <a:ext cx="402336" cy="402336"/>
          </a:xfrm>
          <a:prstGeom prst="ellipse">
            <a:avLst/>
          </a:prstGeom>
          <a:solidFill>
            <a:schemeClr val="tx2"/>
          </a:solidFill>
          <a:ln w="12700">
            <a:solidFill>
              <a:schemeClr val="tx2"/>
            </a:solidFill>
            <a:prstDash val="solid"/>
          </a:ln>
        </p:spPr>
      </p:sp>
      <p:pic>
        <p:nvPicPr>
          <p:cNvPr id="42" name="FiUser" descr="preencoded.png">    </p:cNvPr>
          <p:cNvPicPr>
            <a:picLocks noChangeAspect="1"/>
          </p:cNvPicPr>
          <p:nvPr/>
        </p:nvPicPr>
        <p:blipFill>
          <a:blip r:embed="rId5"/>
          <a:stretch>
            <a:fillRect/>
          </a:stretch>
        </p:blipFill>
        <p:spPr>
          <a:xfrm>
            <a:off x="1289304" y="4151376"/>
            <a:ext cx="201168" cy="201168"/>
          </a:xfrm>
          <a:prstGeom prst="rect">
            <a:avLst/>
          </a:prstGeom>
        </p:spPr>
      </p:pic>
      <p:sp>
        <p:nvSpPr>
          <p:cNvPr id="43" name="Text 36"/>
          <p:cNvSpPr txBox="1"/>
          <p:nvPr/>
        </p:nvSpPr>
        <p:spPr>
          <a:xfrm>
            <a:off x="1737360" y="3977640"/>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Model and runtime</a:t>
            </a:r>
            <a:endParaRPr lang="en-US" sz="1400" dirty="0"/>
          </a:p>
        </p:txBody>
      </p:sp>
      <p:sp>
        <p:nvSpPr>
          <p:cNvPr id="44" name="Text 37"/>
          <p:cNvSpPr txBox="1"/>
          <p:nvPr/>
        </p:nvSpPr>
        <p:spPr>
          <a:xfrm>
            <a:off x="4206240" y="3977640"/>
            <a:ext cx="4480560" cy="548640"/>
          </a:xfrm>
          <a:prstGeom prst="rect">
            <a:avLst/>
          </a:prstGeom>
          <a:noFill/>
          <a:ln/>
        </p:spPr>
        <p:txBody>
          <a:bodyPr wrap="square" lIns="0" tIns="0" rIns="0" bIns="0" rtlCol="0" anchor="ctr"/>
          <a:lstStyle/>
          <a:p>
            <a:pPr indent="0" marL="0">
              <a:buNone/>
            </a:pPr>
            <a:r>
              <a:rPr lang="en-US" sz="1100" dirty="0">
                <a:solidFill>
                  <a:schemeClr val="tx1"/>
                </a:solidFill>
              </a:rPr>
              <a:t>The model, CUDA, the serving stack. Measured, watched, never trusted to decide</a:t>
            </a:r>
            <a:endParaRPr lang="en-US" sz="1100" dirty="0"/>
          </a:p>
        </p:txBody>
      </p:sp>
      <p:sp>
        <p:nvSpPr>
          <p:cNvPr id="45" name="Text 38"/>
          <p:cNvSpPr txBox="1"/>
          <p:nvPr/>
        </p:nvSpPr>
        <p:spPr>
          <a:xfrm>
            <a:off x="8778240" y="3977640"/>
            <a:ext cx="1737360" cy="548640"/>
          </a:xfrm>
          <a:prstGeom prst="rect">
            <a:avLst/>
          </a:prstGeom>
          <a:noFill/>
          <a:ln/>
        </p:spPr>
        <p:txBody>
          <a:bodyPr wrap="square" lIns="0" tIns="0" rIns="0" bIns="0" rtlCol="0" anchor="ctr"/>
          <a:lstStyle/>
          <a:p>
            <a:pPr indent="0" marL="0">
              <a:buNone/>
            </a:pPr>
            <a:r>
              <a:rPr lang="en-US" sz="1050" i="1" dirty="0">
                <a:solidFill>
                  <a:schemeClr val="accent3"/>
                </a:solidFill>
              </a:rPr>
              <a:t>in the bank: the customer</a:t>
            </a:r>
            <a:endParaRPr lang="en-US" sz="1050" dirty="0"/>
          </a:p>
        </p:txBody>
      </p:sp>
      <p:sp>
        <p:nvSpPr>
          <p:cNvPr id="46" name="tag"/>
          <p:cNvSpPr/>
          <p:nvPr/>
        </p:nvSpPr>
        <p:spPr>
          <a:xfrm>
            <a:off x="10545775" y="4105656"/>
            <a:ext cx="960120" cy="292608"/>
          </a:xfrm>
          <a:prstGeom prst="roundRect">
            <a:avLst>
              <a:gd name="adj" fmla="val 50000"/>
            </a:avLst>
          </a:prstGeom>
          <a:solidFill>
            <a:schemeClr val="accent4"/>
          </a:solidFill>
          <a:ln w="12700">
            <a:solidFill>
              <a:schemeClr val="accent4"/>
            </a:solidFill>
            <a:prstDash val="solid"/>
          </a:ln>
        </p:spPr>
      </p:sp>
      <p:sp>
        <p:nvSpPr>
          <p:cNvPr id="47" name="Text 40"/>
          <p:cNvSpPr txBox="1"/>
          <p:nvPr/>
        </p:nvSpPr>
        <p:spPr>
          <a:xfrm>
            <a:off x="10545775" y="4105656"/>
            <a:ext cx="960120" cy="292608"/>
          </a:xfrm>
          <a:prstGeom prst="rect">
            <a:avLst/>
          </a:prstGeom>
          <a:noFill/>
          <a:ln/>
        </p:spPr>
        <p:txBody>
          <a:bodyPr wrap="square" lIns="0" tIns="0" rIns="0" bIns="0" rtlCol="0" anchor="ctr"/>
          <a:lstStyle/>
          <a:p>
            <a:pPr algn="ctr" indent="0" marL="0">
              <a:buNone/>
            </a:pPr>
            <a:r>
              <a:rPr lang="en-US" sz="900" b="1" dirty="0">
                <a:solidFill>
                  <a:schemeClr val="bg1"/>
                </a:solidFill>
              </a:rPr>
              <a:t>UNTRUSTED</a:t>
            </a:r>
            <a:endParaRPr lang="en-US" sz="900" dirty="0"/>
          </a:p>
        </p:txBody>
      </p:sp>
      <p:sp>
        <p:nvSpPr>
          <p:cNvPr id="48" name="layer 0"/>
          <p:cNvSpPr/>
          <p:nvPr/>
        </p:nvSpPr>
        <p:spPr>
          <a:xfrm>
            <a:off x="548640" y="4617720"/>
            <a:ext cx="11094415" cy="548640"/>
          </a:xfrm>
          <a:prstGeom prst="roundRect">
            <a:avLst>
              <a:gd name="adj" fmla="val 10000"/>
            </a:avLst>
          </a:prstGeom>
          <a:solidFill>
            <a:schemeClr val="tx2"/>
          </a:solidFill>
          <a:ln w="12700">
            <a:solidFill>
              <a:schemeClr val="tx2"/>
            </a:solidFill>
            <a:prstDash val="solid"/>
          </a:ln>
        </p:spPr>
      </p:sp>
      <p:sp>
        <p:nvSpPr>
          <p:cNvPr id="49" name="Text 42"/>
          <p:cNvSpPr txBox="1"/>
          <p:nvPr/>
        </p:nvSpPr>
        <p:spPr>
          <a:xfrm>
            <a:off x="731520" y="4617720"/>
            <a:ext cx="365760" cy="548640"/>
          </a:xfrm>
          <a:prstGeom prst="rect">
            <a:avLst/>
          </a:prstGeom>
          <a:noFill/>
          <a:ln/>
        </p:spPr>
        <p:txBody>
          <a:bodyPr wrap="square" lIns="0" tIns="0" rIns="0" bIns="0" rtlCol="0" anchor="ctr"/>
          <a:lstStyle/>
          <a:p>
            <a:pPr indent="0" marL="0">
              <a:buNone/>
            </a:pPr>
            <a:r>
              <a:rPr lang="en-US" sz="2000" b="1" dirty="0">
                <a:solidFill>
                  <a:schemeClr val="accent6"/>
                </a:solidFill>
                <a:latin typeface="Georgia" pitchFamily="34" charset="0"/>
                <a:ea typeface="Georgia" pitchFamily="34" charset="-122"/>
                <a:cs typeface="Georgia" pitchFamily="34" charset="-120"/>
              </a:rPr>
              <a:t>0</a:t>
            </a:r>
            <a:endParaRPr lang="en-US" sz="2000" dirty="0"/>
          </a:p>
        </p:txBody>
      </p:sp>
      <p:sp>
        <p:nvSpPr>
          <p:cNvPr id="50" name="icon circle"/>
          <p:cNvSpPr/>
          <p:nvPr/>
        </p:nvSpPr>
        <p:spPr>
          <a:xfrm>
            <a:off x="1188720" y="4690872"/>
            <a:ext cx="402336" cy="402336"/>
          </a:xfrm>
          <a:prstGeom prst="ellipse">
            <a:avLst/>
          </a:prstGeom>
          <a:solidFill>
            <a:schemeClr val="accent1"/>
          </a:solidFill>
          <a:ln w="12700">
            <a:solidFill>
              <a:schemeClr val="accent1"/>
            </a:solidFill>
            <a:prstDash val="solid"/>
          </a:ln>
        </p:spPr>
      </p:sp>
      <p:pic>
        <p:nvPicPr>
          <p:cNvPr id="51" name="FiLock" descr="preencoded.png">    </p:cNvPr>
          <p:cNvPicPr>
            <a:picLocks noChangeAspect="1"/>
          </p:cNvPicPr>
          <p:nvPr/>
        </p:nvPicPr>
        <p:blipFill>
          <a:blip r:embed="rId6"/>
          <a:stretch>
            <a:fillRect/>
          </a:stretch>
        </p:blipFill>
        <p:spPr>
          <a:xfrm>
            <a:off x="1289304" y="4791456"/>
            <a:ext cx="201168" cy="201168"/>
          </a:xfrm>
          <a:prstGeom prst="rect">
            <a:avLst/>
          </a:prstGeom>
        </p:spPr>
      </p:pic>
      <p:sp>
        <p:nvSpPr>
          <p:cNvPr id="52" name="Text 44"/>
          <p:cNvSpPr txBox="1"/>
          <p:nvPr/>
        </p:nvSpPr>
        <p:spPr>
          <a:xfrm>
            <a:off x="1737360" y="4617720"/>
            <a:ext cx="2377440" cy="548640"/>
          </a:xfrm>
          <a:prstGeom prst="rect">
            <a:avLst/>
          </a:prstGeom>
          <a:noFill/>
          <a:ln/>
        </p:spPr>
        <p:txBody>
          <a:bodyPr wrap="square" lIns="0" tIns="0" rIns="0" bIns="0" rtlCol="0" anchor="ctr"/>
          <a:lstStyle/>
          <a:p>
            <a:pPr indent="0" marL="0">
              <a:buNone/>
            </a:pPr>
            <a:r>
              <a:rPr lang="en-US" sz="1400" b="1" dirty="0">
                <a:solidFill>
                  <a:schemeClr val="bg1"/>
                </a:solidFill>
              </a:rPr>
              <a:t>Silicon root of trust</a:t>
            </a:r>
            <a:endParaRPr lang="en-US" sz="1400" dirty="0"/>
          </a:p>
        </p:txBody>
      </p:sp>
      <p:sp>
        <p:nvSpPr>
          <p:cNvPr id="53" name="Text 45"/>
          <p:cNvSpPr txBox="1"/>
          <p:nvPr/>
        </p:nvSpPr>
        <p:spPr>
          <a:xfrm>
            <a:off x="4206240" y="4617720"/>
            <a:ext cx="4480560" cy="548640"/>
          </a:xfrm>
          <a:prstGeom prst="rect">
            <a:avLst/>
          </a:prstGeom>
          <a:noFill/>
          <a:ln/>
        </p:spPr>
        <p:txBody>
          <a:bodyPr wrap="square" lIns="0" tIns="0" rIns="0" bIns="0" rtlCol="0" anchor="ctr"/>
          <a:lstStyle/>
          <a:p>
            <a:pPr indent="0" marL="0">
              <a:buNone/>
            </a:pPr>
            <a:r>
              <a:rPr lang="en-US" sz="1100" dirty="0">
                <a:solidFill>
                  <a:schemeClr val="bg1"/>
                </a:solidFill>
              </a:rPr>
              <a:t>Fused secret, anti-rollback counter, measurement registers, DICE keys, quote engine</a:t>
            </a:r>
            <a:endParaRPr lang="en-US" sz="1100" dirty="0"/>
          </a:p>
        </p:txBody>
      </p:sp>
      <p:sp>
        <p:nvSpPr>
          <p:cNvPr id="54" name="Text 46"/>
          <p:cNvSpPr txBox="1"/>
          <p:nvPr/>
        </p:nvSpPr>
        <p:spPr>
          <a:xfrm>
            <a:off x="8778240" y="4617720"/>
            <a:ext cx="1737360" cy="548640"/>
          </a:xfrm>
          <a:prstGeom prst="rect">
            <a:avLst/>
          </a:prstGeom>
          <a:noFill/>
          <a:ln/>
        </p:spPr>
        <p:txBody>
          <a:bodyPr wrap="square" lIns="0" tIns="0" rIns="0" bIns="0" rtlCol="0" anchor="ctr"/>
          <a:lstStyle/>
          <a:p>
            <a:pPr indent="0" marL="0">
              <a:buNone/>
            </a:pPr>
            <a:r>
              <a:rPr lang="en-US" sz="1050" i="1" dirty="0">
                <a:solidFill>
                  <a:schemeClr val="accent6"/>
                </a:solidFill>
              </a:rPr>
              <a:t>in the bank: the vault in the foundation</a:t>
            </a:r>
            <a:endParaRPr lang="en-US" sz="1050" dirty="0"/>
          </a:p>
        </p:txBody>
      </p:sp>
      <p:sp>
        <p:nvSpPr>
          <p:cNvPr id="55" name="tag"/>
          <p:cNvSpPr/>
          <p:nvPr/>
        </p:nvSpPr>
        <p:spPr>
          <a:xfrm>
            <a:off x="10545775" y="4745736"/>
            <a:ext cx="960120" cy="292608"/>
          </a:xfrm>
          <a:prstGeom prst="roundRect">
            <a:avLst>
              <a:gd name="adj" fmla="val 50000"/>
            </a:avLst>
          </a:prstGeom>
          <a:solidFill>
            <a:schemeClr val="accent1"/>
          </a:solidFill>
          <a:ln w="12700">
            <a:solidFill>
              <a:schemeClr val="accent1"/>
            </a:solidFill>
            <a:prstDash val="solid"/>
          </a:ln>
        </p:spPr>
      </p:sp>
      <p:sp>
        <p:nvSpPr>
          <p:cNvPr id="56" name="Text 48"/>
          <p:cNvSpPr txBox="1"/>
          <p:nvPr/>
        </p:nvSpPr>
        <p:spPr>
          <a:xfrm>
            <a:off x="10545775" y="4745736"/>
            <a:ext cx="960120" cy="292608"/>
          </a:xfrm>
          <a:prstGeom prst="rect">
            <a:avLst/>
          </a:prstGeom>
          <a:noFill/>
          <a:ln/>
        </p:spPr>
        <p:txBody>
          <a:bodyPr wrap="square" lIns="0" tIns="0" rIns="0" bIns="0" rtlCol="0" anchor="ctr"/>
          <a:lstStyle/>
          <a:p>
            <a:pPr algn="ctr" indent="0" marL="0">
              <a:buNone/>
            </a:pPr>
            <a:r>
              <a:rPr lang="en-US" sz="900" b="1" dirty="0">
                <a:solidFill>
                  <a:schemeClr val="bg1"/>
                </a:solidFill>
              </a:rPr>
              <a:t>LOCK</a:t>
            </a:r>
            <a:endParaRPr lang="en-US" sz="900" dirty="0"/>
          </a:p>
        </p:txBody>
      </p:sp>
      <p:sp>
        <p:nvSpPr>
          <p:cNvPr id="57" name="analogy"/>
          <p:cNvSpPr/>
          <p:nvPr/>
        </p:nvSpPr>
        <p:spPr>
          <a:xfrm>
            <a:off x="548640" y="5349240"/>
            <a:ext cx="11094415" cy="822960"/>
          </a:xfrm>
          <a:prstGeom prst="roundRect">
            <a:avLst>
              <a:gd name="adj" fmla="val 8889"/>
            </a:avLst>
          </a:prstGeom>
          <a:solidFill>
            <a:schemeClr val="tx1"/>
          </a:solidFill>
          <a:ln w="12700">
            <a:solidFill>
              <a:schemeClr val="tx1"/>
            </a:solidFill>
            <a:prstDash val="solid"/>
          </a:ln>
        </p:spPr>
      </p:sp>
      <p:sp>
        <p:nvSpPr>
          <p:cNvPr id="58" name="Text 50"/>
          <p:cNvSpPr txBox="1"/>
          <p:nvPr/>
        </p:nvSpPr>
        <p:spPr>
          <a:xfrm>
            <a:off x="822960" y="5349240"/>
            <a:ext cx="1371600" cy="82296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59" name="Text 51"/>
          <p:cNvSpPr txBox="1"/>
          <p:nvPr/>
        </p:nvSpPr>
        <p:spPr>
          <a:xfrm>
            <a:off x="2286000" y="5349240"/>
            <a:ext cx="9082735" cy="822960"/>
          </a:xfrm>
          <a:prstGeom prst="rect">
            <a:avLst/>
          </a:prstGeom>
          <a:noFill/>
          <a:ln/>
        </p:spPr>
        <p:txBody>
          <a:bodyPr wrap="square" lIns="0" tIns="0" rIns="0" bIns="0" rtlCol="0" anchor="ctr"/>
          <a:lstStyle/>
          <a:p>
            <a:pPr indent="0" marL="0">
              <a:buNone/>
            </a:pPr>
            <a:r>
              <a:rPr lang="en-US" sz="1400" i="1" dirty="0">
                <a:solidFill>
                  <a:schemeClr val="accent6"/>
                </a:solidFill>
              </a:rPr>
              <a:t>A bank. The board writes the rules, the teller's window enforces them, the floor guard watches for trouble, the ID is checked, the customer is served and never trusted with the keys, and the vault is poured into the foundation.</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Layers, technically: mechanism, platform</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2743200"/>
                <a:gridCol w="2770632"/>
              </a:tblGrid>
              <a:tr h="0">
                <a:tc>
                  <a:txBody>
                    <a:bodyPr/>
                    <a:lstStyle/>
                    <a:p>
                      <a:pPr indent="0" marL="0">
                        <a:buNone/>
                      </a:pPr>
                      <a:r>
                        <a:rPr lang="en-US" sz="1150" b="1" dirty="0">
                          <a:solidFill>
                            <a:schemeClr val="bg1"/>
                          </a:solidFill>
                        </a:rPr>
                        <a:t>Layer</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Mechanism</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What it signs or checks</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On NVIDIA's platform</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r>
              <a:tr h="0">
                <a:tc>
                  <a:txBody>
                    <a:bodyPr/>
                    <a:lstStyle/>
                    <a:p>
                      <a:pPr indent="0" marL="0">
                        <a:buNone/>
                      </a:pPr>
                      <a:r>
                        <a:rPr lang="en-US" sz="1150" b="1" dirty="0">
                          <a:solidFill>
                            <a:schemeClr val="tx1"/>
                          </a:solidFill>
                        </a:rPr>
                        <a:t>5  Governance root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k-of-n quorum over the policy image; rollback refused; expiry enforced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The rulebook (allow-list), the approved-firmware list, revocations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Keys held by a policy authority; OpenShell's policy prover checks the derived network rules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4  Control plane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Attestation check, rule lookup, witness collection, budget and rate, human hold, one-time ticket bound to a hash of the fields, hash-chained log</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Tickets, log checkpoints, the compliance report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The governor module now; a DOCA application on BlueField-4 next; an I/O-stage block in the GPU eventually</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50" b="1" dirty="0">
                          <a:solidFill>
                            <a:schemeClr val="tx1"/>
                          </a:solidFill>
                        </a:rPr>
                        <a:t>3  Observers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Verdict over the hash of one request: risk, flags, expiry, under an anchored key</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A signed verdict the gate requires on consequential actions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Sentry on BlueField-4 as the required witness; an independent observer as the second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2  Provenance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Watermark detector, retrieval, signed registry</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A verdict {registry, digest, exact | tampered | unknown}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Runs beside the vendor's sampler</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50" b="1" dirty="0">
                          <a:solidFill>
                            <a:schemeClr val="tx1"/>
                          </a:solidFill>
                        </a:rPr>
                        <a:t>1  Model and runtime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Measured into the workload hash; routed through the switches and egress the governor controls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Nothing. It can sign nothing the gate accepts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The GPU, CUDA and the serving stack, unchanged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0  Silicon root of trust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Fused device secret, anti-rollback counter, extend-only measurement registers, DICE derivation, quote with a fresh nonce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Quotes: the measurement, the key chain, the counter</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GPU confidential-computing attestation and the DPU's root, bound to the governor's own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bl>
          </a:graphicData>
        </a:graphic>
      </p:graphicFrame>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How it meets the model</a:t>
            </a:r>
            <a:endParaRPr lang="en-US" sz="3200" dirty="0"/>
          </a:p>
        </p:txBody>
      </p:sp>
      <p:sp>
        <p:nvSpPr>
          <p:cNvPr id="3" name="card"/>
          <p:cNvSpPr/>
          <p:nvPr/>
        </p:nvSpPr>
        <p:spPr>
          <a:xfrm>
            <a:off x="548640" y="1417320"/>
            <a:ext cx="3393338" cy="1645920"/>
          </a:xfrm>
          <a:prstGeom prst="roundRect">
            <a:avLst>
              <a:gd name="adj" fmla="val 4444"/>
            </a:avLst>
          </a:prstGeom>
          <a:solidFill>
            <a:schemeClr val="bg2"/>
          </a:solidFill>
          <a:ln w="12700">
            <a:solidFill>
              <a:schemeClr val="bg2"/>
            </a:solidFill>
            <a:prstDash val="solid"/>
          </a:ln>
        </p:spPr>
      </p:sp>
      <p:sp>
        <p:nvSpPr>
          <p:cNvPr id="4" name="Text 2"/>
          <p:cNvSpPr txBox="1"/>
          <p:nvPr/>
        </p:nvSpPr>
        <p:spPr>
          <a:xfrm>
            <a:off x="777240" y="1554480"/>
            <a:ext cx="548640" cy="548640"/>
          </a:xfrm>
          <a:prstGeom prst="rect">
            <a:avLst/>
          </a:prstGeom>
          <a:noFill/>
          <a:ln/>
        </p:spPr>
        <p:txBody>
          <a:bodyPr wrap="square" lIns="0" tIns="0" rIns="0" bIns="0" rtlCol="0" anchor="t"/>
          <a:lstStyle/>
          <a:p>
            <a:pPr indent="0" marL="0">
              <a:buNone/>
            </a:pPr>
            <a:r>
              <a:rPr lang="en-US" sz="2800" b="1" dirty="0">
                <a:solidFill>
                  <a:schemeClr val="accent1"/>
                </a:solidFill>
                <a:latin typeface="Georgia" pitchFamily="34" charset="0"/>
                <a:ea typeface="Georgia" pitchFamily="34" charset="-122"/>
                <a:cs typeface="Georgia" pitchFamily="34" charset="-120"/>
              </a:rPr>
              <a:t>1</a:t>
            </a:r>
            <a:endParaRPr lang="en-US" sz="2800" dirty="0"/>
          </a:p>
        </p:txBody>
      </p:sp>
      <p:sp>
        <p:nvSpPr>
          <p:cNvPr id="5" name="Text 3"/>
          <p:cNvSpPr txBox="1"/>
          <p:nvPr/>
        </p:nvSpPr>
        <p:spPr>
          <a:xfrm>
            <a:off x="1371600" y="1581912"/>
            <a:ext cx="2341778" cy="640080"/>
          </a:xfrm>
          <a:prstGeom prst="rect">
            <a:avLst/>
          </a:prstGeom>
          <a:noFill/>
          <a:ln/>
        </p:spPr>
        <p:txBody>
          <a:bodyPr wrap="square" lIns="0" tIns="0" rIns="0" bIns="0" rtlCol="0" anchor="t"/>
          <a:lstStyle/>
          <a:p>
            <a:pPr indent="0" marL="0">
              <a:buNone/>
            </a:pPr>
            <a:r>
              <a:rPr lang="en-US" sz="1600" b="1" dirty="0">
                <a:solidFill>
                  <a:schemeClr val="tx1"/>
                </a:solidFill>
              </a:rPr>
              <a:t>The model thinks</a:t>
            </a:r>
            <a:endParaRPr lang="en-US" sz="1600" dirty="0"/>
          </a:p>
        </p:txBody>
      </p:sp>
      <p:sp>
        <p:nvSpPr>
          <p:cNvPr id="6" name="Text 4"/>
          <p:cNvSpPr txBox="1"/>
          <p:nvPr/>
        </p:nvSpPr>
        <p:spPr>
          <a:xfrm>
            <a:off x="1371600" y="2258568"/>
            <a:ext cx="2341778" cy="777240"/>
          </a:xfrm>
          <a:prstGeom prst="rect">
            <a:avLst/>
          </a:prstGeom>
          <a:noFill/>
          <a:ln/>
        </p:spPr>
        <p:txBody>
          <a:bodyPr wrap="square" lIns="0" tIns="0" rIns="0" bIns="0" rtlCol="0" anchor="t"/>
          <a:lstStyle/>
          <a:p>
            <a:pPr indent="0" marL="0">
              <a:buNone/>
            </a:pPr>
            <a:r>
              <a:rPr lang="en-US" sz="1250" dirty="0">
                <a:solidFill>
                  <a:schemeClr val="tx1"/>
                </a:solidFill>
              </a:rPr>
              <a:t>Token ids in, numbers out. No authority here and none needed.</a:t>
            </a:r>
            <a:endParaRPr lang="en-US" sz="1250" dirty="0"/>
          </a:p>
        </p:txBody>
      </p:sp>
      <p:sp>
        <p:nvSpPr>
          <p:cNvPr id="7" name="arrow"/>
          <p:cNvSpPr/>
          <p:nvPr/>
        </p:nvSpPr>
        <p:spPr>
          <a:xfrm>
            <a:off x="4015130" y="2240280"/>
            <a:ext cx="310896" cy="0"/>
          </a:xfrm>
          <a:prstGeom prst="line">
            <a:avLst/>
          </a:prstGeom>
          <a:noFill/>
          <a:ln w="31750">
            <a:solidFill>
              <a:srgbClr val="2F5D62"/>
            </a:solidFill>
            <a:prstDash val="solid"/>
            <a:tailEnd type="triangle"/>
          </a:ln>
        </p:spPr>
      </p:sp>
      <p:sp>
        <p:nvSpPr>
          <p:cNvPr id="8" name="card"/>
          <p:cNvSpPr/>
          <p:nvPr/>
        </p:nvSpPr>
        <p:spPr>
          <a:xfrm>
            <a:off x="4399178" y="1417320"/>
            <a:ext cx="3393338" cy="1645920"/>
          </a:xfrm>
          <a:prstGeom prst="roundRect">
            <a:avLst>
              <a:gd name="adj" fmla="val 4444"/>
            </a:avLst>
          </a:prstGeom>
          <a:solidFill>
            <a:schemeClr val="bg2"/>
          </a:solidFill>
          <a:ln w="12700">
            <a:solidFill>
              <a:schemeClr val="bg2"/>
            </a:solidFill>
            <a:prstDash val="solid"/>
          </a:ln>
        </p:spPr>
      </p:sp>
      <p:sp>
        <p:nvSpPr>
          <p:cNvPr id="9" name="Text 7"/>
          <p:cNvSpPr txBox="1"/>
          <p:nvPr/>
        </p:nvSpPr>
        <p:spPr>
          <a:xfrm>
            <a:off x="4627778" y="1554480"/>
            <a:ext cx="548640" cy="548640"/>
          </a:xfrm>
          <a:prstGeom prst="rect">
            <a:avLst/>
          </a:prstGeom>
          <a:noFill/>
          <a:ln/>
        </p:spPr>
        <p:txBody>
          <a:bodyPr wrap="square" lIns="0" tIns="0" rIns="0" bIns="0" rtlCol="0" anchor="t"/>
          <a:lstStyle/>
          <a:p>
            <a:pPr indent="0" marL="0">
              <a:buNone/>
            </a:pPr>
            <a:r>
              <a:rPr lang="en-US" sz="2800" b="1" dirty="0">
                <a:solidFill>
                  <a:schemeClr val="accent1"/>
                </a:solidFill>
                <a:latin typeface="Georgia" pitchFamily="34" charset="0"/>
                <a:ea typeface="Georgia" pitchFamily="34" charset="-122"/>
                <a:cs typeface="Georgia" pitchFamily="34" charset="-120"/>
              </a:rPr>
              <a:t>2</a:t>
            </a:r>
            <a:endParaRPr lang="en-US" sz="2800" dirty="0"/>
          </a:p>
        </p:txBody>
      </p:sp>
      <p:sp>
        <p:nvSpPr>
          <p:cNvPr id="10" name="Text 8"/>
          <p:cNvSpPr txBox="1"/>
          <p:nvPr/>
        </p:nvSpPr>
        <p:spPr>
          <a:xfrm>
            <a:off x="5222138" y="1581912"/>
            <a:ext cx="2341778" cy="640080"/>
          </a:xfrm>
          <a:prstGeom prst="rect">
            <a:avLst/>
          </a:prstGeom>
          <a:noFill/>
          <a:ln/>
        </p:spPr>
        <p:txBody>
          <a:bodyPr wrap="square" lIns="0" tIns="0" rIns="0" bIns="0" rtlCol="0" anchor="t"/>
          <a:lstStyle/>
          <a:p>
            <a:pPr indent="0" marL="0">
              <a:buNone/>
            </a:pPr>
            <a:r>
              <a:rPr lang="en-US" sz="1600" b="1" dirty="0">
                <a:solidFill>
                  <a:schemeClr val="tx1"/>
                </a:solidFill>
              </a:rPr>
              <a:t>The runtime asks</a:t>
            </a:r>
            <a:endParaRPr lang="en-US" sz="1600" dirty="0"/>
          </a:p>
        </p:txBody>
      </p:sp>
      <p:sp>
        <p:nvSpPr>
          <p:cNvPr id="11" name="Text 9"/>
          <p:cNvSpPr txBox="1"/>
          <p:nvPr/>
        </p:nvSpPr>
        <p:spPr>
          <a:xfrm>
            <a:off x="5222138" y="2258568"/>
            <a:ext cx="2341778" cy="777240"/>
          </a:xfrm>
          <a:prstGeom prst="rect">
            <a:avLst/>
          </a:prstGeom>
          <a:noFill/>
          <a:ln/>
        </p:spPr>
        <p:txBody>
          <a:bodyPr wrap="square" lIns="0" tIns="0" rIns="0" bIns="0" rtlCol="0" anchor="t"/>
          <a:lstStyle/>
          <a:p>
            <a:pPr indent="0" marL="0">
              <a:buNone/>
            </a:pPr>
            <a:r>
              <a:rPr lang="en-US" sz="1250" dirty="0">
                <a:solidFill>
                  <a:schemeClr val="tx1"/>
                </a:solidFill>
              </a:rPr>
              <a:t>It turns the output into a typed request: the action and its fields.</a:t>
            </a:r>
            <a:endParaRPr lang="en-US" sz="1250" dirty="0"/>
          </a:p>
        </p:txBody>
      </p:sp>
      <p:sp>
        <p:nvSpPr>
          <p:cNvPr id="12" name="arrow"/>
          <p:cNvSpPr/>
          <p:nvPr/>
        </p:nvSpPr>
        <p:spPr>
          <a:xfrm>
            <a:off x="7865669" y="2240280"/>
            <a:ext cx="310896" cy="0"/>
          </a:xfrm>
          <a:prstGeom prst="line">
            <a:avLst/>
          </a:prstGeom>
          <a:noFill/>
          <a:ln w="31750">
            <a:solidFill>
              <a:srgbClr val="2F5D62"/>
            </a:solidFill>
            <a:prstDash val="solid"/>
            <a:tailEnd type="triangle"/>
          </a:ln>
        </p:spPr>
      </p:sp>
      <p:sp>
        <p:nvSpPr>
          <p:cNvPr id="13" name="card"/>
          <p:cNvSpPr/>
          <p:nvPr/>
        </p:nvSpPr>
        <p:spPr>
          <a:xfrm>
            <a:off x="8249717" y="1417320"/>
            <a:ext cx="3393338" cy="1645920"/>
          </a:xfrm>
          <a:prstGeom prst="roundRect">
            <a:avLst>
              <a:gd name="adj" fmla="val 4444"/>
            </a:avLst>
          </a:prstGeom>
          <a:solidFill>
            <a:schemeClr val="tx2"/>
          </a:solidFill>
          <a:ln w="12700">
            <a:solidFill>
              <a:schemeClr val="tx2"/>
            </a:solidFill>
            <a:prstDash val="solid"/>
          </a:ln>
        </p:spPr>
      </p:sp>
      <p:sp>
        <p:nvSpPr>
          <p:cNvPr id="14" name="Text 12"/>
          <p:cNvSpPr txBox="1"/>
          <p:nvPr/>
        </p:nvSpPr>
        <p:spPr>
          <a:xfrm>
            <a:off x="8478317" y="1554480"/>
            <a:ext cx="548640" cy="548640"/>
          </a:xfrm>
          <a:prstGeom prst="rect">
            <a:avLst/>
          </a:prstGeom>
          <a:noFill/>
          <a:ln/>
        </p:spPr>
        <p:txBody>
          <a:bodyPr wrap="square" lIns="0" tIns="0" rIns="0" bIns="0" rtlCol="0" anchor="t"/>
          <a:lstStyle/>
          <a:p>
            <a:pPr indent="0" marL="0">
              <a:buNone/>
            </a:pPr>
            <a:r>
              <a:rPr lang="en-US" sz="2800" b="1" dirty="0">
                <a:solidFill>
                  <a:schemeClr val="accent6"/>
                </a:solidFill>
                <a:latin typeface="Georgia" pitchFamily="34" charset="0"/>
                <a:ea typeface="Georgia" pitchFamily="34" charset="-122"/>
                <a:cs typeface="Georgia" pitchFamily="34" charset="-120"/>
              </a:rPr>
              <a:t>3</a:t>
            </a:r>
            <a:endParaRPr lang="en-US" sz="2800" dirty="0"/>
          </a:p>
        </p:txBody>
      </p:sp>
      <p:sp>
        <p:nvSpPr>
          <p:cNvPr id="15" name="Text 13"/>
          <p:cNvSpPr txBox="1"/>
          <p:nvPr/>
        </p:nvSpPr>
        <p:spPr>
          <a:xfrm>
            <a:off x="9072677" y="1581912"/>
            <a:ext cx="2341778" cy="640080"/>
          </a:xfrm>
          <a:prstGeom prst="rect">
            <a:avLst/>
          </a:prstGeom>
          <a:noFill/>
          <a:ln/>
        </p:spPr>
        <p:txBody>
          <a:bodyPr wrap="square" lIns="0" tIns="0" rIns="0" bIns="0" rtlCol="0" anchor="t"/>
          <a:lstStyle/>
          <a:p>
            <a:pPr indent="0" marL="0">
              <a:buNone/>
            </a:pPr>
            <a:r>
              <a:rPr lang="en-US" sz="1600" b="1" dirty="0">
                <a:solidFill>
                  <a:schemeClr val="bg1"/>
                </a:solidFill>
              </a:rPr>
              <a:t>The governor checks four things</a:t>
            </a:r>
            <a:endParaRPr lang="en-US" sz="1600" dirty="0"/>
          </a:p>
        </p:txBody>
      </p:sp>
      <p:sp>
        <p:nvSpPr>
          <p:cNvPr id="16" name="Text 14"/>
          <p:cNvSpPr txBox="1"/>
          <p:nvPr/>
        </p:nvSpPr>
        <p:spPr>
          <a:xfrm>
            <a:off x="9072677" y="2258568"/>
            <a:ext cx="2341778" cy="777240"/>
          </a:xfrm>
          <a:prstGeom prst="rect">
            <a:avLst/>
          </a:prstGeom>
          <a:noFill/>
          <a:ln/>
        </p:spPr>
        <p:txBody>
          <a:bodyPr wrap="square" lIns="0" tIns="0" rIns="0" bIns="0" rtlCol="0" anchor="t"/>
          <a:lstStyle/>
          <a:p>
            <a:pPr indent="0" marL="0">
              <a:buNone/>
            </a:pPr>
            <a:r>
              <a:rPr lang="en-US" sz="1250" dirty="0">
                <a:solidFill>
                  <a:schemeClr val="bg1"/>
                </a:solidFill>
              </a:rPr>
              <a:t>Who is asking. Is there a rule. Do the witnesses agree. Is the budget intact.</a:t>
            </a:r>
            <a:endParaRPr lang="en-US" sz="1250" dirty="0"/>
          </a:p>
        </p:txBody>
      </p:sp>
      <p:sp>
        <p:nvSpPr>
          <p:cNvPr id="17" name="card"/>
          <p:cNvSpPr/>
          <p:nvPr/>
        </p:nvSpPr>
        <p:spPr>
          <a:xfrm>
            <a:off x="548640" y="3520440"/>
            <a:ext cx="3393338" cy="1645920"/>
          </a:xfrm>
          <a:prstGeom prst="roundRect">
            <a:avLst>
              <a:gd name="adj" fmla="val 4444"/>
            </a:avLst>
          </a:prstGeom>
          <a:solidFill>
            <a:schemeClr val="tx2"/>
          </a:solidFill>
          <a:ln w="12700">
            <a:solidFill>
              <a:schemeClr val="tx2"/>
            </a:solidFill>
            <a:prstDash val="solid"/>
          </a:ln>
        </p:spPr>
      </p:sp>
      <p:sp>
        <p:nvSpPr>
          <p:cNvPr id="18" name="Text 16"/>
          <p:cNvSpPr txBox="1"/>
          <p:nvPr/>
        </p:nvSpPr>
        <p:spPr>
          <a:xfrm>
            <a:off x="777240" y="3657600"/>
            <a:ext cx="548640" cy="548640"/>
          </a:xfrm>
          <a:prstGeom prst="rect">
            <a:avLst/>
          </a:prstGeom>
          <a:noFill/>
          <a:ln/>
        </p:spPr>
        <p:txBody>
          <a:bodyPr wrap="square" lIns="0" tIns="0" rIns="0" bIns="0" rtlCol="0" anchor="t"/>
          <a:lstStyle/>
          <a:p>
            <a:pPr indent="0" marL="0">
              <a:buNone/>
            </a:pPr>
            <a:r>
              <a:rPr lang="en-US" sz="2800" b="1" dirty="0">
                <a:solidFill>
                  <a:schemeClr val="accent6"/>
                </a:solidFill>
                <a:latin typeface="Georgia" pitchFamily="34" charset="0"/>
                <a:ea typeface="Georgia" pitchFamily="34" charset="-122"/>
                <a:cs typeface="Georgia" pitchFamily="34" charset="-120"/>
              </a:rPr>
              <a:t>4</a:t>
            </a:r>
            <a:endParaRPr lang="en-US" sz="2800" dirty="0"/>
          </a:p>
        </p:txBody>
      </p:sp>
      <p:sp>
        <p:nvSpPr>
          <p:cNvPr id="19" name="Text 17"/>
          <p:cNvSpPr txBox="1"/>
          <p:nvPr/>
        </p:nvSpPr>
        <p:spPr>
          <a:xfrm>
            <a:off x="1371600" y="3685032"/>
            <a:ext cx="2341778" cy="640080"/>
          </a:xfrm>
          <a:prstGeom prst="rect">
            <a:avLst/>
          </a:prstGeom>
          <a:noFill/>
          <a:ln/>
        </p:spPr>
        <p:txBody>
          <a:bodyPr wrap="square" lIns="0" tIns="0" rIns="0" bIns="0" rtlCol="0" anchor="t"/>
          <a:lstStyle/>
          <a:p>
            <a:pPr indent="0" marL="0">
              <a:buNone/>
            </a:pPr>
            <a:r>
              <a:rPr lang="en-US" sz="1600" b="1" dirty="0">
                <a:solidFill>
                  <a:schemeClr val="bg1"/>
                </a:solidFill>
              </a:rPr>
              <a:t>Ticket, hold, or no</a:t>
            </a:r>
            <a:endParaRPr lang="en-US" sz="1600" dirty="0"/>
          </a:p>
        </p:txBody>
      </p:sp>
      <p:sp>
        <p:nvSpPr>
          <p:cNvPr id="20" name="Text 18"/>
          <p:cNvSpPr txBox="1"/>
          <p:nvPr/>
        </p:nvSpPr>
        <p:spPr>
          <a:xfrm>
            <a:off x="1371600" y="4361688"/>
            <a:ext cx="2341778" cy="777240"/>
          </a:xfrm>
          <a:prstGeom prst="rect">
            <a:avLst/>
          </a:prstGeom>
          <a:noFill/>
          <a:ln/>
        </p:spPr>
        <p:txBody>
          <a:bodyPr wrap="square" lIns="0" tIns="0" rIns="0" bIns="0" rtlCol="0" anchor="t"/>
          <a:lstStyle/>
          <a:p>
            <a:pPr indent="0" marL="0">
              <a:buNone/>
            </a:pPr>
            <a:r>
              <a:rPr lang="en-US" sz="1250" dirty="0">
                <a:solidFill>
                  <a:schemeClr val="bg1"/>
                </a:solidFill>
              </a:rPr>
              <a:t>A ticket bound to the exact fields, one use, short life. Or a hold for a human. Or a refusal, logged.</a:t>
            </a:r>
            <a:endParaRPr lang="en-US" sz="1250" dirty="0"/>
          </a:p>
        </p:txBody>
      </p:sp>
      <p:sp>
        <p:nvSpPr>
          <p:cNvPr id="21" name="arrow"/>
          <p:cNvSpPr/>
          <p:nvPr/>
        </p:nvSpPr>
        <p:spPr>
          <a:xfrm>
            <a:off x="4015130" y="4343400"/>
            <a:ext cx="310896" cy="0"/>
          </a:xfrm>
          <a:prstGeom prst="line">
            <a:avLst/>
          </a:prstGeom>
          <a:noFill/>
          <a:ln w="31750">
            <a:solidFill>
              <a:srgbClr val="2F5D62"/>
            </a:solidFill>
            <a:prstDash val="solid"/>
            <a:tailEnd type="triangle"/>
          </a:ln>
        </p:spPr>
      </p:sp>
      <p:sp>
        <p:nvSpPr>
          <p:cNvPr id="22" name="card"/>
          <p:cNvSpPr/>
          <p:nvPr/>
        </p:nvSpPr>
        <p:spPr>
          <a:xfrm>
            <a:off x="4399178" y="3520440"/>
            <a:ext cx="3393338" cy="1645920"/>
          </a:xfrm>
          <a:prstGeom prst="roundRect">
            <a:avLst>
              <a:gd name="adj" fmla="val 4444"/>
            </a:avLst>
          </a:prstGeom>
          <a:solidFill>
            <a:schemeClr val="accent1"/>
          </a:solidFill>
          <a:ln w="12700">
            <a:solidFill>
              <a:schemeClr val="accent1"/>
            </a:solidFill>
            <a:prstDash val="solid"/>
          </a:ln>
        </p:spPr>
      </p:sp>
      <p:sp>
        <p:nvSpPr>
          <p:cNvPr id="23" name="Text 21"/>
          <p:cNvSpPr txBox="1"/>
          <p:nvPr/>
        </p:nvSpPr>
        <p:spPr>
          <a:xfrm>
            <a:off x="4627778" y="3657600"/>
            <a:ext cx="548640" cy="548640"/>
          </a:xfrm>
          <a:prstGeom prst="rect">
            <a:avLst/>
          </a:prstGeom>
          <a:noFill/>
          <a:ln/>
        </p:spPr>
        <p:txBody>
          <a:bodyPr wrap="square" lIns="0" tIns="0" rIns="0" bIns="0" rtlCol="0" anchor="t"/>
          <a:lstStyle/>
          <a:p>
            <a:pPr indent="0" marL="0">
              <a:buNone/>
            </a:pPr>
            <a:r>
              <a:rPr lang="en-US" sz="2800" b="1" dirty="0">
                <a:solidFill>
                  <a:schemeClr val="accent6"/>
                </a:solidFill>
                <a:latin typeface="Georgia" pitchFamily="34" charset="0"/>
                <a:ea typeface="Georgia" pitchFamily="34" charset="-122"/>
                <a:cs typeface="Georgia" pitchFamily="34" charset="-120"/>
              </a:rPr>
              <a:t>5</a:t>
            </a:r>
            <a:endParaRPr lang="en-US" sz="2800" dirty="0"/>
          </a:p>
        </p:txBody>
      </p:sp>
      <p:sp>
        <p:nvSpPr>
          <p:cNvPr id="24" name="Text 22"/>
          <p:cNvSpPr txBox="1"/>
          <p:nvPr/>
        </p:nvSpPr>
        <p:spPr>
          <a:xfrm>
            <a:off x="5222138" y="3685032"/>
            <a:ext cx="2341778" cy="640080"/>
          </a:xfrm>
          <a:prstGeom prst="rect">
            <a:avLst/>
          </a:prstGeom>
          <a:noFill/>
          <a:ln/>
        </p:spPr>
        <p:txBody>
          <a:bodyPr wrap="square" lIns="0" tIns="0" rIns="0" bIns="0" rtlCol="0" anchor="t"/>
          <a:lstStyle/>
          <a:p>
            <a:pPr indent="0" marL="0">
              <a:buNone/>
            </a:pPr>
            <a:r>
              <a:rPr lang="en-US" sz="1600" b="1" dirty="0">
                <a:solidFill>
                  <a:schemeClr val="bg1"/>
                </a:solidFill>
              </a:rPr>
              <a:t>The device checks the ticket</a:t>
            </a:r>
            <a:endParaRPr lang="en-US" sz="1600" dirty="0"/>
          </a:p>
        </p:txBody>
      </p:sp>
      <p:sp>
        <p:nvSpPr>
          <p:cNvPr id="25" name="Text 23"/>
          <p:cNvSpPr txBox="1"/>
          <p:nvPr/>
        </p:nvSpPr>
        <p:spPr>
          <a:xfrm>
            <a:off x="5222138" y="4361688"/>
            <a:ext cx="2341778" cy="777240"/>
          </a:xfrm>
          <a:prstGeom prst="rect">
            <a:avLst/>
          </a:prstGeom>
          <a:noFill/>
          <a:ln/>
        </p:spPr>
        <p:txBody>
          <a:bodyPr wrap="square" lIns="0" tIns="0" rIns="0" bIns="0" rtlCol="0" anchor="t"/>
          <a:lstStyle/>
          <a:p>
            <a:pPr indent="0" marL="0">
              <a:buNone/>
            </a:pPr>
            <a:r>
              <a:rPr lang="en-US" sz="1250" dirty="0">
                <a:solidFill>
                  <a:schemeClr val="bg1"/>
                </a:solidFill>
              </a:rPr>
              <a:t>Against what it measures itself. A changed amount or target breaks the match.</a:t>
            </a:r>
            <a:endParaRPr lang="en-US" sz="1250" dirty="0"/>
          </a:p>
        </p:txBody>
      </p:sp>
      <p:sp>
        <p:nvSpPr>
          <p:cNvPr id="26" name="arrow"/>
          <p:cNvSpPr/>
          <p:nvPr/>
        </p:nvSpPr>
        <p:spPr>
          <a:xfrm>
            <a:off x="7865669" y="4343400"/>
            <a:ext cx="310896" cy="0"/>
          </a:xfrm>
          <a:prstGeom prst="line">
            <a:avLst/>
          </a:prstGeom>
          <a:noFill/>
          <a:ln w="31750">
            <a:solidFill>
              <a:srgbClr val="2F5D62"/>
            </a:solidFill>
            <a:prstDash val="solid"/>
            <a:tailEnd type="triangle"/>
          </a:ln>
        </p:spPr>
      </p:sp>
      <p:sp>
        <p:nvSpPr>
          <p:cNvPr id="27" name="card"/>
          <p:cNvSpPr/>
          <p:nvPr/>
        </p:nvSpPr>
        <p:spPr>
          <a:xfrm>
            <a:off x="8249717" y="3520440"/>
            <a:ext cx="3393338" cy="1645920"/>
          </a:xfrm>
          <a:prstGeom prst="roundRect">
            <a:avLst>
              <a:gd name="adj" fmla="val 4444"/>
            </a:avLst>
          </a:prstGeom>
          <a:solidFill>
            <a:schemeClr val="accent1"/>
          </a:solidFill>
          <a:ln w="12700">
            <a:solidFill>
              <a:schemeClr val="accent1"/>
            </a:solidFill>
            <a:prstDash val="solid"/>
          </a:ln>
        </p:spPr>
      </p:sp>
      <p:sp>
        <p:nvSpPr>
          <p:cNvPr id="28" name="Text 26"/>
          <p:cNvSpPr txBox="1"/>
          <p:nvPr/>
        </p:nvSpPr>
        <p:spPr>
          <a:xfrm>
            <a:off x="8478317" y="3657600"/>
            <a:ext cx="548640" cy="548640"/>
          </a:xfrm>
          <a:prstGeom prst="rect">
            <a:avLst/>
          </a:prstGeom>
          <a:noFill/>
          <a:ln/>
        </p:spPr>
        <p:txBody>
          <a:bodyPr wrap="square" lIns="0" tIns="0" rIns="0" bIns="0" rtlCol="0" anchor="t"/>
          <a:lstStyle/>
          <a:p>
            <a:pPr indent="0" marL="0">
              <a:buNone/>
            </a:pPr>
            <a:r>
              <a:rPr lang="en-US" sz="2800" b="1" dirty="0">
                <a:solidFill>
                  <a:schemeClr val="accent6"/>
                </a:solidFill>
                <a:latin typeface="Georgia" pitchFamily="34" charset="0"/>
                <a:ea typeface="Georgia" pitchFamily="34" charset="-122"/>
                <a:cs typeface="Georgia" pitchFamily="34" charset="-120"/>
              </a:rPr>
              <a:t>6</a:t>
            </a:r>
            <a:endParaRPr lang="en-US" sz="2800" dirty="0"/>
          </a:p>
        </p:txBody>
      </p:sp>
      <p:sp>
        <p:nvSpPr>
          <p:cNvPr id="29" name="Text 27"/>
          <p:cNvSpPr txBox="1"/>
          <p:nvPr/>
        </p:nvSpPr>
        <p:spPr>
          <a:xfrm>
            <a:off x="9072677" y="3685032"/>
            <a:ext cx="2341778" cy="640080"/>
          </a:xfrm>
          <a:prstGeom prst="rect">
            <a:avLst/>
          </a:prstGeom>
          <a:noFill/>
          <a:ln/>
        </p:spPr>
        <p:txBody>
          <a:bodyPr wrap="square" lIns="0" tIns="0" rIns="0" bIns="0" rtlCol="0" anchor="t"/>
          <a:lstStyle/>
          <a:p>
            <a:pPr indent="0" marL="0">
              <a:buNone/>
            </a:pPr>
            <a:r>
              <a:rPr lang="en-US" sz="1600" b="1" dirty="0">
                <a:solidFill>
                  <a:schemeClr val="bg1"/>
                </a:solidFill>
              </a:rPr>
              <a:t>Act, and record</a:t>
            </a:r>
            <a:endParaRPr lang="en-US" sz="1600" dirty="0"/>
          </a:p>
        </p:txBody>
      </p:sp>
      <p:sp>
        <p:nvSpPr>
          <p:cNvPr id="30" name="Text 28"/>
          <p:cNvSpPr txBox="1"/>
          <p:nvPr/>
        </p:nvSpPr>
        <p:spPr>
          <a:xfrm>
            <a:off x="9072677" y="4361688"/>
            <a:ext cx="2341778" cy="777240"/>
          </a:xfrm>
          <a:prstGeom prst="rect">
            <a:avLst/>
          </a:prstGeom>
          <a:noFill/>
          <a:ln/>
        </p:spPr>
        <p:txBody>
          <a:bodyPr wrap="square" lIns="0" tIns="0" rIns="0" bIns="0" rtlCol="0" anchor="t"/>
          <a:lstStyle/>
          <a:p>
            <a:pPr indent="0" marL="0">
              <a:buNone/>
            </a:pPr>
            <a:r>
              <a:rPr lang="en-US" sz="1250" dirty="0">
                <a:solidFill>
                  <a:schemeClr val="bg1"/>
                </a:solidFill>
              </a:rPr>
              <a:t>The action happens and the record goes into a chain the chip signs.</a:t>
            </a:r>
            <a:endParaRPr lang="en-US" sz="1250" dirty="0"/>
          </a:p>
        </p:txBody>
      </p:sp>
      <p:sp>
        <p:nvSpPr>
          <p:cNvPr id="31" name="turn"/>
          <p:cNvSpPr/>
          <p:nvPr/>
        </p:nvSpPr>
        <p:spPr>
          <a:xfrm>
            <a:off x="9946386" y="3063240"/>
            <a:ext cx="0" cy="228600"/>
          </a:xfrm>
          <a:prstGeom prst="line">
            <a:avLst/>
          </a:prstGeom>
          <a:noFill/>
          <a:ln w="31750">
            <a:solidFill>
              <a:srgbClr val="2F5D62"/>
            </a:solidFill>
            <a:prstDash val="solid"/>
          </a:ln>
        </p:spPr>
      </p:sp>
      <p:sp>
        <p:nvSpPr>
          <p:cNvPr id="32" name="turn"/>
          <p:cNvSpPr/>
          <p:nvPr/>
        </p:nvSpPr>
        <p:spPr>
          <a:xfrm>
            <a:off x="2245309" y="3291840"/>
            <a:ext cx="7701077" cy="0"/>
          </a:xfrm>
          <a:prstGeom prst="line">
            <a:avLst/>
          </a:prstGeom>
          <a:noFill/>
          <a:ln w="31750">
            <a:solidFill>
              <a:srgbClr val="2F5D62"/>
            </a:solidFill>
            <a:prstDash val="solid"/>
          </a:ln>
        </p:spPr>
      </p:sp>
      <p:sp>
        <p:nvSpPr>
          <p:cNvPr id="33" name="arrow"/>
          <p:cNvSpPr/>
          <p:nvPr/>
        </p:nvSpPr>
        <p:spPr>
          <a:xfrm>
            <a:off x="2245309" y="3291840"/>
            <a:ext cx="0" cy="228600"/>
          </a:xfrm>
          <a:prstGeom prst="line">
            <a:avLst/>
          </a:prstGeom>
          <a:noFill/>
          <a:ln w="31750">
            <a:solidFill>
              <a:srgbClr val="2F5D62"/>
            </a:solidFill>
            <a:prstDash val="solid"/>
            <a:tailEnd type="triangle"/>
          </a:ln>
        </p:spPr>
      </p:sp>
      <p:sp>
        <p:nvSpPr>
          <p:cNvPr id="34" name="analogy"/>
          <p:cNvSpPr/>
          <p:nvPr/>
        </p:nvSpPr>
        <p:spPr>
          <a:xfrm>
            <a:off x="548640" y="5303520"/>
            <a:ext cx="11094415" cy="914400"/>
          </a:xfrm>
          <a:prstGeom prst="roundRect">
            <a:avLst>
              <a:gd name="adj" fmla="val 8000"/>
            </a:avLst>
          </a:prstGeom>
          <a:solidFill>
            <a:schemeClr val="tx1"/>
          </a:solidFill>
          <a:ln w="12700">
            <a:solidFill>
              <a:schemeClr val="tx1"/>
            </a:solidFill>
            <a:prstDash val="solid"/>
          </a:ln>
        </p:spPr>
      </p:sp>
      <p:sp>
        <p:nvSpPr>
          <p:cNvPr id="35" name="Text 33"/>
          <p:cNvSpPr txBox="1"/>
          <p:nvPr/>
        </p:nvSpPr>
        <p:spPr>
          <a:xfrm>
            <a:off x="822960" y="5303520"/>
            <a:ext cx="1371600" cy="91440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36" name="Text 34"/>
          <p:cNvSpPr txBox="1"/>
          <p:nvPr/>
        </p:nvSpPr>
        <p:spPr>
          <a:xfrm>
            <a:off x="2286000" y="5303520"/>
            <a:ext cx="9082735" cy="914400"/>
          </a:xfrm>
          <a:prstGeom prst="rect">
            <a:avLst/>
          </a:prstGeom>
          <a:noFill/>
          <a:ln/>
        </p:spPr>
        <p:txBody>
          <a:bodyPr wrap="square" lIns="0" tIns="0" rIns="0" bIns="0" rtlCol="0" anchor="ctr"/>
          <a:lstStyle/>
          <a:p>
            <a:pPr indent="0" marL="0">
              <a:buNone/>
            </a:pPr>
            <a:r>
              <a:rPr lang="en-US" sz="1400" i="1" dirty="0">
                <a:solidFill>
                  <a:schemeClr val="accent6"/>
                </a:solidFill>
              </a:rPr>
              <a:t>A boarding pass. The passenger can say anything at the gate; the agent scans the pass, which names one person, one flight, one seat, and works once. The model can write "pay 40,000" all day; the ticket is the pass, and only the governor can print one.</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flow, technically: every check, every refusal</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00200"/>
                <a:gridCol w="3931920"/>
                <a:gridCol w="3291840"/>
                <a:gridCol w="2267712"/>
              </a:tblGrid>
              <a:tr h="0">
                <a:tc>
                  <a:txBody>
                    <a:bodyPr/>
                    <a:lstStyle/>
                    <a:p>
                      <a:pPr indent="0" marL="0">
                        <a:buNone/>
                      </a:pPr>
                      <a:r>
                        <a:rPr lang="en-US" sz="1150" b="1" dirty="0">
                          <a:solidFill>
                            <a:schemeClr val="bg1"/>
                          </a:solidFill>
                        </a:rPr>
                        <a:t>Step</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What is checked</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Fails with (as the model prints it)</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Backed by</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r>
              <a:tr h="0">
                <a:tc>
                  <a:txBody>
                    <a:bodyPr/>
                    <a:lstStyle/>
                    <a:p>
                      <a:pPr indent="0" marL="0">
                        <a:buNone/>
                      </a:pPr>
                      <a:r>
                        <a:rPr lang="en-US" sz="1150" b="1" dirty="0">
                          <a:solidFill>
                            <a:schemeClr val="tx1"/>
                          </a:solidFill>
                        </a:rPr>
                        <a:t>Mailbox</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Sequence number, then rules edition, then signature; the first failure is reported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a stale or forged frame is refused before the gate sees it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H3 quorum and mailbox tests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Who is asking</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The workload hash (GPU firmware, host firmware, model) and its evaluation attestation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model.not_evaluated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H1 attestation, H18 oversight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50" b="1" dirty="0">
                          <a:solidFill>
                            <a:schemeClr val="tx1"/>
                          </a:solidFill>
                        </a:rPr>
                        <a:t>Is there a rule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Exact rule beats wildcard; typed limits; signed lists for targets and recipients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gate.constraint.target.in_denied_list, endpoint.target_protected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H6 comparator, the strike narration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Do the witnesses agree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Observer verdict from a key in the observer set, fresh, under the risk limit; human quorum on holds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gate.witness_missing, gate.held_for_human, release.hazard_class_not_allowed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H17 use cases, H18 oversight, H8 override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50" b="1" dirty="0">
                          <a:solidFill>
                            <a:schemeClr val="tx1"/>
                          </a:solidFill>
                        </a:rPr>
                        <a:t>Is the budget intact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Compute budget and license, session hazard budget, byte budgets, rate windows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release.session_hazard_budget_exceeded, COMPUTE_BUDGET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H13 shared budget, H18</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The ticket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Signed over the hash of the exact fields; one use; short expiry; bound to one endpoint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ticket.missing, ticket.replay, ticket.bad_signature, ticket.wrong_endpoint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H17: forged, replayed and wrong-hash tickets never deliver</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50" b="1" dirty="0">
                          <a:solidFill>
                            <a:schemeClr val="tx1"/>
                          </a:solidFill>
                        </a:rPr>
                        <a:t>The crossings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Switch ports open only for roster peers; the egress holds responses until released; bytes cross-checked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ep.no_capability, OUTPUT_UNPRESENTED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H2 enforcement points, the plot narration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Where it stands: drawings tested, no silicon yet</a:t>
            </a:r>
            <a:endParaRPr lang="en-US" sz="3200" dirty="0"/>
          </a:p>
        </p:txBody>
      </p:sp>
      <p:sp>
        <p:nvSpPr>
          <p:cNvPr id="3" name="card"/>
          <p:cNvSpPr/>
          <p:nvPr/>
        </p:nvSpPr>
        <p:spPr>
          <a:xfrm>
            <a:off x="548640" y="1417320"/>
            <a:ext cx="3515258" cy="1783080"/>
          </a:xfrm>
          <a:prstGeom prst="roundRect">
            <a:avLst>
              <a:gd name="adj" fmla="val 4103"/>
            </a:avLst>
          </a:prstGeom>
          <a:solidFill>
            <a:schemeClr val="bg2"/>
          </a:solidFill>
          <a:ln w="12700">
            <a:solidFill>
              <a:schemeClr val="bg2"/>
            </a:solidFill>
            <a:prstDash val="solid"/>
          </a:ln>
        </p:spPr>
      </p:sp>
      <p:sp>
        <p:nvSpPr>
          <p:cNvPr id="4" name="Text 2"/>
          <p:cNvSpPr txBox="1"/>
          <p:nvPr/>
        </p:nvSpPr>
        <p:spPr>
          <a:xfrm>
            <a:off x="822960" y="1554480"/>
            <a:ext cx="2966618" cy="822960"/>
          </a:xfrm>
          <a:prstGeom prst="rect">
            <a:avLst/>
          </a:prstGeom>
          <a:noFill/>
          <a:ln/>
        </p:spPr>
        <p:txBody>
          <a:bodyPr wrap="square" lIns="0" tIns="0" rIns="0" bIns="0" rtlCol="0" anchor="ctr"/>
          <a:lstStyle/>
          <a:p>
            <a:pPr indent="0" marL="0">
              <a:buNone/>
            </a:pPr>
            <a:r>
              <a:rPr lang="en-US" sz="4600" b="1" dirty="0">
                <a:solidFill>
                  <a:schemeClr val="accent1"/>
                </a:solidFill>
                <a:latin typeface="Georgia" pitchFamily="34" charset="0"/>
                <a:ea typeface="Georgia" pitchFamily="34" charset="-122"/>
                <a:cs typeface="Georgia" pitchFamily="34" charset="-120"/>
              </a:rPr>
              <a:t>200</a:t>
            </a:r>
            <a:endParaRPr lang="en-US" sz="4600" dirty="0"/>
          </a:p>
        </p:txBody>
      </p:sp>
      <p:sp>
        <p:nvSpPr>
          <p:cNvPr id="5" name="Text 3"/>
          <p:cNvSpPr txBox="1"/>
          <p:nvPr/>
        </p:nvSpPr>
        <p:spPr>
          <a:xfrm>
            <a:off x="822960" y="2423160"/>
            <a:ext cx="2966618" cy="731520"/>
          </a:xfrm>
          <a:prstGeom prst="rect">
            <a:avLst/>
          </a:prstGeom>
          <a:noFill/>
          <a:ln/>
        </p:spPr>
        <p:txBody>
          <a:bodyPr wrap="square" lIns="0" tIns="0" rIns="0" bIns="0" rtlCol="0" anchor="t"/>
          <a:lstStyle/>
          <a:p>
            <a:pPr indent="0" marL="0">
              <a:buNone/>
            </a:pPr>
            <a:r>
              <a:rPr lang="en-US" sz="1250" dirty="0">
                <a:solidFill>
                  <a:schemeClr val="tx1"/>
                </a:solidFill>
              </a:rPr>
              <a:t>hypothesis tests pass in the functional model of the governor and a simulated 72-GPU rack</a:t>
            </a:r>
            <a:endParaRPr lang="en-US" sz="1250" dirty="0"/>
          </a:p>
        </p:txBody>
      </p:sp>
      <p:sp>
        <p:nvSpPr>
          <p:cNvPr id="6" name="card"/>
          <p:cNvSpPr/>
          <p:nvPr/>
        </p:nvSpPr>
        <p:spPr>
          <a:xfrm>
            <a:off x="4338218" y="1417320"/>
            <a:ext cx="3515258" cy="1783080"/>
          </a:xfrm>
          <a:prstGeom prst="roundRect">
            <a:avLst>
              <a:gd name="adj" fmla="val 4103"/>
            </a:avLst>
          </a:prstGeom>
          <a:solidFill>
            <a:schemeClr val="bg2"/>
          </a:solidFill>
          <a:ln w="12700">
            <a:solidFill>
              <a:schemeClr val="bg2"/>
            </a:solidFill>
            <a:prstDash val="solid"/>
          </a:ln>
        </p:spPr>
      </p:sp>
      <p:sp>
        <p:nvSpPr>
          <p:cNvPr id="7" name="Text 5"/>
          <p:cNvSpPr txBox="1"/>
          <p:nvPr/>
        </p:nvSpPr>
        <p:spPr>
          <a:xfrm>
            <a:off x="4612538" y="1554480"/>
            <a:ext cx="2966618" cy="822960"/>
          </a:xfrm>
          <a:prstGeom prst="rect">
            <a:avLst/>
          </a:prstGeom>
          <a:noFill/>
          <a:ln/>
        </p:spPr>
        <p:txBody>
          <a:bodyPr wrap="square" lIns="0" tIns="0" rIns="0" bIns="0" rtlCol="0" anchor="ctr"/>
          <a:lstStyle/>
          <a:p>
            <a:pPr indent="0" marL="0">
              <a:buNone/>
            </a:pPr>
            <a:r>
              <a:rPr lang="en-US" sz="4600" b="1" dirty="0">
                <a:solidFill>
                  <a:schemeClr val="accent1"/>
                </a:solidFill>
                <a:latin typeface="Georgia" pitchFamily="34" charset="0"/>
                <a:ea typeface="Georgia" pitchFamily="34" charset="-122"/>
                <a:cs typeface="Georgia" pitchFamily="34" charset="-120"/>
              </a:rPr>
              <a:t>20</a:t>
            </a:r>
            <a:endParaRPr lang="en-US" sz="4600" dirty="0"/>
          </a:p>
        </p:txBody>
      </p:sp>
      <p:sp>
        <p:nvSpPr>
          <p:cNvPr id="8" name="Text 6"/>
          <p:cNvSpPr txBox="1"/>
          <p:nvPr/>
        </p:nvSpPr>
        <p:spPr>
          <a:xfrm>
            <a:off x="4612538" y="2423160"/>
            <a:ext cx="2966618" cy="731520"/>
          </a:xfrm>
          <a:prstGeom prst="rect">
            <a:avLst/>
          </a:prstGeom>
          <a:noFill/>
          <a:ln/>
        </p:spPr>
        <p:txBody>
          <a:bodyPr wrap="square" lIns="0" tIns="0" rIns="0" bIns="0" rtlCol="0" anchor="t"/>
          <a:lstStyle/>
          <a:p>
            <a:pPr indent="0" marL="0">
              <a:buNone/>
            </a:pPr>
            <a:r>
              <a:rPr lang="en-US" sz="1250" dirty="0">
                <a:solidFill>
                  <a:schemeClr val="tx1"/>
                </a:solidFill>
              </a:rPr>
              <a:t>simulation tests pass on the hard-core RTL blocks, with a flow to the open 130 nm process</a:t>
            </a:r>
            <a:endParaRPr lang="en-US" sz="1250" dirty="0"/>
          </a:p>
        </p:txBody>
      </p:sp>
      <p:sp>
        <p:nvSpPr>
          <p:cNvPr id="9" name="card"/>
          <p:cNvSpPr/>
          <p:nvPr/>
        </p:nvSpPr>
        <p:spPr>
          <a:xfrm>
            <a:off x="8127797" y="1417320"/>
            <a:ext cx="3515258" cy="1783080"/>
          </a:xfrm>
          <a:prstGeom prst="roundRect">
            <a:avLst>
              <a:gd name="adj" fmla="val 4103"/>
            </a:avLst>
          </a:prstGeom>
          <a:solidFill>
            <a:schemeClr val="bg2"/>
          </a:solidFill>
          <a:ln w="12700">
            <a:solidFill>
              <a:schemeClr val="bg2"/>
            </a:solidFill>
            <a:prstDash val="solid"/>
          </a:ln>
        </p:spPr>
      </p:sp>
      <p:sp>
        <p:nvSpPr>
          <p:cNvPr id="10" name="Text 8"/>
          <p:cNvSpPr txBox="1"/>
          <p:nvPr/>
        </p:nvSpPr>
        <p:spPr>
          <a:xfrm>
            <a:off x="8402117" y="1554480"/>
            <a:ext cx="2966618" cy="822960"/>
          </a:xfrm>
          <a:prstGeom prst="rect">
            <a:avLst/>
          </a:prstGeom>
          <a:noFill/>
          <a:ln/>
        </p:spPr>
        <p:txBody>
          <a:bodyPr wrap="square" lIns="0" tIns="0" rIns="0" bIns="0" rtlCol="0" anchor="ctr"/>
          <a:lstStyle/>
          <a:p>
            <a:pPr indent="0" marL="0">
              <a:buNone/>
            </a:pPr>
            <a:r>
              <a:rPr lang="en-US" sz="4600" b="1" dirty="0">
                <a:solidFill>
                  <a:schemeClr val="accent1"/>
                </a:solidFill>
                <a:latin typeface="Georgia" pitchFamily="34" charset="0"/>
                <a:ea typeface="Georgia" pitchFamily="34" charset="-122"/>
                <a:cs typeface="Georgia" pitchFamily="34" charset="-120"/>
              </a:rPr>
              <a:t>317 µs</a:t>
            </a:r>
            <a:endParaRPr lang="en-US" sz="4600" dirty="0"/>
          </a:p>
        </p:txBody>
      </p:sp>
      <p:sp>
        <p:nvSpPr>
          <p:cNvPr id="11" name="Text 9"/>
          <p:cNvSpPr txBox="1"/>
          <p:nvPr/>
        </p:nvSpPr>
        <p:spPr>
          <a:xfrm>
            <a:off x="8402117" y="2423160"/>
            <a:ext cx="2966618" cy="731520"/>
          </a:xfrm>
          <a:prstGeom prst="rect">
            <a:avLst/>
          </a:prstGeom>
          <a:noFill/>
          <a:ln/>
        </p:spPr>
        <p:txBody>
          <a:bodyPr wrap="square" lIns="0" tIns="0" rIns="0" bIns="0" rtlCol="0" anchor="t"/>
          <a:lstStyle/>
          <a:p>
            <a:pPr indent="0" marL="0">
              <a:buNone/>
            </a:pPr>
            <a:r>
              <a:rPr lang="en-US" sz="1250" dirty="0">
                <a:solidFill>
                  <a:schemeClr val="tx1"/>
                </a:solidFill>
              </a:rPr>
              <a:t>worst case for the halt loop to reach the last of 72 governors, against a 1 ms budget</a:t>
            </a:r>
            <a:endParaRPr lang="en-US" sz="1250" dirty="0"/>
          </a:p>
        </p:txBody>
      </p:sp>
      <p:sp>
        <p:nvSpPr>
          <p:cNvPr id="12" name="card"/>
          <p:cNvSpPr/>
          <p:nvPr/>
        </p:nvSpPr>
        <p:spPr>
          <a:xfrm>
            <a:off x="548640" y="3429000"/>
            <a:ext cx="3515258" cy="1783080"/>
          </a:xfrm>
          <a:prstGeom prst="roundRect">
            <a:avLst>
              <a:gd name="adj" fmla="val 4103"/>
            </a:avLst>
          </a:prstGeom>
          <a:solidFill>
            <a:schemeClr val="bg2"/>
          </a:solidFill>
          <a:ln w="12700">
            <a:solidFill>
              <a:schemeClr val="bg2"/>
            </a:solidFill>
            <a:prstDash val="solid"/>
          </a:ln>
        </p:spPr>
      </p:sp>
      <p:sp>
        <p:nvSpPr>
          <p:cNvPr id="13" name="Text 11"/>
          <p:cNvSpPr txBox="1"/>
          <p:nvPr/>
        </p:nvSpPr>
        <p:spPr>
          <a:xfrm>
            <a:off x="822960" y="3566160"/>
            <a:ext cx="2966618" cy="822960"/>
          </a:xfrm>
          <a:prstGeom prst="rect">
            <a:avLst/>
          </a:prstGeom>
          <a:noFill/>
          <a:ln/>
        </p:spPr>
        <p:txBody>
          <a:bodyPr wrap="square" lIns="0" tIns="0" rIns="0" bIns="0" rtlCol="0" anchor="ctr"/>
          <a:lstStyle/>
          <a:p>
            <a:pPr indent="0" marL="0">
              <a:buNone/>
            </a:pPr>
            <a:r>
              <a:rPr lang="en-US" sz="4600" b="1" dirty="0">
                <a:solidFill>
                  <a:schemeClr val="accent1"/>
                </a:solidFill>
                <a:latin typeface="Georgia" pitchFamily="34" charset="0"/>
                <a:ea typeface="Georgia" pitchFamily="34" charset="-122"/>
                <a:cs typeface="Georgia" pitchFamily="34" charset="-120"/>
              </a:rPr>
              <a:t>~2 mm²</a:t>
            </a:r>
            <a:endParaRPr lang="en-US" sz="4600" dirty="0"/>
          </a:p>
        </p:txBody>
      </p:sp>
      <p:sp>
        <p:nvSpPr>
          <p:cNvPr id="14" name="Text 12"/>
          <p:cNvSpPr txBox="1"/>
          <p:nvPr/>
        </p:nvSpPr>
        <p:spPr>
          <a:xfrm>
            <a:off x="822960" y="4434840"/>
            <a:ext cx="2966618" cy="731520"/>
          </a:xfrm>
          <a:prstGeom prst="rect">
            <a:avLst/>
          </a:prstGeom>
          <a:noFill/>
          <a:ln/>
        </p:spPr>
        <p:txBody>
          <a:bodyPr wrap="square" lIns="0" tIns="0" rIns="0" bIns="0" rtlCol="0" anchor="t"/>
          <a:lstStyle/>
          <a:p>
            <a:pPr indent="0" marL="0">
              <a:buNone/>
            </a:pPr>
            <a:r>
              <a:rPr lang="en-US" sz="1250" dirty="0">
                <a:solidFill>
                  <a:schemeClr val="tx1"/>
                </a:solidFill>
              </a:rPr>
              <a:t>of core logic for the governor as configured in the prototype</a:t>
            </a:r>
            <a:endParaRPr lang="en-US" sz="1250" dirty="0"/>
          </a:p>
        </p:txBody>
      </p:sp>
      <p:sp>
        <p:nvSpPr>
          <p:cNvPr id="15" name="card"/>
          <p:cNvSpPr/>
          <p:nvPr/>
        </p:nvSpPr>
        <p:spPr>
          <a:xfrm>
            <a:off x="4338218" y="3429000"/>
            <a:ext cx="3515258" cy="1783080"/>
          </a:xfrm>
          <a:prstGeom prst="roundRect">
            <a:avLst>
              <a:gd name="adj" fmla="val 4103"/>
            </a:avLst>
          </a:prstGeom>
          <a:solidFill>
            <a:schemeClr val="bg2"/>
          </a:solidFill>
          <a:ln w="12700">
            <a:solidFill>
              <a:schemeClr val="bg2"/>
            </a:solidFill>
            <a:prstDash val="solid"/>
          </a:ln>
        </p:spPr>
      </p:sp>
      <p:sp>
        <p:nvSpPr>
          <p:cNvPr id="16" name="Text 14"/>
          <p:cNvSpPr txBox="1"/>
          <p:nvPr/>
        </p:nvSpPr>
        <p:spPr>
          <a:xfrm>
            <a:off x="4612538" y="3566160"/>
            <a:ext cx="2966618" cy="822960"/>
          </a:xfrm>
          <a:prstGeom prst="rect">
            <a:avLst/>
          </a:prstGeom>
          <a:noFill/>
          <a:ln/>
        </p:spPr>
        <p:txBody>
          <a:bodyPr wrap="square" lIns="0" tIns="0" rIns="0" bIns="0" rtlCol="0" anchor="ctr"/>
          <a:lstStyle/>
          <a:p>
            <a:pPr indent="0" marL="0">
              <a:buNone/>
            </a:pPr>
            <a:r>
              <a:rPr lang="en-US" sz="4600" b="1" dirty="0">
                <a:solidFill>
                  <a:schemeClr val="accent1"/>
                </a:solidFill>
                <a:latin typeface="Georgia" pitchFamily="34" charset="0"/>
                <a:ea typeface="Georgia" pitchFamily="34" charset="-122"/>
                <a:cs typeface="Georgia" pitchFamily="34" charset="-120"/>
              </a:rPr>
              <a:t>66</a:t>
            </a:r>
            <a:endParaRPr lang="en-US" sz="4600" dirty="0"/>
          </a:p>
        </p:txBody>
      </p:sp>
      <p:sp>
        <p:nvSpPr>
          <p:cNvPr id="17" name="Text 15"/>
          <p:cNvSpPr txBox="1"/>
          <p:nvPr/>
        </p:nvSpPr>
        <p:spPr>
          <a:xfrm>
            <a:off x="4612538" y="4434840"/>
            <a:ext cx="2966618" cy="731520"/>
          </a:xfrm>
          <a:prstGeom prst="rect">
            <a:avLst/>
          </a:prstGeom>
          <a:noFill/>
          <a:ln/>
        </p:spPr>
        <p:txBody>
          <a:bodyPr wrap="square" lIns="0" tIns="0" rIns="0" bIns="0" rtlCol="0" anchor="t"/>
          <a:lstStyle/>
          <a:p>
            <a:pPr indent="0" marL="0">
              <a:buNone/>
            </a:pPr>
            <a:r>
              <a:rPr lang="en-US" sz="1250" dirty="0">
                <a:solidFill>
                  <a:schemeClr val="tx1"/>
                </a:solidFill>
              </a:rPr>
              <a:t>attacks blocked with the predicted reason code in the software reference stack</a:t>
            </a:r>
            <a:endParaRPr lang="en-US" sz="1250" dirty="0"/>
          </a:p>
        </p:txBody>
      </p:sp>
      <p:sp>
        <p:nvSpPr>
          <p:cNvPr id="18" name="card"/>
          <p:cNvSpPr/>
          <p:nvPr/>
        </p:nvSpPr>
        <p:spPr>
          <a:xfrm>
            <a:off x="8127797" y="3429000"/>
            <a:ext cx="3515258" cy="1783080"/>
          </a:xfrm>
          <a:prstGeom prst="roundRect">
            <a:avLst>
              <a:gd name="adj" fmla="val 4103"/>
            </a:avLst>
          </a:prstGeom>
          <a:solidFill>
            <a:schemeClr val="bg2"/>
          </a:solidFill>
          <a:ln w="12700">
            <a:solidFill>
              <a:schemeClr val="bg2"/>
            </a:solidFill>
            <a:prstDash val="solid"/>
          </a:ln>
        </p:spPr>
      </p:sp>
      <p:sp>
        <p:nvSpPr>
          <p:cNvPr id="19" name="Text 17"/>
          <p:cNvSpPr txBox="1"/>
          <p:nvPr/>
        </p:nvSpPr>
        <p:spPr>
          <a:xfrm>
            <a:off x="8402117" y="3566160"/>
            <a:ext cx="2966618" cy="822960"/>
          </a:xfrm>
          <a:prstGeom prst="rect">
            <a:avLst/>
          </a:prstGeom>
          <a:noFill/>
          <a:ln/>
        </p:spPr>
        <p:txBody>
          <a:bodyPr wrap="square" lIns="0" tIns="0" rIns="0" bIns="0" rtlCol="0" anchor="ctr"/>
          <a:lstStyle/>
          <a:p>
            <a:pPr indent="0" marL="0">
              <a:buNone/>
            </a:pPr>
            <a:r>
              <a:rPr lang="en-US" sz="4600" b="1" dirty="0">
                <a:solidFill>
                  <a:schemeClr val="accent1"/>
                </a:solidFill>
                <a:latin typeface="Georgia" pitchFamily="34" charset="0"/>
                <a:ea typeface="Georgia" pitchFamily="34" charset="-122"/>
                <a:cs typeface="Georgia" pitchFamily="34" charset="-120"/>
              </a:rPr>
              <a:t>0</a:t>
            </a:r>
            <a:endParaRPr lang="en-US" sz="4600" dirty="0"/>
          </a:p>
        </p:txBody>
      </p:sp>
      <p:sp>
        <p:nvSpPr>
          <p:cNvPr id="20" name="Text 18"/>
          <p:cNvSpPr txBox="1"/>
          <p:nvPr/>
        </p:nvSpPr>
        <p:spPr>
          <a:xfrm>
            <a:off x="8402117" y="4434840"/>
            <a:ext cx="2966618" cy="731520"/>
          </a:xfrm>
          <a:prstGeom prst="rect">
            <a:avLst/>
          </a:prstGeom>
          <a:noFill/>
          <a:ln/>
        </p:spPr>
        <p:txBody>
          <a:bodyPr wrap="square" lIns="0" tIns="0" rIns="0" bIns="0" rtlCol="0" anchor="t"/>
          <a:lstStyle/>
          <a:p>
            <a:pPr indent="0" marL="0">
              <a:buNone/>
            </a:pPr>
            <a:r>
              <a:rPr lang="en-US" sz="1250" dirty="0">
                <a:solidFill>
                  <a:schemeClr val="tx1"/>
                </a:solidFill>
              </a:rPr>
              <a:t>changes needed in the GPU, in CUDA or on the baseboard at the rack tier</a:t>
            </a:r>
            <a:endParaRPr lang="en-US" sz="1250" dirty="0"/>
          </a:p>
        </p:txBody>
      </p:sp>
      <p:sp>
        <p:nvSpPr>
          <p:cNvPr id="21" name="analogy"/>
          <p:cNvSpPr/>
          <p:nvPr/>
        </p:nvSpPr>
        <p:spPr>
          <a:xfrm>
            <a:off x="548640" y="5486400"/>
            <a:ext cx="11094415" cy="640080"/>
          </a:xfrm>
          <a:prstGeom prst="roundRect">
            <a:avLst>
              <a:gd name="adj" fmla="val 11429"/>
            </a:avLst>
          </a:prstGeom>
          <a:solidFill>
            <a:schemeClr val="tx1"/>
          </a:solidFill>
          <a:ln w="12700">
            <a:solidFill>
              <a:schemeClr val="tx1"/>
            </a:solidFill>
            <a:prstDash val="solid"/>
          </a:ln>
        </p:spPr>
      </p:sp>
      <p:sp>
        <p:nvSpPr>
          <p:cNvPr id="22" name="Text 20"/>
          <p:cNvSpPr txBox="1"/>
          <p:nvPr/>
        </p:nvSpPr>
        <p:spPr>
          <a:xfrm>
            <a:off x="822960" y="5486400"/>
            <a:ext cx="1371600" cy="64008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23" name="Text 21"/>
          <p:cNvSpPr txBox="1"/>
          <p:nvPr/>
        </p:nvSpPr>
        <p:spPr>
          <a:xfrm>
            <a:off x="2286000" y="5486400"/>
            <a:ext cx="9082735" cy="640080"/>
          </a:xfrm>
          <a:prstGeom prst="rect">
            <a:avLst/>
          </a:prstGeom>
          <a:noFill/>
          <a:ln/>
        </p:spPr>
        <p:txBody>
          <a:bodyPr wrap="square" lIns="0" tIns="0" rIns="0" bIns="0" rtlCol="0" anchor="ctr"/>
          <a:lstStyle/>
          <a:p>
            <a:pPr indent="0" marL="0">
              <a:buNone/>
            </a:pPr>
            <a:r>
              <a:rPr lang="en-US" sz="1400" i="1" dirty="0">
                <a:solidFill>
                  <a:schemeClr val="accent6"/>
                </a:solidFill>
              </a:rPr>
              <a:t>Drawings, tested. No bricks laid. The two numbers that decide adoption, the real overhead and the false-halt rate, are still to be measured on hardware.</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challenges, stated plainly</a:t>
            </a:r>
            <a:endParaRPr lang="en-US" sz="3200" dirty="0"/>
          </a:p>
        </p:txBody>
      </p:sp>
      <p:sp>
        <p:nvSpPr>
          <p:cNvPr id="3" name="hop 0"/>
          <p:cNvSpPr/>
          <p:nvPr/>
        </p:nvSpPr>
        <p:spPr>
          <a:xfrm>
            <a:off x="548640" y="1463040"/>
            <a:ext cx="1889699" cy="868680"/>
          </a:xfrm>
          <a:prstGeom prst="roundRect">
            <a:avLst>
              <a:gd name="adj" fmla="val 8421"/>
            </a:avLst>
          </a:prstGeom>
          <a:solidFill>
            <a:schemeClr val="bg2"/>
          </a:solidFill>
          <a:ln w="12700">
            <a:solidFill>
              <a:schemeClr val="bg2"/>
            </a:solidFill>
            <a:prstDash val="solid"/>
          </a:ln>
        </p:spPr>
      </p:sp>
      <p:sp>
        <p:nvSpPr>
          <p:cNvPr id="4" name="Text 2"/>
          <p:cNvSpPr txBox="1"/>
          <p:nvPr/>
        </p:nvSpPr>
        <p:spPr>
          <a:xfrm>
            <a:off x="685800" y="1572768"/>
            <a:ext cx="1615379" cy="320040"/>
          </a:xfrm>
          <a:prstGeom prst="rect">
            <a:avLst/>
          </a:prstGeom>
          <a:noFill/>
          <a:ln/>
        </p:spPr>
        <p:txBody>
          <a:bodyPr wrap="square" lIns="0" tIns="0" rIns="0" bIns="0" rtlCol="0" anchor="t"/>
          <a:lstStyle/>
          <a:p>
            <a:pPr indent="0" marL="0">
              <a:buNone/>
            </a:pPr>
            <a:r>
              <a:rPr lang="en-US" sz="1400" b="1" dirty="0">
                <a:solidFill>
                  <a:schemeClr val="tx1"/>
                </a:solidFill>
              </a:rPr>
              <a:t>The model</a:t>
            </a:r>
            <a:endParaRPr lang="en-US" sz="1400" dirty="0"/>
          </a:p>
        </p:txBody>
      </p:sp>
      <p:sp>
        <p:nvSpPr>
          <p:cNvPr id="5" name="Text 3"/>
          <p:cNvSpPr txBox="1"/>
          <p:nvPr/>
        </p:nvSpPr>
        <p:spPr>
          <a:xfrm>
            <a:off x="685800" y="1901952"/>
            <a:ext cx="1615379" cy="411480"/>
          </a:xfrm>
          <a:prstGeom prst="rect">
            <a:avLst/>
          </a:prstGeom>
          <a:noFill/>
          <a:ln/>
        </p:spPr>
        <p:txBody>
          <a:bodyPr wrap="square" lIns="0" tIns="0" rIns="0" bIns="0" rtlCol="0" anchor="t"/>
          <a:lstStyle/>
          <a:p>
            <a:pPr indent="0" marL="0">
              <a:buNone/>
            </a:pPr>
            <a:r>
              <a:rPr lang="en-US" sz="1100" dirty="0">
                <a:solidFill>
                  <a:schemeClr val="tx1"/>
                </a:solidFill>
              </a:rPr>
              <a:t>no authority needed</a:t>
            </a:r>
            <a:endParaRPr lang="en-US" sz="1100" dirty="0"/>
          </a:p>
        </p:txBody>
      </p:sp>
      <p:sp>
        <p:nvSpPr>
          <p:cNvPr id="6" name="arrow"/>
          <p:cNvSpPr/>
          <p:nvPr/>
        </p:nvSpPr>
        <p:spPr>
          <a:xfrm>
            <a:off x="2493203" y="1897380"/>
            <a:ext cx="301752" cy="0"/>
          </a:xfrm>
          <a:prstGeom prst="line">
            <a:avLst/>
          </a:prstGeom>
          <a:noFill/>
          <a:ln w="25400">
            <a:solidFill>
              <a:srgbClr val="2F5D62"/>
            </a:solidFill>
            <a:prstDash val="solid"/>
            <a:tailEnd type="triangle"/>
          </a:ln>
        </p:spPr>
      </p:sp>
      <p:sp>
        <p:nvSpPr>
          <p:cNvPr id="7" name="hop 1"/>
          <p:cNvSpPr/>
          <p:nvPr/>
        </p:nvSpPr>
        <p:spPr>
          <a:xfrm>
            <a:off x="2849819" y="1463040"/>
            <a:ext cx="1889699" cy="868680"/>
          </a:xfrm>
          <a:prstGeom prst="roundRect">
            <a:avLst>
              <a:gd name="adj" fmla="val 8421"/>
            </a:avLst>
          </a:prstGeom>
          <a:solidFill>
            <a:schemeClr val="bg2"/>
          </a:solidFill>
          <a:ln w="12700">
            <a:solidFill>
              <a:schemeClr val="bg2"/>
            </a:solidFill>
            <a:prstDash val="solid"/>
          </a:ln>
        </p:spPr>
      </p:sp>
      <p:sp>
        <p:nvSpPr>
          <p:cNvPr id="8" name="Text 6"/>
          <p:cNvSpPr txBox="1"/>
          <p:nvPr/>
        </p:nvSpPr>
        <p:spPr>
          <a:xfrm>
            <a:off x="2986979" y="1572768"/>
            <a:ext cx="1615379" cy="320040"/>
          </a:xfrm>
          <a:prstGeom prst="rect">
            <a:avLst/>
          </a:prstGeom>
          <a:noFill/>
          <a:ln/>
        </p:spPr>
        <p:txBody>
          <a:bodyPr wrap="square" lIns="0" tIns="0" rIns="0" bIns="0" rtlCol="0" anchor="t"/>
          <a:lstStyle/>
          <a:p>
            <a:pPr indent="0" marL="0">
              <a:buNone/>
            </a:pPr>
            <a:r>
              <a:rPr lang="en-US" sz="1400" b="1" dirty="0">
                <a:solidFill>
                  <a:schemeClr val="tx1"/>
                </a:solidFill>
              </a:rPr>
              <a:t>The runtime</a:t>
            </a:r>
            <a:endParaRPr lang="en-US" sz="1400" dirty="0"/>
          </a:p>
        </p:txBody>
      </p:sp>
      <p:sp>
        <p:nvSpPr>
          <p:cNvPr id="9" name="Text 7"/>
          <p:cNvSpPr txBox="1"/>
          <p:nvPr/>
        </p:nvSpPr>
        <p:spPr>
          <a:xfrm>
            <a:off x="2986979" y="1901952"/>
            <a:ext cx="1615379" cy="411480"/>
          </a:xfrm>
          <a:prstGeom prst="rect">
            <a:avLst/>
          </a:prstGeom>
          <a:noFill/>
          <a:ln/>
        </p:spPr>
        <p:txBody>
          <a:bodyPr wrap="square" lIns="0" tIns="0" rIns="0" bIns="0" rtlCol="0" anchor="t"/>
          <a:lstStyle/>
          <a:p>
            <a:pPr indent="0" marL="0">
              <a:buNone/>
            </a:pPr>
            <a:r>
              <a:rPr lang="en-US" sz="1100" dirty="0">
                <a:solidFill>
                  <a:schemeClr val="tx1"/>
                </a:solidFill>
              </a:rPr>
              <a:t>asks for a ticket</a:t>
            </a:r>
            <a:endParaRPr lang="en-US" sz="1100" dirty="0"/>
          </a:p>
        </p:txBody>
      </p:sp>
      <p:sp>
        <p:nvSpPr>
          <p:cNvPr id="10" name="arrow"/>
          <p:cNvSpPr/>
          <p:nvPr/>
        </p:nvSpPr>
        <p:spPr>
          <a:xfrm>
            <a:off x="4794382" y="1897380"/>
            <a:ext cx="301752" cy="0"/>
          </a:xfrm>
          <a:prstGeom prst="line">
            <a:avLst/>
          </a:prstGeom>
          <a:noFill/>
          <a:ln w="25400">
            <a:solidFill>
              <a:srgbClr val="2F5D62"/>
            </a:solidFill>
            <a:prstDash val="solid"/>
            <a:tailEnd type="triangle"/>
          </a:ln>
        </p:spPr>
      </p:sp>
      <p:sp>
        <p:nvSpPr>
          <p:cNvPr id="11" name="hop 2"/>
          <p:cNvSpPr/>
          <p:nvPr/>
        </p:nvSpPr>
        <p:spPr>
          <a:xfrm>
            <a:off x="5150998" y="1463040"/>
            <a:ext cx="1889699" cy="868680"/>
          </a:xfrm>
          <a:prstGeom prst="roundRect">
            <a:avLst>
              <a:gd name="adj" fmla="val 8421"/>
            </a:avLst>
          </a:prstGeom>
          <a:solidFill>
            <a:schemeClr val="tx2"/>
          </a:solidFill>
          <a:ln w="12700">
            <a:solidFill>
              <a:schemeClr val="tx2"/>
            </a:solidFill>
            <a:prstDash val="solid"/>
          </a:ln>
        </p:spPr>
      </p:sp>
      <p:sp>
        <p:nvSpPr>
          <p:cNvPr id="12" name="Text 10"/>
          <p:cNvSpPr txBox="1"/>
          <p:nvPr/>
        </p:nvSpPr>
        <p:spPr>
          <a:xfrm>
            <a:off x="5288158" y="1572768"/>
            <a:ext cx="1615379" cy="320040"/>
          </a:xfrm>
          <a:prstGeom prst="rect">
            <a:avLst/>
          </a:prstGeom>
          <a:noFill/>
          <a:ln/>
        </p:spPr>
        <p:txBody>
          <a:bodyPr wrap="square" lIns="0" tIns="0" rIns="0" bIns="0" rtlCol="0" anchor="t"/>
          <a:lstStyle/>
          <a:p>
            <a:pPr indent="0" marL="0">
              <a:buNone/>
            </a:pPr>
            <a:r>
              <a:rPr lang="en-US" sz="1400" b="1" dirty="0">
                <a:solidFill>
                  <a:schemeClr val="bg1"/>
                </a:solidFill>
              </a:rPr>
              <a:t>The governor</a:t>
            </a:r>
            <a:endParaRPr lang="en-US" sz="1400" dirty="0"/>
          </a:p>
        </p:txBody>
      </p:sp>
      <p:sp>
        <p:nvSpPr>
          <p:cNvPr id="13" name="Text 11"/>
          <p:cNvSpPr txBox="1"/>
          <p:nvPr/>
        </p:nvSpPr>
        <p:spPr>
          <a:xfrm>
            <a:off x="5288158" y="1901952"/>
            <a:ext cx="1615379" cy="411480"/>
          </a:xfrm>
          <a:prstGeom prst="rect">
            <a:avLst/>
          </a:prstGeom>
          <a:noFill/>
          <a:ln/>
        </p:spPr>
        <p:txBody>
          <a:bodyPr wrap="square" lIns="0" tIns="0" rIns="0" bIns="0" rtlCol="0" anchor="t"/>
          <a:lstStyle/>
          <a:p>
            <a:pPr indent="0" marL="0">
              <a:buNone/>
            </a:pPr>
            <a:r>
              <a:rPr lang="en-US" sz="1100" dirty="0">
                <a:solidFill>
                  <a:schemeClr val="bg1"/>
                </a:solidFill>
              </a:rPr>
              <a:t>full authority: signs or refuses</a:t>
            </a:r>
            <a:endParaRPr lang="en-US" sz="1100" dirty="0"/>
          </a:p>
        </p:txBody>
      </p:sp>
      <p:sp>
        <p:nvSpPr>
          <p:cNvPr id="14" name="arrow"/>
          <p:cNvSpPr/>
          <p:nvPr/>
        </p:nvSpPr>
        <p:spPr>
          <a:xfrm>
            <a:off x="7095561" y="1897380"/>
            <a:ext cx="301752" cy="0"/>
          </a:xfrm>
          <a:prstGeom prst="line">
            <a:avLst/>
          </a:prstGeom>
          <a:noFill/>
          <a:ln w="25400">
            <a:solidFill>
              <a:srgbClr val="2F5D62"/>
            </a:solidFill>
            <a:prstDash val="solid"/>
            <a:tailEnd type="triangle"/>
          </a:ln>
        </p:spPr>
      </p:sp>
      <p:sp>
        <p:nvSpPr>
          <p:cNvPr id="15" name="hop 3"/>
          <p:cNvSpPr/>
          <p:nvPr/>
        </p:nvSpPr>
        <p:spPr>
          <a:xfrm>
            <a:off x="7452177" y="1463040"/>
            <a:ext cx="1889699" cy="868680"/>
          </a:xfrm>
          <a:prstGeom prst="roundRect">
            <a:avLst>
              <a:gd name="adj" fmla="val 8421"/>
            </a:avLst>
          </a:prstGeom>
          <a:solidFill>
            <a:schemeClr val="accent2"/>
          </a:solidFill>
          <a:ln w="12700">
            <a:solidFill>
              <a:schemeClr val="accent2"/>
            </a:solidFill>
            <a:prstDash val="solid"/>
          </a:ln>
        </p:spPr>
      </p:sp>
      <p:sp>
        <p:nvSpPr>
          <p:cNvPr id="16" name="Text 14"/>
          <p:cNvSpPr txBox="1"/>
          <p:nvPr/>
        </p:nvSpPr>
        <p:spPr>
          <a:xfrm>
            <a:off x="7589337" y="1572768"/>
            <a:ext cx="1615379" cy="320040"/>
          </a:xfrm>
          <a:prstGeom prst="rect">
            <a:avLst/>
          </a:prstGeom>
          <a:noFill/>
          <a:ln/>
        </p:spPr>
        <p:txBody>
          <a:bodyPr wrap="square" lIns="0" tIns="0" rIns="0" bIns="0" rtlCol="0" anchor="t"/>
          <a:lstStyle/>
          <a:p>
            <a:pPr indent="0" marL="0">
              <a:buNone/>
            </a:pPr>
            <a:r>
              <a:rPr lang="en-US" sz="1400" b="1" dirty="0">
                <a:solidFill>
                  <a:schemeClr val="bg1"/>
                </a:solidFill>
              </a:rPr>
              <a:t>The network</a:t>
            </a:r>
            <a:endParaRPr lang="en-US" sz="1400" dirty="0"/>
          </a:p>
        </p:txBody>
      </p:sp>
      <p:sp>
        <p:nvSpPr>
          <p:cNvPr id="17" name="Text 15"/>
          <p:cNvSpPr txBox="1"/>
          <p:nvPr/>
        </p:nvSpPr>
        <p:spPr>
          <a:xfrm>
            <a:off x="7589337" y="1901952"/>
            <a:ext cx="1615379" cy="411480"/>
          </a:xfrm>
          <a:prstGeom prst="rect">
            <a:avLst/>
          </a:prstGeom>
          <a:noFill/>
          <a:ln/>
        </p:spPr>
        <p:txBody>
          <a:bodyPr wrap="square" lIns="0" tIns="0" rIns="0" bIns="0" rtlCol="0" anchor="t"/>
          <a:lstStyle/>
          <a:p>
            <a:pPr indent="0" marL="0">
              <a:buNone/>
            </a:pPr>
            <a:r>
              <a:rPr lang="en-US" sz="1100" dirty="0">
                <a:solidFill>
                  <a:schemeClr val="bg1"/>
                </a:solidFill>
              </a:rPr>
              <a:t>partial: the door, not the conversation</a:t>
            </a:r>
            <a:endParaRPr lang="en-US" sz="1100" dirty="0"/>
          </a:p>
        </p:txBody>
      </p:sp>
      <p:sp>
        <p:nvSpPr>
          <p:cNvPr id="18" name="arrow"/>
          <p:cNvSpPr/>
          <p:nvPr/>
        </p:nvSpPr>
        <p:spPr>
          <a:xfrm>
            <a:off x="9396740" y="1897380"/>
            <a:ext cx="301752" cy="0"/>
          </a:xfrm>
          <a:prstGeom prst="line">
            <a:avLst/>
          </a:prstGeom>
          <a:noFill/>
          <a:ln w="25400">
            <a:solidFill>
              <a:srgbClr val="2F5D62"/>
            </a:solidFill>
            <a:prstDash val="solid"/>
            <a:tailEnd type="triangle"/>
          </a:ln>
        </p:spPr>
      </p:sp>
      <p:sp>
        <p:nvSpPr>
          <p:cNvPr id="19" name="hop 4"/>
          <p:cNvSpPr/>
          <p:nvPr/>
        </p:nvSpPr>
        <p:spPr>
          <a:xfrm>
            <a:off x="9753356" y="1463040"/>
            <a:ext cx="1889699" cy="868680"/>
          </a:xfrm>
          <a:prstGeom prst="roundRect">
            <a:avLst>
              <a:gd name="adj" fmla="val 8421"/>
            </a:avLst>
          </a:prstGeom>
          <a:solidFill>
            <a:srgbClr val="FFFFFF"/>
          </a:solidFill>
          <a:ln w="19050">
            <a:solidFill>
              <a:schemeClr val="accent4"/>
            </a:solidFill>
            <a:prstDash val="solid"/>
          </a:ln>
        </p:spPr>
      </p:sp>
      <p:sp>
        <p:nvSpPr>
          <p:cNvPr id="20" name="Text 18"/>
          <p:cNvSpPr txBox="1"/>
          <p:nvPr/>
        </p:nvSpPr>
        <p:spPr>
          <a:xfrm>
            <a:off x="9890516" y="1572768"/>
            <a:ext cx="1615379" cy="320040"/>
          </a:xfrm>
          <a:prstGeom prst="rect">
            <a:avLst/>
          </a:prstGeom>
          <a:noFill/>
          <a:ln/>
        </p:spPr>
        <p:txBody>
          <a:bodyPr wrap="square" lIns="0" tIns="0" rIns="0" bIns="0" rtlCol="0" anchor="t"/>
          <a:lstStyle/>
          <a:p>
            <a:pPr indent="0" marL="0">
              <a:buNone/>
            </a:pPr>
            <a:r>
              <a:rPr lang="en-US" sz="1400" b="1" dirty="0">
                <a:solidFill>
                  <a:schemeClr val="tx1"/>
                </a:solidFill>
              </a:rPr>
              <a:t>The bank</a:t>
            </a:r>
            <a:endParaRPr lang="en-US" sz="1400" dirty="0"/>
          </a:p>
        </p:txBody>
      </p:sp>
      <p:sp>
        <p:nvSpPr>
          <p:cNvPr id="21" name="Text 19"/>
          <p:cNvSpPr txBox="1"/>
          <p:nvPr/>
        </p:nvSpPr>
        <p:spPr>
          <a:xfrm>
            <a:off x="9890516" y="1901952"/>
            <a:ext cx="1615379" cy="411480"/>
          </a:xfrm>
          <a:prstGeom prst="rect">
            <a:avLst/>
          </a:prstGeom>
          <a:noFill/>
          <a:ln/>
        </p:spPr>
        <p:txBody>
          <a:bodyPr wrap="square" lIns="0" tIns="0" rIns="0" bIns="0" rtlCol="0" anchor="t"/>
          <a:lstStyle/>
          <a:p>
            <a:pPr indent="0" marL="0">
              <a:buNone/>
            </a:pPr>
            <a:r>
              <a:rPr lang="en-US" sz="1100" dirty="0">
                <a:solidFill>
                  <a:schemeClr val="tx1"/>
                </a:solidFill>
              </a:rPr>
              <a:t>none, unless it checks the stamp</a:t>
            </a:r>
            <a:endParaRPr lang="en-US" sz="1100" dirty="0"/>
          </a:p>
        </p:txBody>
      </p:sp>
      <p:sp>
        <p:nvSpPr>
          <p:cNvPr id="22" name="Text 20"/>
          <p:cNvSpPr txBox="1"/>
          <p:nvPr/>
        </p:nvSpPr>
        <p:spPr>
          <a:xfrm>
            <a:off x="548640" y="2441448"/>
            <a:ext cx="11094415" cy="365760"/>
          </a:xfrm>
          <a:prstGeom prst="rect">
            <a:avLst/>
          </a:prstGeom>
          <a:noFill/>
          <a:ln/>
        </p:spPr>
        <p:txBody>
          <a:bodyPr wrap="square" lIns="0" tIns="0" rIns="0" bIns="0" rtlCol="0" anchor="t"/>
          <a:lstStyle/>
          <a:p>
            <a:pPr indent="0" marL="0">
              <a:buNone/>
            </a:pPr>
            <a:r>
              <a:rPr lang="en-US" sz="1250" i="1" dirty="0">
                <a:solidFill>
                  <a:schemeClr val="tx2"/>
                </a:solidFill>
              </a:rPr>
              <a:t>Reach: the governor's authority ends at the last device that checks its stamp. A payment system is three hops away and has never heard of it.</a:t>
            </a:r>
            <a:endParaRPr lang="en-US" sz="1250" dirty="0"/>
          </a:p>
        </p:txBody>
      </p:sp>
      <p:sp>
        <p:nvSpPr>
          <p:cNvPr id="23" name="icon circle"/>
          <p:cNvSpPr/>
          <p:nvPr/>
        </p:nvSpPr>
        <p:spPr>
          <a:xfrm>
            <a:off x="548640" y="3017520"/>
            <a:ext cx="512064" cy="512064"/>
          </a:xfrm>
          <a:prstGeom prst="ellipse">
            <a:avLst/>
          </a:prstGeom>
          <a:solidFill>
            <a:schemeClr val="accent1"/>
          </a:solidFill>
          <a:ln w="12700">
            <a:solidFill>
              <a:schemeClr val="accent1"/>
            </a:solidFill>
            <a:prstDash val="solid"/>
          </a:ln>
        </p:spPr>
      </p:sp>
      <p:pic>
        <p:nvPicPr>
          <p:cNvPr id="24" name="FiEyeOff" descr="preencoded.png">    </p:cNvPr>
          <p:cNvPicPr>
            <a:picLocks noChangeAspect="1"/>
          </p:cNvPicPr>
          <p:nvPr/>
        </p:nvPicPr>
        <p:blipFill>
          <a:blip r:embed="rId1"/>
          <a:stretch>
            <a:fillRect/>
          </a:stretch>
        </p:blipFill>
        <p:spPr>
          <a:xfrm>
            <a:off x="676656" y="3145536"/>
            <a:ext cx="256032" cy="256032"/>
          </a:xfrm>
          <a:prstGeom prst="rect">
            <a:avLst/>
          </a:prstGeom>
        </p:spPr>
      </p:pic>
      <p:sp>
        <p:nvSpPr>
          <p:cNvPr id="25" name="Text 22"/>
          <p:cNvSpPr txBox="1"/>
          <p:nvPr/>
        </p:nvSpPr>
        <p:spPr>
          <a:xfrm>
            <a:off x="1207008" y="2971800"/>
            <a:ext cx="2768498" cy="320040"/>
          </a:xfrm>
          <a:prstGeom prst="rect">
            <a:avLst/>
          </a:prstGeom>
          <a:noFill/>
          <a:ln/>
        </p:spPr>
        <p:txBody>
          <a:bodyPr wrap="square" lIns="0" tIns="0" rIns="0" bIns="0" rtlCol="0" anchor="t"/>
          <a:lstStyle/>
          <a:p>
            <a:pPr indent="0" marL="0">
              <a:buNone/>
            </a:pPr>
            <a:r>
              <a:rPr lang="en-US" sz="1450" b="1" dirty="0">
                <a:solidFill>
                  <a:schemeClr val="tx1"/>
                </a:solidFill>
              </a:rPr>
              <a:t>Meaning</a:t>
            </a:r>
            <a:endParaRPr lang="en-US" sz="1450" dirty="0"/>
          </a:p>
        </p:txBody>
      </p:sp>
      <p:sp>
        <p:nvSpPr>
          <p:cNvPr id="26" name="Text 23"/>
          <p:cNvSpPr txBox="1"/>
          <p:nvPr/>
        </p:nvSpPr>
        <p:spPr>
          <a:xfrm>
            <a:off x="1207008" y="3319272"/>
            <a:ext cx="2768498" cy="777240"/>
          </a:xfrm>
          <a:prstGeom prst="rect">
            <a:avLst/>
          </a:prstGeom>
          <a:noFill/>
          <a:ln/>
        </p:spPr>
        <p:txBody>
          <a:bodyPr wrap="square" lIns="0" tIns="0" rIns="0" bIns="0" rtlCol="0" anchor="t"/>
          <a:lstStyle/>
          <a:p>
            <a:pPr indent="0" marL="0">
              <a:buNone/>
            </a:pPr>
            <a:r>
              <a:rPr lang="en-US" sz="1150" dirty="0">
                <a:solidFill>
                  <a:schemeClr val="tx1"/>
                </a:solidFill>
              </a:rPr>
              <a:t>The chip makes sure an observer is asked. It cannot make the observer right about a disguised request.</a:t>
            </a:r>
            <a:endParaRPr lang="en-US" sz="1150" dirty="0"/>
          </a:p>
        </p:txBody>
      </p:sp>
      <p:sp>
        <p:nvSpPr>
          <p:cNvPr id="27" name="icon circle"/>
          <p:cNvSpPr/>
          <p:nvPr/>
        </p:nvSpPr>
        <p:spPr>
          <a:xfrm>
            <a:off x="4368698" y="3017520"/>
            <a:ext cx="512064" cy="512064"/>
          </a:xfrm>
          <a:prstGeom prst="ellipse">
            <a:avLst/>
          </a:prstGeom>
          <a:solidFill>
            <a:schemeClr val="accent1"/>
          </a:solidFill>
          <a:ln w="12700">
            <a:solidFill>
              <a:schemeClr val="accent1"/>
            </a:solidFill>
            <a:prstDash val="solid"/>
          </a:ln>
        </p:spPr>
      </p:sp>
      <p:pic>
        <p:nvPicPr>
          <p:cNvPr id="28" name="FiAlertTriangle" descr="preencoded.png">    </p:cNvPr>
          <p:cNvPicPr>
            <a:picLocks noChangeAspect="1"/>
          </p:cNvPicPr>
          <p:nvPr/>
        </p:nvPicPr>
        <p:blipFill>
          <a:blip r:embed="rId2"/>
          <a:stretch>
            <a:fillRect/>
          </a:stretch>
        </p:blipFill>
        <p:spPr>
          <a:xfrm>
            <a:off x="4496714" y="3145536"/>
            <a:ext cx="256032" cy="256032"/>
          </a:xfrm>
          <a:prstGeom prst="rect">
            <a:avLst/>
          </a:prstGeom>
        </p:spPr>
      </p:pic>
      <p:sp>
        <p:nvSpPr>
          <p:cNvPr id="29" name="Text 25"/>
          <p:cNvSpPr txBox="1"/>
          <p:nvPr/>
        </p:nvSpPr>
        <p:spPr>
          <a:xfrm>
            <a:off x="5027066" y="2971800"/>
            <a:ext cx="2768498" cy="320040"/>
          </a:xfrm>
          <a:prstGeom prst="rect">
            <a:avLst/>
          </a:prstGeom>
          <a:noFill/>
          <a:ln/>
        </p:spPr>
        <p:txBody>
          <a:bodyPr wrap="square" lIns="0" tIns="0" rIns="0" bIns="0" rtlCol="0" anchor="t"/>
          <a:lstStyle/>
          <a:p>
            <a:pPr indent="0" marL="0">
              <a:buNone/>
            </a:pPr>
            <a:r>
              <a:rPr lang="en-US" sz="1450" b="1" dirty="0">
                <a:solidFill>
                  <a:schemeClr val="tx1"/>
                </a:solidFill>
              </a:rPr>
              <a:t>False halts</a:t>
            </a:r>
            <a:endParaRPr lang="en-US" sz="1450" dirty="0"/>
          </a:p>
        </p:txBody>
      </p:sp>
      <p:sp>
        <p:nvSpPr>
          <p:cNvPr id="30" name="Text 26"/>
          <p:cNvSpPr txBox="1"/>
          <p:nvPr/>
        </p:nvSpPr>
        <p:spPr>
          <a:xfrm>
            <a:off x="5027066" y="3319272"/>
            <a:ext cx="2768498" cy="777240"/>
          </a:xfrm>
          <a:prstGeom prst="rect">
            <a:avLst/>
          </a:prstGeom>
          <a:noFill/>
          <a:ln/>
        </p:spPr>
        <p:txBody>
          <a:bodyPr wrap="square" lIns="0" tIns="0" rIns="0" bIns="0" rtlCol="0" anchor="t"/>
          <a:lstStyle/>
          <a:p>
            <a:pPr indent="0" marL="0">
              <a:buNone/>
            </a:pPr>
            <a:r>
              <a:rPr lang="en-US" sz="1150" dirty="0">
                <a:solidFill>
                  <a:schemeClr val="tx1"/>
                </a:solidFill>
              </a:rPr>
              <a:t>The first support ticket will say: the governor halted my rack. The rate is not measured yet.</a:t>
            </a:r>
            <a:endParaRPr lang="en-US" sz="1150" dirty="0"/>
          </a:p>
        </p:txBody>
      </p:sp>
      <p:sp>
        <p:nvSpPr>
          <p:cNvPr id="31" name="icon circle"/>
          <p:cNvSpPr/>
          <p:nvPr/>
        </p:nvSpPr>
        <p:spPr>
          <a:xfrm>
            <a:off x="8188757" y="3017520"/>
            <a:ext cx="512064" cy="512064"/>
          </a:xfrm>
          <a:prstGeom prst="ellipse">
            <a:avLst/>
          </a:prstGeom>
          <a:solidFill>
            <a:schemeClr val="accent1"/>
          </a:solidFill>
          <a:ln w="12700">
            <a:solidFill>
              <a:schemeClr val="accent1"/>
            </a:solidFill>
            <a:prstDash val="solid"/>
          </a:ln>
        </p:spPr>
      </p:sp>
      <p:pic>
        <p:nvPicPr>
          <p:cNvPr id="32" name="FiServer" descr="preencoded.png">    </p:cNvPr>
          <p:cNvPicPr>
            <a:picLocks noChangeAspect="1"/>
          </p:cNvPicPr>
          <p:nvPr/>
        </p:nvPicPr>
        <p:blipFill>
          <a:blip r:embed="rId3"/>
          <a:stretch>
            <a:fillRect/>
          </a:stretch>
        </p:blipFill>
        <p:spPr>
          <a:xfrm>
            <a:off x="8316773" y="3145536"/>
            <a:ext cx="256032" cy="256032"/>
          </a:xfrm>
          <a:prstGeom prst="rect">
            <a:avLst/>
          </a:prstGeom>
        </p:spPr>
      </p:pic>
      <p:sp>
        <p:nvSpPr>
          <p:cNvPr id="33" name="Text 28"/>
          <p:cNvSpPr txBox="1"/>
          <p:nvPr/>
        </p:nvSpPr>
        <p:spPr>
          <a:xfrm>
            <a:off x="8847125" y="2971800"/>
            <a:ext cx="2768498" cy="320040"/>
          </a:xfrm>
          <a:prstGeom prst="rect">
            <a:avLst/>
          </a:prstGeom>
          <a:noFill/>
          <a:ln/>
        </p:spPr>
        <p:txBody>
          <a:bodyPr wrap="square" lIns="0" tIns="0" rIns="0" bIns="0" rtlCol="0" anchor="t"/>
          <a:lstStyle/>
          <a:p>
            <a:pPr indent="0" marL="0">
              <a:buNone/>
            </a:pPr>
            <a:r>
              <a:rPr lang="en-US" sz="1450" b="1" dirty="0">
                <a:solidFill>
                  <a:schemeClr val="tx1"/>
                </a:solidFill>
              </a:rPr>
              <a:t>The levers</a:t>
            </a:r>
            <a:endParaRPr lang="en-US" sz="1450" dirty="0"/>
          </a:p>
        </p:txBody>
      </p:sp>
      <p:sp>
        <p:nvSpPr>
          <p:cNvPr id="34" name="Text 29"/>
          <p:cNvSpPr txBox="1"/>
          <p:nvPr/>
        </p:nvSpPr>
        <p:spPr>
          <a:xfrm>
            <a:off x="8847125" y="3319272"/>
            <a:ext cx="2768498" cy="777240"/>
          </a:xfrm>
          <a:prstGeom prst="rect">
            <a:avLst/>
          </a:prstGeom>
          <a:noFill/>
          <a:ln/>
        </p:spPr>
        <p:txBody>
          <a:bodyPr wrap="square" lIns="0" tIns="0" rIns="0" bIns="0" rtlCol="0" anchor="t"/>
          <a:lstStyle/>
          <a:p>
            <a:pPr indent="0" marL="0">
              <a:buNone/>
            </a:pPr>
            <a:r>
              <a:rPr lang="en-US" sz="1150" dirty="0">
                <a:solidFill>
                  <a:schemeClr val="tx1"/>
                </a:solidFill>
              </a:rPr>
              <a:t>On today's HGX board, reset is grouped and the fine-grained signals sit under NDA.</a:t>
            </a:r>
            <a:endParaRPr lang="en-US" sz="1150" dirty="0"/>
          </a:p>
        </p:txBody>
      </p:sp>
      <p:sp>
        <p:nvSpPr>
          <p:cNvPr id="35" name="icon circle"/>
          <p:cNvSpPr/>
          <p:nvPr/>
        </p:nvSpPr>
        <p:spPr>
          <a:xfrm>
            <a:off x="548640" y="4251960"/>
            <a:ext cx="512064" cy="512064"/>
          </a:xfrm>
          <a:prstGeom prst="ellipse">
            <a:avLst/>
          </a:prstGeom>
          <a:solidFill>
            <a:schemeClr val="accent1"/>
          </a:solidFill>
          <a:ln w="12700">
            <a:solidFill>
              <a:schemeClr val="accent1"/>
            </a:solidFill>
            <a:prstDash val="solid"/>
          </a:ln>
        </p:spPr>
      </p:sp>
      <p:pic>
        <p:nvPicPr>
          <p:cNvPr id="36" name="FiClock" descr="preencoded.png">    </p:cNvPr>
          <p:cNvPicPr>
            <a:picLocks noChangeAspect="1"/>
          </p:cNvPicPr>
          <p:nvPr/>
        </p:nvPicPr>
        <p:blipFill>
          <a:blip r:embed="rId4"/>
          <a:stretch>
            <a:fillRect/>
          </a:stretch>
        </p:blipFill>
        <p:spPr>
          <a:xfrm>
            <a:off x="676656" y="4379976"/>
            <a:ext cx="256032" cy="256032"/>
          </a:xfrm>
          <a:prstGeom prst="rect">
            <a:avLst/>
          </a:prstGeom>
        </p:spPr>
      </p:pic>
      <p:sp>
        <p:nvSpPr>
          <p:cNvPr id="37" name="Text 31"/>
          <p:cNvSpPr txBox="1"/>
          <p:nvPr/>
        </p:nvSpPr>
        <p:spPr>
          <a:xfrm>
            <a:off x="1207008" y="4206240"/>
            <a:ext cx="2768498" cy="320040"/>
          </a:xfrm>
          <a:prstGeom prst="rect">
            <a:avLst/>
          </a:prstGeom>
          <a:noFill/>
          <a:ln/>
        </p:spPr>
        <p:txBody>
          <a:bodyPr wrap="square" lIns="0" tIns="0" rIns="0" bIns="0" rtlCol="0" anchor="t"/>
          <a:lstStyle/>
          <a:p>
            <a:pPr indent="0" marL="0">
              <a:buNone/>
            </a:pPr>
            <a:r>
              <a:rPr lang="en-US" sz="1450" b="1" dirty="0">
                <a:solidFill>
                  <a:schemeClr val="tx1"/>
                </a:solidFill>
              </a:rPr>
              <a:t>Cost</a:t>
            </a:r>
            <a:endParaRPr lang="en-US" sz="1450" dirty="0"/>
          </a:p>
        </p:txBody>
      </p:sp>
      <p:sp>
        <p:nvSpPr>
          <p:cNvPr id="38" name="Text 32"/>
          <p:cNvSpPr txBox="1"/>
          <p:nvPr/>
        </p:nvSpPr>
        <p:spPr>
          <a:xfrm>
            <a:off x="1207008" y="4553712"/>
            <a:ext cx="2768498" cy="777240"/>
          </a:xfrm>
          <a:prstGeom prst="rect">
            <a:avLst/>
          </a:prstGeom>
          <a:noFill/>
          <a:ln/>
        </p:spPr>
        <p:txBody>
          <a:bodyPr wrap="square" lIns="0" tIns="0" rIns="0" bIns="0" rtlCol="0" anchor="t"/>
          <a:lstStyle/>
          <a:p>
            <a:pPr indent="0" marL="0">
              <a:buNone/>
            </a:pPr>
            <a:r>
              <a:rPr lang="en-US" sz="1150" dirty="0">
                <a:solidFill>
                  <a:schemeClr val="tx1"/>
                </a:solidFill>
              </a:rPr>
              <a:t>One signature costs 17 ms on the crypto engine. Under one percent in the model, not yet in silicon.</a:t>
            </a:r>
            <a:endParaRPr lang="en-US" sz="1150" dirty="0"/>
          </a:p>
        </p:txBody>
      </p:sp>
      <p:sp>
        <p:nvSpPr>
          <p:cNvPr id="39" name="icon circle"/>
          <p:cNvSpPr/>
          <p:nvPr/>
        </p:nvSpPr>
        <p:spPr>
          <a:xfrm>
            <a:off x="4368698" y="4251960"/>
            <a:ext cx="512064" cy="512064"/>
          </a:xfrm>
          <a:prstGeom prst="ellipse">
            <a:avLst/>
          </a:prstGeom>
          <a:solidFill>
            <a:schemeClr val="accent1"/>
          </a:solidFill>
          <a:ln w="12700">
            <a:solidFill>
              <a:schemeClr val="accent1"/>
            </a:solidFill>
            <a:prstDash val="solid"/>
          </a:ln>
        </p:spPr>
      </p:sp>
      <p:pic>
        <p:nvPicPr>
          <p:cNvPr id="40" name="FiKey" descr="preencoded.png">    </p:cNvPr>
          <p:cNvPicPr>
            <a:picLocks noChangeAspect="1"/>
          </p:cNvPicPr>
          <p:nvPr/>
        </p:nvPicPr>
        <p:blipFill>
          <a:blip r:embed="rId5"/>
          <a:stretch>
            <a:fillRect/>
          </a:stretch>
        </p:blipFill>
        <p:spPr>
          <a:xfrm>
            <a:off x="4496714" y="4379976"/>
            <a:ext cx="256032" cy="256032"/>
          </a:xfrm>
          <a:prstGeom prst="rect">
            <a:avLst/>
          </a:prstGeom>
        </p:spPr>
      </p:pic>
      <p:sp>
        <p:nvSpPr>
          <p:cNvPr id="41" name="Text 34"/>
          <p:cNvSpPr txBox="1"/>
          <p:nvPr/>
        </p:nvSpPr>
        <p:spPr>
          <a:xfrm>
            <a:off x="5027066" y="4206240"/>
            <a:ext cx="2768498" cy="320040"/>
          </a:xfrm>
          <a:prstGeom prst="rect">
            <a:avLst/>
          </a:prstGeom>
          <a:noFill/>
          <a:ln/>
        </p:spPr>
        <p:txBody>
          <a:bodyPr wrap="square" lIns="0" tIns="0" rIns="0" bIns="0" rtlCol="0" anchor="t"/>
          <a:lstStyle/>
          <a:p>
            <a:pPr indent="0" marL="0">
              <a:buNone/>
            </a:pPr>
            <a:r>
              <a:rPr lang="en-US" sz="1450" b="1" dirty="0">
                <a:solidFill>
                  <a:schemeClr val="tx1"/>
                </a:solidFill>
              </a:rPr>
              <a:t>Governance</a:t>
            </a:r>
            <a:endParaRPr lang="en-US" sz="1450" dirty="0"/>
          </a:p>
        </p:txBody>
      </p:sp>
      <p:sp>
        <p:nvSpPr>
          <p:cNvPr id="42" name="Text 35"/>
          <p:cNvSpPr txBox="1"/>
          <p:nvPr/>
        </p:nvSpPr>
        <p:spPr>
          <a:xfrm>
            <a:off x="5027066" y="4553712"/>
            <a:ext cx="2768498" cy="777240"/>
          </a:xfrm>
          <a:prstGeom prst="rect">
            <a:avLst/>
          </a:prstGeom>
          <a:noFill/>
          <a:ln/>
        </p:spPr>
        <p:txBody>
          <a:bodyPr wrap="square" lIns="0" tIns="0" rIns="0" bIns="0" rtlCol="0" anchor="t"/>
          <a:lstStyle/>
          <a:p>
            <a:pPr indent="0" marL="0">
              <a:buNone/>
            </a:pPr>
            <a:r>
              <a:rPr lang="en-US" sz="1150" dirty="0">
                <a:solidFill>
                  <a:schemeClr val="tx1"/>
                </a:solidFill>
              </a:rPr>
              <a:t>Who holds the keys, whose rules govern a shared rack, and the tightest tier needs NVIDIA.</a:t>
            </a:r>
            <a:endParaRPr lang="en-US" sz="1150" dirty="0"/>
          </a:p>
        </p:txBody>
      </p:sp>
      <p:sp>
        <p:nvSpPr>
          <p:cNvPr id="43" name="icon circle"/>
          <p:cNvSpPr/>
          <p:nvPr/>
        </p:nvSpPr>
        <p:spPr>
          <a:xfrm>
            <a:off x="8188757" y="4251960"/>
            <a:ext cx="512064" cy="512064"/>
          </a:xfrm>
          <a:prstGeom prst="ellipse">
            <a:avLst/>
          </a:prstGeom>
          <a:solidFill>
            <a:schemeClr val="accent1"/>
          </a:solidFill>
          <a:ln w="12700">
            <a:solidFill>
              <a:schemeClr val="accent1"/>
            </a:solidFill>
            <a:prstDash val="solid"/>
          </a:ln>
        </p:spPr>
      </p:sp>
      <p:pic>
        <p:nvPicPr>
          <p:cNvPr id="44" name="FiLink" descr="preencoded.png">    </p:cNvPr>
          <p:cNvPicPr>
            <a:picLocks noChangeAspect="1"/>
          </p:cNvPicPr>
          <p:nvPr/>
        </p:nvPicPr>
        <p:blipFill>
          <a:blip r:embed="rId6"/>
          <a:stretch>
            <a:fillRect/>
          </a:stretch>
        </p:blipFill>
        <p:spPr>
          <a:xfrm>
            <a:off x="8316773" y="4379976"/>
            <a:ext cx="256032" cy="256032"/>
          </a:xfrm>
          <a:prstGeom prst="rect">
            <a:avLst/>
          </a:prstGeom>
        </p:spPr>
      </p:pic>
      <p:sp>
        <p:nvSpPr>
          <p:cNvPr id="45" name="Text 37"/>
          <p:cNvSpPr txBox="1"/>
          <p:nvPr/>
        </p:nvSpPr>
        <p:spPr>
          <a:xfrm>
            <a:off x="8847125" y="4206240"/>
            <a:ext cx="2768498" cy="320040"/>
          </a:xfrm>
          <a:prstGeom prst="rect">
            <a:avLst/>
          </a:prstGeom>
          <a:noFill/>
          <a:ln/>
        </p:spPr>
        <p:txBody>
          <a:bodyPr wrap="square" lIns="0" tIns="0" rIns="0" bIns="0" rtlCol="0" anchor="t"/>
          <a:lstStyle/>
          <a:p>
            <a:pPr indent="0" marL="0">
              <a:buNone/>
            </a:pPr>
            <a:r>
              <a:rPr lang="en-US" sz="1450" b="1" dirty="0">
                <a:solidFill>
                  <a:schemeClr val="tx1"/>
                </a:solidFill>
              </a:rPr>
              <a:t>Adoption</a:t>
            </a:r>
            <a:endParaRPr lang="en-US" sz="1450" dirty="0"/>
          </a:p>
        </p:txBody>
      </p:sp>
      <p:sp>
        <p:nvSpPr>
          <p:cNvPr id="46" name="Text 38"/>
          <p:cNvSpPr txBox="1"/>
          <p:nvPr/>
        </p:nvSpPr>
        <p:spPr>
          <a:xfrm>
            <a:off x="8847125" y="4553712"/>
            <a:ext cx="2768498" cy="777240"/>
          </a:xfrm>
          <a:prstGeom prst="rect">
            <a:avLst/>
          </a:prstGeom>
          <a:noFill/>
          <a:ln/>
        </p:spPr>
        <p:txBody>
          <a:bodyPr wrap="square" lIns="0" tIns="0" rIns="0" bIns="0" rtlCol="0" anchor="t"/>
          <a:lstStyle/>
          <a:p>
            <a:pPr indent="0" marL="0">
              <a:buNone/>
            </a:pPr>
            <a:r>
              <a:rPr lang="en-US" sz="1150" dirty="0">
                <a:solidFill>
                  <a:schemeClr val="tx1"/>
                </a:solidFill>
              </a:rPr>
              <a:t>A chip wired to nothing that acts is a logger. The first device maker to check a stamp decides this.</a:t>
            </a:r>
            <a:endParaRPr lang="en-US" sz="1150" dirty="0"/>
          </a:p>
        </p:txBody>
      </p:sp>
      <p:sp>
        <p:nvSpPr>
          <p:cNvPr id="4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48" name="Text 40"/>
          <p:cNvSpPr txBox="1"/>
          <p:nvPr/>
        </p:nvSpPr>
        <p:spPr>
          <a:xfrm>
            <a:off x="822960" y="5486400"/>
            <a:ext cx="1371600" cy="68580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49" name="Text 41"/>
          <p:cNvSpPr txBox="1"/>
          <p:nvPr/>
        </p:nvSpPr>
        <p:spPr>
          <a:xfrm>
            <a:off x="2286000" y="5486400"/>
            <a:ext cx="9082735" cy="685800"/>
          </a:xfrm>
          <a:prstGeom prst="rect">
            <a:avLst/>
          </a:prstGeom>
          <a:noFill/>
          <a:ln/>
        </p:spPr>
        <p:txBody>
          <a:bodyPr wrap="square" lIns="0" tIns="0" rIns="0" bIns="0" rtlCol="0" anchor="ctr"/>
          <a:lstStyle/>
          <a:p>
            <a:pPr indent="0" marL="0">
              <a:buNone/>
            </a:pPr>
            <a:r>
              <a:rPr lang="en-US" sz="1400" i="1" dirty="0">
                <a:solidFill>
                  <a:schemeClr val="accent6"/>
                </a:solidFill>
              </a:rPr>
              <a:t>A firewall at the building's edge decides whether a packet leaves. It cannot decide what the server across town does with it. The fix is not to reach across town; it is to keep the key in a box the firewall controls.</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Challenges, technically: mechanism, status</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5394960"/>
                <a:gridCol w="3593592"/>
              </a:tblGrid>
              <a:tr h="0">
                <a:tc>
                  <a:txBody>
                    <a:bodyPr/>
                    <a:lstStyle/>
                    <a:p>
                      <a:pPr indent="0" marL="0">
                        <a:buNone/>
                      </a:pPr>
                      <a:r>
                        <a:rPr lang="en-US" sz="1150" b="1" dirty="0">
                          <a:solidFill>
                            <a:schemeClr val="bg1"/>
                          </a:solidFill>
                        </a:rPr>
                        <a:t>Challenge</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What the design does</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Status</a:t>
                      </a:r>
                      <a:endParaRPr lang="en-US" sz="115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r>
              <a:tr h="0">
                <a:tc>
                  <a:txBody>
                    <a:bodyPr/>
                    <a:lstStyle/>
                    <a:p>
                      <a:pPr indent="0" marL="0">
                        <a:buNone/>
                      </a:pPr>
                      <a:r>
                        <a:rPr lang="en-US" sz="1150" b="1" dirty="0">
                          <a:solidFill>
                            <a:schemeClr val="tx1"/>
                          </a:solidFill>
                        </a:rPr>
                        <a:t>Reach: a payment system two or three hops out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A: the comparator in the device. B: move the credential behind a ticket-checking adapter, so the model's runtime never holds the API key. C: open the DPU flow to the provider only under a live ticket. D: always the signed record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A and C modelled and tested (H6, H2, H17). B is a pattern the endpoint model already expresses; the three-hop payment narration is the next piece of work</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Meaning: observers can be fooled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Observer always invoked, cannot be impersonated, separate from the model; hazard classes, legibility floor, session hazard budget, TRNG audit sampling with escrow</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Guarantees tested (H17, H18). Observer error rates: open; needs a red team and a quorum of observers on high-hazard classes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50" b="1" dirty="0">
                          <a:solidFill>
                            <a:schemeClr val="tx1"/>
                          </a:solidFill>
                        </a:rPr>
                        <a:t>False halts</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Loop beacon inside the signed heartbeat; two-sense-period debounce; a jumpered governor detected within two heartbeats; FMEA</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Modelled (H11) and simulated (ngspice). Not measured on hardware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Levers on HGX</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Per-slot SMBus, power brake, PERST#, PWR_EN at the connector; grouped reset accepted as coarser; the evidence register names what is verified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Evidence register done. Design guide under NDA still needed</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50" b="1" dirty="0">
                          <a:solidFill>
                            <a:schemeClr val="tx1"/>
                          </a:solidFill>
                        </a:rPr>
                        <a:t>Cost</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P-384 on OTBN at 1,697,985 cycles (17 ms); one signature per 50 ms window; engine 34 percent busy batched; firmware share 0.01 percent of GPU time</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50" dirty="0">
                          <a:solidFill>
                            <a:schemeClr val="tx1"/>
                          </a:solidFill>
                        </a:rPr>
                        <a:t>Modelled (H9). Silicon or FPGA measurement: open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50" b="1" dirty="0">
                          <a:solidFill>
                            <a:schemeClr val="tx1"/>
                          </a:solidFill>
                        </a:rPr>
                        <a:t>Governance and adoption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k-of-n quorum with keys outside vendor and operator (G8); partitions and per-rule approvers; integrated-tier asks written</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50" dirty="0">
                          <a:solidFill>
                            <a:schemeClr val="tx1"/>
                          </a:solidFill>
                        </a:rPr>
                        <a:t>Two tenants with two quorums on one baseboard: not designed. Integrated tier: needs NVIDIA</a:t>
                      </a:r>
                      <a:endParaRPr lang="en-US" sz="115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bl>
          </a:graphicData>
        </a:graphic>
      </p:graphicFrame>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I need to prove or disprove the thesis</a:t>
            </a:r>
            <a:endParaRPr lang="en-US" sz="3200" dirty="0"/>
          </a:p>
        </p:txBody>
      </p:sp>
      <p:sp>
        <p:nvSpPr>
          <p:cNvPr id="3" name="card"/>
          <p:cNvSpPr/>
          <p:nvPr/>
        </p:nvSpPr>
        <p:spPr>
          <a:xfrm>
            <a:off x="548640" y="1417320"/>
            <a:ext cx="2036003" cy="3246120"/>
          </a:xfrm>
          <a:prstGeom prst="roundRect">
            <a:avLst>
              <a:gd name="adj" fmla="val 3593"/>
            </a:avLst>
          </a:prstGeom>
          <a:solidFill>
            <a:schemeClr val="bg2"/>
          </a:solidFill>
          <a:ln w="12700">
            <a:solidFill>
              <a:schemeClr val="bg2"/>
            </a:solidFill>
            <a:prstDash val="solid"/>
          </a:ln>
        </p:spPr>
      </p:sp>
      <p:sp>
        <p:nvSpPr>
          <p:cNvPr id="4" name="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5" name="FiBriefcase"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6" name="Text 3"/>
          <p:cNvSpPr txBox="1"/>
          <p:nvPr/>
        </p:nvSpPr>
        <p:spPr>
          <a:xfrm>
            <a:off x="777240" y="2514600"/>
            <a:ext cx="1578803" cy="822960"/>
          </a:xfrm>
          <a:prstGeom prst="rect">
            <a:avLst/>
          </a:prstGeom>
          <a:noFill/>
          <a:ln/>
        </p:spPr>
        <p:txBody>
          <a:bodyPr wrap="square" lIns="0" tIns="0" rIns="0" bIns="0" rtlCol="0" anchor="t"/>
          <a:lstStyle/>
          <a:p>
            <a:pPr indent="0" marL="0">
              <a:buNone/>
            </a:pPr>
            <a:r>
              <a:rPr lang="en-US" sz="1400" b="1" dirty="0">
                <a:solidFill>
                  <a:schemeClr val="tx1"/>
                </a:solidFill>
              </a:rPr>
              <a:t>A server maker to talk to</a:t>
            </a:r>
            <a:endParaRPr lang="en-US" sz="1400" dirty="0"/>
          </a:p>
        </p:txBody>
      </p:sp>
      <p:sp>
        <p:nvSpPr>
          <p:cNvPr id="7" name="Text 4"/>
          <p:cNvSpPr txBox="1"/>
          <p:nvPr/>
        </p:nvSpPr>
        <p:spPr>
          <a:xfrm>
            <a:off x="777240" y="3383280"/>
            <a:ext cx="1578803" cy="1188720"/>
          </a:xfrm>
          <a:prstGeom prst="rect">
            <a:avLst/>
          </a:prstGeom>
          <a:noFill/>
          <a:ln/>
        </p:spPr>
        <p:txBody>
          <a:bodyPr wrap="square" lIns="0" tIns="0" rIns="0" bIns="0" rtlCol="0" anchor="t"/>
          <a:lstStyle/>
          <a:p>
            <a:pPr indent="0" marL="0">
              <a:buNone/>
            </a:pPr>
            <a:r>
              <a:rPr lang="en-US" sz="1150" dirty="0">
                <a:solidFill>
                  <a:schemeClr val="tx1"/>
                </a:solidFill>
              </a:rPr>
              <a:t>About the management-card slot and the GPU board's design guide.</a:t>
            </a:r>
            <a:endParaRPr lang="en-US" sz="1150" dirty="0"/>
          </a:p>
        </p:txBody>
      </p:sp>
      <p:sp>
        <p:nvSpPr>
          <p:cNvPr id="8" name="card"/>
          <p:cNvSpPr/>
          <p:nvPr/>
        </p:nvSpPr>
        <p:spPr>
          <a:xfrm>
            <a:off x="2813243" y="1417320"/>
            <a:ext cx="2036003" cy="3246120"/>
          </a:xfrm>
          <a:prstGeom prst="roundRect">
            <a:avLst>
              <a:gd name="adj" fmla="val 3593"/>
            </a:avLst>
          </a:prstGeom>
          <a:solidFill>
            <a:schemeClr val="bg2"/>
          </a:solidFill>
          <a:ln w="12700">
            <a:solidFill>
              <a:schemeClr val="bg2"/>
            </a:solidFill>
            <a:prstDash val="solid"/>
          </a:ln>
        </p:spPr>
      </p:sp>
      <p:sp>
        <p:nvSpPr>
          <p:cNvPr id="9" name="icon circle"/>
          <p:cNvSpPr/>
          <p:nvPr/>
        </p:nvSpPr>
        <p:spPr>
          <a:xfrm>
            <a:off x="3041843" y="1691640"/>
            <a:ext cx="640080" cy="640080"/>
          </a:xfrm>
          <a:prstGeom prst="ellipse">
            <a:avLst/>
          </a:prstGeom>
          <a:solidFill>
            <a:schemeClr val="accent1"/>
          </a:solidFill>
          <a:ln w="12700">
            <a:solidFill>
              <a:schemeClr val="accent1"/>
            </a:solidFill>
            <a:prstDash val="solid"/>
          </a:ln>
        </p:spPr>
      </p:sp>
      <p:pic>
        <p:nvPicPr>
          <p:cNvPr id="10" name="FiHardDrive" descr="preencoded.png">    </p:cNvPr>
          <p:cNvPicPr>
            <a:picLocks noChangeAspect="1"/>
          </p:cNvPicPr>
          <p:nvPr/>
        </p:nvPicPr>
        <p:blipFill>
          <a:blip r:embed="rId2"/>
          <a:stretch>
            <a:fillRect/>
          </a:stretch>
        </p:blipFill>
        <p:spPr>
          <a:xfrm>
            <a:off x="3201863" y="1851660"/>
            <a:ext cx="320040" cy="320040"/>
          </a:xfrm>
          <a:prstGeom prst="rect">
            <a:avLst/>
          </a:prstGeom>
        </p:spPr>
      </p:pic>
      <p:sp>
        <p:nvSpPr>
          <p:cNvPr id="11" name="Text 7"/>
          <p:cNvSpPr txBox="1"/>
          <p:nvPr/>
        </p:nvSpPr>
        <p:spPr>
          <a:xfrm>
            <a:off x="3041843" y="2514600"/>
            <a:ext cx="1578803" cy="822960"/>
          </a:xfrm>
          <a:prstGeom prst="rect">
            <a:avLst/>
          </a:prstGeom>
          <a:noFill/>
          <a:ln/>
        </p:spPr>
        <p:txBody>
          <a:bodyPr wrap="square" lIns="0" tIns="0" rIns="0" bIns="0" rtlCol="0" anchor="t"/>
          <a:lstStyle/>
          <a:p>
            <a:pPr indent="0" marL="0">
              <a:buNone/>
            </a:pPr>
            <a:r>
              <a:rPr lang="en-US" sz="1400" b="1" dirty="0">
                <a:solidFill>
                  <a:schemeClr val="tx1"/>
                </a:solidFill>
              </a:rPr>
              <a:t>A device maker willing to check a ticket</a:t>
            </a:r>
            <a:endParaRPr lang="en-US" sz="1400" dirty="0"/>
          </a:p>
        </p:txBody>
      </p:sp>
      <p:sp>
        <p:nvSpPr>
          <p:cNvPr id="12" name="Text 8"/>
          <p:cNvSpPr txBox="1"/>
          <p:nvPr/>
        </p:nvSpPr>
        <p:spPr>
          <a:xfrm>
            <a:off x="3041843" y="3383280"/>
            <a:ext cx="1578803" cy="1188720"/>
          </a:xfrm>
          <a:prstGeom prst="rect">
            <a:avLst/>
          </a:prstGeom>
          <a:noFill/>
          <a:ln/>
        </p:spPr>
        <p:txBody>
          <a:bodyPr wrap="square" lIns="0" tIns="0" rIns="0" bIns="0" rtlCol="0" anchor="t"/>
          <a:lstStyle/>
          <a:p>
            <a:pPr indent="0" marL="0">
              <a:buNone/>
            </a:pPr>
            <a:r>
              <a:rPr lang="en-US" sz="1150" dirty="0">
                <a:solidFill>
                  <a:schemeClr val="tx1"/>
                </a:solidFill>
              </a:rPr>
              <a:t>A functional-safety vendor, or whoever runs the tools an agent calls.</a:t>
            </a:r>
            <a:endParaRPr lang="en-US" sz="1150" dirty="0"/>
          </a:p>
        </p:txBody>
      </p:sp>
      <p:sp>
        <p:nvSpPr>
          <p:cNvPr id="13" name="card"/>
          <p:cNvSpPr/>
          <p:nvPr/>
        </p:nvSpPr>
        <p:spPr>
          <a:xfrm>
            <a:off x="5077846" y="1417320"/>
            <a:ext cx="2036003" cy="3246120"/>
          </a:xfrm>
          <a:prstGeom prst="roundRect">
            <a:avLst>
              <a:gd name="adj" fmla="val 3593"/>
            </a:avLst>
          </a:prstGeom>
          <a:solidFill>
            <a:schemeClr val="bg2"/>
          </a:solidFill>
          <a:ln w="12700">
            <a:solidFill>
              <a:schemeClr val="bg2"/>
            </a:solidFill>
            <a:prstDash val="solid"/>
          </a:ln>
        </p:spPr>
      </p:sp>
      <p:sp>
        <p:nvSpPr>
          <p:cNvPr id="14" name="icon circle"/>
          <p:cNvSpPr/>
          <p:nvPr/>
        </p:nvSpPr>
        <p:spPr>
          <a:xfrm>
            <a:off x="5306446" y="1691640"/>
            <a:ext cx="640080" cy="640080"/>
          </a:xfrm>
          <a:prstGeom prst="ellipse">
            <a:avLst/>
          </a:prstGeom>
          <a:solidFill>
            <a:schemeClr val="accent1"/>
          </a:solidFill>
          <a:ln w="12700">
            <a:solidFill>
              <a:schemeClr val="accent1"/>
            </a:solidFill>
            <a:prstDash val="solid"/>
          </a:ln>
        </p:spPr>
      </p:sp>
      <p:pic>
        <p:nvPicPr>
          <p:cNvPr id="15" name="FiActivity" descr="preencoded.png">    </p:cNvPr>
          <p:cNvPicPr>
            <a:picLocks noChangeAspect="1"/>
          </p:cNvPicPr>
          <p:nvPr/>
        </p:nvPicPr>
        <p:blipFill>
          <a:blip r:embed="rId3"/>
          <a:stretch>
            <a:fillRect/>
          </a:stretch>
        </p:blipFill>
        <p:spPr>
          <a:xfrm>
            <a:off x="5466466" y="1851660"/>
            <a:ext cx="320040" cy="320040"/>
          </a:xfrm>
          <a:prstGeom prst="rect">
            <a:avLst/>
          </a:prstGeom>
        </p:spPr>
      </p:pic>
      <p:sp>
        <p:nvSpPr>
          <p:cNvPr id="16" name="Text 11"/>
          <p:cNvSpPr txBox="1"/>
          <p:nvPr/>
        </p:nvSpPr>
        <p:spPr>
          <a:xfrm>
            <a:off x="5306446" y="2514600"/>
            <a:ext cx="1578803" cy="822960"/>
          </a:xfrm>
          <a:prstGeom prst="rect">
            <a:avLst/>
          </a:prstGeom>
          <a:noFill/>
          <a:ln/>
        </p:spPr>
        <p:txBody>
          <a:bodyPr wrap="square" lIns="0" tIns="0" rIns="0" bIns="0" rtlCol="0" anchor="t"/>
          <a:lstStyle/>
          <a:p>
            <a:pPr indent="0" marL="0">
              <a:buNone/>
            </a:pPr>
            <a:r>
              <a:rPr lang="en-US" sz="1400" b="1" dirty="0">
                <a:solidFill>
                  <a:schemeClr val="tx1"/>
                </a:solidFill>
              </a:rPr>
              <a:t>A lab with a rack and an FPGA</a:t>
            </a:r>
            <a:endParaRPr lang="en-US" sz="1400" dirty="0"/>
          </a:p>
        </p:txBody>
      </p:sp>
      <p:sp>
        <p:nvSpPr>
          <p:cNvPr id="17" name="Text 12"/>
          <p:cNvSpPr txBox="1"/>
          <p:nvPr/>
        </p:nvSpPr>
        <p:spPr>
          <a:xfrm>
            <a:off x="5306446" y="3383280"/>
            <a:ext cx="1578803" cy="1188720"/>
          </a:xfrm>
          <a:prstGeom prst="rect">
            <a:avLst/>
          </a:prstGeom>
          <a:noFill/>
          <a:ln/>
        </p:spPr>
        <p:txBody>
          <a:bodyPr wrap="square" lIns="0" tIns="0" rIns="0" bIns="0" rtlCol="0" anchor="t"/>
          <a:lstStyle/>
          <a:p>
            <a:pPr indent="0" marL="0">
              <a:buNone/>
            </a:pPr>
            <a:r>
              <a:rPr lang="en-US" sz="1150" dirty="0">
                <a:solidFill>
                  <a:schemeClr val="tx1"/>
                </a:solidFill>
              </a:rPr>
              <a:t>To measure the real overhead and the false-halt rate over weeks.</a:t>
            </a:r>
            <a:endParaRPr lang="en-US" sz="1150" dirty="0"/>
          </a:p>
        </p:txBody>
      </p:sp>
      <p:sp>
        <p:nvSpPr>
          <p:cNvPr id="18" name="card"/>
          <p:cNvSpPr/>
          <p:nvPr/>
        </p:nvSpPr>
        <p:spPr>
          <a:xfrm>
            <a:off x="7342449" y="1417320"/>
            <a:ext cx="2036003" cy="3246120"/>
          </a:xfrm>
          <a:prstGeom prst="roundRect">
            <a:avLst>
              <a:gd name="adj" fmla="val 3593"/>
            </a:avLst>
          </a:prstGeom>
          <a:solidFill>
            <a:schemeClr val="bg2"/>
          </a:solidFill>
          <a:ln w="12700">
            <a:solidFill>
              <a:schemeClr val="bg2"/>
            </a:solidFill>
            <a:prstDash val="solid"/>
          </a:ln>
        </p:spPr>
      </p:sp>
      <p:sp>
        <p:nvSpPr>
          <p:cNvPr id="19" name="icon circle"/>
          <p:cNvSpPr/>
          <p:nvPr/>
        </p:nvSpPr>
        <p:spPr>
          <a:xfrm>
            <a:off x="7571049" y="1691640"/>
            <a:ext cx="640080" cy="640080"/>
          </a:xfrm>
          <a:prstGeom prst="ellipse">
            <a:avLst/>
          </a:prstGeom>
          <a:solidFill>
            <a:schemeClr val="accent1"/>
          </a:solidFill>
          <a:ln w="12700">
            <a:solidFill>
              <a:schemeClr val="accent1"/>
            </a:solidFill>
            <a:prstDash val="solid"/>
          </a:ln>
        </p:spPr>
      </p:sp>
      <p:pic>
        <p:nvPicPr>
          <p:cNvPr id="20" name="FiTarget" descr="preencoded.png">    </p:cNvPr>
          <p:cNvPicPr>
            <a:picLocks noChangeAspect="1"/>
          </p:cNvPicPr>
          <p:nvPr/>
        </p:nvPicPr>
        <p:blipFill>
          <a:blip r:embed="rId4"/>
          <a:stretch>
            <a:fillRect/>
          </a:stretch>
        </p:blipFill>
        <p:spPr>
          <a:xfrm>
            <a:off x="7731069" y="1851660"/>
            <a:ext cx="320040" cy="320040"/>
          </a:xfrm>
          <a:prstGeom prst="rect">
            <a:avLst/>
          </a:prstGeom>
        </p:spPr>
      </p:pic>
      <p:sp>
        <p:nvSpPr>
          <p:cNvPr id="21" name="Text 15"/>
          <p:cNvSpPr txBox="1"/>
          <p:nvPr/>
        </p:nvSpPr>
        <p:spPr>
          <a:xfrm>
            <a:off x="7571049" y="2514600"/>
            <a:ext cx="1578803" cy="822960"/>
          </a:xfrm>
          <a:prstGeom prst="rect">
            <a:avLst/>
          </a:prstGeom>
          <a:noFill/>
          <a:ln/>
        </p:spPr>
        <p:txBody>
          <a:bodyPr wrap="square" lIns="0" tIns="0" rIns="0" bIns="0" rtlCol="0" anchor="t"/>
          <a:lstStyle/>
          <a:p>
            <a:pPr indent="0" marL="0">
              <a:buNone/>
            </a:pPr>
            <a:r>
              <a:rPr lang="en-US" sz="1400" b="1" dirty="0">
                <a:solidFill>
                  <a:schemeClr val="tx1"/>
                </a:solidFill>
              </a:rPr>
              <a:t>A red team</a:t>
            </a:r>
            <a:endParaRPr lang="en-US" sz="1400" dirty="0"/>
          </a:p>
        </p:txBody>
      </p:sp>
      <p:sp>
        <p:nvSpPr>
          <p:cNvPr id="22" name="Text 16"/>
          <p:cNvSpPr txBox="1"/>
          <p:nvPr/>
        </p:nvSpPr>
        <p:spPr>
          <a:xfrm>
            <a:off x="7571049" y="3383280"/>
            <a:ext cx="1578803" cy="1188720"/>
          </a:xfrm>
          <a:prstGeom prst="rect">
            <a:avLst/>
          </a:prstGeom>
          <a:noFill/>
          <a:ln/>
        </p:spPr>
        <p:txBody>
          <a:bodyPr wrap="square" lIns="0" tIns="0" rIns="0" bIns="0" rtlCol="0" anchor="t"/>
          <a:lstStyle/>
          <a:p>
            <a:pPr indent="0" marL="0">
              <a:buNone/>
            </a:pPr>
            <a:r>
              <a:rPr lang="en-US" sz="1150" dirty="0">
                <a:solidFill>
                  <a:schemeClr val="tx1"/>
                </a:solidFill>
              </a:rPr>
              <a:t>To attack the release gate and the observers with disguised requests.</a:t>
            </a:r>
            <a:endParaRPr lang="en-US" sz="1150" dirty="0"/>
          </a:p>
        </p:txBody>
      </p:sp>
      <p:sp>
        <p:nvSpPr>
          <p:cNvPr id="23" name="card"/>
          <p:cNvSpPr/>
          <p:nvPr/>
        </p:nvSpPr>
        <p:spPr>
          <a:xfrm>
            <a:off x="9607052" y="1417320"/>
            <a:ext cx="2036003" cy="3246120"/>
          </a:xfrm>
          <a:prstGeom prst="roundRect">
            <a:avLst>
              <a:gd name="adj" fmla="val 3593"/>
            </a:avLst>
          </a:prstGeom>
          <a:solidFill>
            <a:schemeClr val="bg2"/>
          </a:solidFill>
          <a:ln w="12700">
            <a:solidFill>
              <a:schemeClr val="bg2"/>
            </a:solidFill>
            <a:prstDash val="solid"/>
          </a:ln>
        </p:spPr>
      </p:sp>
      <p:sp>
        <p:nvSpPr>
          <p:cNvPr id="24" name="icon circle"/>
          <p:cNvSpPr/>
          <p:nvPr/>
        </p:nvSpPr>
        <p:spPr>
          <a:xfrm>
            <a:off x="9835652" y="1691640"/>
            <a:ext cx="640080" cy="640080"/>
          </a:xfrm>
          <a:prstGeom prst="ellipse">
            <a:avLst/>
          </a:prstGeom>
          <a:solidFill>
            <a:schemeClr val="accent1"/>
          </a:solidFill>
          <a:ln w="12700">
            <a:solidFill>
              <a:schemeClr val="accent1"/>
            </a:solidFill>
            <a:prstDash val="solid"/>
          </a:ln>
        </p:spPr>
      </p:sp>
      <p:pic>
        <p:nvPicPr>
          <p:cNvPr id="25" name="FiUsers" descr="preencoded.png">    </p:cNvPr>
          <p:cNvPicPr>
            <a:picLocks noChangeAspect="1"/>
          </p:cNvPicPr>
          <p:nvPr/>
        </p:nvPicPr>
        <p:blipFill>
          <a:blip r:embed="rId5"/>
          <a:stretch>
            <a:fillRect/>
          </a:stretch>
        </p:blipFill>
        <p:spPr>
          <a:xfrm>
            <a:off x="9995672" y="1851660"/>
            <a:ext cx="320040" cy="320040"/>
          </a:xfrm>
          <a:prstGeom prst="rect">
            <a:avLst/>
          </a:prstGeom>
        </p:spPr>
      </p:pic>
      <p:sp>
        <p:nvSpPr>
          <p:cNvPr id="26" name="Text 19"/>
          <p:cNvSpPr txBox="1"/>
          <p:nvPr/>
        </p:nvSpPr>
        <p:spPr>
          <a:xfrm>
            <a:off x="9835652" y="2514600"/>
            <a:ext cx="1578803" cy="822960"/>
          </a:xfrm>
          <a:prstGeom prst="rect">
            <a:avLst/>
          </a:prstGeom>
          <a:noFill/>
          <a:ln/>
        </p:spPr>
        <p:txBody>
          <a:bodyPr wrap="square" lIns="0" tIns="0" rIns="0" bIns="0" rtlCol="0" anchor="t"/>
          <a:lstStyle/>
          <a:p>
            <a:pPr indent="0" marL="0">
              <a:buNone/>
            </a:pPr>
            <a:r>
              <a:rPr lang="en-US" sz="1400" b="1" dirty="0">
                <a:solidFill>
                  <a:schemeClr val="tx1"/>
                </a:solidFill>
              </a:rPr>
              <a:t>Chip designers and an auditor</a:t>
            </a:r>
            <a:endParaRPr lang="en-US" sz="1400" dirty="0"/>
          </a:p>
        </p:txBody>
      </p:sp>
      <p:sp>
        <p:nvSpPr>
          <p:cNvPr id="27" name="Text 20"/>
          <p:cNvSpPr txBox="1"/>
          <p:nvPr/>
        </p:nvSpPr>
        <p:spPr>
          <a:xfrm>
            <a:off x="9835652" y="3383280"/>
            <a:ext cx="1578803" cy="1188720"/>
          </a:xfrm>
          <a:prstGeom prst="rect">
            <a:avLst/>
          </a:prstGeom>
          <a:noFill/>
          <a:ln/>
        </p:spPr>
        <p:txBody>
          <a:bodyPr wrap="square" lIns="0" tIns="0" rIns="0" bIns="0" rtlCol="0" anchor="t"/>
          <a:lstStyle/>
          <a:p>
            <a:pPr indent="0" marL="0">
              <a:buNone/>
            </a:pPr>
            <a:r>
              <a:rPr lang="en-US" sz="1150" dirty="0">
                <a:solidFill>
                  <a:schemeClr val="tx1"/>
                </a:solidFill>
              </a:rPr>
              <a:t>To tear the design apart before any tape-out.</a:t>
            </a:r>
            <a:endParaRPr lang="en-US" sz="1150" dirty="0"/>
          </a:p>
        </p:txBody>
      </p:sp>
      <p:sp>
        <p:nvSpPr>
          <p:cNvPr id="28" name="analogy"/>
          <p:cNvSpPr/>
          <p:nvPr/>
        </p:nvSpPr>
        <p:spPr>
          <a:xfrm>
            <a:off x="548640" y="5029200"/>
            <a:ext cx="11094415" cy="822960"/>
          </a:xfrm>
          <a:prstGeom prst="roundRect">
            <a:avLst>
              <a:gd name="adj" fmla="val 8889"/>
            </a:avLst>
          </a:prstGeom>
          <a:solidFill>
            <a:schemeClr val="tx1"/>
          </a:solidFill>
          <a:ln w="12700">
            <a:solidFill>
              <a:schemeClr val="tx1"/>
            </a:solidFill>
            <a:prstDash val="solid"/>
          </a:ln>
        </p:spPr>
      </p:sp>
      <p:sp>
        <p:nvSpPr>
          <p:cNvPr id="29" name="Text 22"/>
          <p:cNvSpPr txBox="1"/>
          <p:nvPr/>
        </p:nvSpPr>
        <p:spPr>
          <a:xfrm>
            <a:off x="822960" y="5029200"/>
            <a:ext cx="1371600" cy="822960"/>
          </a:xfrm>
          <a:prstGeom prst="rect">
            <a:avLst/>
          </a:prstGeom>
          <a:noFill/>
          <a:ln/>
        </p:spPr>
        <p:txBody>
          <a:bodyPr wrap="square" lIns="0" tIns="0" rIns="0" bIns="0" rtlCol="0" anchor="ctr"/>
          <a:lstStyle/>
          <a:p>
            <a:pPr indent="0" marL="0">
              <a:buNone/>
            </a:pPr>
            <a:r>
              <a:rPr lang="en-US" sz="1000" b="1" spc="200" kern="0" dirty="0">
                <a:solidFill>
                  <a:schemeClr val="accent1"/>
                </a:solidFill>
              </a:rPr>
              <a:t>THE PICTURE</a:t>
            </a:r>
            <a:endParaRPr lang="en-US" sz="1000" dirty="0"/>
          </a:p>
        </p:txBody>
      </p:sp>
      <p:sp>
        <p:nvSpPr>
          <p:cNvPr id="30" name="Text 23"/>
          <p:cNvSpPr txBox="1"/>
          <p:nvPr/>
        </p:nvSpPr>
        <p:spPr>
          <a:xfrm>
            <a:off x="2286000" y="5029200"/>
            <a:ext cx="9082735" cy="822960"/>
          </a:xfrm>
          <a:prstGeom prst="rect">
            <a:avLst/>
          </a:prstGeom>
          <a:noFill/>
          <a:ln/>
        </p:spPr>
        <p:txBody>
          <a:bodyPr wrap="square" lIns="0" tIns="0" rIns="0" bIns="0" rtlCol="0" anchor="ctr"/>
          <a:lstStyle/>
          <a:p>
            <a:pPr indent="0" marL="0">
              <a:buNone/>
            </a:pPr>
            <a:r>
              <a:rPr lang="en-US" sz="1400" i="1" dirty="0">
                <a:solidFill>
                  <a:schemeClr val="accent6"/>
                </a:solidFill>
              </a:rPr>
              <a:t>Back to the bridge: the drawings are done. What a bridge needs next is a soil report, a steel mill and an independent engineer who signs. Each of these can come back as a no, and a no is informative.</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I need, technically: who, what, and why</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7863840" cy="914400"/>
        </p:xfrm>
        <a:graphic>
          <a:graphicData uri="http://schemas.openxmlformats.org/drawingml/2006/table">
            <a:tbl>
              <a:tblPr/>
              <a:tblGrid>
                <a:gridCol w="1737360"/>
                <a:gridCol w="3017520"/>
                <a:gridCol w="3108960"/>
              </a:tblGrid>
              <a:tr h="0">
                <a:tc>
                  <a:txBody>
                    <a:bodyPr/>
                    <a:lstStyle/>
                    <a:p>
                      <a:pPr indent="0" marL="0">
                        <a:buNone/>
                      </a:pPr>
                      <a:r>
                        <a:rPr lang="en-US" sz="1100" b="1" dirty="0">
                          <a:solidFill>
                            <a:schemeClr val="bg1"/>
                          </a:solidFill>
                        </a:rPr>
                        <a:t>Who</a:t>
                      </a:r>
                      <a:endParaRPr lang="en-US" sz="11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What I need</a:t>
                      </a:r>
                      <a:endParaRPr lang="en-US" sz="11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What it settles</a:t>
                      </a:r>
                      <a:endParaRPr lang="en-US" sz="1100" dirty="0"/>
                    </a:p>
                  </a:txBody>
                  <a:tcPr marL="73152" marR="73152" marT="73152" marB="73152" anchor="ctr">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chemeClr val="tx2"/>
                    </a:solidFill>
                  </a:tcPr>
                </a:tc>
              </a:tr>
              <a:tr h="0">
                <a:tc>
                  <a:txBody>
                    <a:bodyPr/>
                    <a:lstStyle/>
                    <a:p>
                      <a:pPr indent="0" marL="0">
                        <a:buNone/>
                      </a:pPr>
                      <a:r>
                        <a:rPr lang="en-US" sz="1100" b="1" dirty="0">
                          <a:solidFill>
                            <a:schemeClr val="tx1"/>
                          </a:solidFill>
                        </a:rPr>
                        <a:t>A server OEM</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The management-module slot; the HGX design guide under NDA; the connector pinout</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Whether per-module levers reach the connector. If not, the rack tier is coarser than the design says</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00" b="1" dirty="0">
                          <a:solidFill>
                            <a:schemeClr val="tx1"/>
                          </a:solidFill>
                        </a:rPr>
                        <a:t>NVIDIA</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Seven firmware asks: NSM port-disable semantics, per-GPU reset, buffer-class checkers in the copy engines and peer MMU</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The integrated tier; whether the recorded gap can be closed from inside the silicon</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00" b="1" dirty="0">
                          <a:solidFill>
                            <a:schemeClr val="tx1"/>
                          </a:solidFill>
                        </a:rPr>
                        <a:t>An endpoint partner</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A device or tool gateway that verifies the ticket: P-384 signature, typed fields, epoch, freshness</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Whether the comparator works outside the model. If nobody will check the stamp, the thesis fails in practice</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00" b="1" dirty="0">
                          <a:solidFill>
                            <a:schemeClr val="tx1"/>
                          </a:solidFill>
                        </a:rPr>
                        <a:t>A lab with an HGX or NVL rack</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An FPGA governor beside a real GPU for weeks</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The real overhead against the one percent goal; the false-halt rate; the loop beacon in the field</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r h="0">
                <a:tc>
                  <a:txBody>
                    <a:bodyPr/>
                    <a:lstStyle/>
                    <a:p>
                      <a:pPr indent="0" marL="0">
                        <a:buNone/>
                      </a:pPr>
                      <a:r>
                        <a:rPr lang="en-US" sz="1100" b="1" dirty="0">
                          <a:solidFill>
                            <a:schemeClr val="tx1"/>
                          </a:solidFill>
                        </a:rPr>
                        <a:t>A model lab's red team</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Disguised requests against the release gate and the observers</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rPr>
                        <a:t>The size of the semantic residual; whether a quorum of observers is enough</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FFFFFF"/>
                    </a:solidFill>
                  </a:tcPr>
                </a:tc>
              </a:tr>
              <a:tr h="0">
                <a:tc>
                  <a:txBody>
                    <a:bodyPr/>
                    <a:lstStyle/>
                    <a:p>
                      <a:pPr indent="0" marL="0">
                        <a:buNone/>
                      </a:pPr>
                      <a:r>
                        <a:rPr lang="en-US" sz="1100" b="1" dirty="0">
                          <a:solidFill>
                            <a:schemeClr val="tx1"/>
                          </a:solidFill>
                        </a:rPr>
                        <a:t>Chip designers, an auditor</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Review of the RTL, the firmware plan and the proof-assumption list; formal proofs of the block invariants</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1100" dirty="0">
                          <a:solidFill>
                            <a:schemeClr val="tx1"/>
                          </a:solidFill>
                        </a:rPr>
                        <a:t>Verification before tape-out</a:t>
                      </a:r>
                      <a:endParaRPr lang="en-US" sz="1100" dirty="0"/>
                    </a:p>
                  </a:txBody>
                  <a:tcPr marL="73152" marR="73152" marT="73152" marB="73152" anchor="t">
                    <a:lnL w="12700" cap="flat" cmpd="sng" algn="ctr">
                      <a:solidFill>
                        <a:srgbClr val="EEF2EF"/>
                      </a:solidFill>
                      <a:prstDash val="solid"/>
                      <a:round/>
                      <a:headEnd type="none" w="med" len="med"/>
                      <a:tailEnd type="none" w="med" len="med"/>
                    </a:lnL>
                    <a:lnR w="12700" cap="flat" cmpd="sng" algn="ctr">
                      <a:solidFill>
                        <a:srgbClr val="EEF2EF"/>
                      </a:solidFill>
                      <a:prstDash val="solid"/>
                      <a:round/>
                      <a:headEnd type="none" w="med" len="med"/>
                      <a:tailEnd type="none" w="med" len="med"/>
                    </a:lnR>
                    <a:lnT w="12700" cap="flat" cmpd="sng" algn="ctr">
                      <a:solidFill>
                        <a:srgbClr val="EEF2EF"/>
                      </a:solidFill>
                      <a:prstDash val="solid"/>
                      <a:round/>
                      <a:headEnd type="none" w="med" len="med"/>
                      <a:tailEnd type="none" w="med" len="med"/>
                    </a:lnT>
                    <a:lnB w="12700" cap="flat" cmpd="sng" algn="ctr">
                      <a:solidFill>
                        <a:srgbClr val="EEF2EF"/>
                      </a:solidFill>
                      <a:prstDash val="solid"/>
                      <a:round/>
                      <a:headEnd type="none" w="med" len="med"/>
                      <a:tailEnd type="none" w="med" len="med"/>
                    </a:lnB>
                    <a:solidFill>
                      <a:srgbClr val="EEF2EF"/>
                    </a:solidFill>
                  </a:tcPr>
                </a:tc>
              </a:tr>
            </a:tbl>
          </a:graphicData>
        </a:graphic>
      </p:graphicFrame>
      <p:sp>
        <p:nvSpPr>
          <p:cNvPr id="4" name="card"/>
          <p:cNvSpPr/>
          <p:nvPr/>
        </p:nvSpPr>
        <p:spPr>
          <a:xfrm>
            <a:off x="8714232" y="1417320"/>
            <a:ext cx="2928823" cy="4480560"/>
          </a:xfrm>
          <a:prstGeom prst="roundRect">
            <a:avLst>
              <a:gd name="adj" fmla="val 2498"/>
            </a:avLst>
          </a:prstGeom>
          <a:solidFill>
            <a:schemeClr val="tx1"/>
          </a:solidFill>
          <a:ln w="12700">
            <a:solidFill>
              <a:schemeClr val="tx1"/>
            </a:solidFill>
            <a:prstDash val="solid"/>
          </a:ln>
        </p:spPr>
      </p:sp>
      <p:sp>
        <p:nvSpPr>
          <p:cNvPr id="5" name="Text 2"/>
          <p:cNvSpPr txBox="1"/>
          <p:nvPr/>
        </p:nvSpPr>
        <p:spPr>
          <a:xfrm>
            <a:off x="8988552" y="1645920"/>
            <a:ext cx="2380183" cy="411480"/>
          </a:xfrm>
          <a:prstGeom prst="rect">
            <a:avLst/>
          </a:prstGeom>
          <a:noFill/>
          <a:ln/>
        </p:spPr>
        <p:txBody>
          <a:bodyPr wrap="square" lIns="0" tIns="0" rIns="0" bIns="0" rtlCol="0" anchor="t"/>
          <a:lstStyle/>
          <a:p>
            <a:pPr indent="0" marL="0">
              <a:buNone/>
            </a:pPr>
            <a:r>
              <a:rPr lang="en-US" sz="1400" b="1" dirty="0">
                <a:solidFill>
                  <a:schemeClr val="accent6"/>
                </a:solidFill>
                <a:latin typeface="Georgia" pitchFamily="34" charset="0"/>
                <a:ea typeface="Georgia" pitchFamily="34" charset="-122"/>
                <a:cs typeface="Georgia" pitchFamily="34" charset="-120"/>
              </a:rPr>
              <a:t>What would disprove it</a:t>
            </a:r>
            <a:endParaRPr lang="en-US" sz="1400" dirty="0"/>
          </a:p>
        </p:txBody>
      </p:sp>
      <p:sp>
        <p:nvSpPr>
          <p:cNvPr id="6" name="Text 3"/>
          <p:cNvSpPr txBox="1"/>
          <p:nvPr/>
        </p:nvSpPr>
        <p:spPr>
          <a:xfrm>
            <a:off x="8988552" y="2286000"/>
            <a:ext cx="2380183" cy="347472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chemeClr val="bg1"/>
                </a:solidFill>
              </a:rPr>
              <a:t>No device that acts will verify a ticket</a:t>
            </a:r>
            <a:endParaRPr lang="en-US" sz="1200" dirty="0"/>
          </a:p>
          <a:p>
            <a:pPr marL="177800" indent="-177800">
              <a:spcAft>
                <a:spcPts val="700"/>
              </a:spcAft>
              <a:buSzPct val="100000"/>
              <a:buChar char="•"/>
            </a:pPr>
            <a:r>
              <a:rPr lang="en-US" sz="1200" dirty="0">
                <a:solidFill>
                  <a:schemeClr val="bg1"/>
                </a:solidFill>
              </a:rPr>
              <a:t>The levers do not reach the baseboard connector</a:t>
            </a:r>
            <a:endParaRPr lang="en-US" sz="1200" dirty="0"/>
          </a:p>
          <a:p>
            <a:pPr marL="177800" indent="-177800">
              <a:spcAft>
                <a:spcPts val="700"/>
              </a:spcAft>
              <a:buSzPct val="100000"/>
              <a:buChar char="•"/>
            </a:pPr>
            <a:r>
              <a:rPr lang="en-US" sz="1200" dirty="0">
                <a:solidFill>
                  <a:schemeClr val="bg1"/>
                </a:solidFill>
              </a:rPr>
              <a:t>False halts at a rate operators will not accept</a:t>
            </a:r>
            <a:endParaRPr lang="en-US" sz="1200" dirty="0"/>
          </a:p>
          <a:p>
            <a:pPr marL="177800" indent="-177800">
              <a:spcAft>
                <a:spcPts val="700"/>
              </a:spcAft>
              <a:buSzPct val="100000"/>
              <a:buChar char="•"/>
            </a:pPr>
            <a:r>
              <a:rPr lang="en-US" sz="1200" dirty="0">
                <a:solidFill>
                  <a:schemeClr val="bg1"/>
                </a:solidFill>
              </a:rPr>
              <a:t>Measured overhead above one percent after batching</a:t>
            </a:r>
            <a:endParaRPr lang="en-US" sz="1200" dirty="0"/>
          </a:p>
          <a:p>
            <a:pPr marL="177800" indent="-177800">
              <a:spcAft>
                <a:spcPts val="700"/>
              </a:spcAft>
              <a:buSzPct val="100000"/>
              <a:buChar char="•"/>
            </a:pPr>
            <a:r>
              <a:rPr lang="en-US" sz="1200" dirty="0">
                <a:solidFill>
                  <a:schemeClr val="bg1"/>
                </a:solidFill>
              </a:rPr>
              <a:t>Observers miss disguised requests too often for the hazard cases</a:t>
            </a:r>
            <a:endParaRPr lang="en-US" sz="1200" dirty="0"/>
          </a:p>
          <a:p>
            <a:pPr marL="177800" indent="-177800">
              <a:spcAft>
                <a:spcPts val="700"/>
              </a:spcAft>
              <a:buSzPct val="100000"/>
              <a:buChar char="•"/>
            </a:pPr>
            <a:r>
              <a:rPr lang="en-US" sz="1200" dirty="0">
                <a:solidFill>
                  <a:schemeClr val="bg1"/>
                </a:solidFill>
              </a:rPr>
              <a:t>Nobody will hold the quorum keys</a:t>
            </a:r>
            <a:endParaRPr lang="en-US" sz="12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280160"/>
          </a:xfrm>
          <a:prstGeom prst="rect">
            <a:avLst/>
          </a:prstGeom>
          <a:noFill/>
          <a:ln/>
        </p:spPr>
        <p:txBody>
          <a:bodyPr wrap="square" lIns="0" tIns="0" rIns="0" bIns="0" rtlCol="0" anchor="b"/>
          <a:lstStyle/>
          <a:p>
            <a:pPr algn="l" indent="0" marL="0">
              <a:buNone/>
            </a:pPr>
            <a:r>
              <a:rPr lang="en-US" sz="4400" b="1" dirty="0">
                <a:solidFill>
                  <a:schemeClr val="bg1"/>
                </a:solidFill>
              </a:rPr>
              <a:t>The one-sentence version</a:t>
            </a:r>
            <a:endParaRPr lang="en-US" sz="4400" dirty="0"/>
          </a:p>
        </p:txBody>
      </p:sp>
      <p:sp>
        <p:nvSpPr>
          <p:cNvPr id="3" name="Text 0"/>
          <p:cNvSpPr/>
          <p:nvPr>
            <p:ph idx="101" type="body" hasCustomPrompt="1"/>
          </p:nvPr>
        </p:nvSpPr>
        <p:spPr>
          <a:xfrm>
            <a:off x="548640" y="3200400"/>
            <a:ext cx="7315200" cy="1645920"/>
          </a:xfrm>
          <a:prstGeom prst="rect">
            <a:avLst/>
          </a:prstGeom>
          <a:noFill/>
          <a:ln/>
        </p:spPr>
        <p:txBody>
          <a:bodyPr wrap="square" lIns="0" tIns="0" rIns="0" bIns="0" rtlCol="0" anchor="t"/>
          <a:lstStyle/>
          <a:p>
            <a:pPr algn="l" indent="0" marL="0">
              <a:buNone/>
            </a:pPr>
            <a:r>
              <a:rPr lang="en-US" sz="2000" dirty="0">
                <a:solidFill>
                  <a:schemeClr val="accent6"/>
                </a:solidFill>
              </a:rPr>
              <a:t>The governor never knows what the model is thinking and does not need to, because thinking fires nothing. A ticket does, and the model cannot mint one.</a:t>
            </a:r>
            <a:endParaRPr lang="en-US" sz="2000" dirty="0"/>
          </a:p>
        </p:txBody>
      </p:sp>
      <p:sp>
        <p:nvSpPr>
          <p:cNvPr id="4" name="Text 2"/>
          <p:cNvSpPr txBox="1"/>
          <p:nvPr/>
        </p:nvSpPr>
        <p:spPr>
          <a:xfrm>
            <a:off x="548640" y="5029200"/>
            <a:ext cx="8229600" cy="914400"/>
          </a:xfrm>
          <a:prstGeom prst="rect">
            <a:avLst/>
          </a:prstGeom>
          <a:noFill/>
          <a:ln/>
        </p:spPr>
        <p:txBody>
          <a:bodyPr wrap="square" lIns="0" tIns="0" rIns="0" bIns="0" rtlCol="0" anchor="t"/>
          <a:lstStyle/>
          <a:p>
            <a:pPr indent="0" marL="0">
              <a:buNone/>
            </a:pPr>
            <a:r>
              <a:rPr lang="en-US" sz="1300" dirty="0">
                <a:solidFill>
                  <a:schemeClr val="accent6"/>
                </a:solidFill>
              </a:rPr>
              <a:t>github.com/YobieBenjamin/safety-governor</a:t>
            </a:r>
            <a:endParaRPr lang="en-US" sz="1300" dirty="0"/>
          </a:p>
          <a:p>
            <a:pPr indent="0" marL="0">
              <a:buNone/>
            </a:pPr>
            <a:r>
              <a:rPr lang="en-US" sz="1300" dirty="0">
                <a:solidFill>
                  <a:schemeClr val="accent6"/>
                </a:solidFill>
              </a:rPr>
              <a:t>github.com/YobieBenjamin/hardware-and-silicon</a:t>
            </a:r>
            <a:endParaRPr lang="en-US" sz="1300" dirty="0"/>
          </a:p>
          <a:p>
            <a:pPr indent="0" marL="0">
              <a:buNone/>
            </a:pPr>
            <a:r>
              <a:rPr lang="en-US" sz="1300" dirty="0">
                <a:solidFill>
                  <a:schemeClr val="accent3"/>
                </a:solidFill>
              </a:rPr>
              <a:t>The Chip That Says No, parts 1 to 4, and design documents 00 to 18</a:t>
            </a:r>
            <a:endParaRPr lang="en-US" sz="13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6F7F74"/>
      </a:accent3>
      <a:accent4>
        <a:srgbClr val="A33B2E"/>
      </a:accent4>
      <a:accent5>
        <a:srgbClr val="1F7A4D"/>
      </a:accent5>
      <a:accent6>
        <a:srgbClr val="E6C3A5"/>
      </a:accent6>
      <a:hlink>
        <a:srgbClr val="C2703D"/>
      </a:hlink>
      <a:folHlink>
        <a:srgbClr val="6F7F74"/>
      </a:folHlink>
    </a:clrScheme>
    <a:fontScheme name="Chip That Says N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2026-10-16T21:19:47Z</dcterms:created>
  <dcterms:modified xsi:type="dcterms:W3CDTF">2026-10-16T21:19:47Z</dcterms:modified>
</cp:coreProperties>
</file>