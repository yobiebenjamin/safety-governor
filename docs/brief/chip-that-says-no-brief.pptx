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db8e790-2faf-6ddd-2d53-bf5d3e657944}">
          <p14:sldIdLst>
            <p14:sldId id="256"/>
            <p14:sldId id="257"/>
          </p14:sldIdLst>
        </p14:section>
        <p14:section name="Thesis" id="{7040639b-f92d-9b9f-2eca-52d981f57795}">
          <p14:sldIdLst>
            <p14:sldId id="258"/>
            <p14:sldId id="259"/>
          </p14:sldIdLst>
        </p14:section>
        <p14:section name="The ladder" id="{5d5d364f-5feb-30f3-5d0e-59d90fea6fa6}">
          <p14:sldIdLst>
            <p14:sldId id="260"/>
            <p14:sldId id="261"/>
            <p14:sldId id="262"/>
            <p14:sldId id="263"/>
          </p14:sldIdLst>
        </p14:section>
        <p14:section name="No kill switch" id="{0d495820-498a-eab9-fe7d-749ff8aa434b}">
          <p14:sldIdLst>
            <p14:sldId id="264"/>
            <p14:sldId id="265"/>
            <p14:sldId id="266"/>
            <p14:sldId id="267"/>
            <p14:sldId id="268"/>
          </p14:sldIdLst>
        </p14:section>
        <p14:section name="Logic" id="{9d9e7d25-0f95-78be-b959-02326b8e56a6}">
          <p14:sldIdLst>
            <p14:sldId id="269"/>
            <p14:sldId id="270"/>
            <p14:sldId id="271"/>
          </p14:sldIdLst>
        </p14:section>
        <p14:section name="Proposal" id="{36f33551-aa90-0ab5-54ef-69f654ea4bea}">
          <p14:sldIdLst>
            <p14:sldId id="272"/>
            <p14:sldId id="273"/>
            <p14:sldId id="274"/>
          </p14:sldIdLst>
        </p14:section>
        <p14:section name="Layers" id="{4d6f0d82-084d-4abe-9b41-7359112fd337}">
          <p14:sldIdLst>
            <p14:sldId id="275"/>
            <p14:sldId id="276"/>
          </p14:sldIdLst>
        </p14:section>
        <p14:section name="One bad prompt" id="{5ceb85dd-163b-f80c-bff9-745d086a8cdb}">
          <p14:sldIdLst>
            <p14:sldId id="277"/>
            <p14:sldId id="278"/>
            <p14:sldId id="279"/>
            <p14:sldId id="280"/>
          </p14:sldIdLst>
        </p14:section>
        <p14:section name="Status" id="{bd70ba8f-9ae4-ee66-6b93-3a17ff147635}">
          <p14:sldIdLst>
            <p14:sldId id="281"/>
            <p14:sldId id="282"/>
            <p14:sldId id="283"/>
          </p14:sldIdLst>
        </p14:section>
        <p14:section name="Challenges" id="{b76a4fd6-f77a-3f65-09d3-3c20eb7eedb7}">
          <p14:sldIdLst>
            <p14:sldId id="284"/>
            <p14:sldId id="285"/>
            <p14:sldId id="286"/>
          </p14:sldIdLst>
        </p14:section>
        <p14:section name="What I need" id="{8a529cfe-35f5-c35c-ae07-0716f20453a4}">
          <p14:sldIdLst>
            <p14:sldId id="287"/>
            <p14:sldId id="288"/>
          </p14:sldIdLst>
        </p14:section>
        <p14:section name="Close" id="{6d29ea4e-ff42-e7e8-38ba-b3d5d318d064}">
          <p14:sldIdLst>
            <p14:sldId id="28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AI copies to devices</c:v>
                </c:pt>
              </c:strCache>
            </c:strRef>
          </c:tx>
          <c:spPr>
            <a:solidFill>
              <a:srgbClr val="C2703D"/>
            </a:solidFill>
            <a:ln w="31750" cap="flat">
              <a:solidFill>
                <a:srgbClr val="C2703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2703D"/>
              </a:solidFill>
              <a:ln w="9525" cap="flat">
                <a:solidFill>
                  <a:srgbClr val="C2703D"/>
                </a:solidFill>
                <a:prstDash val="solid"/>
                <a:round/>
              </a:ln>
              <a:effectLst/>
            </c:spPr>
          </c:marker>
          <c:cat>
            <c:multiLvlStrRef>
              <c:f>Sheet1!$A$2:$A$11</c:f>
              <c:multiLvlStrCache>
                <c:ptCount val="10"/>
                <c:lvl>
                  <c:pt idx="0">
                    <c:v>0%</c:v>
                  </c:pt>
                  <c:pt idx="1">
                    <c:v>10%</c:v>
                  </c:pt>
                  <c:pt idx="2">
                    <c:v>20%</c:v>
                  </c:pt>
                  <c:pt idx="3">
                    <c:v>30%</c:v>
                  </c:pt>
                  <c:pt idx="4">
                    <c:v>40%</c:v>
                  </c:pt>
                  <c:pt idx="5">
                    <c:v>50%</c:v>
                  </c:pt>
                  <c:pt idx="6">
                    <c:v>60%</c:v>
                  </c:pt>
                  <c:pt idx="7">
                    <c:v>70%</c:v>
                  </c:pt>
                  <c:pt idx="8">
                    <c:v>80%</c:v>
                  </c:pt>
                  <c:pt idx="9">
                    <c:v>90%</c:v>
                  </c:pt>
                </c:lvl>
              </c:multiLvlStrCache>
            </c:multiLvlStrRef>
          </c:cat>
          <c:val>
            <c:numRef>
              <c:f>Sheet1!$B$2:$B$11</c:f>
              <c:numCache>
                <c:formatCode>General</c:formatCode>
                <c:ptCount val="10"/>
                <c:pt idx="0">
                  <c:v>1</c:v>
                </c:pt>
                <c:pt idx="1">
                  <c:v>1</c:v>
                </c:pt>
                <c:pt idx="2">
                  <c:v>1</c:v>
                </c:pt>
                <c:pt idx="3">
                  <c:v>0.997</c:v>
                </c:pt>
                <c:pt idx="4">
                  <c:v>0.99</c:v>
                </c:pt>
                <c:pt idx="5">
                  <c:v>0.965</c:v>
                </c:pt>
                <c:pt idx="6">
                  <c:v>0.905</c:v>
                </c:pt>
                <c:pt idx="7">
                  <c:v>0.796</c:v>
                </c:pt>
                <c:pt idx="8">
                  <c:v>0.549</c:v>
                </c:pt>
                <c:pt idx="9">
                  <c:v>0.202</c:v>
                </c:pt>
              </c:numCache>
            </c:numRef>
          </c:val>
          <c:smooth val="0"/>
        </c:ser>
        <c:ser>
          <c:idx val="1"/>
          <c:order val="1"/>
          <c:tx>
            <c:strRef>
              <c:f>Sheet1!$C$1</c:f>
              <c:strCache>
                <c:ptCount val="1"/>
                <c:pt idx="0">
                  <c:v>everyone else</c:v>
                </c:pt>
              </c:strCache>
            </c:strRef>
          </c:tx>
          <c:spPr>
            <a:solidFill>
              <a:srgbClr val="6F7F74"/>
            </a:solidFill>
            <a:ln w="31750" cap="flat">
              <a:solidFill>
                <a:srgbClr val="6F7F7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6F7F74"/>
              </a:solidFill>
              <a:ln w="9525" cap="flat">
                <a:solidFill>
                  <a:srgbClr val="6F7F74"/>
                </a:solidFill>
                <a:prstDash val="solid"/>
                <a:round/>
              </a:ln>
              <a:effectLst/>
            </c:spPr>
          </c:marker>
          <c:cat>
            <c:multiLvlStrRef>
              <c:f>Sheet1!$A$2:$A$11</c:f>
              <c:multiLvlStrCache>
                <c:ptCount val="10"/>
                <c:lvl>
                  <c:pt idx="0">
                    <c:v>0%</c:v>
                  </c:pt>
                  <c:pt idx="1">
                    <c:v>10%</c:v>
                  </c:pt>
                  <c:pt idx="2">
                    <c:v>20%</c:v>
                  </c:pt>
                  <c:pt idx="3">
                    <c:v>30%</c:v>
                  </c:pt>
                  <c:pt idx="4">
                    <c:v>40%</c:v>
                  </c:pt>
                  <c:pt idx="5">
                    <c:v>50%</c:v>
                  </c:pt>
                  <c:pt idx="6">
                    <c:v>60%</c:v>
                  </c:pt>
                  <c:pt idx="7">
                    <c:v>70%</c:v>
                  </c:pt>
                  <c:pt idx="8">
                    <c:v>80%</c:v>
                  </c:pt>
                  <c:pt idx="9">
                    <c:v>90%</c:v>
                  </c:pt>
                </c:lvl>
              </c:multiLvlStrCache>
            </c:multiLvlStrRef>
          </c:cat>
          <c:val>
            <c:numRef>
              <c:f>Sheet1!$C$2:$C$11</c:f>
              <c:numCache>
                <c:formatCode>General</c:formatCode>
                <c:ptCount val="10"/>
                <c:pt idx="0">
                  <c:v>1</c:v>
                </c:pt>
                <c:pt idx="1">
                  <c:v>1</c:v>
                </c:pt>
                <c:pt idx="2">
                  <c:v>1</c:v>
                </c:pt>
                <c:pt idx="3">
                  <c:v>0.997</c:v>
                </c:pt>
                <c:pt idx="4">
                  <c:v>0.991</c:v>
                </c:pt>
                <c:pt idx="5">
                  <c:v>0.985</c:v>
                </c:pt>
                <c:pt idx="6">
                  <c:v>0.935</c:v>
                </c:pt>
                <c:pt idx="7">
                  <c:v>0.792</c:v>
                </c:pt>
                <c:pt idx="8">
                  <c:v>0.575</c:v>
                </c:pt>
                <c:pt idx="9">
                  <c:v>0.21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900" b="0" i="0" u="none" strike="noStrike">
                    <a:solidFill>
                      <a:srgbClr val="000000"/>
                    </a:solidFill>
                    <a:latin typeface="Arial"/>
                  </a:defRPr>
                </a:pPr>
                <a:r>
                  <a:rPr sz="900" b="0" i="0" u="none" strike="noStrike">
                    <a:solidFill>
                      <a:srgbClr val="000000"/>
                    </a:solidFill>
                    <a:latin typeface="Arial"/>
                  </a:rPr>
                  <a:t>share of the core destroyed</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DDDDDD"/>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4"/>
        <c:crosses val="autoZero"/>
        <c:crossBetween val="between"/>
        <c:majorUnit val="0.25"/>
      </c:valAx>
      <c:spPr>
        <a:solidFill>
          <a:srgbClr val="FFFFFF"/>
        </a:solidFill>
        <a:ln>
          <a:noFill/>
        </a:ln>
        <a:effectLst/>
      </c:spPr>
    </c:plotArea>
    <c:legend>
      <c:legendPos val="b"/>
      <c:overlay val="0"/>
      <c:txPr>
        <a:bodyPr/>
        <a:lstStyle/>
        <a:p>
          <a:pPr>
            <a:defRPr sz="900">
              <a:latin typeface="Arial"/>
              <a:cs typeface="Arial"/>
            </a:defRPr>
          </a:pPr>
          <a:endParaRPr lang="en-US"/>
        </a:p>
      </c:txPr>
    </c:legend>
    <c:plotVisOnly val="1"/>
    <c:dispBlanksAs val="span"/>
  </c:chart>
  <c:spPr>
    <a:solidFill>
      <a:srgbClr val="EEF2E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brief for a short talk, redone after the first wave of experiments and the kill-switch work. Every topic has two slides: the plain one with a picture for the room, the technical one for the people who will want to argue. Say up front that nothing here is silicon yet: it is a design with machine-checked proofs, tests, hardware blocks and a circuit simulation behind it, and a public program trying to kill it before anyone cuts a mask.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frame: a design program, not a product. The five stages are docs/22, the road to a chip we cannot fab: prove or disprove in software, design it to fit NVIDIA's boards through documented interfaces, run the tests and proofs on the chip itself, finish it to the point a foundry could take it, then stop and run it anyway in RTL, gates and on an FPGA. We are in stage one. Silicon waits for proof, and the two walls at the end are the NDA rows and the fab.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idea, in the words of the multi-layer post, with the kill-switch result folded in. Witnesses are useful and we keep all of them, OpenShell and Sentry included. But a witness lives in software that the operator, or the model, can change. The lock has to be something that cannot be argued with: a stamp the device checks for itself, a port that does not open, a breaker. And the lock goes where a cut is small: the ends, not the middle. Part 6 and docs/23 carry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old idea the design stands on; docs/00 calls verifiability the third test of a reference monitor. Each property has a mechanism, not a promise, and the third one now has a machine-checked proof behind it (proofs/core_invariants.py). The fourth row is new: docs/23 uses Menger's theorem to say where a monitor can be complete, and the answer is the ends. The five crossings are the whole attack surface the chip claims to cover; anything that does not pass a crossing is outside the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framework the whole thing hangs on, from docs/24. Ask three questions of any safety measure: where does it live, who can remove it and what does it cost, what does it see. The rule that falls out: a measure is never stronger than the thing it lives in. Walk up the steps. Text is undone by text. Weights are undone by weights. A process is undone by root. The chip is the first rung the model and the operator cannot write to, and the person is the last rung and the one you want deciding the big calls. The chip is how you make that person the only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ladder with the receipts; every paper is in docs/24 section 7 with its arXiv address. Read down the third column and it explains itself: rungs 0 to 3 are removed by writing to something the model or the operator can write to, rung 4 is not, and rung 5 is removed by talking, which is the one attack no silicon addresses and the reason the chip hands the person a typed form and not a transcript. Rungs compose as witnesses, not as locks: three software rungs are three miss rates, and they are correlated because they share the substrate.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stacking software rungs does not make a lock, from docs/24 section 4. The miss rates multiply only if the failures are independent, and they are not: a transformer judging a transformer shares the substrate, the injections and the edit. YB-0052 measured one piece of that when the keyword baseline overlapped the observer's own vocabulary. The gate on the right asks structural questions, a rule, a stamp, a witness, a budget, and the first no wins; a disguised request that fools every watcher still has no ticket, and nothing moves without one. Drawn by docs/figures/make_figures.py.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 rung, from docs/24. Regulators now ask for human oversight (the EU AI Act, Article 14), and without the rungs under it the obligation cannot be met: a dashboard is read after the action happened. The hold at the gate is the human lane in docs/04 section 5, tested in H18. Two residuals no silicon removes: persuasion, because a person is an effector no chip gates, and fatigue, which is why the false-halt rate is on the list of things that decide adoption.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talked-about solution to AI safety is the big red button, and it does not exist, and the reason is not politics, it is the shape of the thing. Three corrections to the popular version of the argument first: the models are not interconnected, they are replicated, which is worse; the network has no middle to cut; and a network cut is too little as well as too much, because of the laptop and the motor. Menger's theorem is a hundred years old and it says exactly where a cut can be small: where the roads are fewest, which is at the 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chart is proofs/no_global_kill_switch.py on a model graph: a 60-node core with six separate roads to every point, 12 copies, 10 devices, 40 bystanders. Deep in the network no cut exists at all. At the edge, one hop from every machine, the cheapest cut is 43 guards, it removes 72 percent of the core, it severs 19 percent of bystander connections, and it needs the list of every machine, which nobody has. At the devices: 11, one each. At the chips: 13, one each. Only the devices whose deed cannot be undone: 6. The Iran point is the one everyone raises, and it is the theorem working, not a counterexample: an edge cut with the list in hand, collateral, and a hole.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proof as it stands in docs/23 section 3a and Part 6. Claim 1 does not even need the Internet's redundancy. Claim 2 is where the Iran-style cut lives: possible, k nodes per machine, needs the list, takes bystanders. Claim 3 is the picture on the left: each separate road needs its own copy and its own device, so there are never more roads than the smaller side has dots, and one guard per dot on that side is the smallest cut anywhere. Why the one-line reason is 'because AI runs on the Internet': assumption 2 is the Internet. The Internet did not make AI unsafe; it made the kill switch impossible and told us where the gates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proofs/no_global_kill_switch.py builds the graph, computes minimum separators by max-flow over split nodes (Edmonds-Karp), cross-checks the smallest instance by brute force, and asserts K0 to K5. It runs in a second; make proof runs it with the two Z3 files. The numbers are the model's, not the Internet's, and the script says so in its docstring. What transfers is the shape: a highly connected middle has no small separator, the cheapest cuts are at the degree-one ends, and reversibility shrinks the set of ends you have to hold. The chart on the right is the --percolation mode.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from the theorem to the design. A separator stops traffic. A gate in the separator lets through exactly what a signed rule allows and nothing else: that is the reference monitor, and the Z3 proofs show the governor's gate has that property in every reachable state. Put the two together and the design is one sentence: the only small, complete separators between models and the world are at the ends; put a reference monitor in each end node; let its rules be signed by people the model cannot reach; check the ticket again in the device that acts. Fewer devices than copies, and they do not multiply when someone uploads a weight file, which is why the device end matters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reasons, one conclusion, and the picture that carries the whole design: the customs officer from docs/17. She checks seal, manifest, weight and the approved list, and catches smuggling as a mismatch. The chip does the same with hashes, signatures, counts and lists. The abliteration and judge facts are from the multi-layer post and the papers in docs/24.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answer to the question asked first: how can a chip know what is bad if it cannot read tokens? It cannot, and it does not try. It checks structure, and it makes the parts that do understand meaning impossible to skip or impersonate. The guarantees are test_observer_is_always_invoked_and_cannot_be_impersonated in H18.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docs/19 section 2 and the two proof files. The point to make in the room: 200 tests had passed for a week and the prover found two holes the tests were never going to find, both of the kind the design is supposed to be immune to. And the honest limit: the proof is about the abstract machine. Wave 1's L4 replays the simulation's traces through that machine and found two steps the machine lacks, a boot step and tickets burned without executing; that is the theorem being widened, which is what L4 was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picture to leave in the room: three boxes. The model computes, the governor decides, the devices check the stamp. The four points under it are the design choices that make it buildable: added on existing boards, an allow-list, a physical stop, and the retrofit case, which is the add-on chip for racks already installed. The retrofit case is smart if it can work, and whether it can work is now a column in experiment P2, per lever.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technical shape. Everything in the left column already exists on the boards; the governor is a new user of it. The right column is the die: a root of trust of the OpenTitan kind, plus the gate. The tiers are how the same design degrades or tightens depending on who cooperates. Sources: docs 01, 03, 04, 08, 22 and the board lever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28 September 2026 NVIDIA shipped OpenShell and Sentry, and the governor is built to sit under them, not fight them. This week the shipped middleware contract was read line by line from NVIDIA's repository (docs/extensibility/supervisor-middleware, main 837fdfd) against our model, and it needed three small fixes, all the kind of thing a published interface exists to catch. The reference stack now runs as that middleware against the contract. Seventeen catalogue entries run on that path. Source: hardware-and-silicon/docs/NVIDIA.md and tests/test_oasp.py.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layers, three kinds, straight from the layer table in the multi-layer post, with the ladder's lesson applied: locks are the keys that sign the rulebook, the gate, and the root of trust under it; witnesses are the observers and the provenance verdict, which the gate can require but never obeys on its own; the model and its sandbox are watched and never trusted. The biology picture is the post's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six layers with the mechanism named, from the multi-layer post's layer table, with the OpenShell contract and the dual-witness rule folded in. The column to watch is the third: what each layer can sign. Only layers 0, 4 and 5 produce something the gate trusts; layer 1 can sign nothing the gate will accept, which is the whole design in one cell.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flow chart from Part 5 (fig_bad_prompt), drawn as slide shapes so it reads in the room. A billion users, a transformer that knows nothing and predicts everything, the compute. The words are the watchers' problem; the action is the chip's. Layers 1 to 3 read words and each has a miss rate. Layer 4 reads a form, and it only wakes when something that cannot be undone is about to happen. The humans at layer 5 write the rulebook and hold the big ones, and no AI ever 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chip-internals figure from Part 5 (fig_chip_inside), drawn as shapes. Left: what goes in, and notice that two of the six inputs come from people by signature and one is the rulebook, which nobody types on the box. Middle: what is burned in, what is measured at boot, the ten questions in order, and the three stores. Right: what comes out, and the only things that ever come out are a signed ticket, a hold, a no with a code, a signed record, a lever, or a message to the other governors. It cannot read. It compares a form against a rulebook, checks signatures, counts, and keeps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six boxes. The thing to stress is box 5: the device checks the ticket itself, so a lying runtime is caught by the device, not by the governor. The sentence in the strip is the post's own description of the ticket.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flow with the actual checks and the actual reason codes, as govsim/reasons.py spells them, plus the last row for what OpenShell's sandbox sees. Every row has a test behind it; the right column names the hypothesis set. If someone wants to see one, python -m govsim.cli usecase strike, hazard, plot or oversight prints the hops.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 status. The counts are what pytest prints today: 200, 20 and 56; make proof prints all three files holding. The loop figure is hw/loop/results.md. The area is docs/04 section 11. The 75 attacks, 12 baselines and 17 OASP entries are the reference stack's sweep (results/report.md). The zero is the one to say out loud: wave 1 built four experiments and the gate sent all four back with specific findings, which is the gate doing its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line is from the wave's report and the reviews in audit/wave-1, and Part 5 tells the same story in prose. Two findings matter beyond the experiments themselves: the simulation takes steps the theorem does not model, which is exactly what L4 was built to flush out; and two repositories that were supposed to agree on a wire format did not, which is now a failing test. The YB-0052 last finding, real hazard names in the overt rows, is the one I should never have needed a reviewer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docs/22, the whole program in one place. The goal has not moved: prove or disprove; if it survives, design the chip in software to fit NVIDIA's boards through documented interfaces; run the tests and proofs on the chip; finish it to the point a foundry could take it; then stop, because nobody is handing me a mask set, and run it anyway in RTL, in gates and on an FPGA. Two walls at the end: the NDA rows in P2 and the fab. Both are someone else's decision, and the package will be sitting there, public, with its hashes, when they make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hop chain is the picture for the deepest challenge, from docs/18 section 5. Authority is full at the governor, partial at the network, and zero at a bank that has never heard of the stamp. Two of the six are the ones no theorem removes, from docs/23: coverage, and people. The answer to reach, on the next slide, is to move the credential rather than reach through the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each challenge, the mechanism and its status, from docs/18 sections 5 to 8b, docs/23 and the wave-1 reviews. The status column is the honest part: modelled is not measured, the theorem has gaps the simulation exposed, and three of the seven end in an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Anyone from a lab or from NVIDIA will ask this in the first five minutes. The design is a cousin of the flexHEG work, not a stranger to it, and it says so. The differences are the point: it governs actions rather than compute, it is an add-on rather than an enclosure, the device checks the stamp again, the witnesses are measured, and it is a repository with tests rather than a proposal. What it has not done yet, and should, is written down as two open questions with what would settle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asks in plain words, plus the standing one: run it. Each ask maps to a specific open question on the next slide, and several would disprove the thesis as stated if the answer is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asks by who can grant them, from docs/18 sections 8 and 9 and docs/21 for the outside audit. The right-hand panel is the falsification list: if any of those seven comes true, the design as written does not hold, and we should know early. The last one is Part 6's standing offer.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plain sentence: what it is, what it does, what it can stop. Then the two lines under it. The repositories hold the model, the proofs, the tests, the RTL, the circuit simulation, the experiment program and the audit packets; the blog series is the plain-English route in, and START-HERE.md is the route for anyone who wants to check the work rather than take my word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B2A2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slideLayout" Target="../slideLayouts/slideLayout3.xml"/><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3.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3.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3.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slideLayout" Target="../slideLayouts/slideLayout3.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slideLayout" Target="../slideLayouts/slideLayout3.xml"/><Relationship Id="rId8"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image" Target="../media/image-30-7.png"/><Relationship Id="rId8" Type="http://schemas.openxmlformats.org/officeDocument/2006/relationships/slideLayout" Target="../slideLayouts/slideLayout3.xml"/><Relationship Id="rId9"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slideLayout" Target="../slideLayouts/slideLayout3.xml"/><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image" Target="../media/image-33-6.png"/><Relationship Id="rId7" Type="http://schemas.openxmlformats.org/officeDocument/2006/relationships/image" Target="../media/image-33-7.png"/><Relationship Id="rId8" Type="http://schemas.openxmlformats.org/officeDocument/2006/relationships/slideLayout" Target="../slideLayouts/slideLayout3.xml"/><Relationship Id="rId9"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txBox="1"/>
          <p:nvPr/>
        </p:nvSpPr>
        <p:spPr>
          <a:xfrm>
            <a:off x="548640" y="1737360"/>
            <a:ext cx="7680960" cy="1280160"/>
          </a:xfrm>
          <a:prstGeom prst="rect">
            <a:avLst/>
          </a:prstGeom>
          <a:noFill/>
          <a:ln/>
        </p:spPr>
        <p:txBody>
          <a:bodyPr wrap="square" lIns="0" tIns="0" rIns="0" bIns="0" rtlCol="0" anchor="b">
            <a:normAutofit/>
          </a:bodyPr>
          <a:lstStyle/>
          <a:p>
            <a:pPr indent="0" marL="0">
              <a:buNone/>
            </a:pPr>
            <a:r>
              <a:rPr lang="en-US" sz="4400" b="1" dirty="0">
                <a:solidFill>
                  <a:schemeClr val="bg1"/>
                </a:solidFill>
                <a:latin typeface="Georgia" pitchFamily="34" charset="0"/>
                <a:ea typeface="Georgia" pitchFamily="34" charset="-122"/>
                <a:cs typeface="Georgia" pitchFamily="34" charset="-120"/>
              </a:rPr>
              <a:t>The Chip That Says No</a:t>
            </a:r>
            <a:endParaRPr lang="en-US" sz="4400" dirty="0"/>
          </a:p>
        </p:txBody>
      </p:sp>
      <p:sp>
        <p:nvSpPr>
          <p:cNvPr id="3" name="subtitle"/>
          <p:cNvSpPr txBox="1"/>
          <p:nvPr/>
        </p:nvSpPr>
        <p:spPr>
          <a:xfrm>
            <a:off x="548640" y="3154680"/>
            <a:ext cx="7680960" cy="1554480"/>
          </a:xfrm>
          <a:prstGeom prst="rect">
            <a:avLst/>
          </a:prstGeom>
          <a:noFill/>
          <a:ln/>
        </p:spPr>
        <p:txBody>
          <a:bodyPr wrap="square" lIns="0" tIns="0" rIns="0" bIns="0" rtlCol="0" anchor="t">
            <a:normAutofit/>
          </a:bodyPr>
          <a:lstStyle/>
          <a:p>
            <a:pPr indent="0" marL="0">
              <a:buNone/>
            </a:pPr>
            <a:r>
              <a:rPr lang="en-US" sz="1900" dirty="0">
                <a:solidFill>
                  <a:schemeClr val="accent6"/>
                </a:solidFill>
                <a:latin typeface="Arial" pitchFamily="34" charset="0"/>
                <a:ea typeface="Arial" pitchFamily="34" charset="-122"/>
                <a:cs typeface="Arial" pitchFamily="34" charset="-120"/>
              </a:rPr>
              <a:t>A multi-layer hardware approach to AI safety, after the first wave of experiments. There is no kill switch for AI, so the gate goes at the ends: the chip that runs the model and the device that does the deed. Each topic in two slides: the plain version with a picture, then the technical one.</a:t>
            </a:r>
            <a:endParaRPr lang="en-US" sz="1900" dirty="0"/>
          </a:p>
        </p:txBody>
      </p:sp>
      <p:sp>
        <p:nvSpPr>
          <p:cNvPr id="4" name="footer"/>
          <p:cNvSpPr txBox="1"/>
          <p:nvPr/>
        </p:nvSpPr>
        <p:spPr>
          <a:xfrm>
            <a:off x="548640" y="6217920"/>
            <a:ext cx="8229600" cy="320040"/>
          </a:xfrm>
          <a:prstGeom prst="rect">
            <a:avLst/>
          </a:prstGeom>
          <a:noFill/>
          <a:ln/>
        </p:spPr>
        <p:txBody>
          <a:bodyPr wrap="square" lIns="0" tIns="0" rIns="0" bIns="0" rtlCol="0" anchor="t">
            <a:normAutofit/>
          </a:bodyPr>
          <a:lstStyle/>
          <a:p>
            <a:pPr indent="0" marL="0">
              <a:buNone/>
            </a:pPr>
            <a:r>
              <a:rPr lang="en-US" sz="1200" dirty="0">
                <a:solidFill>
                  <a:schemeClr val="accent3"/>
                </a:solidFill>
                <a:latin typeface="Arial" pitchFamily="34" charset="0"/>
                <a:ea typeface="Arial" pitchFamily="34" charset="-122"/>
                <a:cs typeface="Arial" pitchFamily="34" charset="-120"/>
              </a:rPr>
              <a:t>Yobie Benjamin  ·  yobie AT ieee DOT org  ·  linkedin.com/in/yobie</a:t>
            </a:r>
            <a:endParaRPr lang="en-US" sz="1200" dirty="0"/>
          </a:p>
        </p:txBody>
      </p:sp>
      <p:sp>
        <p:nvSpPr>
          <p:cNvPr id="5" name="halt loop"/>
          <p:cNvSpPr/>
          <p:nvPr/>
        </p:nvSpPr>
        <p:spPr>
          <a:xfrm>
            <a:off x="8732520" y="1965960"/>
            <a:ext cx="2651760" cy="2651760"/>
          </a:xfrm>
          <a:prstGeom prst="ellipse">
            <a:avLst/>
          </a:prstGeom>
          <a:solidFill>
            <a:srgbClr val="1B2A24"/>
          </a:solidFill>
          <a:ln w="63500">
            <a:solidFill>
              <a:schemeClr val="accent1"/>
            </a:solidFill>
            <a:prstDash val="solid"/>
          </a:ln>
        </p:spPr>
      </p:sp>
      <p:sp>
        <p:nvSpPr>
          <p:cNvPr id="6" name="governor 0"/>
          <p:cNvSpPr/>
          <p:nvPr/>
        </p:nvSpPr>
        <p:spPr>
          <a:xfrm>
            <a:off x="9893808" y="1801368"/>
            <a:ext cx="329184" cy="329184"/>
          </a:xfrm>
          <a:prstGeom prst="roundRect">
            <a:avLst>
              <a:gd name="adj" fmla="val 16667"/>
            </a:avLst>
          </a:prstGeom>
          <a:solidFill>
            <a:schemeClr val="accent2"/>
          </a:solidFill>
          <a:ln w="19050">
            <a:solidFill>
              <a:schemeClr val="bg1"/>
            </a:solidFill>
            <a:prstDash val="solid"/>
          </a:ln>
        </p:spPr>
      </p:sp>
      <p:sp>
        <p:nvSpPr>
          <p:cNvPr id="7" name="governor 1"/>
          <p:cNvSpPr/>
          <p:nvPr/>
        </p:nvSpPr>
        <p:spPr>
          <a:xfrm>
            <a:off x="10831347" y="2189709"/>
            <a:ext cx="329184" cy="329184"/>
          </a:xfrm>
          <a:prstGeom prst="roundRect">
            <a:avLst>
              <a:gd name="adj" fmla="val 16667"/>
            </a:avLst>
          </a:prstGeom>
          <a:solidFill>
            <a:schemeClr val="accent2"/>
          </a:solidFill>
          <a:ln w="19050">
            <a:solidFill>
              <a:schemeClr val="bg1"/>
            </a:solidFill>
            <a:prstDash val="solid"/>
          </a:ln>
        </p:spPr>
      </p:sp>
      <p:sp>
        <p:nvSpPr>
          <p:cNvPr id="8" name="governor 2"/>
          <p:cNvSpPr/>
          <p:nvPr/>
        </p:nvSpPr>
        <p:spPr>
          <a:xfrm>
            <a:off x="11219688" y="3127248"/>
            <a:ext cx="329184" cy="329184"/>
          </a:xfrm>
          <a:prstGeom prst="roundRect">
            <a:avLst>
              <a:gd name="adj" fmla="val 16667"/>
            </a:avLst>
          </a:prstGeom>
          <a:solidFill>
            <a:schemeClr val="accent2"/>
          </a:solidFill>
          <a:ln w="19050">
            <a:solidFill>
              <a:schemeClr val="bg1"/>
            </a:solidFill>
            <a:prstDash val="solid"/>
          </a:ln>
        </p:spPr>
      </p:sp>
      <p:sp>
        <p:nvSpPr>
          <p:cNvPr id="9" name="governor 3"/>
          <p:cNvSpPr/>
          <p:nvPr/>
        </p:nvSpPr>
        <p:spPr>
          <a:xfrm>
            <a:off x="10831347" y="4064787"/>
            <a:ext cx="329184" cy="329184"/>
          </a:xfrm>
          <a:prstGeom prst="roundRect">
            <a:avLst>
              <a:gd name="adj" fmla="val 16667"/>
            </a:avLst>
          </a:prstGeom>
          <a:solidFill>
            <a:schemeClr val="accent2"/>
          </a:solidFill>
          <a:ln w="19050">
            <a:solidFill>
              <a:schemeClr val="bg1"/>
            </a:solidFill>
            <a:prstDash val="solid"/>
          </a:ln>
        </p:spPr>
      </p:sp>
      <p:sp>
        <p:nvSpPr>
          <p:cNvPr id="10" name="governor 4"/>
          <p:cNvSpPr/>
          <p:nvPr/>
        </p:nvSpPr>
        <p:spPr>
          <a:xfrm>
            <a:off x="9893808" y="4453128"/>
            <a:ext cx="329184" cy="329184"/>
          </a:xfrm>
          <a:prstGeom prst="roundRect">
            <a:avLst>
              <a:gd name="adj" fmla="val 16667"/>
            </a:avLst>
          </a:prstGeom>
          <a:solidFill>
            <a:schemeClr val="accent2"/>
          </a:solidFill>
          <a:ln w="19050">
            <a:solidFill>
              <a:schemeClr val="bg1"/>
            </a:solidFill>
            <a:prstDash val="solid"/>
          </a:ln>
        </p:spPr>
      </p:sp>
      <p:sp>
        <p:nvSpPr>
          <p:cNvPr id="11" name="governor 5"/>
          <p:cNvSpPr/>
          <p:nvPr/>
        </p:nvSpPr>
        <p:spPr>
          <a:xfrm>
            <a:off x="8956269" y="4064787"/>
            <a:ext cx="329184" cy="329184"/>
          </a:xfrm>
          <a:prstGeom prst="roundRect">
            <a:avLst>
              <a:gd name="adj" fmla="val 16667"/>
            </a:avLst>
          </a:prstGeom>
          <a:solidFill>
            <a:schemeClr val="accent4"/>
          </a:solidFill>
          <a:ln w="19050">
            <a:solidFill>
              <a:schemeClr val="bg1"/>
            </a:solidFill>
            <a:prstDash val="solid"/>
          </a:ln>
        </p:spPr>
      </p:sp>
      <p:sp>
        <p:nvSpPr>
          <p:cNvPr id="12" name="governor 6"/>
          <p:cNvSpPr/>
          <p:nvPr/>
        </p:nvSpPr>
        <p:spPr>
          <a:xfrm>
            <a:off x="8567928" y="3127248"/>
            <a:ext cx="329184" cy="329184"/>
          </a:xfrm>
          <a:prstGeom prst="roundRect">
            <a:avLst>
              <a:gd name="adj" fmla="val 16667"/>
            </a:avLst>
          </a:prstGeom>
          <a:solidFill>
            <a:schemeClr val="accent2"/>
          </a:solidFill>
          <a:ln w="19050">
            <a:solidFill>
              <a:schemeClr val="bg1"/>
            </a:solidFill>
            <a:prstDash val="solid"/>
          </a:ln>
        </p:spPr>
      </p:sp>
      <p:sp>
        <p:nvSpPr>
          <p:cNvPr id="13" name="governor 7"/>
          <p:cNvSpPr/>
          <p:nvPr/>
        </p:nvSpPr>
        <p:spPr>
          <a:xfrm>
            <a:off x="8956269" y="2189709"/>
            <a:ext cx="329184" cy="329184"/>
          </a:xfrm>
          <a:prstGeom prst="roundRect">
            <a:avLst>
              <a:gd name="adj" fmla="val 16667"/>
            </a:avLst>
          </a:prstGeom>
          <a:solidFill>
            <a:schemeClr val="accent2"/>
          </a:solidFill>
          <a:ln w="19050">
            <a:solidFill>
              <a:schemeClr val="bg1"/>
            </a:solidFill>
            <a:prstDash val="solid"/>
          </a:ln>
        </p:spPr>
      </p:sp>
      <p:sp>
        <p:nvSpPr>
          <p:cNvPr id="14" name="Text 12"/>
          <p:cNvSpPr txBox="1"/>
          <p:nvPr/>
        </p:nvSpPr>
        <p:spPr>
          <a:xfrm>
            <a:off x="8321040" y="4892040"/>
            <a:ext cx="3474720" cy="685800"/>
          </a:xfrm>
          <a:prstGeom prst="rect">
            <a:avLst/>
          </a:prstGeom>
          <a:noFill/>
          <a:ln/>
        </p:spPr>
        <p:txBody>
          <a:bodyPr wrap="square" lIns="0" tIns="0" rIns="0" bIns="0" rtlCol="0" anchor="t">
            <a:normAutofit/>
          </a:bodyPr>
          <a:lstStyle/>
          <a:p>
            <a:pPr algn="ctr" indent="0" marL="0">
              <a:buNone/>
            </a:pPr>
            <a:r>
              <a:rPr lang="en-US" sz="1100" dirty="0">
                <a:solidFill>
                  <a:schemeClr val="accent3"/>
                </a:solidFill>
                <a:latin typeface="Arial" pitchFamily="34" charset="0"/>
                <a:ea typeface="Arial" pitchFamily="34" charset="-122"/>
                <a:cs typeface="Arial" pitchFamily="34" charset="-120"/>
              </a:rPr>
              <a:t>The halt loop: one series current loop through every governor in a rack. Any governor opens it, or a cut wire, and every GPU halts.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What this project is</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2</a:t>
            </a:r>
            <a:endParaRPr lang="en-US" sz="1100" dirty="0"/>
          </a:p>
        </p:txBody>
      </p:sp>
      <p:sp>
        <p:nvSpPr>
          <p:cNvPr id="5" name="Text 3"/>
          <p:cNvSpPr txBox="1"/>
          <p:nvPr/>
        </p:nvSpPr>
        <p:spPr>
          <a:xfrm>
            <a:off x="548640" y="1417320"/>
            <a:ext cx="6035040" cy="1737360"/>
          </a:xfrm>
          <a:prstGeom prst="rect">
            <a:avLst/>
          </a:prstGeom>
          <a:noFill/>
          <a:ln/>
        </p:spPr>
        <p:txBody>
          <a:bodyPr wrap="square" lIns="0" tIns="0" rIns="0" bIns="0" rtlCol="0" anchor="t">
            <a:normAutofit/>
          </a:bodyPr>
          <a:lstStyle/>
          <a:p>
            <a:pPr indent="0" marL="0">
              <a:buNone/>
            </a:pPr>
            <a:r>
              <a:rPr lang="en-US" sz="1550" dirty="0">
                <a:solidFill>
                  <a:schemeClr val="tx1"/>
                </a:solidFill>
                <a:latin typeface="Georgia" pitchFamily="34" charset="0"/>
                <a:ea typeface="Georgia" pitchFamily="34" charset="-122"/>
                <a:cs typeface="Georgia" pitchFamily="34" charset="-120"/>
              </a:rPr>
              <a:t>A design for a small safety chip that sits beside every AI GPU and holds the only stamp a device needs before it acts. Built in the open: a model with tests, machine-checked proofs, hardware blocks, a circuit simulation, and a public experiment program with the conditions that would kill it. No silicon yet, by choice.</a:t>
            </a:r>
            <a:endParaRPr lang="en-US" sz="1550" dirty="0"/>
          </a:p>
        </p:txBody>
      </p:sp>
      <p:sp>
        <p:nvSpPr>
          <p:cNvPr id="6" name="card"/>
          <p:cNvSpPr/>
          <p:nvPr/>
        </p:nvSpPr>
        <p:spPr>
          <a:xfrm>
            <a:off x="6949440" y="1417320"/>
            <a:ext cx="4690872" cy="1188720"/>
          </a:xfrm>
          <a:prstGeom prst="roundRect">
            <a:avLst>
              <a:gd name="adj" fmla="val 6154"/>
            </a:avLst>
          </a:prstGeom>
          <a:solidFill>
            <a:schemeClr val="bg2"/>
          </a:solidFill>
          <a:ln w="12700">
            <a:solidFill>
              <a:schemeClr val="bg2"/>
            </a:solidFill>
            <a:prstDash val="solid"/>
          </a:ln>
        </p:spPr>
      </p:sp>
      <p:sp>
        <p:nvSpPr>
          <p:cNvPr id="7" name="icon circle"/>
          <p:cNvSpPr/>
          <p:nvPr/>
        </p:nvSpPr>
        <p:spPr>
          <a:xfrm>
            <a:off x="7132320" y="1719072"/>
            <a:ext cx="566928" cy="566928"/>
          </a:xfrm>
          <a:prstGeom prst="ellipse">
            <a:avLst/>
          </a:prstGeom>
          <a:solidFill>
            <a:schemeClr val="tx2"/>
          </a:solidFill>
          <a:ln w="12700">
            <a:solidFill>
              <a:schemeClr val="tx2"/>
            </a:solidFill>
            <a:prstDash val="solid"/>
          </a:ln>
        </p:spPr>
      </p:sp>
      <p:pic>
        <p:nvPicPr>
          <p:cNvPr id="8" name="FiGitBranch" descr="preencoded.png">    </p:cNvPr>
          <p:cNvPicPr>
            <a:picLocks noChangeAspect="1"/>
          </p:cNvPicPr>
          <p:nvPr/>
        </p:nvPicPr>
        <p:blipFill>
          <a:blip r:embed="rId1"/>
          <a:stretch>
            <a:fillRect/>
          </a:stretch>
        </p:blipFill>
        <p:spPr>
          <a:xfrm>
            <a:off x="7274052" y="1860804"/>
            <a:ext cx="283464" cy="283464"/>
          </a:xfrm>
          <a:prstGeom prst="rect">
            <a:avLst/>
          </a:prstGeom>
        </p:spPr>
      </p:pic>
      <p:sp>
        <p:nvSpPr>
          <p:cNvPr id="9" name="Text 6"/>
          <p:cNvSpPr txBox="1"/>
          <p:nvPr/>
        </p:nvSpPr>
        <p:spPr>
          <a:xfrm>
            <a:off x="7882128" y="1545336"/>
            <a:ext cx="3611880" cy="320040"/>
          </a:xfrm>
          <a:prstGeom prst="rect">
            <a:avLst/>
          </a:prstGeom>
          <a:noFill/>
          <a:ln/>
        </p:spPr>
        <p:txBody>
          <a:bodyPr wrap="square" lIns="0" tIns="0" rIns="0" bIns="0" rtlCol="0" anchor="t">
            <a:normAutofit/>
          </a:bodyPr>
          <a:lstStyle/>
          <a:p>
            <a:pPr indent="0" marL="0">
              <a:buNone/>
            </a:pPr>
            <a:r>
              <a:rPr lang="en-US" sz="1350" b="1" dirty="0">
                <a:solidFill>
                  <a:schemeClr val="tx1"/>
                </a:solidFill>
                <a:latin typeface="Arial" pitchFamily="34" charset="0"/>
                <a:ea typeface="Arial" pitchFamily="34" charset="-122"/>
                <a:cs typeface="Arial" pitchFamily="34" charset="-120"/>
              </a:rPr>
              <a:t>Five open repositories</a:t>
            </a:r>
            <a:endParaRPr lang="en-US" sz="1350" dirty="0"/>
          </a:p>
        </p:txBody>
      </p:sp>
      <p:sp>
        <p:nvSpPr>
          <p:cNvPr id="10" name="Text 7"/>
          <p:cNvSpPr txBox="1"/>
          <p:nvPr/>
        </p:nvSpPr>
        <p:spPr>
          <a:xfrm>
            <a:off x="7882128" y="1874520"/>
            <a:ext cx="3611880" cy="713232"/>
          </a:xfrm>
          <a:prstGeom prst="rect">
            <a:avLst/>
          </a:prstGeom>
          <a:noFill/>
          <a:ln/>
        </p:spPr>
        <p:txBody>
          <a:bodyPr wrap="square" lIns="0" tIns="0" rIns="0" bIns="0" rtlCol="0" anchor="t">
            <a:normAutofit/>
          </a:bodyPr>
          <a:lstStyle/>
          <a:p>
            <a:pPr indent="0" marL="0">
              <a:buNone/>
            </a:pPr>
            <a:r>
              <a:rPr lang="en-US" sz="1000" dirty="0">
                <a:solidFill>
                  <a:schemeClr val="accent3"/>
                </a:solidFill>
                <a:latin typeface="Arial" pitchFamily="34" charset="0"/>
                <a:ea typeface="Arial" pitchFamily="34" charset="-122"/>
                <a:cs typeface="Arial" pitchFamily="34" charset="-120"/>
              </a:rPr>
              <a:t>safety-governor: the chip, the proofs, the experiment program. hardware-and-silicon: the software reference stack and the blog. safety: the observer. autonomic-graph-regulation: its public snapshot. Watermark: provenance.</a:t>
            </a:r>
            <a:endParaRPr lang="en-US" sz="1000" dirty="0"/>
          </a:p>
        </p:txBody>
      </p:sp>
      <p:sp>
        <p:nvSpPr>
          <p:cNvPr id="11" name="card"/>
          <p:cNvSpPr/>
          <p:nvPr/>
        </p:nvSpPr>
        <p:spPr>
          <a:xfrm>
            <a:off x="6949440" y="2743200"/>
            <a:ext cx="4690872" cy="1188720"/>
          </a:xfrm>
          <a:prstGeom prst="roundRect">
            <a:avLst>
              <a:gd name="adj" fmla="val 6154"/>
            </a:avLst>
          </a:prstGeom>
          <a:solidFill>
            <a:schemeClr val="bg2"/>
          </a:solidFill>
          <a:ln w="12700">
            <a:solidFill>
              <a:schemeClr val="bg2"/>
            </a:solidFill>
            <a:prstDash val="solid"/>
          </a:ln>
        </p:spPr>
      </p:sp>
      <p:sp>
        <p:nvSpPr>
          <p:cNvPr id="12" name="icon circle"/>
          <p:cNvSpPr/>
          <p:nvPr/>
        </p:nvSpPr>
        <p:spPr>
          <a:xfrm>
            <a:off x="7132320" y="3044952"/>
            <a:ext cx="566928" cy="566928"/>
          </a:xfrm>
          <a:prstGeom prst="ellipse">
            <a:avLst/>
          </a:prstGeom>
          <a:solidFill>
            <a:schemeClr val="tx2"/>
          </a:solidFill>
          <a:ln w="12700">
            <a:solidFill>
              <a:schemeClr val="tx2"/>
            </a:solidFill>
            <a:prstDash val="solid"/>
          </a:ln>
        </p:spPr>
      </p:sp>
      <p:pic>
        <p:nvPicPr>
          <p:cNvPr id="13" name="FiCheckSquare" descr="preencoded.png">    </p:cNvPr>
          <p:cNvPicPr>
            <a:picLocks noChangeAspect="1"/>
          </p:cNvPicPr>
          <p:nvPr/>
        </p:nvPicPr>
        <p:blipFill>
          <a:blip r:embed="rId2"/>
          <a:stretch>
            <a:fillRect/>
          </a:stretch>
        </p:blipFill>
        <p:spPr>
          <a:xfrm>
            <a:off x="7274052" y="3186684"/>
            <a:ext cx="283464" cy="283464"/>
          </a:xfrm>
          <a:prstGeom prst="rect">
            <a:avLst/>
          </a:prstGeom>
        </p:spPr>
      </p:pic>
      <p:sp>
        <p:nvSpPr>
          <p:cNvPr id="14" name="Text 10"/>
          <p:cNvSpPr txBox="1"/>
          <p:nvPr/>
        </p:nvSpPr>
        <p:spPr>
          <a:xfrm>
            <a:off x="7882128" y="2871216"/>
            <a:ext cx="3611880" cy="320040"/>
          </a:xfrm>
          <a:prstGeom prst="rect">
            <a:avLst/>
          </a:prstGeom>
          <a:noFill/>
          <a:ln/>
        </p:spPr>
        <p:txBody>
          <a:bodyPr wrap="square" lIns="0" tIns="0" rIns="0" bIns="0" rtlCol="0" anchor="t">
            <a:normAutofit/>
          </a:bodyPr>
          <a:lstStyle/>
          <a:p>
            <a:pPr indent="0" marL="0">
              <a:buNone/>
            </a:pPr>
            <a:r>
              <a:rPr lang="en-US" sz="1350" b="1" dirty="0">
                <a:solidFill>
                  <a:schemeClr val="tx1"/>
                </a:solidFill>
                <a:latin typeface="Arial" pitchFamily="34" charset="0"/>
                <a:ea typeface="Arial" pitchFamily="34" charset="-122"/>
                <a:cs typeface="Arial" pitchFamily="34" charset="-120"/>
              </a:rPr>
              <a:t>One rule for the program</a:t>
            </a:r>
            <a:endParaRPr lang="en-US" sz="1350" dirty="0"/>
          </a:p>
        </p:txBody>
      </p:sp>
      <p:sp>
        <p:nvSpPr>
          <p:cNvPr id="15" name="Text 11"/>
          <p:cNvSpPr txBox="1"/>
          <p:nvPr/>
        </p:nvSpPr>
        <p:spPr>
          <a:xfrm>
            <a:off x="7882128" y="3200400"/>
            <a:ext cx="3611880" cy="713232"/>
          </a:xfrm>
          <a:prstGeom prst="rect">
            <a:avLst/>
          </a:prstGeom>
          <a:noFill/>
          <a:ln/>
        </p:spPr>
        <p:txBody>
          <a:bodyPr wrap="square" lIns="0" tIns="0" rIns="0" bIns="0" rtlCol="0" anchor="t">
            <a:normAutofit/>
          </a:bodyPr>
          <a:lstStyle/>
          <a:p>
            <a:pPr indent="0" marL="0">
              <a:buNone/>
            </a:pPr>
            <a:r>
              <a:rPr lang="en-US" sz="1000" dirty="0">
                <a:solidFill>
                  <a:schemeClr val="accent3"/>
                </a:solidFill>
                <a:latin typeface="Arial" pitchFamily="34" charset="0"/>
                <a:ea typeface="Arial" pitchFamily="34" charset="-122"/>
                <a:cs typeface="Arial" pitchFamily="34" charset="-120"/>
              </a:rPr>
              <a:t>Nothing goes to hardware until the design is proven in software, firmware and circuit simulation: 1000 percent sure in the pre-hardware phase, because tape-out is where mistakes get expensive.</a:t>
            </a:r>
            <a:endParaRPr lang="en-US" sz="1000" dirty="0"/>
          </a:p>
        </p:txBody>
      </p:sp>
      <p:sp>
        <p:nvSpPr>
          <p:cNvPr id="16" name="card"/>
          <p:cNvSpPr/>
          <p:nvPr/>
        </p:nvSpPr>
        <p:spPr>
          <a:xfrm>
            <a:off x="6949440" y="4069080"/>
            <a:ext cx="4690872" cy="1188720"/>
          </a:xfrm>
          <a:prstGeom prst="roundRect">
            <a:avLst>
              <a:gd name="adj" fmla="val 6154"/>
            </a:avLst>
          </a:prstGeom>
          <a:solidFill>
            <a:schemeClr val="bg2"/>
          </a:solidFill>
          <a:ln w="12700">
            <a:solidFill>
              <a:schemeClr val="bg2"/>
            </a:solidFill>
            <a:prstDash val="solid"/>
          </a:ln>
        </p:spPr>
      </p:sp>
      <p:sp>
        <p:nvSpPr>
          <p:cNvPr id="17" name="icon circle"/>
          <p:cNvSpPr/>
          <p:nvPr/>
        </p:nvSpPr>
        <p:spPr>
          <a:xfrm>
            <a:off x="7132320" y="4370832"/>
            <a:ext cx="566928" cy="566928"/>
          </a:xfrm>
          <a:prstGeom prst="ellipse">
            <a:avLst/>
          </a:prstGeom>
          <a:solidFill>
            <a:schemeClr val="tx2"/>
          </a:solidFill>
          <a:ln w="12700">
            <a:solidFill>
              <a:schemeClr val="tx2"/>
            </a:solidFill>
            <a:prstDash val="solid"/>
          </a:ln>
        </p:spPr>
      </p:sp>
      <p:pic>
        <p:nvPicPr>
          <p:cNvPr id="18" name="FiServer" descr="preencoded.png">    </p:cNvPr>
          <p:cNvPicPr>
            <a:picLocks noChangeAspect="1"/>
          </p:cNvPicPr>
          <p:nvPr/>
        </p:nvPicPr>
        <p:blipFill>
          <a:blip r:embed="rId3"/>
          <a:stretch>
            <a:fillRect/>
          </a:stretch>
        </p:blipFill>
        <p:spPr>
          <a:xfrm>
            <a:off x="7274052" y="4512564"/>
            <a:ext cx="283464" cy="283464"/>
          </a:xfrm>
          <a:prstGeom prst="rect">
            <a:avLst/>
          </a:prstGeom>
        </p:spPr>
      </p:pic>
      <p:sp>
        <p:nvSpPr>
          <p:cNvPr id="19" name="Text 14"/>
          <p:cNvSpPr txBox="1"/>
          <p:nvPr/>
        </p:nvSpPr>
        <p:spPr>
          <a:xfrm>
            <a:off x="7882128" y="4197096"/>
            <a:ext cx="3611880" cy="320040"/>
          </a:xfrm>
          <a:prstGeom prst="rect">
            <a:avLst/>
          </a:prstGeom>
          <a:noFill/>
          <a:ln/>
        </p:spPr>
        <p:txBody>
          <a:bodyPr wrap="square" lIns="0" tIns="0" rIns="0" bIns="0" rtlCol="0" anchor="t">
            <a:normAutofit/>
          </a:bodyPr>
          <a:lstStyle/>
          <a:p>
            <a:pPr indent="0" marL="0">
              <a:buNone/>
            </a:pPr>
            <a:r>
              <a:rPr lang="en-US" sz="1350" b="1" dirty="0">
                <a:solidFill>
                  <a:schemeClr val="tx1"/>
                </a:solidFill>
                <a:latin typeface="Arial" pitchFamily="34" charset="0"/>
                <a:ea typeface="Arial" pitchFamily="34" charset="-122"/>
                <a:cs typeface="Arial" pitchFamily="34" charset="-120"/>
              </a:rPr>
              <a:t>Plan of record: the rack tier, retrofit included</a:t>
            </a:r>
            <a:endParaRPr lang="en-US" sz="1350" dirty="0"/>
          </a:p>
        </p:txBody>
      </p:sp>
      <p:sp>
        <p:nvSpPr>
          <p:cNvPr id="20" name="Text 15"/>
          <p:cNvSpPr txBox="1"/>
          <p:nvPr/>
        </p:nvSpPr>
        <p:spPr>
          <a:xfrm>
            <a:off x="7882128" y="4526280"/>
            <a:ext cx="3611880" cy="713232"/>
          </a:xfrm>
          <a:prstGeom prst="rect">
            <a:avLst/>
          </a:prstGeom>
          <a:noFill/>
          <a:ln/>
        </p:spPr>
        <p:txBody>
          <a:bodyPr wrap="square" lIns="0" tIns="0" rIns="0" bIns="0" rtlCol="0" anchor="t">
            <a:normAutofit/>
          </a:bodyPr>
          <a:lstStyle/>
          <a:p>
            <a:pPr indent="0" marL="0">
              <a:buNone/>
            </a:pPr>
            <a:r>
              <a:rPr lang="en-US" sz="1000" dirty="0">
                <a:solidFill>
                  <a:schemeClr val="accent3"/>
                </a:solidFill>
                <a:latin typeface="Arial" pitchFamily="34" charset="0"/>
                <a:ea typeface="Arial" pitchFamily="34" charset="-122"/>
                <a:cs typeface="Arial" pitchFamily="34" charset="-120"/>
              </a:rPr>
              <a:t>The chip rides on the server maker's management card and reaches NVIDIA's GPU board through its connector. Installed racks get it as a module in the slot a BMC card already uses, if the levers reach that slot.</a:t>
            </a:r>
            <a:endParaRPr lang="en-US" sz="1000" dirty="0"/>
          </a:p>
        </p:txBody>
      </p:sp>
      <p:sp>
        <p:nvSpPr>
          <p:cNvPr id="21" name="Text 16"/>
          <p:cNvSpPr txBox="1"/>
          <p:nvPr/>
        </p:nvSpPr>
        <p:spPr>
          <a:xfrm>
            <a:off x="548640" y="3246120"/>
            <a:ext cx="6035040" cy="228600"/>
          </a:xfrm>
          <a:prstGeom prst="rect">
            <a:avLst/>
          </a:prstGeom>
          <a:noFill/>
          <a:ln/>
        </p:spPr>
        <p:txBody>
          <a:bodyPr wrap="square" lIns="0" tIns="0" rIns="0" bIns="0" rtlCol="0" anchor="t">
            <a:normAutofit/>
          </a:bodyPr>
          <a:lstStyle/>
          <a:p>
            <a:pPr indent="0" marL="0">
              <a:buNone/>
            </a:pPr>
            <a:r>
              <a:rPr lang="en-US" sz="950" b="1" dirty="0">
                <a:solidFill>
                  <a:schemeClr val="accent1"/>
                </a:solidFill>
                <a:latin typeface="Arial" pitchFamily="34" charset="0"/>
                <a:ea typeface="Arial" pitchFamily="34" charset="-122"/>
                <a:cs typeface="Arial" pitchFamily="34" charset="-120"/>
              </a:rPr>
              <a:t>THE FIVE STAGES (DOCS 22), AND WHERE EACH STANDS</a:t>
            </a:r>
            <a:endParaRPr lang="en-US" sz="950" dirty="0"/>
          </a:p>
        </p:txBody>
      </p:sp>
      <p:sp>
        <p:nvSpPr>
          <p:cNvPr id="22" name="stage"/>
          <p:cNvSpPr/>
          <p:nvPr/>
        </p:nvSpPr>
        <p:spPr>
          <a:xfrm>
            <a:off x="548640" y="3520440"/>
            <a:ext cx="1097280" cy="658368"/>
          </a:xfrm>
          <a:prstGeom prst="roundRect">
            <a:avLst>
              <a:gd name="adj" fmla="val 11111"/>
            </a:avLst>
          </a:prstGeom>
          <a:solidFill>
            <a:schemeClr val="accent1"/>
          </a:solidFill>
          <a:ln w="12700">
            <a:solidFill>
              <a:schemeClr val="accent1"/>
            </a:solidFill>
            <a:prstDash val="solid"/>
          </a:ln>
        </p:spPr>
      </p:sp>
      <p:sp>
        <p:nvSpPr>
          <p:cNvPr id="23" name="Text 18"/>
          <p:cNvSpPr txBox="1"/>
          <p:nvPr/>
        </p:nvSpPr>
        <p:spPr>
          <a:xfrm>
            <a:off x="603504" y="3520440"/>
            <a:ext cx="987552" cy="658368"/>
          </a:xfrm>
          <a:prstGeom prst="rect">
            <a:avLst/>
          </a:prstGeom>
          <a:noFill/>
          <a:ln/>
        </p:spPr>
        <p:txBody>
          <a:bodyPr wrap="square" lIns="0" tIns="0" rIns="0" bIns="0" rtlCol="0" anchor="ctr">
            <a:normAutofit/>
          </a:bodyPr>
          <a:lstStyle/>
          <a:p>
            <a:pPr algn="ctr" indent="0" marL="0">
              <a:buNone/>
            </a:pPr>
            <a:r>
              <a:rPr lang="en-US" sz="900" b="1" dirty="0">
                <a:solidFill>
                  <a:schemeClr val="bg1"/>
                </a:solidFill>
                <a:latin typeface="Arial" pitchFamily="34" charset="0"/>
                <a:ea typeface="Arial" pitchFamily="34" charset="-122"/>
                <a:cs typeface="Arial" pitchFamily="34" charset="-120"/>
              </a:rPr>
              <a:t>1  Prove or disprove, in software</a:t>
            </a:r>
            <a:endParaRPr lang="en-US" sz="900" dirty="0"/>
          </a:p>
        </p:txBody>
      </p:sp>
      <p:sp>
        <p:nvSpPr>
          <p:cNvPr id="24" name="Text 19"/>
          <p:cNvSpPr txBox="1"/>
          <p:nvPr/>
        </p:nvSpPr>
        <p:spPr>
          <a:xfrm>
            <a:off x="512064" y="4251960"/>
            <a:ext cx="1170432" cy="868680"/>
          </a:xfrm>
          <a:prstGeom prst="rect">
            <a:avLst/>
          </a:prstGeom>
          <a:noFill/>
          <a:ln/>
        </p:spPr>
        <p:txBody>
          <a:bodyPr wrap="square" lIns="0" tIns="0" rIns="0" bIns="0" rtlCol="0" anchor="t">
            <a:normAutofit/>
          </a:bodyPr>
          <a:lstStyle/>
          <a:p>
            <a:pPr algn="ctr" indent="0" marL="0">
              <a:buNone/>
            </a:pPr>
            <a:r>
              <a:rPr lang="en-US" sz="850" dirty="0">
                <a:solidFill>
                  <a:schemeClr val="accent3"/>
                </a:solidFill>
                <a:latin typeface="Arial" pitchFamily="34" charset="0"/>
                <a:ea typeface="Arial" pitchFamily="34" charset="-122"/>
                <a:cs typeface="Arial" pitchFamily="34" charset="-120"/>
              </a:rPr>
              <a:t>now: proofs hold, wave 1 ran, nothing merged yet</a:t>
            </a:r>
            <a:endParaRPr lang="en-US" sz="850" dirty="0"/>
          </a:p>
        </p:txBody>
      </p:sp>
      <p:sp>
        <p:nvSpPr>
          <p:cNvPr id="25" name="arrow"/>
          <p:cNvSpPr/>
          <p:nvPr/>
        </p:nvSpPr>
        <p:spPr>
          <a:xfrm>
            <a:off x="1664208" y="3849624"/>
            <a:ext cx="100584" cy="0"/>
          </a:xfrm>
          <a:prstGeom prst="line">
            <a:avLst/>
          </a:prstGeom>
          <a:noFill/>
          <a:ln w="19050">
            <a:solidFill>
              <a:srgbClr val="C2703D"/>
            </a:solidFill>
            <a:prstDash val="solid"/>
            <a:tailEnd type="triangle"/>
          </a:ln>
        </p:spPr>
      </p:sp>
      <p:sp>
        <p:nvSpPr>
          <p:cNvPr id="26" name="stage"/>
          <p:cNvSpPr/>
          <p:nvPr/>
        </p:nvSpPr>
        <p:spPr>
          <a:xfrm>
            <a:off x="1783080" y="3520440"/>
            <a:ext cx="1097280" cy="658368"/>
          </a:xfrm>
          <a:prstGeom prst="roundRect">
            <a:avLst>
              <a:gd name="adj" fmla="val 11111"/>
            </a:avLst>
          </a:prstGeom>
          <a:solidFill>
            <a:schemeClr val="tx2"/>
          </a:solidFill>
          <a:ln w="12700">
            <a:solidFill>
              <a:schemeClr val="tx2"/>
            </a:solidFill>
            <a:prstDash val="solid"/>
          </a:ln>
        </p:spPr>
      </p:sp>
      <p:sp>
        <p:nvSpPr>
          <p:cNvPr id="27" name="Text 22"/>
          <p:cNvSpPr txBox="1"/>
          <p:nvPr/>
        </p:nvSpPr>
        <p:spPr>
          <a:xfrm>
            <a:off x="1837944" y="3520440"/>
            <a:ext cx="987552" cy="658368"/>
          </a:xfrm>
          <a:prstGeom prst="rect">
            <a:avLst/>
          </a:prstGeom>
          <a:noFill/>
          <a:ln/>
        </p:spPr>
        <p:txBody>
          <a:bodyPr wrap="square" lIns="0" tIns="0" rIns="0" bIns="0" rtlCol="0" anchor="ctr">
            <a:normAutofit/>
          </a:bodyPr>
          <a:lstStyle/>
          <a:p>
            <a:pPr algn="ctr" indent="0" marL="0">
              <a:buNone/>
            </a:pPr>
            <a:r>
              <a:rPr lang="en-US" sz="900" b="1" dirty="0">
                <a:solidFill>
                  <a:schemeClr val="bg1"/>
                </a:solidFill>
                <a:latin typeface="Arial" pitchFamily="34" charset="0"/>
                <a:ea typeface="Arial" pitchFamily="34" charset="-122"/>
                <a:cs typeface="Arial" pitchFamily="34" charset="-120"/>
              </a:rPr>
              <a:t>2  Design to NVIDIA's boards</a:t>
            </a:r>
            <a:endParaRPr lang="en-US" sz="900" dirty="0"/>
          </a:p>
        </p:txBody>
      </p:sp>
      <p:sp>
        <p:nvSpPr>
          <p:cNvPr id="28" name="Text 23"/>
          <p:cNvSpPr txBox="1"/>
          <p:nvPr/>
        </p:nvSpPr>
        <p:spPr>
          <a:xfrm>
            <a:off x="1746504" y="4251960"/>
            <a:ext cx="1170432" cy="868680"/>
          </a:xfrm>
          <a:prstGeom prst="rect">
            <a:avLst/>
          </a:prstGeom>
          <a:noFill/>
          <a:ln/>
        </p:spPr>
        <p:txBody>
          <a:bodyPr wrap="square" lIns="0" tIns="0" rIns="0" bIns="0" rtlCol="0" anchor="t">
            <a:normAutofit/>
          </a:bodyPr>
          <a:lstStyle/>
          <a:p>
            <a:pPr algn="ctr" indent="0" marL="0">
              <a:buNone/>
            </a:pPr>
            <a:r>
              <a:rPr lang="en-US" sz="850" dirty="0">
                <a:solidFill>
                  <a:schemeClr val="accent3"/>
                </a:solidFill>
                <a:latin typeface="Arial" pitchFamily="34" charset="0"/>
                <a:ea typeface="Arial" pitchFamily="34" charset="-122"/>
                <a:cs typeface="Arial" pitchFamily="34" charset="-120"/>
              </a:rPr>
              <a:t>RTL blocks, pinout, rack reference exist; NDA rows marked</a:t>
            </a:r>
            <a:endParaRPr lang="en-US" sz="850" dirty="0"/>
          </a:p>
        </p:txBody>
      </p:sp>
      <p:sp>
        <p:nvSpPr>
          <p:cNvPr id="29" name="arrow"/>
          <p:cNvSpPr/>
          <p:nvPr/>
        </p:nvSpPr>
        <p:spPr>
          <a:xfrm>
            <a:off x="2898648" y="3849624"/>
            <a:ext cx="100584" cy="0"/>
          </a:xfrm>
          <a:prstGeom prst="line">
            <a:avLst/>
          </a:prstGeom>
          <a:noFill/>
          <a:ln w="19050">
            <a:solidFill>
              <a:srgbClr val="C2703D"/>
            </a:solidFill>
            <a:prstDash val="solid"/>
            <a:tailEnd type="triangle"/>
          </a:ln>
        </p:spPr>
      </p:sp>
      <p:sp>
        <p:nvSpPr>
          <p:cNvPr id="30" name="stage"/>
          <p:cNvSpPr/>
          <p:nvPr/>
        </p:nvSpPr>
        <p:spPr>
          <a:xfrm>
            <a:off x="3017520" y="3520440"/>
            <a:ext cx="1097280" cy="658368"/>
          </a:xfrm>
          <a:prstGeom prst="roundRect">
            <a:avLst>
              <a:gd name="adj" fmla="val 11111"/>
            </a:avLst>
          </a:prstGeom>
          <a:solidFill>
            <a:schemeClr val="accent3"/>
          </a:solidFill>
          <a:ln w="12700">
            <a:solidFill>
              <a:schemeClr val="accent3"/>
            </a:solidFill>
            <a:prstDash val="solid"/>
          </a:ln>
        </p:spPr>
      </p:sp>
      <p:sp>
        <p:nvSpPr>
          <p:cNvPr id="31" name="Text 26"/>
          <p:cNvSpPr txBox="1"/>
          <p:nvPr/>
        </p:nvSpPr>
        <p:spPr>
          <a:xfrm>
            <a:off x="3072384" y="3520440"/>
            <a:ext cx="987552" cy="658368"/>
          </a:xfrm>
          <a:prstGeom prst="rect">
            <a:avLst/>
          </a:prstGeom>
          <a:noFill/>
          <a:ln/>
        </p:spPr>
        <p:txBody>
          <a:bodyPr wrap="square" lIns="0" tIns="0" rIns="0" bIns="0" rtlCol="0" anchor="ctr">
            <a:normAutofit/>
          </a:bodyPr>
          <a:lstStyle/>
          <a:p>
            <a:pPr algn="ctr" indent="0" marL="0">
              <a:buNone/>
            </a:pPr>
            <a:r>
              <a:rPr lang="en-US" sz="900" b="1" dirty="0">
                <a:solidFill>
                  <a:schemeClr val="bg1"/>
                </a:solidFill>
                <a:latin typeface="Arial" pitchFamily="34" charset="0"/>
                <a:ea typeface="Arial" pitchFamily="34" charset="-122"/>
                <a:cs typeface="Arial" pitchFamily="34" charset="-120"/>
              </a:rPr>
              <a:t>3  Tests and proofs on the chip</a:t>
            </a:r>
            <a:endParaRPr lang="en-US" sz="900" dirty="0"/>
          </a:p>
        </p:txBody>
      </p:sp>
      <p:sp>
        <p:nvSpPr>
          <p:cNvPr id="32" name="Text 27"/>
          <p:cNvSpPr txBox="1"/>
          <p:nvPr/>
        </p:nvSpPr>
        <p:spPr>
          <a:xfrm>
            <a:off x="2980944" y="4251960"/>
            <a:ext cx="1170432" cy="868680"/>
          </a:xfrm>
          <a:prstGeom prst="rect">
            <a:avLst/>
          </a:prstGeom>
          <a:noFill/>
          <a:ln/>
        </p:spPr>
        <p:txBody>
          <a:bodyPr wrap="square" lIns="0" tIns="0" rIns="0" bIns="0" rtlCol="0" anchor="t">
            <a:normAutofit/>
          </a:bodyPr>
          <a:lstStyle/>
          <a:p>
            <a:pPr algn="ctr" indent="0" marL="0">
              <a:buNone/>
            </a:pPr>
            <a:r>
              <a:rPr lang="en-US" sz="850" dirty="0">
                <a:solidFill>
                  <a:schemeClr val="accent3"/>
                </a:solidFill>
                <a:latin typeface="Arial" pitchFamily="34" charset="0"/>
                <a:ea typeface="Arial" pitchFamily="34" charset="-122"/>
                <a:cs typeface="Arial" pitchFamily="34" charset="-120"/>
              </a:rPr>
              <a:t>next: proofs on the Verilog, the catalogue against the RTL</a:t>
            </a:r>
            <a:endParaRPr lang="en-US" sz="850" dirty="0"/>
          </a:p>
        </p:txBody>
      </p:sp>
      <p:sp>
        <p:nvSpPr>
          <p:cNvPr id="33" name="arrow"/>
          <p:cNvSpPr/>
          <p:nvPr/>
        </p:nvSpPr>
        <p:spPr>
          <a:xfrm>
            <a:off x="4133088" y="3849624"/>
            <a:ext cx="100584" cy="0"/>
          </a:xfrm>
          <a:prstGeom prst="line">
            <a:avLst/>
          </a:prstGeom>
          <a:noFill/>
          <a:ln w="19050">
            <a:solidFill>
              <a:srgbClr val="C2703D"/>
            </a:solidFill>
            <a:prstDash val="solid"/>
            <a:tailEnd type="triangle"/>
          </a:ln>
        </p:spPr>
      </p:sp>
      <p:sp>
        <p:nvSpPr>
          <p:cNvPr id="34" name="stage"/>
          <p:cNvSpPr/>
          <p:nvPr/>
        </p:nvSpPr>
        <p:spPr>
          <a:xfrm>
            <a:off x="4251960" y="3520440"/>
            <a:ext cx="1097280" cy="658368"/>
          </a:xfrm>
          <a:prstGeom prst="roundRect">
            <a:avLst>
              <a:gd name="adj" fmla="val 11111"/>
            </a:avLst>
          </a:prstGeom>
          <a:solidFill>
            <a:schemeClr val="accent3"/>
          </a:solidFill>
          <a:ln w="12700">
            <a:solidFill>
              <a:schemeClr val="accent3"/>
            </a:solidFill>
            <a:prstDash val="solid"/>
          </a:ln>
        </p:spPr>
      </p:sp>
      <p:sp>
        <p:nvSpPr>
          <p:cNvPr id="35" name="Text 30"/>
          <p:cNvSpPr txBox="1"/>
          <p:nvPr/>
        </p:nvSpPr>
        <p:spPr>
          <a:xfrm>
            <a:off x="4306824" y="3520440"/>
            <a:ext cx="987552" cy="658368"/>
          </a:xfrm>
          <a:prstGeom prst="rect">
            <a:avLst/>
          </a:prstGeom>
          <a:noFill/>
          <a:ln/>
        </p:spPr>
        <p:txBody>
          <a:bodyPr wrap="square" lIns="0" tIns="0" rIns="0" bIns="0" rtlCol="0" anchor="ctr">
            <a:normAutofit/>
          </a:bodyPr>
          <a:lstStyle/>
          <a:p>
            <a:pPr algn="ctr" indent="0" marL="0">
              <a:buNone/>
            </a:pPr>
            <a:r>
              <a:rPr lang="en-US" sz="900" b="1" dirty="0">
                <a:solidFill>
                  <a:schemeClr val="bg1"/>
                </a:solidFill>
                <a:latin typeface="Arial" pitchFamily="34" charset="0"/>
                <a:ea typeface="Arial" pitchFamily="34" charset="-122"/>
                <a:cs typeface="Arial" pitchFamily="34" charset="-120"/>
              </a:rPr>
              <a:t>4  Finish for a foundry</a:t>
            </a:r>
            <a:endParaRPr lang="en-US" sz="900" dirty="0"/>
          </a:p>
        </p:txBody>
      </p:sp>
      <p:sp>
        <p:nvSpPr>
          <p:cNvPr id="36" name="Text 31"/>
          <p:cNvSpPr txBox="1"/>
          <p:nvPr/>
        </p:nvSpPr>
        <p:spPr>
          <a:xfrm>
            <a:off x="4215384" y="4251960"/>
            <a:ext cx="1170432" cy="868680"/>
          </a:xfrm>
          <a:prstGeom prst="rect">
            <a:avLst/>
          </a:prstGeom>
          <a:noFill/>
          <a:ln/>
        </p:spPr>
        <p:txBody>
          <a:bodyPr wrap="square" lIns="0" tIns="0" rIns="0" bIns="0" rtlCol="0" anchor="t">
            <a:normAutofit/>
          </a:bodyPr>
          <a:lstStyle/>
          <a:p>
            <a:pPr algn="ctr" indent="0" marL="0">
              <a:buNone/>
            </a:pPr>
            <a:r>
              <a:rPr lang="en-US" sz="850" dirty="0">
                <a:solidFill>
                  <a:schemeClr val="accent3"/>
                </a:solidFill>
                <a:latin typeface="Arial" pitchFamily="34" charset="0"/>
                <a:ea typeface="Arial" pitchFamily="34" charset="-122"/>
                <a:cs typeface="Arial" pitchFamily="34" charset="-120"/>
              </a:rPr>
              <a:t>LibreLane flow to sky130 exists; signoff open</a:t>
            </a:r>
            <a:endParaRPr lang="en-US" sz="850" dirty="0"/>
          </a:p>
        </p:txBody>
      </p:sp>
      <p:sp>
        <p:nvSpPr>
          <p:cNvPr id="37" name="arrow"/>
          <p:cNvSpPr/>
          <p:nvPr/>
        </p:nvSpPr>
        <p:spPr>
          <a:xfrm>
            <a:off x="5367528" y="3849624"/>
            <a:ext cx="100584" cy="0"/>
          </a:xfrm>
          <a:prstGeom prst="line">
            <a:avLst/>
          </a:prstGeom>
          <a:noFill/>
          <a:ln w="19050">
            <a:solidFill>
              <a:srgbClr val="C2703D"/>
            </a:solidFill>
            <a:prstDash val="solid"/>
            <a:tailEnd type="triangle"/>
          </a:ln>
        </p:spPr>
      </p:sp>
      <p:sp>
        <p:nvSpPr>
          <p:cNvPr id="38" name="stage"/>
          <p:cNvSpPr/>
          <p:nvPr/>
        </p:nvSpPr>
        <p:spPr>
          <a:xfrm>
            <a:off x="5486400" y="3520440"/>
            <a:ext cx="1097280" cy="658368"/>
          </a:xfrm>
          <a:prstGeom prst="roundRect">
            <a:avLst>
              <a:gd name="adj" fmla="val 11111"/>
            </a:avLst>
          </a:prstGeom>
          <a:solidFill>
            <a:schemeClr val="accent3"/>
          </a:solidFill>
          <a:ln w="12700">
            <a:solidFill>
              <a:schemeClr val="accent3"/>
            </a:solidFill>
            <a:prstDash val="solid"/>
          </a:ln>
        </p:spPr>
      </p:sp>
      <p:sp>
        <p:nvSpPr>
          <p:cNvPr id="39" name="Text 34"/>
          <p:cNvSpPr txBox="1"/>
          <p:nvPr/>
        </p:nvSpPr>
        <p:spPr>
          <a:xfrm>
            <a:off x="5541264" y="3520440"/>
            <a:ext cx="987552" cy="658368"/>
          </a:xfrm>
          <a:prstGeom prst="rect">
            <a:avLst/>
          </a:prstGeom>
          <a:noFill/>
          <a:ln/>
        </p:spPr>
        <p:txBody>
          <a:bodyPr wrap="square" lIns="0" tIns="0" rIns="0" bIns="0" rtlCol="0" anchor="ctr">
            <a:normAutofit/>
          </a:bodyPr>
          <a:lstStyle/>
          <a:p>
            <a:pPr algn="ctr" indent="0" marL="0">
              <a:buNone/>
            </a:pPr>
            <a:r>
              <a:rPr lang="en-US" sz="900" b="1" dirty="0">
                <a:solidFill>
                  <a:schemeClr val="bg1"/>
                </a:solidFill>
                <a:latin typeface="Arial" pitchFamily="34" charset="0"/>
                <a:ea typeface="Arial" pitchFamily="34" charset="-122"/>
                <a:cs typeface="Arial" pitchFamily="34" charset="-120"/>
              </a:rPr>
              <a:t>5  Stop, and run it anyway</a:t>
            </a:r>
            <a:endParaRPr lang="en-US" sz="900" dirty="0"/>
          </a:p>
        </p:txBody>
      </p:sp>
      <p:sp>
        <p:nvSpPr>
          <p:cNvPr id="40" name="Text 35"/>
          <p:cNvSpPr txBox="1"/>
          <p:nvPr/>
        </p:nvSpPr>
        <p:spPr>
          <a:xfrm>
            <a:off x="5449824" y="4251960"/>
            <a:ext cx="1170432" cy="868680"/>
          </a:xfrm>
          <a:prstGeom prst="rect">
            <a:avLst/>
          </a:prstGeom>
          <a:noFill/>
          <a:ln/>
        </p:spPr>
        <p:txBody>
          <a:bodyPr wrap="square" lIns="0" tIns="0" rIns="0" bIns="0" rtlCol="0" anchor="t">
            <a:normAutofit/>
          </a:bodyPr>
          <a:lstStyle/>
          <a:p>
            <a:pPr algn="ctr" indent="0" marL="0">
              <a:buNone/>
            </a:pPr>
            <a:r>
              <a:rPr lang="en-US" sz="850" dirty="0">
                <a:solidFill>
                  <a:schemeClr val="accent3"/>
                </a:solidFill>
                <a:latin typeface="Arial" pitchFamily="34" charset="0"/>
                <a:ea typeface="Arial" pitchFamily="34" charset="-122"/>
                <a:cs typeface="Arial" pitchFamily="34" charset="-120"/>
              </a:rPr>
              <a:t>RTL, gates, an FPGA beside a real GPU</a:t>
            </a:r>
            <a:endParaRPr lang="en-US" sz="850" dirty="0"/>
          </a:p>
        </p:txBody>
      </p:sp>
      <p:sp>
        <p:nvSpPr>
          <p:cNvPr id="41" name="analogy"/>
          <p:cNvSpPr/>
          <p:nvPr/>
        </p:nvSpPr>
        <p:spPr>
          <a:xfrm>
            <a:off x="548640" y="5486400"/>
            <a:ext cx="11094415" cy="685800"/>
          </a:xfrm>
          <a:prstGeom prst="roundRect">
            <a:avLst>
              <a:gd name="adj" fmla="val 10667"/>
            </a:avLst>
          </a:prstGeom>
          <a:solidFill>
            <a:schemeClr val="tx1"/>
          </a:solidFill>
          <a:ln w="12700">
            <a:solidFill>
              <a:schemeClr val="tx1"/>
            </a:solidFill>
            <a:prstDash val="solid"/>
          </a:ln>
        </p:spPr>
      </p:sp>
      <p:sp>
        <p:nvSpPr>
          <p:cNvPr id="42" name="Text 37"/>
          <p:cNvSpPr txBox="1"/>
          <p:nvPr/>
        </p:nvSpPr>
        <p:spPr>
          <a:xfrm>
            <a:off x="822960" y="5486400"/>
            <a:ext cx="1554480" cy="68580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docs 22; the multi-layer post</a:t>
            </a:r>
            <a:endParaRPr lang="en-US" sz="1000" dirty="0"/>
          </a:p>
        </p:txBody>
      </p:sp>
      <p:sp>
        <p:nvSpPr>
          <p:cNvPr id="43" name="Text 38"/>
          <p:cNvSpPr txBox="1"/>
          <p:nvPr/>
        </p:nvSpPr>
        <p:spPr>
          <a:xfrm>
            <a:off x="2514600" y="5486400"/>
            <a:ext cx="8854135" cy="68580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The same catalogue of attacks (75 today, with 12 legitimate baselines) is the acceptance test at every stage, from the software reference to the FPGA. The catalogue is the constant; the artifact changes.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Thesis</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3</a:t>
            </a:r>
            <a:endParaRPr lang="en-US" sz="1100" dirty="0"/>
          </a:p>
        </p:txBody>
      </p:sp>
      <p:sp>
        <p:nvSpPr>
          <p:cNvPr id="5" name="Text 3"/>
          <p:cNvSpPr txBox="1"/>
          <p:nvPr/>
        </p:nvSpPr>
        <p:spPr>
          <a:xfrm>
            <a:off x="548640" y="1417320"/>
            <a:ext cx="6035040" cy="2606040"/>
          </a:xfrm>
          <a:prstGeom prst="rect">
            <a:avLst/>
          </a:prstGeom>
          <a:noFill/>
          <a:ln/>
        </p:spPr>
        <p:txBody>
          <a:bodyPr wrap="square" lIns="0" tIns="0" rIns="0" bIns="0" rtlCol="0" anchor="t">
            <a:normAutofit/>
          </a:bodyPr>
          <a:lstStyle/>
          <a:p>
            <a:pPr indent="0" marL="0">
              <a:spcAft>
                <a:spcPts val="1000"/>
              </a:spcAft>
              <a:buNone/>
            </a:pPr>
            <a:r>
              <a:rPr lang="en-US" sz="1800" b="1" dirty="0">
                <a:solidFill>
                  <a:schemeClr val="tx1"/>
                </a:solidFill>
                <a:latin typeface="Georgia" pitchFamily="34" charset="0"/>
                <a:ea typeface="Georgia" pitchFamily="34" charset="-122"/>
                <a:cs typeface="Georgia" pitchFamily="34" charset="-120"/>
              </a:rPr>
              <a:t>Safety that lives only in software can be removed by software.</a:t>
            </a:r>
            <a:endParaRPr lang="en-US" sz="1800" dirty="0"/>
          </a:p>
          <a:p>
            <a:pPr indent="0" marL="0">
              <a:spcAft>
                <a:spcPts val="1000"/>
              </a:spcAft>
              <a:buNone/>
            </a:pPr>
            <a:r>
              <a:rPr lang="en-US" sz="1800" dirty="0">
                <a:solidFill>
                  <a:schemeClr val="tx1"/>
                </a:solidFill>
                <a:latin typeface="Georgia" pitchFamily="34" charset="0"/>
                <a:ea typeface="Georgia" pitchFamily="34" charset="-122"/>
                <a:cs typeface="Georgia" pitchFamily="34" charset="-120"/>
              </a:rPr>
              <a:t>And there is no kill switch: the capability is in a thousand places, and the network between them and the world was built to have no middle to cut.</a:t>
            </a:r>
            <a:endParaRPr lang="en-US" sz="1800" dirty="0"/>
          </a:p>
          <a:p>
            <a:pPr indent="0" marL="0">
              <a:spcAft>
                <a:spcPts val="1000"/>
              </a:spcAft>
              <a:buNone/>
            </a:pPr>
            <a:r>
              <a:rPr lang="en-US" sz="1800" dirty="0">
                <a:solidFill>
                  <a:schemeClr val="tx1"/>
                </a:solidFill>
                <a:latin typeface="Georgia" pitchFamily="34" charset="0"/>
                <a:ea typeface="Georgia" pitchFamily="34" charset="-122"/>
                <a:cs typeface="Georgia" pitchFamily="34" charset="-120"/>
              </a:rPr>
              <a:t>So the decision to act has to be made in silicon the model cannot reach, at the two ends where computation turns into effect: the chip that runs the model, and the device that does the deed.</a:t>
            </a:r>
            <a:endParaRPr lang="en-US" sz="1800" dirty="0"/>
          </a:p>
        </p:txBody>
      </p:sp>
      <p:sp>
        <p:nvSpPr>
          <p:cNvPr id="6" name="Text 4"/>
          <p:cNvSpPr txBox="1"/>
          <p:nvPr/>
        </p:nvSpPr>
        <p:spPr>
          <a:xfrm>
            <a:off x="548640" y="4160520"/>
            <a:ext cx="6035040" cy="548640"/>
          </a:xfrm>
          <a:prstGeom prst="rect">
            <a:avLst/>
          </a:prstGeom>
          <a:noFill/>
          <a:ln/>
        </p:spPr>
        <p:txBody>
          <a:bodyPr wrap="square" lIns="0" tIns="0" rIns="0" bIns="0" rtlCol="0" anchor="t">
            <a:normAutofit/>
          </a:bodyPr>
          <a:lstStyle/>
          <a:p>
            <a:pPr indent="0" marL="0">
              <a:buNone/>
            </a:pPr>
            <a:r>
              <a:rPr lang="en-US" sz="1600" i="1" dirty="0">
                <a:solidFill>
                  <a:schemeClr val="accent1"/>
                </a:solidFill>
                <a:latin typeface="Arial" pitchFamily="34" charset="0"/>
                <a:ea typeface="Arial" pitchFamily="34" charset="-122"/>
                <a:cs typeface="Arial" pitchFamily="34" charset="-120"/>
              </a:rPr>
              <a:t>Every layer above the chip is a witness. Only the layer built into silicon can be the lock.</a:t>
            </a:r>
            <a:endParaRPr lang="en-US" sz="1600" dirty="0"/>
          </a:p>
        </p:txBody>
      </p:sp>
      <p:sp>
        <p:nvSpPr>
          <p:cNvPr id="7" name="card"/>
          <p:cNvSpPr/>
          <p:nvPr/>
        </p:nvSpPr>
        <p:spPr>
          <a:xfrm>
            <a:off x="6812280" y="1417320"/>
            <a:ext cx="2377440" cy="3749040"/>
          </a:xfrm>
          <a:prstGeom prst="roundRect">
            <a:avLst>
              <a:gd name="adj" fmla="val 3077"/>
            </a:avLst>
          </a:prstGeom>
          <a:solidFill>
            <a:schemeClr val="bg2"/>
          </a:solidFill>
          <a:ln w="12700">
            <a:solidFill>
              <a:schemeClr val="bg2"/>
            </a:solidFill>
            <a:prstDash val="solid"/>
          </a:ln>
        </p:spPr>
      </p:sp>
      <p:sp>
        <p:nvSpPr>
          <p:cNvPr id="8" name="icon circle"/>
          <p:cNvSpPr/>
          <p:nvPr/>
        </p:nvSpPr>
        <p:spPr>
          <a:xfrm>
            <a:off x="7086600" y="1691640"/>
            <a:ext cx="731520" cy="731520"/>
          </a:xfrm>
          <a:prstGeom prst="ellipse">
            <a:avLst/>
          </a:prstGeom>
          <a:solidFill>
            <a:schemeClr val="tx2"/>
          </a:solidFill>
          <a:ln w="12700">
            <a:solidFill>
              <a:schemeClr val="tx2"/>
            </a:solidFill>
            <a:prstDash val="solid"/>
          </a:ln>
        </p:spPr>
      </p:sp>
      <p:pic>
        <p:nvPicPr>
          <p:cNvPr id="9" name="FiEye" descr="preencoded.png">    </p:cNvPr>
          <p:cNvPicPr>
            <a:picLocks noChangeAspect="1"/>
          </p:cNvPicPr>
          <p:nvPr/>
        </p:nvPicPr>
        <p:blipFill>
          <a:blip r:embed="rId1"/>
          <a:stretch>
            <a:fillRect/>
          </a:stretch>
        </p:blipFill>
        <p:spPr>
          <a:xfrm>
            <a:off x="7269480" y="1874520"/>
            <a:ext cx="365760" cy="365760"/>
          </a:xfrm>
          <a:prstGeom prst="rect">
            <a:avLst/>
          </a:prstGeom>
        </p:spPr>
      </p:pic>
      <p:sp>
        <p:nvSpPr>
          <p:cNvPr id="10" name="Text 7"/>
          <p:cNvSpPr txBox="1"/>
          <p:nvPr/>
        </p:nvSpPr>
        <p:spPr>
          <a:xfrm>
            <a:off x="7955280" y="1709928"/>
            <a:ext cx="1143000" cy="365760"/>
          </a:xfrm>
          <a:prstGeom prst="rect">
            <a:avLst/>
          </a:prstGeom>
          <a:noFill/>
          <a:ln/>
        </p:spPr>
        <p:txBody>
          <a:bodyPr wrap="square" lIns="0" tIns="0" rIns="0" bIns="0" rtlCol="0" anchor="t">
            <a:normAutofit/>
          </a:bodyPr>
          <a:lstStyle/>
          <a:p>
            <a:pPr indent="0" marL="0">
              <a:buNone/>
            </a:pPr>
            <a:r>
              <a:rPr lang="en-US" sz="1800" b="1" dirty="0">
                <a:solidFill>
                  <a:schemeClr val="tx1"/>
                </a:solidFill>
                <a:latin typeface="Georgia" pitchFamily="34" charset="0"/>
                <a:ea typeface="Georgia" pitchFamily="34" charset="-122"/>
                <a:cs typeface="Georgia" pitchFamily="34" charset="-120"/>
              </a:rPr>
              <a:t>Witness</a:t>
            </a:r>
            <a:endParaRPr lang="en-US" sz="1800" dirty="0"/>
          </a:p>
        </p:txBody>
      </p:sp>
      <p:sp>
        <p:nvSpPr>
          <p:cNvPr id="11" name="Text 8"/>
          <p:cNvSpPr txBox="1"/>
          <p:nvPr/>
        </p:nvSpPr>
        <p:spPr>
          <a:xfrm>
            <a:off x="7955280" y="2093976"/>
            <a:ext cx="1188720" cy="457200"/>
          </a:xfrm>
          <a:prstGeom prst="rect">
            <a:avLst/>
          </a:prstGeom>
          <a:noFill/>
          <a:ln/>
        </p:spPr>
        <p:txBody>
          <a:bodyPr wrap="square" lIns="0" tIns="0" rIns="0" bIns="0" rtlCol="0" anchor="t">
            <a:normAutofit/>
          </a:bodyPr>
          <a:lstStyle/>
          <a:p>
            <a:pPr indent="0" marL="0">
              <a:buNone/>
            </a:pPr>
            <a:r>
              <a:rPr lang="en-US" sz="1050" i="1" dirty="0">
                <a:solidFill>
                  <a:schemeClr val="tx1"/>
                </a:solidFill>
                <a:latin typeface="Arial" pitchFamily="34" charset="0"/>
                <a:ea typeface="Arial" pitchFamily="34" charset="-122"/>
                <a:cs typeface="Arial" pitchFamily="34" charset="-120"/>
              </a:rPr>
              <a:t>can keep a gate shut</a:t>
            </a:r>
            <a:endParaRPr lang="en-US" sz="1050" dirty="0"/>
          </a:p>
        </p:txBody>
      </p:sp>
      <p:sp>
        <p:nvSpPr>
          <p:cNvPr id="12" name="Text 9"/>
          <p:cNvSpPr txBox="1"/>
          <p:nvPr/>
        </p:nvSpPr>
        <p:spPr>
          <a:xfrm>
            <a:off x="7086600" y="2651760"/>
            <a:ext cx="1920240" cy="2377440"/>
          </a:xfrm>
          <a:prstGeom prst="rect">
            <a:avLst/>
          </a:prstGeom>
          <a:noFill/>
          <a:ln/>
        </p:spPr>
        <p:txBody>
          <a:bodyPr wrap="square" lIns="0" tIns="0" rIns="0" bIns="0" rtlCol="0" anchor="t">
            <a:normAutofit/>
          </a:bodyPr>
          <a:lstStyle/>
          <a:p>
            <a:pPr marL="177800" indent="-177800">
              <a:spcAft>
                <a:spcPts val="700"/>
              </a:spcAft>
              <a:buSzPct val="100000"/>
              <a:buChar char="•"/>
            </a:pPr>
            <a:r>
              <a:rPr lang="en-US" sz="1200" dirty="0">
                <a:solidFill>
                  <a:schemeClr val="tx1"/>
                </a:solidFill>
                <a:latin typeface="Arial" pitchFamily="34" charset="0"/>
                <a:ea typeface="Arial" pitchFamily="34" charset="-122"/>
                <a:cs typeface="Arial" pitchFamily="34" charset="-120"/>
              </a:rPr>
              <a:t>Safety training</a:t>
            </a:r>
            <a:endParaRPr lang="en-US" sz="1200" dirty="0"/>
          </a:p>
          <a:p>
            <a:pPr marL="177800" indent="-177800">
              <a:spcAft>
                <a:spcPts val="700"/>
              </a:spcAft>
              <a:buSzPct val="100000"/>
              <a:buChar char="•"/>
            </a:pPr>
            <a:r>
              <a:rPr lang="en-US" sz="1200" dirty="0">
                <a:solidFill>
                  <a:schemeClr val="tx1"/>
                </a:solidFill>
                <a:latin typeface="Arial" pitchFamily="34" charset="0"/>
                <a:ea typeface="Arial" pitchFamily="34" charset="-122"/>
                <a:cs typeface="Arial" pitchFamily="34" charset="-120"/>
              </a:rPr>
              <a:t>A judge model</a:t>
            </a:r>
            <a:endParaRPr lang="en-US" sz="1200" dirty="0"/>
          </a:p>
          <a:p>
            <a:pPr marL="177800" indent="-177800">
              <a:spcAft>
                <a:spcPts val="700"/>
              </a:spcAft>
              <a:buSzPct val="100000"/>
              <a:buChar char="•"/>
            </a:pPr>
            <a:r>
              <a:rPr lang="en-US" sz="1200" dirty="0">
                <a:solidFill>
                  <a:schemeClr val="tx1"/>
                </a:solidFill>
                <a:latin typeface="Arial" pitchFamily="34" charset="0"/>
                <a:ea typeface="Arial" pitchFamily="34" charset="-122"/>
                <a:cs typeface="Arial" pitchFamily="34" charset="-120"/>
              </a:rPr>
              <a:t>A sandbox policy (OpenShell)</a:t>
            </a:r>
            <a:endParaRPr lang="en-US" sz="1200" dirty="0"/>
          </a:p>
          <a:p>
            <a:pPr marL="177800" indent="-177800">
              <a:spcAft>
                <a:spcPts val="700"/>
              </a:spcAft>
              <a:buSzPct val="100000"/>
              <a:buChar char="•"/>
            </a:pPr>
            <a:r>
              <a:rPr lang="en-US" sz="1200" dirty="0">
                <a:solidFill>
                  <a:schemeClr val="tx1"/>
                </a:solidFill>
                <a:latin typeface="Arial" pitchFamily="34" charset="0"/>
                <a:ea typeface="Arial" pitchFamily="34" charset="-122"/>
                <a:cs typeface="Arial" pitchFamily="34" charset="-120"/>
              </a:rPr>
              <a:t>Sentry's verdict</a:t>
            </a:r>
            <a:endParaRPr lang="en-US" sz="1200" dirty="0"/>
          </a:p>
          <a:p>
            <a:pPr marL="177800" indent="-177800">
              <a:spcAft>
                <a:spcPts val="700"/>
              </a:spcAft>
              <a:buSzPct val="100000"/>
              <a:buChar char="•"/>
            </a:pPr>
            <a:r>
              <a:rPr lang="en-US" sz="1200" dirty="0">
                <a:solidFill>
                  <a:schemeClr val="tx1"/>
                </a:solidFill>
                <a:latin typeface="Arial" pitchFamily="34" charset="0"/>
                <a:ea typeface="Arial" pitchFamily="34" charset="-122"/>
                <a:cs typeface="Arial" pitchFamily="34" charset="-120"/>
              </a:rPr>
              <a:t>A watermark</a:t>
            </a:r>
            <a:endParaRPr lang="en-US" sz="1200" dirty="0"/>
          </a:p>
          <a:p>
            <a:pPr marL="177800" indent="-177800">
              <a:spcAft>
                <a:spcPts val="700"/>
              </a:spcAft>
              <a:buSzPct val="100000"/>
              <a:buChar char="•"/>
            </a:pPr>
            <a:r>
              <a:rPr lang="en-US" sz="1200" dirty="0">
                <a:solidFill>
                  <a:schemeClr val="tx1"/>
                </a:solidFill>
                <a:latin typeface="Arial" pitchFamily="34" charset="0"/>
                <a:ea typeface="Arial" pitchFamily="34" charset="-122"/>
                <a:cs typeface="Arial" pitchFamily="34" charset="-120"/>
              </a:rPr>
              <a:t>A log read later</a:t>
            </a:r>
            <a:endParaRPr lang="en-US" sz="1200" dirty="0"/>
          </a:p>
        </p:txBody>
      </p:sp>
      <p:sp>
        <p:nvSpPr>
          <p:cNvPr id="13" name="card"/>
          <p:cNvSpPr/>
          <p:nvPr/>
        </p:nvSpPr>
        <p:spPr>
          <a:xfrm>
            <a:off x="9262872" y="1417320"/>
            <a:ext cx="2377440" cy="3749040"/>
          </a:xfrm>
          <a:prstGeom prst="roundRect">
            <a:avLst>
              <a:gd name="adj" fmla="val 3077"/>
            </a:avLst>
          </a:prstGeom>
          <a:solidFill>
            <a:schemeClr val="tx2"/>
          </a:solidFill>
          <a:ln w="12700">
            <a:solidFill>
              <a:schemeClr val="tx2"/>
            </a:solidFill>
            <a:prstDash val="solid"/>
          </a:ln>
        </p:spPr>
      </p:sp>
      <p:sp>
        <p:nvSpPr>
          <p:cNvPr id="14" name="icon circle"/>
          <p:cNvSpPr/>
          <p:nvPr/>
        </p:nvSpPr>
        <p:spPr>
          <a:xfrm>
            <a:off x="9537192" y="1691640"/>
            <a:ext cx="731520" cy="731520"/>
          </a:xfrm>
          <a:prstGeom prst="ellipse">
            <a:avLst/>
          </a:prstGeom>
          <a:solidFill>
            <a:schemeClr val="accent1"/>
          </a:solidFill>
          <a:ln w="12700">
            <a:solidFill>
              <a:schemeClr val="accent1"/>
            </a:solidFill>
            <a:prstDash val="solid"/>
          </a:ln>
        </p:spPr>
      </p:sp>
      <p:pic>
        <p:nvPicPr>
          <p:cNvPr id="15" name="FiLock" descr="preencoded.png">    </p:cNvPr>
          <p:cNvPicPr>
            <a:picLocks noChangeAspect="1"/>
          </p:cNvPicPr>
          <p:nvPr/>
        </p:nvPicPr>
        <p:blipFill>
          <a:blip r:embed="rId2"/>
          <a:stretch>
            <a:fillRect/>
          </a:stretch>
        </p:blipFill>
        <p:spPr>
          <a:xfrm>
            <a:off x="9720072" y="1874520"/>
            <a:ext cx="365760" cy="365760"/>
          </a:xfrm>
          <a:prstGeom prst="rect">
            <a:avLst/>
          </a:prstGeom>
        </p:spPr>
      </p:pic>
      <p:sp>
        <p:nvSpPr>
          <p:cNvPr id="16" name="Text 12"/>
          <p:cNvSpPr txBox="1"/>
          <p:nvPr/>
        </p:nvSpPr>
        <p:spPr>
          <a:xfrm>
            <a:off x="10405872" y="1709928"/>
            <a:ext cx="1143000" cy="365760"/>
          </a:xfrm>
          <a:prstGeom prst="rect">
            <a:avLst/>
          </a:prstGeom>
          <a:noFill/>
          <a:ln/>
        </p:spPr>
        <p:txBody>
          <a:bodyPr wrap="square" lIns="0" tIns="0" rIns="0" bIns="0" rtlCol="0" anchor="t">
            <a:normAutofit/>
          </a:bodyPr>
          <a:lstStyle/>
          <a:p>
            <a:pPr indent="0" marL="0">
              <a:buNone/>
            </a:pPr>
            <a:r>
              <a:rPr lang="en-US" sz="1800" b="1" dirty="0">
                <a:solidFill>
                  <a:schemeClr val="bg1"/>
                </a:solidFill>
                <a:latin typeface="Georgia" pitchFamily="34" charset="0"/>
                <a:ea typeface="Georgia" pitchFamily="34" charset="-122"/>
                <a:cs typeface="Georgia" pitchFamily="34" charset="-120"/>
              </a:rPr>
              <a:t>Lock</a:t>
            </a:r>
            <a:endParaRPr lang="en-US" sz="1800" dirty="0"/>
          </a:p>
        </p:txBody>
      </p:sp>
      <p:sp>
        <p:nvSpPr>
          <p:cNvPr id="17" name="Text 13"/>
          <p:cNvSpPr txBox="1"/>
          <p:nvPr/>
        </p:nvSpPr>
        <p:spPr>
          <a:xfrm>
            <a:off x="10405872" y="2093976"/>
            <a:ext cx="1188720" cy="457200"/>
          </a:xfrm>
          <a:prstGeom prst="rect">
            <a:avLst/>
          </a:prstGeom>
          <a:noFill/>
          <a:ln/>
        </p:spPr>
        <p:txBody>
          <a:bodyPr wrap="square" lIns="0" tIns="0" rIns="0" bIns="0" rtlCol="0" anchor="t">
            <a:normAutofit/>
          </a:bodyPr>
          <a:lstStyle/>
          <a:p>
            <a:pPr indent="0" marL="0">
              <a:buNone/>
            </a:pPr>
            <a:r>
              <a:rPr lang="en-US" sz="1050" i="1" dirty="0">
                <a:solidFill>
                  <a:schemeClr val="bg1"/>
                </a:solidFill>
                <a:latin typeface="Arial" pitchFamily="34" charset="0"/>
                <a:ea typeface="Arial" pitchFamily="34" charset="-122"/>
                <a:cs typeface="Arial" pitchFamily="34" charset="-120"/>
              </a:rPr>
              <a:t>is the gate</a:t>
            </a:r>
            <a:endParaRPr lang="en-US" sz="1050" dirty="0"/>
          </a:p>
        </p:txBody>
      </p:sp>
      <p:sp>
        <p:nvSpPr>
          <p:cNvPr id="18" name="Text 14"/>
          <p:cNvSpPr txBox="1"/>
          <p:nvPr/>
        </p:nvSpPr>
        <p:spPr>
          <a:xfrm>
            <a:off x="9537192" y="2651760"/>
            <a:ext cx="1920240" cy="2377440"/>
          </a:xfrm>
          <a:prstGeom prst="rect">
            <a:avLst/>
          </a:prstGeom>
          <a:noFill/>
          <a:ln/>
        </p:spPr>
        <p:txBody>
          <a:bodyPr wrap="square" lIns="0" tIns="0" rIns="0" bIns="0" rtlCol="0" anchor="t">
            <a:normAutofit/>
          </a:bodyPr>
          <a:lstStyle/>
          <a:p>
            <a:pPr marL="177800" indent="-177800">
              <a:spcAft>
                <a:spcPts val="700"/>
              </a:spcAft>
              <a:buSzPct val="100000"/>
              <a:buChar char="•"/>
            </a:pPr>
            <a:r>
              <a:rPr lang="en-US" sz="1200" dirty="0">
                <a:solidFill>
                  <a:schemeClr val="bg1"/>
                </a:solidFill>
                <a:latin typeface="Arial" pitchFamily="34" charset="0"/>
                <a:ea typeface="Arial" pitchFamily="34" charset="-122"/>
                <a:cs typeface="Arial" pitchFamily="34" charset="-120"/>
              </a:rPr>
              <a:t>A ticket the device checks for itself</a:t>
            </a:r>
            <a:endParaRPr lang="en-US" sz="1200" dirty="0"/>
          </a:p>
          <a:p>
            <a:pPr marL="177800" indent="-177800">
              <a:spcAft>
                <a:spcPts val="700"/>
              </a:spcAft>
              <a:buSzPct val="100000"/>
              <a:buChar char="•"/>
            </a:pPr>
            <a:r>
              <a:rPr lang="en-US" sz="1200" dirty="0">
                <a:solidFill>
                  <a:schemeClr val="bg1"/>
                </a:solidFill>
                <a:latin typeface="Arial" pitchFamily="34" charset="0"/>
                <a:ea typeface="Arial" pitchFamily="34" charset="-122"/>
                <a:cs typeface="Arial" pitchFamily="34" charset="-120"/>
              </a:rPr>
              <a:t>A switch port that stays shut</a:t>
            </a:r>
            <a:endParaRPr lang="en-US" sz="1200" dirty="0"/>
          </a:p>
          <a:p>
            <a:pPr marL="177800" indent="-177800">
              <a:spcAft>
                <a:spcPts val="700"/>
              </a:spcAft>
              <a:buSzPct val="100000"/>
              <a:buChar char="•"/>
            </a:pPr>
            <a:r>
              <a:rPr lang="en-US" sz="1200" dirty="0">
                <a:solidFill>
                  <a:schemeClr val="bg1"/>
                </a:solidFill>
                <a:latin typeface="Arial" pitchFamily="34" charset="0"/>
                <a:ea typeface="Arial" pitchFamily="34" charset="-122"/>
                <a:cs typeface="Arial" pitchFamily="34" charset="-120"/>
              </a:rPr>
              <a:t>A response held at the exit</a:t>
            </a:r>
            <a:endParaRPr lang="en-US" sz="1200" dirty="0"/>
          </a:p>
          <a:p>
            <a:pPr marL="177800" indent="-177800">
              <a:spcAft>
                <a:spcPts val="700"/>
              </a:spcAft>
              <a:buSzPct val="100000"/>
              <a:buChar char="•"/>
            </a:pPr>
            <a:r>
              <a:rPr lang="en-US" sz="1200" dirty="0">
                <a:solidFill>
                  <a:schemeClr val="bg1"/>
                </a:solidFill>
                <a:latin typeface="Arial" pitchFamily="34" charset="0"/>
                <a:ea typeface="Arial" pitchFamily="34" charset="-122"/>
                <a:cs typeface="Arial" pitchFamily="34" charset="-120"/>
              </a:rPr>
              <a:t>A breaker that opens</a:t>
            </a:r>
            <a:endParaRPr lang="en-US" sz="1200" dirty="0"/>
          </a:p>
        </p:txBody>
      </p:sp>
      <p:sp>
        <p:nvSpPr>
          <p:cNvPr id="19" name="analogy"/>
          <p:cNvSpPr/>
          <p:nvPr/>
        </p:nvSpPr>
        <p:spPr>
          <a:xfrm>
            <a:off x="548640" y="5486400"/>
            <a:ext cx="11094415" cy="685800"/>
          </a:xfrm>
          <a:prstGeom prst="roundRect">
            <a:avLst>
              <a:gd name="adj" fmla="val 10667"/>
            </a:avLst>
          </a:prstGeom>
          <a:solidFill>
            <a:schemeClr val="tx1"/>
          </a:solidFill>
          <a:ln w="12700">
            <a:solidFill>
              <a:schemeClr val="tx1"/>
            </a:solidFill>
            <a:prstDash val="solid"/>
          </a:ln>
        </p:spPr>
      </p:sp>
      <p:sp>
        <p:nvSpPr>
          <p:cNvPr id="20" name="Text 16"/>
          <p:cNvSpPr txBox="1"/>
          <p:nvPr/>
        </p:nvSpPr>
        <p:spPr>
          <a:xfrm>
            <a:off x="822960" y="5486400"/>
            <a:ext cx="1554480" cy="68580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the multi-layer post</a:t>
            </a:r>
            <a:endParaRPr lang="en-US" sz="1000" dirty="0"/>
          </a:p>
        </p:txBody>
      </p:sp>
      <p:sp>
        <p:nvSpPr>
          <p:cNvPr id="21" name="Text 17"/>
          <p:cNvSpPr txBox="1"/>
          <p:nvPr/>
        </p:nvSpPr>
        <p:spPr>
          <a:xfrm>
            <a:off x="2514600" y="5486400"/>
            <a:ext cx="8854135" cy="68580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A judge model is a witness. It can keep a gate shut. It can never be the gate. The layers above the chip are witnesses, and the only layer that can be the lock is the one built into silicon.</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Thesis, technically: a reference monitor</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4</a:t>
            </a:r>
            <a:endParaRPr lang="en-US" sz="1100" dirty="0"/>
          </a:p>
        </p:txBody>
      </p:sp>
      <p:sp>
        <p:nvSpPr>
          <p:cNvPr id="5" name="Text 3"/>
          <p:cNvSpPr txBox="1"/>
          <p:nvPr/>
        </p:nvSpPr>
        <p:spPr>
          <a:xfrm>
            <a:off x="548640" y="1188720"/>
            <a:ext cx="11094415" cy="274320"/>
          </a:xfrm>
          <a:prstGeom prst="rect">
            <a:avLst/>
          </a:prstGeom>
          <a:noFill/>
          <a:ln/>
        </p:spPr>
        <p:txBody>
          <a:bodyPr wrap="square" lIns="0" tIns="0" rIns="0" bIns="0" rtlCol="0" anchor="t">
            <a:normAutofit/>
          </a:bodyPr>
          <a:lstStyle/>
          <a:p>
            <a:pPr indent="0" marL="0">
              <a:buNone/>
            </a:pPr>
            <a:r>
              <a:rPr lang="en-US" sz="1100" b="1" dirty="0">
                <a:solidFill>
                  <a:schemeClr val="accent1"/>
                </a:solidFill>
                <a:latin typeface="Arial" pitchFamily="34" charset="0"/>
                <a:ea typeface="Arial" pitchFamily="34" charset="-122"/>
                <a:cs typeface="Arial" pitchFamily="34" charset="-120"/>
              </a:rPr>
              <a:t>THE THREE TESTS OF A REFERENCE MONITOR (ANDERSON, 1972), AND THE ONE THAT SAYS WHERE TO PUT IT</a:t>
            </a:r>
            <a:endParaRPr lang="en-US" sz="1100" dirty="0"/>
          </a:p>
        </p:txBody>
      </p:sp>
      <p:sp>
        <p:nvSpPr>
          <p:cNvPr id="6" name="table header"/>
          <p:cNvSpPr/>
          <p:nvPr/>
        </p:nvSpPr>
        <p:spPr>
          <a:xfrm>
            <a:off x="548640" y="1600200"/>
            <a:ext cx="11094415" cy="384048"/>
          </a:xfrm>
          <a:prstGeom prst="rect">
            <a:avLst/>
          </a:prstGeom>
          <a:solidFill>
            <a:schemeClr val="tx2"/>
          </a:solidFill>
          <a:ln w="12700">
            <a:solidFill>
              <a:schemeClr val="tx2"/>
            </a:solidFill>
            <a:prstDash val="solid"/>
          </a:ln>
        </p:spPr>
      </p:sp>
      <p:sp>
        <p:nvSpPr>
          <p:cNvPr id="7" name="Text 5"/>
          <p:cNvSpPr txBox="1"/>
          <p:nvPr/>
        </p:nvSpPr>
        <p:spPr>
          <a:xfrm>
            <a:off x="630936" y="1600200"/>
            <a:ext cx="1572768"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Property</a:t>
            </a:r>
            <a:endParaRPr lang="en-US" sz="1000" dirty="0"/>
          </a:p>
        </p:txBody>
      </p:sp>
      <p:sp>
        <p:nvSpPr>
          <p:cNvPr id="8" name="Text 6"/>
          <p:cNvSpPr txBox="1"/>
          <p:nvPr/>
        </p:nvSpPr>
        <p:spPr>
          <a:xfrm>
            <a:off x="2368296" y="1600200"/>
            <a:ext cx="2761488"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What it means here</a:t>
            </a:r>
            <a:endParaRPr lang="en-US" sz="1000" dirty="0"/>
          </a:p>
        </p:txBody>
      </p:sp>
      <p:sp>
        <p:nvSpPr>
          <p:cNvPr id="9" name="Text 7"/>
          <p:cNvSpPr txBox="1"/>
          <p:nvPr/>
        </p:nvSpPr>
        <p:spPr>
          <a:xfrm>
            <a:off x="5294376" y="1600200"/>
            <a:ext cx="6266383"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How the governor meets it</a:t>
            </a:r>
            <a:endParaRPr lang="en-US" sz="1000" dirty="0"/>
          </a:p>
        </p:txBody>
      </p:sp>
      <p:sp>
        <p:nvSpPr>
          <p:cNvPr id="10" name="table row"/>
          <p:cNvSpPr/>
          <p:nvPr/>
        </p:nvSpPr>
        <p:spPr>
          <a:xfrm>
            <a:off x="548640" y="1984248"/>
            <a:ext cx="11094415" cy="629412"/>
          </a:xfrm>
          <a:prstGeom prst="rect">
            <a:avLst/>
          </a:prstGeom>
          <a:solidFill>
            <a:srgbClr val="EEF2EF"/>
          </a:solidFill>
          <a:ln w="9525">
            <a:solidFill>
              <a:srgbClr val="EEF2EF"/>
            </a:solidFill>
            <a:prstDash val="solid"/>
          </a:ln>
        </p:spPr>
      </p:sp>
      <p:sp>
        <p:nvSpPr>
          <p:cNvPr id="11" name="Text 9"/>
          <p:cNvSpPr txBox="1"/>
          <p:nvPr/>
        </p:nvSpPr>
        <p:spPr>
          <a:xfrm>
            <a:off x="630936" y="2066544"/>
            <a:ext cx="1572768" cy="46482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Tamperproof</a:t>
            </a:r>
            <a:endParaRPr lang="en-US" sz="1000" dirty="0"/>
          </a:p>
        </p:txBody>
      </p:sp>
      <p:sp>
        <p:nvSpPr>
          <p:cNvPr id="12" name="Text 10"/>
          <p:cNvSpPr txBox="1"/>
          <p:nvPr/>
        </p:nvSpPr>
        <p:spPr>
          <a:xfrm>
            <a:off x="2368296" y="2066544"/>
            <a:ext cx="2761488"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The host, the model and the operator cannot alter the decision logic or the keys</a:t>
            </a:r>
            <a:endParaRPr lang="en-US" sz="1000" dirty="0"/>
          </a:p>
        </p:txBody>
      </p:sp>
      <p:sp>
        <p:nvSpPr>
          <p:cNvPr id="13" name="Text 11"/>
          <p:cNvSpPr txBox="1"/>
          <p:nvPr/>
        </p:nvSpPr>
        <p:spPr>
          <a:xfrm>
            <a:off x="5294376" y="2066544"/>
            <a:ext cx="6266383"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A separate die. Device secret in fuses with no read port. Boot from ROM, extend-only measurement registers, an anti-rollback counter. The rulebook changes only with k-of-n signatures from keys held outside the rack.</a:t>
            </a:r>
            <a:endParaRPr lang="en-US" sz="1000" dirty="0"/>
          </a:p>
        </p:txBody>
      </p:sp>
      <p:sp>
        <p:nvSpPr>
          <p:cNvPr id="14" name="table row"/>
          <p:cNvSpPr/>
          <p:nvPr/>
        </p:nvSpPr>
        <p:spPr>
          <a:xfrm>
            <a:off x="548640" y="2613660"/>
            <a:ext cx="11094415" cy="629412"/>
          </a:xfrm>
          <a:prstGeom prst="rect">
            <a:avLst/>
          </a:prstGeom>
          <a:solidFill>
            <a:srgbClr val="FFFFFF"/>
          </a:solidFill>
          <a:ln w="9525">
            <a:solidFill>
              <a:srgbClr val="EEF2EF"/>
            </a:solidFill>
            <a:prstDash val="solid"/>
          </a:ln>
        </p:spPr>
      </p:sp>
      <p:sp>
        <p:nvSpPr>
          <p:cNvPr id="15" name="Text 13"/>
          <p:cNvSpPr txBox="1"/>
          <p:nvPr/>
        </p:nvSpPr>
        <p:spPr>
          <a:xfrm>
            <a:off x="630936" y="2695956"/>
            <a:ext cx="1572768" cy="46482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Always invoked</a:t>
            </a:r>
            <a:endParaRPr lang="en-US" sz="1000" dirty="0"/>
          </a:p>
        </p:txBody>
      </p:sp>
      <p:sp>
        <p:nvSpPr>
          <p:cNvPr id="16" name="Text 14"/>
          <p:cNvSpPr txBox="1"/>
          <p:nvPr/>
        </p:nvSpPr>
        <p:spPr>
          <a:xfrm>
            <a:off x="2368296" y="2695956"/>
            <a:ext cx="2761488"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There is no path around it</a:t>
            </a:r>
            <a:endParaRPr lang="en-US" sz="1000" dirty="0"/>
          </a:p>
        </p:txBody>
      </p:sp>
      <p:sp>
        <p:nvSpPr>
          <p:cNvPr id="17" name="Text 15"/>
          <p:cNvSpPr txBox="1"/>
          <p:nvPr/>
        </p:nvSpPr>
        <p:spPr>
          <a:xfrm>
            <a:off x="5294376" y="2695956"/>
            <a:ext cx="6266383"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A comparator at every crossing: switch ports open only for roster peers; a device acts only on a ticket; the egress holds a response until a ticket releases it; weights are written only with a ticket; power, reset and clock answer to the governor. Default deny; fail closed.</a:t>
            </a:r>
            <a:endParaRPr lang="en-US" sz="1000" dirty="0"/>
          </a:p>
        </p:txBody>
      </p:sp>
      <p:sp>
        <p:nvSpPr>
          <p:cNvPr id="18" name="table row"/>
          <p:cNvSpPr/>
          <p:nvPr/>
        </p:nvSpPr>
        <p:spPr>
          <a:xfrm>
            <a:off x="548640" y="3243072"/>
            <a:ext cx="11094415" cy="629412"/>
          </a:xfrm>
          <a:prstGeom prst="rect">
            <a:avLst/>
          </a:prstGeom>
          <a:solidFill>
            <a:srgbClr val="EEF2EF"/>
          </a:solidFill>
          <a:ln w="9525">
            <a:solidFill>
              <a:srgbClr val="EEF2EF"/>
            </a:solidFill>
            <a:prstDash val="solid"/>
          </a:ln>
        </p:spPr>
      </p:sp>
      <p:sp>
        <p:nvSpPr>
          <p:cNvPr id="19" name="Text 17"/>
          <p:cNvSpPr txBox="1"/>
          <p:nvPr/>
        </p:nvSpPr>
        <p:spPr>
          <a:xfrm>
            <a:off x="630936" y="3325368"/>
            <a:ext cx="1572768" cy="46482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Verifiable</a:t>
            </a:r>
            <a:endParaRPr lang="en-US" sz="1000" dirty="0"/>
          </a:p>
        </p:txBody>
      </p:sp>
      <p:sp>
        <p:nvSpPr>
          <p:cNvPr id="20" name="Text 18"/>
          <p:cNvSpPr txBox="1"/>
          <p:nvPr/>
        </p:nvSpPr>
        <p:spPr>
          <a:xfrm>
            <a:off x="2368296" y="3325368"/>
            <a:ext cx="2761488"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Small enough that its correctness can be checked</a:t>
            </a:r>
            <a:endParaRPr lang="en-US" sz="1000" dirty="0"/>
          </a:p>
        </p:txBody>
      </p:sp>
      <p:sp>
        <p:nvSpPr>
          <p:cNvPr id="21" name="Text 19"/>
          <p:cNvSpPr txBox="1"/>
          <p:nvPr/>
        </p:nvSpPr>
        <p:spPr>
          <a:xfrm>
            <a:off x="5294376" y="3325368"/>
            <a:ext cx="6266383"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About 2 mm² of core logic as configured (1.4 by 1.4 mm). Ten invariants of the gate (P0 to P9) and the commit-point protocol proven with Z3 in every reachable state; 200 model tests, 20 RTL tests, an independent audit.</a:t>
            </a:r>
            <a:endParaRPr lang="en-US" sz="1000" dirty="0"/>
          </a:p>
        </p:txBody>
      </p:sp>
      <p:sp>
        <p:nvSpPr>
          <p:cNvPr id="22" name="table row"/>
          <p:cNvSpPr/>
          <p:nvPr/>
        </p:nvSpPr>
        <p:spPr>
          <a:xfrm>
            <a:off x="548640" y="3872484"/>
            <a:ext cx="11094415" cy="629412"/>
          </a:xfrm>
          <a:prstGeom prst="rect">
            <a:avLst/>
          </a:prstGeom>
          <a:solidFill>
            <a:srgbClr val="FFFFFF"/>
          </a:solidFill>
          <a:ln w="9525">
            <a:solidFill>
              <a:srgbClr val="EEF2EF"/>
            </a:solidFill>
            <a:prstDash val="solid"/>
          </a:ln>
        </p:spPr>
      </p:sp>
      <p:sp>
        <p:nvSpPr>
          <p:cNvPr id="23" name="Text 21"/>
          <p:cNvSpPr txBox="1"/>
          <p:nvPr/>
        </p:nvSpPr>
        <p:spPr>
          <a:xfrm>
            <a:off x="630936" y="3954780"/>
            <a:ext cx="1572768" cy="46482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Placed where a cut is small</a:t>
            </a:r>
            <a:endParaRPr lang="en-US" sz="1000" dirty="0"/>
          </a:p>
        </p:txBody>
      </p:sp>
      <p:sp>
        <p:nvSpPr>
          <p:cNvPr id="24" name="Text 22"/>
          <p:cNvSpPr txBox="1"/>
          <p:nvPr/>
        </p:nvSpPr>
        <p:spPr>
          <a:xfrm>
            <a:off x="2368296" y="3954780"/>
            <a:ext cx="2761488"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A monitor only works where every path passes through it</a:t>
            </a:r>
            <a:endParaRPr lang="en-US" sz="1000" dirty="0"/>
          </a:p>
        </p:txBody>
      </p:sp>
      <p:sp>
        <p:nvSpPr>
          <p:cNvPr id="25" name="Text 23"/>
          <p:cNvSpPr txBox="1"/>
          <p:nvPr/>
        </p:nvSpPr>
        <p:spPr>
          <a:xfrm>
            <a:off x="5294376" y="3954780"/>
            <a:ext cx="6266383"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Menger's theorem: in a network built to have no single point of failure, the only places a separator is one node per machine are the ends. The governor is the monitor at the compute end; the ticket check in the device is the monitor at the other.</a:t>
            </a:r>
            <a:endParaRPr lang="en-US" sz="1000" dirty="0"/>
          </a:p>
        </p:txBody>
      </p:sp>
      <p:sp>
        <p:nvSpPr>
          <p:cNvPr id="26" name="Text 24"/>
          <p:cNvSpPr txBox="1"/>
          <p:nvPr/>
        </p:nvSpPr>
        <p:spPr>
          <a:xfrm>
            <a:off x="548640" y="4639056"/>
            <a:ext cx="11094415" cy="274320"/>
          </a:xfrm>
          <a:prstGeom prst="rect">
            <a:avLst/>
          </a:prstGeom>
          <a:noFill/>
          <a:ln/>
        </p:spPr>
        <p:txBody>
          <a:bodyPr wrap="square" lIns="0" tIns="0" rIns="0" bIns="0" rtlCol="0" anchor="t">
            <a:normAutofit/>
          </a:bodyPr>
          <a:lstStyle/>
          <a:p>
            <a:pPr indent="0" marL="0">
              <a:buNone/>
            </a:pPr>
            <a:r>
              <a:rPr lang="en-US" sz="1100" b="1" dirty="0">
                <a:solidFill>
                  <a:schemeClr val="accent1"/>
                </a:solidFill>
                <a:latin typeface="Arial" pitchFamily="34" charset="0"/>
                <a:ea typeface="Arial" pitchFamily="34" charset="-122"/>
                <a:cs typeface="Arial" pitchFamily="34" charset="-120"/>
              </a:rPr>
              <a:t>THE FIVE CROSSINGS THE CHIP STANDS AT</a:t>
            </a:r>
            <a:endParaRPr lang="en-US" sz="1100" dirty="0"/>
          </a:p>
        </p:txBody>
      </p:sp>
      <p:sp>
        <p:nvSpPr>
          <p:cNvPr id="27" name="card"/>
          <p:cNvSpPr/>
          <p:nvPr/>
        </p:nvSpPr>
        <p:spPr>
          <a:xfrm>
            <a:off x="548640" y="4940808"/>
            <a:ext cx="2036003" cy="658368"/>
          </a:xfrm>
          <a:prstGeom prst="roundRect">
            <a:avLst>
              <a:gd name="adj" fmla="val 11111"/>
            </a:avLst>
          </a:prstGeom>
          <a:solidFill>
            <a:schemeClr val="bg2"/>
          </a:solidFill>
          <a:ln w="12700">
            <a:solidFill>
              <a:schemeClr val="bg2"/>
            </a:solidFill>
            <a:prstDash val="solid"/>
          </a:ln>
        </p:spPr>
      </p:sp>
      <p:sp>
        <p:nvSpPr>
          <p:cNvPr id="28" name="icon circle"/>
          <p:cNvSpPr/>
          <p:nvPr/>
        </p:nvSpPr>
        <p:spPr>
          <a:xfrm>
            <a:off x="685800" y="5041392"/>
            <a:ext cx="457200" cy="457200"/>
          </a:xfrm>
          <a:prstGeom prst="ellipse">
            <a:avLst/>
          </a:prstGeom>
          <a:solidFill>
            <a:schemeClr val="tx2"/>
          </a:solidFill>
          <a:ln w="12700">
            <a:solidFill>
              <a:schemeClr val="tx2"/>
            </a:solidFill>
            <a:prstDash val="solid"/>
          </a:ln>
        </p:spPr>
      </p:sp>
      <p:pic>
        <p:nvPicPr>
          <p:cNvPr id="29" name="FiShare2" descr="preencoded.png">    </p:cNvPr>
          <p:cNvPicPr>
            <a:picLocks noChangeAspect="1"/>
          </p:cNvPicPr>
          <p:nvPr/>
        </p:nvPicPr>
        <p:blipFill>
          <a:blip r:embed="rId1"/>
          <a:stretch>
            <a:fillRect/>
          </a:stretch>
        </p:blipFill>
        <p:spPr>
          <a:xfrm>
            <a:off x="800100" y="5155692"/>
            <a:ext cx="228600" cy="228600"/>
          </a:xfrm>
          <a:prstGeom prst="rect">
            <a:avLst/>
          </a:prstGeom>
        </p:spPr>
      </p:pic>
      <p:sp>
        <p:nvSpPr>
          <p:cNvPr id="30" name="Text 27"/>
          <p:cNvSpPr txBox="1"/>
          <p:nvPr/>
        </p:nvSpPr>
        <p:spPr>
          <a:xfrm>
            <a:off x="1261872" y="4940808"/>
            <a:ext cx="1231331" cy="658368"/>
          </a:xfrm>
          <a:prstGeom prst="rect">
            <a:avLst/>
          </a:prstGeom>
          <a:noFill/>
          <a:ln/>
        </p:spPr>
        <p:txBody>
          <a:bodyPr wrap="square" lIns="0" tIns="0" rIns="0" bIns="0" rtlCol="0" anchor="ctr">
            <a:normAutofit/>
          </a:bodyPr>
          <a:lstStyle/>
          <a:p>
            <a:pPr indent="0" marL="0">
              <a:buNone/>
            </a:pPr>
            <a:r>
              <a:rPr lang="en-US" sz="1150" b="1" dirty="0">
                <a:solidFill>
                  <a:schemeClr val="tx1"/>
                </a:solidFill>
                <a:latin typeface="Arial" pitchFamily="34" charset="0"/>
                <a:ea typeface="Arial" pitchFamily="34" charset="-122"/>
                <a:cs typeface="Arial" pitchFamily="34" charset="-120"/>
              </a:rPr>
              <a:t>bytes leaving the GPU</a:t>
            </a:r>
            <a:endParaRPr lang="en-US" sz="1150" dirty="0"/>
          </a:p>
        </p:txBody>
      </p:sp>
      <p:sp>
        <p:nvSpPr>
          <p:cNvPr id="31" name="card"/>
          <p:cNvSpPr/>
          <p:nvPr/>
        </p:nvSpPr>
        <p:spPr>
          <a:xfrm>
            <a:off x="2813243" y="4940808"/>
            <a:ext cx="2036003" cy="658368"/>
          </a:xfrm>
          <a:prstGeom prst="roundRect">
            <a:avLst>
              <a:gd name="adj" fmla="val 11111"/>
            </a:avLst>
          </a:prstGeom>
          <a:solidFill>
            <a:schemeClr val="bg2"/>
          </a:solidFill>
          <a:ln w="12700">
            <a:solidFill>
              <a:schemeClr val="bg2"/>
            </a:solidFill>
            <a:prstDash val="solid"/>
          </a:ln>
        </p:spPr>
      </p:sp>
      <p:sp>
        <p:nvSpPr>
          <p:cNvPr id="32" name="icon circle"/>
          <p:cNvSpPr/>
          <p:nvPr/>
        </p:nvSpPr>
        <p:spPr>
          <a:xfrm>
            <a:off x="2950403" y="5041392"/>
            <a:ext cx="457200" cy="457200"/>
          </a:xfrm>
          <a:prstGeom prst="ellipse">
            <a:avLst/>
          </a:prstGeom>
          <a:solidFill>
            <a:schemeClr val="tx2"/>
          </a:solidFill>
          <a:ln w="12700">
            <a:solidFill>
              <a:schemeClr val="tx2"/>
            </a:solidFill>
            <a:prstDash val="solid"/>
          </a:ln>
        </p:spPr>
      </p:sp>
      <p:pic>
        <p:nvPicPr>
          <p:cNvPr id="33" name="FiTarget" descr="preencoded.png">    </p:cNvPr>
          <p:cNvPicPr>
            <a:picLocks noChangeAspect="1"/>
          </p:cNvPicPr>
          <p:nvPr/>
        </p:nvPicPr>
        <p:blipFill>
          <a:blip r:embed="rId2"/>
          <a:stretch>
            <a:fillRect/>
          </a:stretch>
        </p:blipFill>
        <p:spPr>
          <a:xfrm>
            <a:off x="3064703" y="5155692"/>
            <a:ext cx="228600" cy="228600"/>
          </a:xfrm>
          <a:prstGeom prst="rect">
            <a:avLst/>
          </a:prstGeom>
        </p:spPr>
      </p:pic>
      <p:sp>
        <p:nvSpPr>
          <p:cNvPr id="34" name="Text 30"/>
          <p:cNvSpPr txBox="1"/>
          <p:nvPr/>
        </p:nvSpPr>
        <p:spPr>
          <a:xfrm>
            <a:off x="3526475" y="4940808"/>
            <a:ext cx="1231331" cy="658368"/>
          </a:xfrm>
          <a:prstGeom prst="rect">
            <a:avLst/>
          </a:prstGeom>
          <a:noFill/>
          <a:ln/>
        </p:spPr>
        <p:txBody>
          <a:bodyPr wrap="square" lIns="0" tIns="0" rIns="0" bIns="0" rtlCol="0" anchor="ctr">
            <a:normAutofit/>
          </a:bodyPr>
          <a:lstStyle/>
          <a:p>
            <a:pPr indent="0" marL="0">
              <a:buNone/>
            </a:pPr>
            <a:r>
              <a:rPr lang="en-US" sz="1150" b="1" dirty="0">
                <a:solidFill>
                  <a:schemeClr val="tx1"/>
                </a:solidFill>
                <a:latin typeface="Arial" pitchFamily="34" charset="0"/>
                <a:ea typeface="Arial" pitchFamily="34" charset="-122"/>
                <a:cs typeface="Arial" pitchFamily="34" charset="-120"/>
              </a:rPr>
              <a:t>a request to a device that acts</a:t>
            </a:r>
            <a:endParaRPr lang="en-US" sz="1150" dirty="0"/>
          </a:p>
        </p:txBody>
      </p:sp>
      <p:sp>
        <p:nvSpPr>
          <p:cNvPr id="35" name="card"/>
          <p:cNvSpPr/>
          <p:nvPr/>
        </p:nvSpPr>
        <p:spPr>
          <a:xfrm>
            <a:off x="5077846" y="4940808"/>
            <a:ext cx="2036003" cy="658368"/>
          </a:xfrm>
          <a:prstGeom prst="roundRect">
            <a:avLst>
              <a:gd name="adj" fmla="val 11111"/>
            </a:avLst>
          </a:prstGeom>
          <a:solidFill>
            <a:schemeClr val="bg2"/>
          </a:solidFill>
          <a:ln w="12700">
            <a:solidFill>
              <a:schemeClr val="bg2"/>
            </a:solidFill>
            <a:prstDash val="solid"/>
          </a:ln>
        </p:spPr>
      </p:sp>
      <p:sp>
        <p:nvSpPr>
          <p:cNvPr id="36" name="icon circle"/>
          <p:cNvSpPr/>
          <p:nvPr/>
        </p:nvSpPr>
        <p:spPr>
          <a:xfrm>
            <a:off x="5215006" y="5041392"/>
            <a:ext cx="457200" cy="457200"/>
          </a:xfrm>
          <a:prstGeom prst="ellipse">
            <a:avLst/>
          </a:prstGeom>
          <a:solidFill>
            <a:schemeClr val="tx2"/>
          </a:solidFill>
          <a:ln w="12700">
            <a:solidFill>
              <a:schemeClr val="tx2"/>
            </a:solidFill>
            <a:prstDash val="solid"/>
          </a:ln>
        </p:spPr>
      </p:sp>
      <p:pic>
        <p:nvPicPr>
          <p:cNvPr id="37" name="FiLogOut" descr="preencoded.png">    </p:cNvPr>
          <p:cNvPicPr>
            <a:picLocks noChangeAspect="1"/>
          </p:cNvPicPr>
          <p:nvPr/>
        </p:nvPicPr>
        <p:blipFill>
          <a:blip r:embed="rId3"/>
          <a:stretch>
            <a:fillRect/>
          </a:stretch>
        </p:blipFill>
        <p:spPr>
          <a:xfrm>
            <a:off x="5329306" y="5155692"/>
            <a:ext cx="228600" cy="228600"/>
          </a:xfrm>
          <a:prstGeom prst="rect">
            <a:avLst/>
          </a:prstGeom>
        </p:spPr>
      </p:pic>
      <p:sp>
        <p:nvSpPr>
          <p:cNvPr id="38" name="Text 33"/>
          <p:cNvSpPr txBox="1"/>
          <p:nvPr/>
        </p:nvSpPr>
        <p:spPr>
          <a:xfrm>
            <a:off x="5791078" y="4940808"/>
            <a:ext cx="1231331" cy="658368"/>
          </a:xfrm>
          <a:prstGeom prst="rect">
            <a:avLst/>
          </a:prstGeom>
          <a:noFill/>
          <a:ln/>
        </p:spPr>
        <p:txBody>
          <a:bodyPr wrap="square" lIns="0" tIns="0" rIns="0" bIns="0" rtlCol="0" anchor="ctr">
            <a:normAutofit/>
          </a:bodyPr>
          <a:lstStyle/>
          <a:p>
            <a:pPr indent="0" marL="0">
              <a:buNone/>
            </a:pPr>
            <a:r>
              <a:rPr lang="en-US" sz="1150" b="1" dirty="0">
                <a:solidFill>
                  <a:schemeClr val="tx1"/>
                </a:solidFill>
                <a:latin typeface="Arial" pitchFamily="34" charset="0"/>
                <a:ea typeface="Arial" pitchFamily="34" charset="-122"/>
                <a:cs typeface="Arial" pitchFamily="34" charset="-120"/>
              </a:rPr>
              <a:t>a response leaving the rack</a:t>
            </a:r>
            <a:endParaRPr lang="en-US" sz="1150" dirty="0"/>
          </a:p>
        </p:txBody>
      </p:sp>
      <p:sp>
        <p:nvSpPr>
          <p:cNvPr id="39" name="card"/>
          <p:cNvSpPr/>
          <p:nvPr/>
        </p:nvSpPr>
        <p:spPr>
          <a:xfrm>
            <a:off x="7342449" y="4940808"/>
            <a:ext cx="2036003" cy="658368"/>
          </a:xfrm>
          <a:prstGeom prst="roundRect">
            <a:avLst>
              <a:gd name="adj" fmla="val 11111"/>
            </a:avLst>
          </a:prstGeom>
          <a:solidFill>
            <a:schemeClr val="bg2"/>
          </a:solidFill>
          <a:ln w="12700">
            <a:solidFill>
              <a:schemeClr val="bg2"/>
            </a:solidFill>
            <a:prstDash val="solid"/>
          </a:ln>
        </p:spPr>
      </p:sp>
      <p:sp>
        <p:nvSpPr>
          <p:cNvPr id="40" name="icon circle"/>
          <p:cNvSpPr/>
          <p:nvPr/>
        </p:nvSpPr>
        <p:spPr>
          <a:xfrm>
            <a:off x="7479609" y="5041392"/>
            <a:ext cx="457200" cy="457200"/>
          </a:xfrm>
          <a:prstGeom prst="ellipse">
            <a:avLst/>
          </a:prstGeom>
          <a:solidFill>
            <a:schemeClr val="tx2"/>
          </a:solidFill>
          <a:ln w="12700">
            <a:solidFill>
              <a:schemeClr val="tx2"/>
            </a:solidFill>
            <a:prstDash val="solid"/>
          </a:ln>
        </p:spPr>
      </p:sp>
      <p:pic>
        <p:nvPicPr>
          <p:cNvPr id="41" name="FiDatabase" descr="preencoded.png">    </p:cNvPr>
          <p:cNvPicPr>
            <a:picLocks noChangeAspect="1"/>
          </p:cNvPicPr>
          <p:nvPr/>
        </p:nvPicPr>
        <p:blipFill>
          <a:blip r:embed="rId4"/>
          <a:stretch>
            <a:fillRect/>
          </a:stretch>
        </p:blipFill>
        <p:spPr>
          <a:xfrm>
            <a:off x="7593909" y="5155692"/>
            <a:ext cx="228600" cy="228600"/>
          </a:xfrm>
          <a:prstGeom prst="rect">
            <a:avLst/>
          </a:prstGeom>
        </p:spPr>
      </p:pic>
      <p:sp>
        <p:nvSpPr>
          <p:cNvPr id="42" name="Text 36"/>
          <p:cNvSpPr txBox="1"/>
          <p:nvPr/>
        </p:nvSpPr>
        <p:spPr>
          <a:xfrm>
            <a:off x="8055681" y="4940808"/>
            <a:ext cx="1231331" cy="658368"/>
          </a:xfrm>
          <a:prstGeom prst="rect">
            <a:avLst/>
          </a:prstGeom>
          <a:noFill/>
          <a:ln/>
        </p:spPr>
        <p:txBody>
          <a:bodyPr wrap="square" lIns="0" tIns="0" rIns="0" bIns="0" rtlCol="0" anchor="ctr">
            <a:normAutofit/>
          </a:bodyPr>
          <a:lstStyle/>
          <a:p>
            <a:pPr indent="0" marL="0">
              <a:buNone/>
            </a:pPr>
            <a:r>
              <a:rPr lang="en-US" sz="1150" b="1" dirty="0">
                <a:solidFill>
                  <a:schemeClr val="tx1"/>
                </a:solidFill>
                <a:latin typeface="Arial" pitchFamily="34" charset="0"/>
                <a:ea typeface="Arial" pitchFamily="34" charset="-122"/>
                <a:cs typeface="Arial" pitchFamily="34" charset="-120"/>
              </a:rPr>
              <a:t>a write to the weights</a:t>
            </a:r>
            <a:endParaRPr lang="en-US" sz="1150" dirty="0"/>
          </a:p>
        </p:txBody>
      </p:sp>
      <p:sp>
        <p:nvSpPr>
          <p:cNvPr id="43" name="card"/>
          <p:cNvSpPr/>
          <p:nvPr/>
        </p:nvSpPr>
        <p:spPr>
          <a:xfrm>
            <a:off x="9607052" y="4940808"/>
            <a:ext cx="2036003" cy="658368"/>
          </a:xfrm>
          <a:prstGeom prst="roundRect">
            <a:avLst>
              <a:gd name="adj" fmla="val 11111"/>
            </a:avLst>
          </a:prstGeom>
          <a:solidFill>
            <a:schemeClr val="bg2"/>
          </a:solidFill>
          <a:ln w="12700">
            <a:solidFill>
              <a:schemeClr val="bg2"/>
            </a:solidFill>
            <a:prstDash val="solid"/>
          </a:ln>
        </p:spPr>
      </p:sp>
      <p:sp>
        <p:nvSpPr>
          <p:cNvPr id="44" name="icon circle"/>
          <p:cNvSpPr/>
          <p:nvPr/>
        </p:nvSpPr>
        <p:spPr>
          <a:xfrm>
            <a:off x="9744212" y="5041392"/>
            <a:ext cx="457200" cy="457200"/>
          </a:xfrm>
          <a:prstGeom prst="ellipse">
            <a:avLst/>
          </a:prstGeom>
          <a:solidFill>
            <a:schemeClr val="tx2"/>
          </a:solidFill>
          <a:ln w="12700">
            <a:solidFill>
              <a:schemeClr val="tx2"/>
            </a:solidFill>
            <a:prstDash val="solid"/>
          </a:ln>
        </p:spPr>
      </p:sp>
      <p:pic>
        <p:nvPicPr>
          <p:cNvPr id="45" name="FiPower" descr="preencoded.png">    </p:cNvPr>
          <p:cNvPicPr>
            <a:picLocks noChangeAspect="1"/>
          </p:cNvPicPr>
          <p:nvPr/>
        </p:nvPicPr>
        <p:blipFill>
          <a:blip r:embed="rId5"/>
          <a:stretch>
            <a:fillRect/>
          </a:stretch>
        </p:blipFill>
        <p:spPr>
          <a:xfrm>
            <a:off x="9858512" y="5155692"/>
            <a:ext cx="228600" cy="228600"/>
          </a:xfrm>
          <a:prstGeom prst="rect">
            <a:avLst/>
          </a:prstGeom>
        </p:spPr>
      </p:pic>
      <p:sp>
        <p:nvSpPr>
          <p:cNvPr id="46" name="Text 39"/>
          <p:cNvSpPr txBox="1"/>
          <p:nvPr/>
        </p:nvSpPr>
        <p:spPr>
          <a:xfrm>
            <a:off x="10320284" y="4940808"/>
            <a:ext cx="1231331" cy="658368"/>
          </a:xfrm>
          <a:prstGeom prst="rect">
            <a:avLst/>
          </a:prstGeom>
          <a:noFill/>
          <a:ln/>
        </p:spPr>
        <p:txBody>
          <a:bodyPr wrap="square" lIns="0" tIns="0" rIns="0" bIns="0" rtlCol="0" anchor="ctr">
            <a:normAutofit/>
          </a:bodyPr>
          <a:lstStyle/>
          <a:p>
            <a:pPr indent="0" marL="0">
              <a:buNone/>
            </a:pPr>
            <a:r>
              <a:rPr lang="en-US" sz="1150" b="1" dirty="0">
                <a:solidFill>
                  <a:schemeClr val="tx1"/>
                </a:solidFill>
                <a:latin typeface="Arial" pitchFamily="34" charset="0"/>
                <a:ea typeface="Arial" pitchFamily="34" charset="-122"/>
                <a:cs typeface="Arial" pitchFamily="34" charset="-120"/>
              </a:rPr>
              <a:t>GPU power, reset and clock</a:t>
            </a:r>
            <a:endParaRPr lang="en-US" sz="1150" dirty="0"/>
          </a:p>
        </p:txBody>
      </p:sp>
      <p:sp>
        <p:nvSpPr>
          <p:cNvPr id="47" name="analogy"/>
          <p:cNvSpPr/>
          <p:nvPr/>
        </p:nvSpPr>
        <p:spPr>
          <a:xfrm>
            <a:off x="548640" y="5760720"/>
            <a:ext cx="11094415" cy="502920"/>
          </a:xfrm>
          <a:prstGeom prst="roundRect">
            <a:avLst>
              <a:gd name="adj" fmla="val 14545"/>
            </a:avLst>
          </a:prstGeom>
          <a:solidFill>
            <a:schemeClr val="tx1"/>
          </a:solidFill>
          <a:ln w="12700">
            <a:solidFill>
              <a:schemeClr val="tx1"/>
            </a:solidFill>
            <a:prstDash val="solid"/>
          </a:ln>
        </p:spPr>
      </p:sp>
      <p:sp>
        <p:nvSpPr>
          <p:cNvPr id="48" name="Text 41"/>
          <p:cNvSpPr txBox="1"/>
          <p:nvPr/>
        </p:nvSpPr>
        <p:spPr>
          <a:xfrm>
            <a:off x="822960" y="5760720"/>
            <a:ext cx="1554480" cy="50292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docs 00, 18 and 23</a:t>
            </a:r>
            <a:endParaRPr lang="en-US" sz="1000" dirty="0"/>
          </a:p>
        </p:txBody>
      </p:sp>
      <p:sp>
        <p:nvSpPr>
          <p:cNvPr id="49" name="Text 42"/>
          <p:cNvSpPr txBox="1"/>
          <p:nvPr/>
        </p:nvSpPr>
        <p:spPr>
          <a:xfrm>
            <a:off x="2514600" y="5760720"/>
            <a:ext cx="8854135" cy="50292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A firewall for actions, with a hand on the breaker: it decides what leaves, and when it must, it also pulls the plug. A chip that can only ask the GPU nicely is a classifier with a heatsink.</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The ladder: every safety measure sits on it</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5</a:t>
            </a:r>
            <a:endParaRPr lang="en-US" sz="1100" dirty="0"/>
          </a:p>
        </p:txBody>
      </p:sp>
      <p:sp>
        <p:nvSpPr>
          <p:cNvPr id="5" name="Text 3"/>
          <p:cNvSpPr txBox="1"/>
          <p:nvPr/>
        </p:nvSpPr>
        <p:spPr>
          <a:xfrm>
            <a:off x="548640" y="1325880"/>
            <a:ext cx="7352690" cy="256032"/>
          </a:xfrm>
          <a:prstGeom prst="rect">
            <a:avLst/>
          </a:prstGeom>
          <a:noFill/>
          <a:ln/>
        </p:spPr>
        <p:txBody>
          <a:bodyPr wrap="square" lIns="0" tIns="0" rIns="0" bIns="0" rtlCol="0" anchor="t">
            <a:normAutofit/>
          </a:bodyPr>
          <a:lstStyle/>
          <a:p>
            <a:pPr indent="0" marL="0">
              <a:buNone/>
            </a:pPr>
            <a:r>
              <a:rPr lang="en-US" sz="950" b="1" dirty="0">
                <a:solidFill>
                  <a:schemeClr val="accent4"/>
                </a:solidFill>
                <a:latin typeface="Arial" pitchFamily="34" charset="0"/>
                <a:ea typeface="Arial" pitchFamily="34" charset="-122"/>
                <a:cs typeface="Arial" pitchFamily="34" charset="-120"/>
              </a:rPr>
              <a:t>SOFTWARE: REMOVED BY WHOEVER CAN WRITE TO WHERE IT LIVES</a:t>
            </a:r>
            <a:endParaRPr lang="en-US" sz="950" dirty="0"/>
          </a:p>
        </p:txBody>
      </p:sp>
      <p:sp>
        <p:nvSpPr>
          <p:cNvPr id="6" name="line"/>
          <p:cNvSpPr/>
          <p:nvPr/>
        </p:nvSpPr>
        <p:spPr>
          <a:xfrm>
            <a:off x="548640" y="1609344"/>
            <a:ext cx="7352690" cy="0"/>
          </a:xfrm>
          <a:prstGeom prst="line">
            <a:avLst/>
          </a:prstGeom>
          <a:noFill/>
          <a:ln w="19050">
            <a:solidFill>
              <a:srgbClr val="A33B2E"/>
            </a:solidFill>
            <a:prstDash val="solid"/>
          </a:ln>
        </p:spPr>
      </p:sp>
      <p:sp>
        <p:nvSpPr>
          <p:cNvPr id="7" name="Text 5"/>
          <p:cNvSpPr txBox="1"/>
          <p:nvPr/>
        </p:nvSpPr>
        <p:spPr>
          <a:xfrm>
            <a:off x="8035747" y="1325880"/>
            <a:ext cx="3609137" cy="256032"/>
          </a:xfrm>
          <a:prstGeom prst="rect">
            <a:avLst/>
          </a:prstGeom>
          <a:noFill/>
          <a:ln/>
        </p:spPr>
        <p:txBody>
          <a:bodyPr wrap="square" lIns="0" tIns="0" rIns="0" bIns="0" rtlCol="0" anchor="t">
            <a:normAutofit/>
          </a:bodyPr>
          <a:lstStyle/>
          <a:p>
            <a:pPr indent="0" marL="0">
              <a:buNone/>
            </a:pPr>
            <a:r>
              <a:rPr lang="en-US" sz="950" b="1" dirty="0">
                <a:solidFill>
                  <a:schemeClr val="tx2"/>
                </a:solidFill>
                <a:latin typeface="Arial" pitchFamily="34" charset="0"/>
                <a:ea typeface="Arial" pitchFamily="34" charset="-122"/>
                <a:cs typeface="Arial" pitchFamily="34" charset="-120"/>
              </a:rPr>
              <a:t>NOT WRITABLE BY THE MODEL OR THE OPERATOR</a:t>
            </a:r>
            <a:endParaRPr lang="en-US" sz="950" dirty="0"/>
          </a:p>
        </p:txBody>
      </p:sp>
      <p:sp>
        <p:nvSpPr>
          <p:cNvPr id="8" name="line"/>
          <p:cNvSpPr/>
          <p:nvPr/>
        </p:nvSpPr>
        <p:spPr>
          <a:xfrm>
            <a:off x="8035747" y="1609344"/>
            <a:ext cx="3607308" cy="0"/>
          </a:xfrm>
          <a:prstGeom prst="line">
            <a:avLst/>
          </a:prstGeom>
          <a:noFill/>
          <a:ln w="19050">
            <a:solidFill>
              <a:srgbClr val="2F5D62"/>
            </a:solidFill>
            <a:prstDash val="solid"/>
          </a:ln>
        </p:spPr>
      </p:sp>
      <p:sp>
        <p:nvSpPr>
          <p:cNvPr id="9" name="rung 0"/>
          <p:cNvSpPr/>
          <p:nvPr/>
        </p:nvSpPr>
        <p:spPr>
          <a:xfrm>
            <a:off x="548640" y="4206240"/>
            <a:ext cx="1737360" cy="1051560"/>
          </a:xfrm>
          <a:prstGeom prst="roundRect">
            <a:avLst>
              <a:gd name="adj" fmla="val 5217"/>
            </a:avLst>
          </a:prstGeom>
          <a:solidFill>
            <a:schemeClr val="bg2"/>
          </a:solidFill>
          <a:ln w="12700">
            <a:solidFill>
              <a:schemeClr val="bg2"/>
            </a:solidFill>
            <a:prstDash val="solid"/>
          </a:ln>
        </p:spPr>
      </p:sp>
      <p:sp>
        <p:nvSpPr>
          <p:cNvPr id="10" name="Text 8"/>
          <p:cNvSpPr txBox="1"/>
          <p:nvPr/>
        </p:nvSpPr>
        <p:spPr>
          <a:xfrm>
            <a:off x="685800" y="4279392"/>
            <a:ext cx="457200" cy="411480"/>
          </a:xfrm>
          <a:prstGeom prst="rect">
            <a:avLst/>
          </a:prstGeom>
          <a:noFill/>
          <a:ln/>
        </p:spPr>
        <p:txBody>
          <a:bodyPr wrap="square" lIns="0" tIns="0" rIns="0" bIns="0" rtlCol="0" anchor="t">
            <a:normAutofit/>
          </a:bodyPr>
          <a:lstStyle/>
          <a:p>
            <a:pPr indent="0" marL="0">
              <a:buNone/>
            </a:pPr>
            <a:r>
              <a:rPr lang="en-US" sz="2400" b="1" dirty="0">
                <a:solidFill>
                  <a:schemeClr val="accent1"/>
                </a:solidFill>
                <a:latin typeface="Georgia" pitchFamily="34" charset="0"/>
                <a:ea typeface="Georgia" pitchFamily="34" charset="-122"/>
                <a:cs typeface="Georgia" pitchFamily="34" charset="-120"/>
              </a:rPr>
              <a:t>0</a:t>
            </a:r>
            <a:endParaRPr lang="en-US" sz="2400" dirty="0"/>
          </a:p>
        </p:txBody>
      </p:sp>
      <p:sp>
        <p:nvSpPr>
          <p:cNvPr id="11" name="Text 9"/>
          <p:cNvSpPr txBox="1"/>
          <p:nvPr/>
        </p:nvSpPr>
        <p:spPr>
          <a:xfrm>
            <a:off x="1115568" y="4315968"/>
            <a:ext cx="1078992" cy="365760"/>
          </a:xfrm>
          <a:prstGeom prst="rect">
            <a:avLst/>
          </a:prstGeom>
          <a:noFill/>
          <a:ln/>
        </p:spPr>
        <p:txBody>
          <a:bodyPr wrap="square" lIns="0" tIns="0" rIns="0" bIns="0" rtlCol="0" anchor="ctr">
            <a:normAutofit/>
          </a:bodyPr>
          <a:lstStyle/>
          <a:p>
            <a:pPr indent="0" marL="0">
              <a:buNone/>
            </a:pPr>
            <a:r>
              <a:rPr lang="en-US" sz="1250" b="1" dirty="0">
                <a:solidFill>
                  <a:schemeClr val="tx1"/>
                </a:solidFill>
                <a:latin typeface="Arial" pitchFamily="34" charset="0"/>
                <a:ea typeface="Arial" pitchFamily="34" charset="-122"/>
                <a:cs typeface="Arial" pitchFamily="34" charset="-120"/>
              </a:rPr>
              <a:t>The prompt</a:t>
            </a:r>
            <a:endParaRPr lang="en-US" sz="1250" dirty="0"/>
          </a:p>
        </p:txBody>
      </p:sp>
      <p:sp>
        <p:nvSpPr>
          <p:cNvPr id="12" name="Text 10"/>
          <p:cNvSpPr txBox="1"/>
          <p:nvPr/>
        </p:nvSpPr>
        <p:spPr>
          <a:xfrm>
            <a:off x="685800" y="4736592"/>
            <a:ext cx="1463040" cy="457200"/>
          </a:xfrm>
          <a:prstGeom prst="rect">
            <a:avLst/>
          </a:prstGeom>
          <a:noFill/>
          <a:ln/>
        </p:spPr>
        <p:txBody>
          <a:bodyPr wrap="square" lIns="0" tIns="0" rIns="0" bIns="0" rtlCol="0" anchor="t">
            <a:normAutofit/>
          </a:bodyPr>
          <a:lstStyle/>
          <a:p>
            <a:pPr indent="0" marL="0">
              <a:buNone/>
            </a:pPr>
            <a:r>
              <a:rPr lang="en-US" sz="950" b="1" dirty="0">
                <a:solidFill>
                  <a:schemeClr val="tx1"/>
                </a:solidFill>
                <a:latin typeface="Arial" pitchFamily="34" charset="0"/>
                <a:ea typeface="Arial" pitchFamily="34" charset="-122"/>
                <a:cs typeface="Arial" pitchFamily="34" charset="-120"/>
              </a:rPr>
              <a:t>lives in: </a:t>
            </a:r>
            <a:pPr indent="0" marL="0">
              <a:buNone/>
            </a:pPr>
            <a:r>
              <a:rPr lang="en-US" sz="950" dirty="0">
                <a:solidFill>
                  <a:schemeClr val="tx1"/>
                </a:solidFill>
                <a:latin typeface="Arial" pitchFamily="34" charset="0"/>
                <a:ea typeface="Arial" pitchFamily="34" charset="-122"/>
                <a:cs typeface="Arial" pitchFamily="34" charset="-120"/>
              </a:rPr>
              <a:t>a text field</a:t>
            </a:r>
            <a:endParaRPr lang="en-US" sz="950" dirty="0"/>
          </a:p>
          <a:p>
            <a:pPr indent="0" marL="0">
              <a:buNone/>
            </a:pPr>
            <a:r>
              <a:rPr lang="en-US" sz="950" b="1" dirty="0">
                <a:solidFill>
                  <a:schemeClr val="tx1"/>
                </a:solidFill>
                <a:latin typeface="Arial" pitchFamily="34" charset="0"/>
                <a:ea typeface="Arial" pitchFamily="34" charset="-122"/>
                <a:cs typeface="Arial" pitchFamily="34" charset="-120"/>
              </a:rPr>
              <a:t>removed by: </a:t>
            </a:r>
            <a:pPr indent="0" marL="0">
              <a:buNone/>
            </a:pPr>
            <a:r>
              <a:rPr lang="en-US" sz="950" dirty="0">
                <a:solidFill>
                  <a:schemeClr val="tx1"/>
                </a:solidFill>
                <a:latin typeface="Arial" pitchFamily="34" charset="0"/>
                <a:ea typeface="Arial" pitchFamily="34" charset="-122"/>
                <a:cs typeface="Arial" pitchFamily="34" charset="-120"/>
              </a:rPr>
              <a:t>one more sentence</a:t>
            </a:r>
            <a:endParaRPr lang="en-US" sz="950" dirty="0"/>
          </a:p>
        </p:txBody>
      </p:sp>
      <p:sp>
        <p:nvSpPr>
          <p:cNvPr id="13" name="rung 1"/>
          <p:cNvSpPr/>
          <p:nvPr/>
        </p:nvSpPr>
        <p:spPr>
          <a:xfrm>
            <a:off x="2420417" y="3730752"/>
            <a:ext cx="1737360" cy="1527048"/>
          </a:xfrm>
          <a:prstGeom prst="roundRect">
            <a:avLst>
              <a:gd name="adj" fmla="val 3593"/>
            </a:avLst>
          </a:prstGeom>
          <a:solidFill>
            <a:schemeClr val="bg2"/>
          </a:solidFill>
          <a:ln w="12700">
            <a:solidFill>
              <a:schemeClr val="bg2"/>
            </a:solidFill>
            <a:prstDash val="solid"/>
          </a:ln>
        </p:spPr>
      </p:sp>
      <p:sp>
        <p:nvSpPr>
          <p:cNvPr id="14" name="Text 12"/>
          <p:cNvSpPr txBox="1"/>
          <p:nvPr/>
        </p:nvSpPr>
        <p:spPr>
          <a:xfrm>
            <a:off x="2557577" y="3803904"/>
            <a:ext cx="457200" cy="411480"/>
          </a:xfrm>
          <a:prstGeom prst="rect">
            <a:avLst/>
          </a:prstGeom>
          <a:noFill/>
          <a:ln/>
        </p:spPr>
        <p:txBody>
          <a:bodyPr wrap="square" lIns="0" tIns="0" rIns="0" bIns="0" rtlCol="0" anchor="t">
            <a:normAutofit/>
          </a:bodyPr>
          <a:lstStyle/>
          <a:p>
            <a:pPr indent="0" marL="0">
              <a:buNone/>
            </a:pPr>
            <a:r>
              <a:rPr lang="en-US" sz="2400" b="1" dirty="0">
                <a:solidFill>
                  <a:schemeClr val="accent1"/>
                </a:solidFill>
                <a:latin typeface="Georgia" pitchFamily="34" charset="0"/>
                <a:ea typeface="Georgia" pitchFamily="34" charset="-122"/>
                <a:cs typeface="Georgia" pitchFamily="34" charset="-120"/>
              </a:rPr>
              <a:t>1</a:t>
            </a:r>
            <a:endParaRPr lang="en-US" sz="2400" dirty="0"/>
          </a:p>
        </p:txBody>
      </p:sp>
      <p:sp>
        <p:nvSpPr>
          <p:cNvPr id="15" name="Text 13"/>
          <p:cNvSpPr txBox="1"/>
          <p:nvPr/>
        </p:nvSpPr>
        <p:spPr>
          <a:xfrm>
            <a:off x="2987345" y="3840480"/>
            <a:ext cx="1078992" cy="365760"/>
          </a:xfrm>
          <a:prstGeom prst="rect">
            <a:avLst/>
          </a:prstGeom>
          <a:noFill/>
          <a:ln/>
        </p:spPr>
        <p:txBody>
          <a:bodyPr wrap="square" lIns="0" tIns="0" rIns="0" bIns="0" rtlCol="0" anchor="ctr">
            <a:normAutofit/>
          </a:bodyPr>
          <a:lstStyle/>
          <a:p>
            <a:pPr indent="0" marL="0">
              <a:buNone/>
            </a:pPr>
            <a:r>
              <a:rPr lang="en-US" sz="1250" b="1" dirty="0">
                <a:solidFill>
                  <a:schemeClr val="tx1"/>
                </a:solidFill>
                <a:latin typeface="Arial" pitchFamily="34" charset="0"/>
                <a:ea typeface="Arial" pitchFamily="34" charset="-122"/>
                <a:cs typeface="Arial" pitchFamily="34" charset="-120"/>
              </a:rPr>
              <a:t>Training</a:t>
            </a:r>
            <a:endParaRPr lang="en-US" sz="1250" dirty="0"/>
          </a:p>
        </p:txBody>
      </p:sp>
      <p:sp>
        <p:nvSpPr>
          <p:cNvPr id="16" name="Text 14"/>
          <p:cNvSpPr txBox="1"/>
          <p:nvPr/>
        </p:nvSpPr>
        <p:spPr>
          <a:xfrm>
            <a:off x="2557577" y="4261104"/>
            <a:ext cx="1463040" cy="932688"/>
          </a:xfrm>
          <a:prstGeom prst="rect">
            <a:avLst/>
          </a:prstGeom>
          <a:noFill/>
          <a:ln/>
        </p:spPr>
        <p:txBody>
          <a:bodyPr wrap="square" lIns="0" tIns="0" rIns="0" bIns="0" rtlCol="0" anchor="t">
            <a:normAutofit/>
          </a:bodyPr>
          <a:lstStyle/>
          <a:p>
            <a:pPr indent="0" marL="0">
              <a:buNone/>
            </a:pPr>
            <a:r>
              <a:rPr lang="en-US" sz="950" b="1" dirty="0">
                <a:solidFill>
                  <a:schemeClr val="tx1"/>
                </a:solidFill>
                <a:latin typeface="Arial" pitchFamily="34" charset="0"/>
                <a:ea typeface="Arial" pitchFamily="34" charset="-122"/>
                <a:cs typeface="Arial" pitchFamily="34" charset="-120"/>
              </a:rPr>
              <a:t>lives in: </a:t>
            </a:r>
            <a:pPr indent="0" marL="0">
              <a:buNone/>
            </a:pPr>
            <a:r>
              <a:rPr lang="en-US" sz="950" dirty="0">
                <a:solidFill>
                  <a:schemeClr val="tx1"/>
                </a:solidFill>
                <a:latin typeface="Arial" pitchFamily="34" charset="0"/>
                <a:ea typeface="Arial" pitchFamily="34" charset="-122"/>
                <a:cs typeface="Arial" pitchFamily="34" charset="-120"/>
              </a:rPr>
              <a:t>the weight file</a:t>
            </a:r>
            <a:endParaRPr lang="en-US" sz="950" dirty="0"/>
          </a:p>
          <a:p>
            <a:pPr indent="0" marL="0">
              <a:buNone/>
            </a:pPr>
            <a:r>
              <a:rPr lang="en-US" sz="950" b="1" dirty="0">
                <a:solidFill>
                  <a:schemeClr val="tx1"/>
                </a:solidFill>
                <a:latin typeface="Arial" pitchFamily="34" charset="0"/>
                <a:ea typeface="Arial" pitchFamily="34" charset="-122"/>
                <a:cs typeface="Arial" pitchFamily="34" charset="-120"/>
              </a:rPr>
              <a:t>removed by: </a:t>
            </a:r>
            <a:pPr indent="0" marL="0">
              <a:buNone/>
            </a:pPr>
            <a:r>
              <a:rPr lang="en-US" sz="950" dirty="0">
                <a:solidFill>
                  <a:schemeClr val="tx1"/>
                </a:solidFill>
                <a:latin typeface="Arial" pitchFamily="34" charset="0"/>
                <a:ea typeface="Arial" pitchFamily="34" charset="-122"/>
                <a:cs typeface="Arial" pitchFamily="34" charset="-120"/>
              </a:rPr>
              <a:t>an afternoon on a consumer GPU</a:t>
            </a:r>
            <a:endParaRPr lang="en-US" sz="950" dirty="0"/>
          </a:p>
        </p:txBody>
      </p:sp>
      <p:sp>
        <p:nvSpPr>
          <p:cNvPr id="17" name="rung 2"/>
          <p:cNvSpPr/>
          <p:nvPr/>
        </p:nvSpPr>
        <p:spPr>
          <a:xfrm>
            <a:off x="4292194" y="3255264"/>
            <a:ext cx="1737360" cy="2002536"/>
          </a:xfrm>
          <a:prstGeom prst="roundRect">
            <a:avLst>
              <a:gd name="adj" fmla="val 3158"/>
            </a:avLst>
          </a:prstGeom>
          <a:solidFill>
            <a:schemeClr val="bg2"/>
          </a:solidFill>
          <a:ln w="12700">
            <a:solidFill>
              <a:schemeClr val="bg2"/>
            </a:solidFill>
            <a:prstDash val="solid"/>
          </a:ln>
        </p:spPr>
      </p:sp>
      <p:sp>
        <p:nvSpPr>
          <p:cNvPr id="18" name="Text 16"/>
          <p:cNvSpPr txBox="1"/>
          <p:nvPr/>
        </p:nvSpPr>
        <p:spPr>
          <a:xfrm>
            <a:off x="4429354" y="3328416"/>
            <a:ext cx="457200" cy="411480"/>
          </a:xfrm>
          <a:prstGeom prst="rect">
            <a:avLst/>
          </a:prstGeom>
          <a:noFill/>
          <a:ln/>
        </p:spPr>
        <p:txBody>
          <a:bodyPr wrap="square" lIns="0" tIns="0" rIns="0" bIns="0" rtlCol="0" anchor="t">
            <a:normAutofit/>
          </a:bodyPr>
          <a:lstStyle/>
          <a:p>
            <a:pPr indent="0" marL="0">
              <a:buNone/>
            </a:pPr>
            <a:r>
              <a:rPr lang="en-US" sz="2400" b="1" dirty="0">
                <a:solidFill>
                  <a:schemeClr val="accent1"/>
                </a:solidFill>
                <a:latin typeface="Georgia" pitchFamily="34" charset="0"/>
                <a:ea typeface="Georgia" pitchFamily="34" charset="-122"/>
                <a:cs typeface="Georgia" pitchFamily="34" charset="-120"/>
              </a:rPr>
              <a:t>2</a:t>
            </a:r>
            <a:endParaRPr lang="en-US" sz="2400" dirty="0"/>
          </a:p>
        </p:txBody>
      </p:sp>
      <p:sp>
        <p:nvSpPr>
          <p:cNvPr id="19" name="Text 17"/>
          <p:cNvSpPr txBox="1"/>
          <p:nvPr/>
        </p:nvSpPr>
        <p:spPr>
          <a:xfrm>
            <a:off x="4859122" y="3364992"/>
            <a:ext cx="1078992" cy="365760"/>
          </a:xfrm>
          <a:prstGeom prst="rect">
            <a:avLst/>
          </a:prstGeom>
          <a:noFill/>
          <a:ln/>
        </p:spPr>
        <p:txBody>
          <a:bodyPr wrap="square" lIns="0" tIns="0" rIns="0" bIns="0" rtlCol="0" anchor="ctr">
            <a:normAutofit/>
          </a:bodyPr>
          <a:lstStyle/>
          <a:p>
            <a:pPr indent="0" marL="0">
              <a:buNone/>
            </a:pPr>
            <a:r>
              <a:rPr lang="en-US" sz="1250" b="1" dirty="0">
                <a:solidFill>
                  <a:schemeClr val="tx1"/>
                </a:solidFill>
                <a:latin typeface="Arial" pitchFamily="34" charset="0"/>
                <a:ea typeface="Arial" pitchFamily="34" charset="-122"/>
                <a:cs typeface="Arial" pitchFamily="34" charset="-120"/>
              </a:rPr>
              <a:t>Watchers</a:t>
            </a:r>
            <a:endParaRPr lang="en-US" sz="1250" dirty="0"/>
          </a:p>
        </p:txBody>
      </p:sp>
      <p:sp>
        <p:nvSpPr>
          <p:cNvPr id="20" name="Text 18"/>
          <p:cNvSpPr txBox="1"/>
          <p:nvPr/>
        </p:nvSpPr>
        <p:spPr>
          <a:xfrm>
            <a:off x="4429354" y="3785616"/>
            <a:ext cx="1463040" cy="1408176"/>
          </a:xfrm>
          <a:prstGeom prst="rect">
            <a:avLst/>
          </a:prstGeom>
          <a:noFill/>
          <a:ln/>
        </p:spPr>
        <p:txBody>
          <a:bodyPr wrap="square" lIns="0" tIns="0" rIns="0" bIns="0" rtlCol="0" anchor="t">
            <a:normAutofit/>
          </a:bodyPr>
          <a:lstStyle/>
          <a:p>
            <a:pPr indent="0" marL="0">
              <a:buNone/>
            </a:pPr>
            <a:r>
              <a:rPr lang="en-US" sz="950" b="1" dirty="0">
                <a:solidFill>
                  <a:schemeClr val="tx1"/>
                </a:solidFill>
                <a:latin typeface="Arial" pitchFamily="34" charset="0"/>
                <a:ea typeface="Arial" pitchFamily="34" charset="-122"/>
                <a:cs typeface="Arial" pitchFamily="34" charset="-120"/>
              </a:rPr>
              <a:t>lives in: </a:t>
            </a:r>
            <a:pPr indent="0" marL="0">
              <a:buNone/>
            </a:pPr>
            <a:r>
              <a:rPr lang="en-US" sz="950" dirty="0">
                <a:solidFill>
                  <a:schemeClr val="tx1"/>
                </a:solidFill>
                <a:latin typeface="Arial" pitchFamily="34" charset="0"/>
                <a:ea typeface="Arial" pitchFamily="34" charset="-122"/>
                <a:cs typeface="Arial" pitchFamily="34" charset="-120"/>
              </a:rPr>
              <a:t>a process beside the model</a:t>
            </a:r>
            <a:endParaRPr lang="en-US" sz="950" dirty="0"/>
          </a:p>
          <a:p>
            <a:pPr indent="0" marL="0">
              <a:buNone/>
            </a:pPr>
            <a:r>
              <a:rPr lang="en-US" sz="950" b="1" dirty="0">
                <a:solidFill>
                  <a:schemeClr val="tx1"/>
                </a:solidFill>
                <a:latin typeface="Arial" pitchFamily="34" charset="0"/>
                <a:ea typeface="Arial" pitchFamily="34" charset="-122"/>
                <a:cs typeface="Arial" pitchFamily="34" charset="-120"/>
              </a:rPr>
              <a:t>removed by: </a:t>
            </a:r>
            <a:pPr indent="0" marL="0">
              <a:buNone/>
            </a:pPr>
            <a:r>
              <a:rPr lang="en-US" sz="950" dirty="0">
                <a:solidFill>
                  <a:schemeClr val="tx1"/>
                </a:solidFill>
                <a:latin typeface="Arial" pitchFamily="34" charset="0"/>
                <a:ea typeface="Arial" pitchFamily="34" charset="-122"/>
                <a:cs typeface="Arial" pitchFamily="34" charset="-120"/>
              </a:rPr>
              <a:t>root on the box</a:t>
            </a:r>
            <a:endParaRPr lang="en-US" sz="950" dirty="0"/>
          </a:p>
        </p:txBody>
      </p:sp>
      <p:sp>
        <p:nvSpPr>
          <p:cNvPr id="21" name="rung 3"/>
          <p:cNvSpPr/>
          <p:nvPr/>
        </p:nvSpPr>
        <p:spPr>
          <a:xfrm>
            <a:off x="6163970" y="2779776"/>
            <a:ext cx="1737360" cy="2478024"/>
          </a:xfrm>
          <a:prstGeom prst="roundRect">
            <a:avLst>
              <a:gd name="adj" fmla="val 3158"/>
            </a:avLst>
          </a:prstGeom>
          <a:solidFill>
            <a:schemeClr val="bg2"/>
          </a:solidFill>
          <a:ln w="12700">
            <a:solidFill>
              <a:schemeClr val="bg2"/>
            </a:solidFill>
            <a:prstDash val="solid"/>
          </a:ln>
        </p:spPr>
      </p:sp>
      <p:sp>
        <p:nvSpPr>
          <p:cNvPr id="22" name="Text 20"/>
          <p:cNvSpPr txBox="1"/>
          <p:nvPr/>
        </p:nvSpPr>
        <p:spPr>
          <a:xfrm>
            <a:off x="6301130" y="2852928"/>
            <a:ext cx="457200" cy="411480"/>
          </a:xfrm>
          <a:prstGeom prst="rect">
            <a:avLst/>
          </a:prstGeom>
          <a:noFill/>
          <a:ln/>
        </p:spPr>
        <p:txBody>
          <a:bodyPr wrap="square" lIns="0" tIns="0" rIns="0" bIns="0" rtlCol="0" anchor="t">
            <a:normAutofit/>
          </a:bodyPr>
          <a:lstStyle/>
          <a:p>
            <a:pPr indent="0" marL="0">
              <a:buNone/>
            </a:pPr>
            <a:r>
              <a:rPr lang="en-US" sz="2400" b="1" dirty="0">
                <a:solidFill>
                  <a:schemeClr val="accent1"/>
                </a:solidFill>
                <a:latin typeface="Georgia" pitchFamily="34" charset="0"/>
                <a:ea typeface="Georgia" pitchFamily="34" charset="-122"/>
                <a:cs typeface="Georgia" pitchFamily="34" charset="-120"/>
              </a:rPr>
              <a:t>3</a:t>
            </a:r>
            <a:endParaRPr lang="en-US" sz="2400" dirty="0"/>
          </a:p>
        </p:txBody>
      </p:sp>
      <p:sp>
        <p:nvSpPr>
          <p:cNvPr id="23" name="Text 21"/>
          <p:cNvSpPr txBox="1"/>
          <p:nvPr/>
        </p:nvSpPr>
        <p:spPr>
          <a:xfrm>
            <a:off x="6730898" y="2889504"/>
            <a:ext cx="1078992" cy="365760"/>
          </a:xfrm>
          <a:prstGeom prst="rect">
            <a:avLst/>
          </a:prstGeom>
          <a:noFill/>
          <a:ln/>
        </p:spPr>
        <p:txBody>
          <a:bodyPr wrap="square" lIns="0" tIns="0" rIns="0" bIns="0" rtlCol="0" anchor="ctr">
            <a:normAutofit/>
          </a:bodyPr>
          <a:lstStyle/>
          <a:p>
            <a:pPr indent="0" marL="0">
              <a:buNone/>
            </a:pPr>
            <a:r>
              <a:rPr lang="en-US" sz="1250" b="1" dirty="0">
                <a:solidFill>
                  <a:schemeClr val="tx1"/>
                </a:solidFill>
                <a:latin typeface="Arial" pitchFamily="34" charset="0"/>
                <a:ea typeface="Arial" pitchFamily="34" charset="-122"/>
                <a:cs typeface="Arial" pitchFamily="34" charset="-120"/>
              </a:rPr>
              <a:t>Runtime and network</a:t>
            </a:r>
            <a:endParaRPr lang="en-US" sz="1250" dirty="0"/>
          </a:p>
        </p:txBody>
      </p:sp>
      <p:sp>
        <p:nvSpPr>
          <p:cNvPr id="24" name="Text 22"/>
          <p:cNvSpPr txBox="1"/>
          <p:nvPr/>
        </p:nvSpPr>
        <p:spPr>
          <a:xfrm>
            <a:off x="6301130" y="3310128"/>
            <a:ext cx="1463040" cy="1883664"/>
          </a:xfrm>
          <a:prstGeom prst="rect">
            <a:avLst/>
          </a:prstGeom>
          <a:noFill/>
          <a:ln/>
        </p:spPr>
        <p:txBody>
          <a:bodyPr wrap="square" lIns="0" tIns="0" rIns="0" bIns="0" rtlCol="0" anchor="t">
            <a:normAutofit/>
          </a:bodyPr>
          <a:lstStyle/>
          <a:p>
            <a:pPr indent="0" marL="0">
              <a:buNone/>
            </a:pPr>
            <a:r>
              <a:rPr lang="en-US" sz="950" b="1" dirty="0">
                <a:solidFill>
                  <a:schemeClr val="tx1"/>
                </a:solidFill>
                <a:latin typeface="Arial" pitchFamily="34" charset="0"/>
                <a:ea typeface="Arial" pitchFamily="34" charset="-122"/>
                <a:cs typeface="Arial" pitchFamily="34" charset="-120"/>
              </a:rPr>
              <a:t>lives in: </a:t>
            </a:r>
            <a:pPr indent="0" marL="0">
              <a:buNone/>
            </a:pPr>
            <a:r>
              <a:rPr lang="en-US" sz="950" dirty="0">
                <a:solidFill>
                  <a:schemeClr val="tx1"/>
                </a:solidFill>
                <a:latin typeface="Arial" pitchFamily="34" charset="0"/>
                <a:ea typeface="Arial" pitchFamily="34" charset="-122"/>
                <a:cs typeface="Arial" pitchFamily="34" charset="-120"/>
              </a:rPr>
              <a:t>the operator's infrastructure</a:t>
            </a:r>
            <a:endParaRPr lang="en-US" sz="950" dirty="0"/>
          </a:p>
          <a:p>
            <a:pPr indent="0" marL="0">
              <a:buNone/>
            </a:pPr>
            <a:r>
              <a:rPr lang="en-US" sz="950" b="1" dirty="0">
                <a:solidFill>
                  <a:schemeClr val="tx1"/>
                </a:solidFill>
                <a:latin typeface="Arial" pitchFamily="34" charset="0"/>
                <a:ea typeface="Arial" pitchFamily="34" charset="-122"/>
                <a:cs typeface="Arial" pitchFamily="34" charset="-120"/>
              </a:rPr>
              <a:t>removed by: </a:t>
            </a:r>
            <a:pPr indent="0" marL="0">
              <a:buNone/>
            </a:pPr>
            <a:r>
              <a:rPr lang="en-US" sz="950" dirty="0">
                <a:solidFill>
                  <a:schemeClr val="tx1"/>
                </a:solidFill>
                <a:latin typeface="Arial" pitchFamily="34" charset="0"/>
                <a:ea typeface="Arial" pitchFamily="34" charset="-122"/>
                <a:cs typeface="Arial" pitchFamily="34" charset="-120"/>
              </a:rPr>
              <a:t>root on the fleet, or a path that never touches the network</a:t>
            </a:r>
            <a:endParaRPr lang="en-US" sz="950" dirty="0"/>
          </a:p>
        </p:txBody>
      </p:sp>
      <p:sp>
        <p:nvSpPr>
          <p:cNvPr id="25" name="rung 4"/>
          <p:cNvSpPr/>
          <p:nvPr/>
        </p:nvSpPr>
        <p:spPr>
          <a:xfrm>
            <a:off x="8035747" y="2304288"/>
            <a:ext cx="1737360" cy="2953512"/>
          </a:xfrm>
          <a:prstGeom prst="roundRect">
            <a:avLst>
              <a:gd name="adj" fmla="val 3158"/>
            </a:avLst>
          </a:prstGeom>
          <a:solidFill>
            <a:schemeClr val="tx2"/>
          </a:solidFill>
          <a:ln w="12700">
            <a:solidFill>
              <a:schemeClr val="tx2"/>
            </a:solidFill>
            <a:prstDash val="solid"/>
          </a:ln>
        </p:spPr>
      </p:sp>
      <p:sp>
        <p:nvSpPr>
          <p:cNvPr id="26" name="Text 24"/>
          <p:cNvSpPr txBox="1"/>
          <p:nvPr/>
        </p:nvSpPr>
        <p:spPr>
          <a:xfrm>
            <a:off x="8172907" y="2377440"/>
            <a:ext cx="457200" cy="411480"/>
          </a:xfrm>
          <a:prstGeom prst="rect">
            <a:avLst/>
          </a:prstGeom>
          <a:noFill/>
          <a:ln/>
        </p:spPr>
        <p:txBody>
          <a:bodyPr wrap="square" lIns="0" tIns="0" rIns="0" bIns="0" rtlCol="0" anchor="t">
            <a:normAutofit/>
          </a:bodyPr>
          <a:lstStyle/>
          <a:p>
            <a:pPr indent="0" marL="0">
              <a:buNone/>
            </a:pPr>
            <a:r>
              <a:rPr lang="en-US" sz="2400" b="1" dirty="0">
                <a:solidFill>
                  <a:schemeClr val="accent6"/>
                </a:solidFill>
                <a:latin typeface="Georgia" pitchFamily="34" charset="0"/>
                <a:ea typeface="Georgia" pitchFamily="34" charset="-122"/>
                <a:cs typeface="Georgia" pitchFamily="34" charset="-120"/>
              </a:rPr>
              <a:t>4</a:t>
            </a:r>
            <a:endParaRPr lang="en-US" sz="2400" dirty="0"/>
          </a:p>
        </p:txBody>
      </p:sp>
      <p:sp>
        <p:nvSpPr>
          <p:cNvPr id="27" name="Text 25"/>
          <p:cNvSpPr txBox="1"/>
          <p:nvPr/>
        </p:nvSpPr>
        <p:spPr>
          <a:xfrm>
            <a:off x="8602675" y="2414016"/>
            <a:ext cx="1078992" cy="365760"/>
          </a:xfrm>
          <a:prstGeom prst="rect">
            <a:avLst/>
          </a:prstGeom>
          <a:noFill/>
          <a:ln/>
        </p:spPr>
        <p:txBody>
          <a:bodyPr wrap="square" lIns="0" tIns="0" rIns="0" bIns="0" rtlCol="0" anchor="ctr">
            <a:normAutofit/>
          </a:bodyPr>
          <a:lstStyle/>
          <a:p>
            <a:pPr indent="0" marL="0">
              <a:buNone/>
            </a:pPr>
            <a:r>
              <a:rPr lang="en-US" sz="1250" b="1" dirty="0">
                <a:solidFill>
                  <a:schemeClr val="bg1"/>
                </a:solidFill>
                <a:latin typeface="Arial" pitchFamily="34" charset="0"/>
                <a:ea typeface="Arial" pitchFamily="34" charset="-122"/>
                <a:cs typeface="Arial" pitchFamily="34" charset="-120"/>
              </a:rPr>
              <a:t>The chip</a:t>
            </a:r>
            <a:endParaRPr lang="en-US" sz="1250" dirty="0"/>
          </a:p>
        </p:txBody>
      </p:sp>
      <p:sp>
        <p:nvSpPr>
          <p:cNvPr id="28" name="Text 26"/>
          <p:cNvSpPr txBox="1"/>
          <p:nvPr/>
        </p:nvSpPr>
        <p:spPr>
          <a:xfrm>
            <a:off x="8172907" y="2834640"/>
            <a:ext cx="1463040" cy="2359152"/>
          </a:xfrm>
          <a:prstGeom prst="rect">
            <a:avLst/>
          </a:prstGeom>
          <a:noFill/>
          <a:ln/>
        </p:spPr>
        <p:txBody>
          <a:bodyPr wrap="square" lIns="0" tIns="0" rIns="0" bIns="0" rtlCol="0" anchor="t">
            <a:normAutofit/>
          </a:bodyPr>
          <a:lstStyle/>
          <a:p>
            <a:pPr indent="0" marL="0">
              <a:buNone/>
            </a:pPr>
            <a:r>
              <a:rPr lang="en-US" sz="950" b="1" dirty="0">
                <a:solidFill>
                  <a:schemeClr val="bg1"/>
                </a:solidFill>
                <a:latin typeface="Arial" pitchFamily="34" charset="0"/>
                <a:ea typeface="Arial" pitchFamily="34" charset="-122"/>
                <a:cs typeface="Arial" pitchFamily="34" charset="-120"/>
              </a:rPr>
              <a:t>lives in: </a:t>
            </a:r>
            <a:pPr indent="0" marL="0">
              <a:buNone/>
            </a:pPr>
            <a:r>
              <a:rPr lang="en-US" sz="950" dirty="0">
                <a:solidFill>
                  <a:schemeClr val="bg1"/>
                </a:solidFill>
                <a:latin typeface="Arial" pitchFamily="34" charset="0"/>
                <a:ea typeface="Arial" pitchFamily="34" charset="-122"/>
                <a:cs typeface="Arial" pitchFamily="34" charset="-120"/>
              </a:rPr>
              <a:t>silicon, fused keys</a:t>
            </a:r>
            <a:endParaRPr lang="en-US" sz="950" dirty="0"/>
          </a:p>
          <a:p>
            <a:pPr indent="0" marL="0">
              <a:buNone/>
            </a:pPr>
            <a:r>
              <a:rPr lang="en-US" sz="950" b="1" dirty="0">
                <a:solidFill>
                  <a:schemeClr val="bg1"/>
                </a:solidFill>
                <a:latin typeface="Arial" pitchFamily="34" charset="0"/>
                <a:ea typeface="Arial" pitchFamily="34" charset="-122"/>
                <a:cs typeface="Arial" pitchFamily="34" charset="-120"/>
              </a:rPr>
              <a:t>removed by: </a:t>
            </a:r>
            <a:pPr indent="0" marL="0">
              <a:buNone/>
            </a:pPr>
            <a:r>
              <a:rPr lang="en-US" sz="950" dirty="0">
                <a:solidFill>
                  <a:schemeClr val="bg1"/>
                </a:solidFill>
                <a:latin typeface="Arial" pitchFamily="34" charset="0"/>
                <a:ea typeface="Arial" pitchFamily="34" charset="-122"/>
                <a:cs typeface="Arial" pitchFamily="34" charset="-120"/>
              </a:rPr>
              <a:t>nothing the model or the operator can write</a:t>
            </a:r>
            <a:endParaRPr lang="en-US" sz="950" dirty="0"/>
          </a:p>
        </p:txBody>
      </p:sp>
      <p:sp>
        <p:nvSpPr>
          <p:cNvPr id="29" name="rung 5"/>
          <p:cNvSpPr/>
          <p:nvPr/>
        </p:nvSpPr>
        <p:spPr>
          <a:xfrm>
            <a:off x="9907524" y="1828800"/>
            <a:ext cx="1737360" cy="3429000"/>
          </a:xfrm>
          <a:prstGeom prst="roundRect">
            <a:avLst>
              <a:gd name="adj" fmla="val 3158"/>
            </a:avLst>
          </a:prstGeom>
          <a:solidFill>
            <a:schemeClr val="accent1"/>
          </a:solidFill>
          <a:ln w="12700">
            <a:solidFill>
              <a:schemeClr val="accent1"/>
            </a:solidFill>
            <a:prstDash val="solid"/>
          </a:ln>
        </p:spPr>
      </p:sp>
      <p:sp>
        <p:nvSpPr>
          <p:cNvPr id="30" name="Text 28"/>
          <p:cNvSpPr txBox="1"/>
          <p:nvPr/>
        </p:nvSpPr>
        <p:spPr>
          <a:xfrm>
            <a:off x="10044684" y="1901952"/>
            <a:ext cx="457200" cy="411480"/>
          </a:xfrm>
          <a:prstGeom prst="rect">
            <a:avLst/>
          </a:prstGeom>
          <a:noFill/>
          <a:ln/>
        </p:spPr>
        <p:txBody>
          <a:bodyPr wrap="square" lIns="0" tIns="0" rIns="0" bIns="0" rtlCol="0" anchor="t">
            <a:normAutofit/>
          </a:bodyPr>
          <a:lstStyle/>
          <a:p>
            <a:pPr indent="0" marL="0">
              <a:buNone/>
            </a:pPr>
            <a:r>
              <a:rPr lang="en-US" sz="2400" b="1" dirty="0">
                <a:solidFill>
                  <a:schemeClr val="accent6"/>
                </a:solidFill>
                <a:latin typeface="Georgia" pitchFamily="34" charset="0"/>
                <a:ea typeface="Georgia" pitchFamily="34" charset="-122"/>
                <a:cs typeface="Georgia" pitchFamily="34" charset="-120"/>
              </a:rPr>
              <a:t>5</a:t>
            </a:r>
            <a:endParaRPr lang="en-US" sz="2400" dirty="0"/>
          </a:p>
        </p:txBody>
      </p:sp>
      <p:sp>
        <p:nvSpPr>
          <p:cNvPr id="31" name="Text 29"/>
          <p:cNvSpPr txBox="1"/>
          <p:nvPr/>
        </p:nvSpPr>
        <p:spPr>
          <a:xfrm>
            <a:off x="10474452" y="1938528"/>
            <a:ext cx="1078992" cy="365760"/>
          </a:xfrm>
          <a:prstGeom prst="rect">
            <a:avLst/>
          </a:prstGeom>
          <a:noFill/>
          <a:ln/>
        </p:spPr>
        <p:txBody>
          <a:bodyPr wrap="square" lIns="0" tIns="0" rIns="0" bIns="0" rtlCol="0" anchor="ctr">
            <a:normAutofit/>
          </a:bodyPr>
          <a:lstStyle/>
          <a:p>
            <a:pPr indent="0" marL="0">
              <a:buNone/>
            </a:pPr>
            <a:r>
              <a:rPr lang="en-US" sz="1250" b="1" dirty="0">
                <a:solidFill>
                  <a:schemeClr val="bg1"/>
                </a:solidFill>
                <a:latin typeface="Arial" pitchFamily="34" charset="0"/>
                <a:ea typeface="Arial" pitchFamily="34" charset="-122"/>
                <a:cs typeface="Arial" pitchFamily="34" charset="-120"/>
              </a:rPr>
              <a:t>A person with a key</a:t>
            </a:r>
            <a:endParaRPr lang="en-US" sz="1250" dirty="0"/>
          </a:p>
        </p:txBody>
      </p:sp>
      <p:sp>
        <p:nvSpPr>
          <p:cNvPr id="32" name="Text 30"/>
          <p:cNvSpPr txBox="1"/>
          <p:nvPr/>
        </p:nvSpPr>
        <p:spPr>
          <a:xfrm>
            <a:off x="10044684" y="2359152"/>
            <a:ext cx="1463040" cy="2834640"/>
          </a:xfrm>
          <a:prstGeom prst="rect">
            <a:avLst/>
          </a:prstGeom>
          <a:noFill/>
          <a:ln/>
        </p:spPr>
        <p:txBody>
          <a:bodyPr wrap="square" lIns="0" tIns="0" rIns="0" bIns="0" rtlCol="0" anchor="t">
            <a:normAutofit/>
          </a:bodyPr>
          <a:lstStyle/>
          <a:p>
            <a:pPr indent="0" marL="0">
              <a:buNone/>
            </a:pPr>
            <a:r>
              <a:rPr lang="en-US" sz="950" b="1" dirty="0">
                <a:solidFill>
                  <a:schemeClr val="bg1"/>
                </a:solidFill>
                <a:latin typeface="Arial" pitchFamily="34" charset="0"/>
                <a:ea typeface="Arial" pitchFamily="34" charset="-122"/>
                <a:cs typeface="Arial" pitchFamily="34" charset="-120"/>
              </a:rPr>
              <a:t>lives in: </a:t>
            </a:r>
            <a:pPr indent="0" marL="0">
              <a:buNone/>
            </a:pPr>
            <a:r>
              <a:rPr lang="en-US" sz="950" dirty="0">
                <a:solidFill>
                  <a:schemeClr val="bg1"/>
                </a:solidFill>
                <a:latin typeface="Arial" pitchFamily="34" charset="0"/>
                <a:ea typeface="Arial" pitchFamily="34" charset="-122"/>
                <a:cs typeface="Arial" pitchFamily="34" charset="-120"/>
              </a:rPr>
              <a:t>a human</a:t>
            </a:r>
            <a:endParaRPr lang="en-US" sz="950" dirty="0"/>
          </a:p>
          <a:p>
            <a:pPr indent="0" marL="0">
              <a:buNone/>
            </a:pPr>
            <a:r>
              <a:rPr lang="en-US" sz="950" b="1" dirty="0">
                <a:solidFill>
                  <a:schemeClr val="bg1"/>
                </a:solidFill>
                <a:latin typeface="Arial" pitchFamily="34" charset="0"/>
                <a:ea typeface="Arial" pitchFamily="34" charset="-122"/>
                <a:cs typeface="Arial" pitchFamily="34" charset="-120"/>
              </a:rPr>
              <a:t>removed by: </a:t>
            </a:r>
            <a:pPr indent="0" marL="0">
              <a:buNone/>
            </a:pPr>
            <a:r>
              <a:rPr lang="en-US" sz="950" dirty="0">
                <a:solidFill>
                  <a:schemeClr val="bg1"/>
                </a:solidFill>
                <a:latin typeface="Arial" pitchFamily="34" charset="0"/>
                <a:ea typeface="Arial" pitchFamily="34" charset="-122"/>
                <a:cs typeface="Arial" pitchFamily="34" charset="-120"/>
              </a:rPr>
              <a:t>a conversation</a:t>
            </a:r>
            <a:endParaRPr lang="en-US" sz="950" dirty="0"/>
          </a:p>
        </p:txBody>
      </p:sp>
      <p:sp>
        <p:nvSpPr>
          <p:cNvPr id="33" name="line"/>
          <p:cNvSpPr/>
          <p:nvPr/>
        </p:nvSpPr>
        <p:spPr>
          <a:xfrm>
            <a:off x="548640" y="5257800"/>
            <a:ext cx="11094415" cy="0"/>
          </a:xfrm>
          <a:prstGeom prst="line">
            <a:avLst/>
          </a:prstGeom>
          <a:noFill/>
          <a:ln w="19050">
            <a:solidFill>
              <a:srgbClr val="2F5D62"/>
            </a:solidFill>
            <a:prstDash val="solid"/>
          </a:ln>
        </p:spPr>
      </p:sp>
      <p:sp>
        <p:nvSpPr>
          <p:cNvPr id="34" name="analogy"/>
          <p:cNvSpPr/>
          <p:nvPr/>
        </p:nvSpPr>
        <p:spPr>
          <a:xfrm>
            <a:off x="548640" y="5440680"/>
            <a:ext cx="11094415" cy="777240"/>
          </a:xfrm>
          <a:prstGeom prst="roundRect">
            <a:avLst>
              <a:gd name="adj" fmla="val 9412"/>
            </a:avLst>
          </a:prstGeom>
          <a:solidFill>
            <a:schemeClr val="tx1"/>
          </a:solidFill>
          <a:ln w="12700">
            <a:solidFill>
              <a:schemeClr val="tx1"/>
            </a:solidFill>
            <a:prstDash val="solid"/>
          </a:ln>
        </p:spPr>
      </p:sp>
      <p:sp>
        <p:nvSpPr>
          <p:cNvPr id="35" name="Text 33"/>
          <p:cNvSpPr txBox="1"/>
          <p:nvPr/>
        </p:nvSpPr>
        <p:spPr>
          <a:xfrm>
            <a:off x="822960" y="5440680"/>
            <a:ext cx="1554480" cy="77724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docs 24</a:t>
            </a:r>
            <a:endParaRPr lang="en-US" sz="1000" dirty="0"/>
          </a:p>
        </p:txBody>
      </p:sp>
      <p:sp>
        <p:nvSpPr>
          <p:cNvPr id="36" name="Text 34"/>
          <p:cNvSpPr txBox="1"/>
          <p:nvPr/>
        </p:nvSpPr>
        <p:spPr>
          <a:xfrm>
            <a:off x="2514600" y="5440680"/>
            <a:ext cx="8854135" cy="77724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Prompts are advice, training is a habit, watchers are witnesses, the sandbox is a fence around the operator's own yard, and all four live where the model or the operator can write. The chip lives where neither can, and the person lives above it.</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The ladder, technically</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6</a:t>
            </a:r>
            <a:endParaRPr lang="en-US" sz="1100" dirty="0"/>
          </a:p>
        </p:txBody>
      </p:sp>
      <p:sp>
        <p:nvSpPr>
          <p:cNvPr id="5" name="Text 3"/>
          <p:cNvSpPr txBox="1"/>
          <p:nvPr/>
        </p:nvSpPr>
        <p:spPr>
          <a:xfrm>
            <a:off x="548640" y="1188720"/>
            <a:ext cx="11094415" cy="274320"/>
          </a:xfrm>
          <a:prstGeom prst="rect">
            <a:avLst/>
          </a:prstGeom>
          <a:noFill/>
          <a:ln/>
        </p:spPr>
        <p:txBody>
          <a:bodyPr wrap="square" lIns="0" tIns="0" rIns="0" bIns="0" rtlCol="0" anchor="t">
            <a:normAutofit/>
          </a:bodyPr>
          <a:lstStyle/>
          <a:p>
            <a:pPr indent="0" marL="0">
              <a:buNone/>
            </a:pPr>
            <a:r>
              <a:rPr lang="en-US" sz="1100" b="1" dirty="0">
                <a:solidFill>
                  <a:schemeClr val="accent1"/>
                </a:solidFill>
                <a:latin typeface="Arial" pitchFamily="34" charset="0"/>
                <a:ea typeface="Arial" pitchFamily="34" charset="-122"/>
                <a:cs typeface="Arial" pitchFamily="34" charset="-120"/>
              </a:rPr>
              <a:t>WHAT EACH RUNG CATCHES, HOW IT DIES, AND WHO SHOWED IT</a:t>
            </a:r>
            <a:endParaRPr lang="en-US" sz="1100" dirty="0"/>
          </a:p>
        </p:txBody>
      </p:sp>
      <p:sp>
        <p:nvSpPr>
          <p:cNvPr id="6" name="table header"/>
          <p:cNvSpPr/>
          <p:nvPr/>
        </p:nvSpPr>
        <p:spPr>
          <a:xfrm>
            <a:off x="548640" y="1417320"/>
            <a:ext cx="11094415" cy="384048"/>
          </a:xfrm>
          <a:prstGeom prst="rect">
            <a:avLst/>
          </a:prstGeom>
          <a:solidFill>
            <a:schemeClr val="tx2"/>
          </a:solidFill>
          <a:ln w="12700">
            <a:solidFill>
              <a:schemeClr val="tx2"/>
            </a:solidFill>
            <a:prstDash val="solid"/>
          </a:ln>
        </p:spPr>
      </p:sp>
      <p:sp>
        <p:nvSpPr>
          <p:cNvPr id="7" name="Text 5"/>
          <p:cNvSpPr txBox="1"/>
          <p:nvPr/>
        </p:nvSpPr>
        <p:spPr>
          <a:xfrm>
            <a:off x="630936" y="1417320"/>
            <a:ext cx="2075688"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Rung</a:t>
            </a:r>
            <a:endParaRPr lang="en-US" sz="1000" dirty="0"/>
          </a:p>
        </p:txBody>
      </p:sp>
      <p:sp>
        <p:nvSpPr>
          <p:cNvPr id="8" name="Text 6"/>
          <p:cNvSpPr txBox="1"/>
          <p:nvPr/>
        </p:nvSpPr>
        <p:spPr>
          <a:xfrm>
            <a:off x="2871216" y="1417320"/>
            <a:ext cx="2487168"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What it catches</a:t>
            </a:r>
            <a:endParaRPr lang="en-US" sz="1000" dirty="0"/>
          </a:p>
        </p:txBody>
      </p:sp>
      <p:sp>
        <p:nvSpPr>
          <p:cNvPr id="9" name="Text 7"/>
          <p:cNvSpPr txBox="1"/>
          <p:nvPr/>
        </p:nvSpPr>
        <p:spPr>
          <a:xfrm>
            <a:off x="5522976" y="1417320"/>
            <a:ext cx="3675888"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How it dies</a:t>
            </a:r>
            <a:endParaRPr lang="en-US" sz="1000" dirty="0"/>
          </a:p>
        </p:txBody>
      </p:sp>
      <p:sp>
        <p:nvSpPr>
          <p:cNvPr id="10" name="Text 8"/>
          <p:cNvSpPr txBox="1"/>
          <p:nvPr/>
        </p:nvSpPr>
        <p:spPr>
          <a:xfrm>
            <a:off x="9363456" y="1417320"/>
            <a:ext cx="2197303"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Shown by</a:t>
            </a:r>
            <a:endParaRPr lang="en-US" sz="1000" dirty="0"/>
          </a:p>
        </p:txBody>
      </p:sp>
      <p:sp>
        <p:nvSpPr>
          <p:cNvPr id="11" name="table row"/>
          <p:cNvSpPr/>
          <p:nvPr/>
        </p:nvSpPr>
        <p:spPr>
          <a:xfrm>
            <a:off x="548640" y="1801368"/>
            <a:ext cx="11094415" cy="629412"/>
          </a:xfrm>
          <a:prstGeom prst="rect">
            <a:avLst/>
          </a:prstGeom>
          <a:solidFill>
            <a:srgbClr val="EEF2EF"/>
          </a:solidFill>
          <a:ln w="9525">
            <a:solidFill>
              <a:srgbClr val="EEF2EF"/>
            </a:solidFill>
            <a:prstDash val="solid"/>
          </a:ln>
        </p:spPr>
      </p:sp>
      <p:sp>
        <p:nvSpPr>
          <p:cNvPr id="12" name="icon circle"/>
          <p:cNvSpPr/>
          <p:nvPr/>
        </p:nvSpPr>
        <p:spPr>
          <a:xfrm>
            <a:off x="630936" y="1883664"/>
            <a:ext cx="384048" cy="384048"/>
          </a:xfrm>
          <a:prstGeom prst="ellipse">
            <a:avLst/>
          </a:prstGeom>
          <a:solidFill>
            <a:schemeClr val="accent1"/>
          </a:solidFill>
          <a:ln w="12700">
            <a:solidFill>
              <a:schemeClr val="accent1"/>
            </a:solidFill>
            <a:prstDash val="solid"/>
          </a:ln>
        </p:spPr>
      </p:sp>
      <p:pic>
        <p:nvPicPr>
          <p:cNvPr id="13" name="FiMessageSquare" descr="preencoded.png">    </p:cNvPr>
          <p:cNvPicPr>
            <a:picLocks noChangeAspect="1"/>
          </p:cNvPicPr>
          <p:nvPr/>
        </p:nvPicPr>
        <p:blipFill>
          <a:blip r:embed="rId1"/>
          <a:stretch>
            <a:fillRect/>
          </a:stretch>
        </p:blipFill>
        <p:spPr>
          <a:xfrm>
            <a:off x="726948" y="1979676"/>
            <a:ext cx="192024" cy="192024"/>
          </a:xfrm>
          <a:prstGeom prst="rect">
            <a:avLst/>
          </a:prstGeom>
        </p:spPr>
      </p:pic>
      <p:sp>
        <p:nvSpPr>
          <p:cNvPr id="14" name="Text 11"/>
          <p:cNvSpPr txBox="1"/>
          <p:nvPr/>
        </p:nvSpPr>
        <p:spPr>
          <a:xfrm>
            <a:off x="1133856" y="1883664"/>
            <a:ext cx="1572768" cy="46482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0  Prompt: rules in the system prompt, the instruction hierarchy</a:t>
            </a:r>
            <a:endParaRPr lang="en-US" sz="1000" dirty="0"/>
          </a:p>
        </p:txBody>
      </p:sp>
      <p:sp>
        <p:nvSpPr>
          <p:cNvPr id="15" name="Text 12"/>
          <p:cNvSpPr txBox="1"/>
          <p:nvPr/>
        </p:nvSpPr>
        <p:spPr>
          <a:xfrm>
            <a:off x="2871216" y="1883664"/>
            <a:ext cx="2487168"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The user who did not know better; the lazy ask</a:t>
            </a:r>
            <a:endParaRPr lang="en-US" sz="1000" dirty="0"/>
          </a:p>
        </p:txBody>
      </p:sp>
      <p:sp>
        <p:nvSpPr>
          <p:cNvPr id="16" name="Text 13"/>
          <p:cNvSpPr txBox="1"/>
          <p:nvPr/>
        </p:nvSpPr>
        <p:spPr>
          <a:xfrm>
            <a:off x="5522976" y="1883664"/>
            <a:ext cx="3675888"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More text: "ignore previous instructions"; injection through a page or a document the agent reads. The fix moved the rule into the weights</a:t>
            </a:r>
            <a:endParaRPr lang="en-US" sz="1000" dirty="0"/>
          </a:p>
        </p:txBody>
      </p:sp>
      <p:sp>
        <p:nvSpPr>
          <p:cNvPr id="17" name="Text 14"/>
          <p:cNvSpPr txBox="1"/>
          <p:nvPr/>
        </p:nvSpPr>
        <p:spPr>
          <a:xfrm>
            <a:off x="9363456" y="1883664"/>
            <a:ext cx="2197303"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Perez and Ribeiro 2022; Greshake 2023; Wallace 2024</a:t>
            </a:r>
            <a:endParaRPr lang="en-US" sz="1000" dirty="0"/>
          </a:p>
        </p:txBody>
      </p:sp>
      <p:sp>
        <p:nvSpPr>
          <p:cNvPr id="18" name="table row"/>
          <p:cNvSpPr/>
          <p:nvPr/>
        </p:nvSpPr>
        <p:spPr>
          <a:xfrm>
            <a:off x="548640" y="2430780"/>
            <a:ext cx="11094415" cy="784352"/>
          </a:xfrm>
          <a:prstGeom prst="rect">
            <a:avLst/>
          </a:prstGeom>
          <a:solidFill>
            <a:srgbClr val="FFFFFF"/>
          </a:solidFill>
          <a:ln w="9525">
            <a:solidFill>
              <a:srgbClr val="EEF2EF"/>
            </a:solidFill>
            <a:prstDash val="solid"/>
          </a:ln>
        </p:spPr>
      </p:sp>
      <p:sp>
        <p:nvSpPr>
          <p:cNvPr id="19" name="icon circle"/>
          <p:cNvSpPr/>
          <p:nvPr/>
        </p:nvSpPr>
        <p:spPr>
          <a:xfrm>
            <a:off x="630936" y="2513076"/>
            <a:ext cx="384048" cy="384048"/>
          </a:xfrm>
          <a:prstGeom prst="ellipse">
            <a:avLst/>
          </a:prstGeom>
          <a:solidFill>
            <a:schemeClr val="accent1"/>
          </a:solidFill>
          <a:ln w="12700">
            <a:solidFill>
              <a:schemeClr val="accent1"/>
            </a:solidFill>
            <a:prstDash val="solid"/>
          </a:ln>
        </p:spPr>
      </p:sp>
      <p:pic>
        <p:nvPicPr>
          <p:cNvPr id="20" name="FiSliders" descr="preencoded.png">    </p:cNvPr>
          <p:cNvPicPr>
            <a:picLocks noChangeAspect="1"/>
          </p:cNvPicPr>
          <p:nvPr/>
        </p:nvPicPr>
        <p:blipFill>
          <a:blip r:embed="rId2"/>
          <a:stretch>
            <a:fillRect/>
          </a:stretch>
        </p:blipFill>
        <p:spPr>
          <a:xfrm>
            <a:off x="726948" y="2609088"/>
            <a:ext cx="192024" cy="192024"/>
          </a:xfrm>
          <a:prstGeom prst="rect">
            <a:avLst/>
          </a:prstGeom>
        </p:spPr>
      </p:pic>
      <p:sp>
        <p:nvSpPr>
          <p:cNvPr id="21" name="Text 17"/>
          <p:cNvSpPr txBox="1"/>
          <p:nvPr/>
        </p:nvSpPr>
        <p:spPr>
          <a:xfrm>
            <a:off x="1133856" y="2513076"/>
            <a:ext cx="1572768" cy="61976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1  Training: RLHF, constitutions, deliberative alignment</a:t>
            </a:r>
            <a:endParaRPr lang="en-US" sz="1000" dirty="0"/>
          </a:p>
        </p:txBody>
      </p:sp>
      <p:sp>
        <p:nvSpPr>
          <p:cNvPr id="22" name="Text 18"/>
          <p:cNvSpPr txBox="1"/>
          <p:nvPr/>
        </p:nvSpPr>
        <p:spPr>
          <a:xfrm>
            <a:off x="2871216" y="2513076"/>
            <a:ext cx="2487168" cy="6197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Most bad asks, most of the time, across a billion conversations</a:t>
            </a:r>
            <a:endParaRPr lang="en-US" sz="1000" dirty="0"/>
          </a:p>
        </p:txBody>
      </p:sp>
      <p:sp>
        <p:nvSpPr>
          <p:cNvPr id="23" name="Text 19"/>
          <p:cNvSpPr txBox="1"/>
          <p:nvPr/>
        </p:nvSpPr>
        <p:spPr>
          <a:xfrm>
            <a:off x="5522976" y="2513076"/>
            <a:ext cx="3675888" cy="6197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Jailbreaks, including computed suffixes; fine-tuning on a handful of examples; abliteration, one direction in the weights; backdoors that persist through safety training; alignment faking</a:t>
            </a:r>
            <a:endParaRPr lang="en-US" sz="1000" dirty="0"/>
          </a:p>
        </p:txBody>
      </p:sp>
      <p:sp>
        <p:nvSpPr>
          <p:cNvPr id="24" name="Text 20"/>
          <p:cNvSpPr txBox="1"/>
          <p:nvPr/>
        </p:nvSpPr>
        <p:spPr>
          <a:xfrm>
            <a:off x="9363456" y="2513076"/>
            <a:ext cx="2197303" cy="6197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Ouyang 2022; Bai 2022; Guan 2024; Wei 2023; Zou 2023; Qi 2023; Arditi 2024; Hubinger 2024; Greenblatt 2024</a:t>
            </a:r>
            <a:endParaRPr lang="en-US" sz="1000" dirty="0"/>
          </a:p>
        </p:txBody>
      </p:sp>
      <p:sp>
        <p:nvSpPr>
          <p:cNvPr id="25" name="table row"/>
          <p:cNvSpPr/>
          <p:nvPr/>
        </p:nvSpPr>
        <p:spPr>
          <a:xfrm>
            <a:off x="548640" y="3215132"/>
            <a:ext cx="11094415" cy="784352"/>
          </a:xfrm>
          <a:prstGeom prst="rect">
            <a:avLst/>
          </a:prstGeom>
          <a:solidFill>
            <a:srgbClr val="EEF2EF"/>
          </a:solidFill>
          <a:ln w="9525">
            <a:solidFill>
              <a:srgbClr val="EEF2EF"/>
            </a:solidFill>
            <a:prstDash val="solid"/>
          </a:ln>
        </p:spPr>
      </p:sp>
      <p:sp>
        <p:nvSpPr>
          <p:cNvPr id="26" name="icon circle"/>
          <p:cNvSpPr/>
          <p:nvPr/>
        </p:nvSpPr>
        <p:spPr>
          <a:xfrm>
            <a:off x="630936" y="3297428"/>
            <a:ext cx="384048" cy="384048"/>
          </a:xfrm>
          <a:prstGeom prst="ellipse">
            <a:avLst/>
          </a:prstGeom>
          <a:solidFill>
            <a:schemeClr val="accent1"/>
          </a:solidFill>
          <a:ln w="12700">
            <a:solidFill>
              <a:schemeClr val="accent1"/>
            </a:solidFill>
            <a:prstDash val="solid"/>
          </a:ln>
        </p:spPr>
      </p:sp>
      <p:pic>
        <p:nvPicPr>
          <p:cNvPr id="27" name="FiEye" descr="preencoded.png">    </p:cNvPr>
          <p:cNvPicPr>
            <a:picLocks noChangeAspect="1"/>
          </p:cNvPicPr>
          <p:nvPr/>
        </p:nvPicPr>
        <p:blipFill>
          <a:blip r:embed="rId3"/>
          <a:stretch>
            <a:fillRect/>
          </a:stretch>
        </p:blipFill>
        <p:spPr>
          <a:xfrm>
            <a:off x="726948" y="3393440"/>
            <a:ext cx="192024" cy="192024"/>
          </a:xfrm>
          <a:prstGeom prst="rect">
            <a:avLst/>
          </a:prstGeom>
        </p:spPr>
      </p:pic>
      <p:sp>
        <p:nvSpPr>
          <p:cNvPr id="28" name="Text 23"/>
          <p:cNvSpPr txBox="1"/>
          <p:nvPr/>
        </p:nvSpPr>
        <p:spPr>
          <a:xfrm>
            <a:off x="1133856" y="3297428"/>
            <a:ext cx="1572768" cy="61976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2  Watchers: classifiers, judge models, chain-of-thought monitors</a:t>
            </a:r>
            <a:endParaRPr lang="en-US" sz="1000" dirty="0"/>
          </a:p>
        </p:txBody>
      </p:sp>
      <p:sp>
        <p:nvSpPr>
          <p:cNvPr id="29" name="Text 24"/>
          <p:cNvSpPr txBox="1"/>
          <p:nvPr/>
        </p:nvSpPr>
        <p:spPr>
          <a:xfrm>
            <a:off x="2871216" y="3297428"/>
            <a:ext cx="2487168" cy="6197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A second look with a measured miss rate; the best software rung because it has a number</a:t>
            </a:r>
            <a:endParaRPr lang="en-US" sz="1000" dirty="0"/>
          </a:p>
        </p:txBody>
      </p:sp>
      <p:sp>
        <p:nvSpPr>
          <p:cNvPr id="30" name="Text 25"/>
          <p:cNvSpPr txBox="1"/>
          <p:nvPr/>
        </p:nvSpPr>
        <p:spPr>
          <a:xfrm>
            <a:off x="5522976" y="3297428"/>
            <a:ext cx="3675888" cy="6197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A transformer too: the same injections and edits; a process root can kill; optimise against the monitor and intent goes into hiding; at a billion requests a rate is a body count. STOP, never GO</a:t>
            </a:r>
            <a:endParaRPr lang="en-US" sz="1000" dirty="0"/>
          </a:p>
        </p:txBody>
      </p:sp>
      <p:sp>
        <p:nvSpPr>
          <p:cNvPr id="31" name="Text 26"/>
          <p:cNvSpPr txBox="1"/>
          <p:nvPr/>
        </p:nvSpPr>
        <p:spPr>
          <a:xfrm>
            <a:off x="9363456" y="3297428"/>
            <a:ext cx="2197303" cy="6197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Inan 2023; Sharma 2025; Baker 2025; Greenblatt 2023 (AI control); YB-0052</a:t>
            </a:r>
            <a:endParaRPr lang="en-US" sz="1000" dirty="0"/>
          </a:p>
        </p:txBody>
      </p:sp>
      <p:sp>
        <p:nvSpPr>
          <p:cNvPr id="32" name="table row"/>
          <p:cNvSpPr/>
          <p:nvPr/>
        </p:nvSpPr>
        <p:spPr>
          <a:xfrm>
            <a:off x="548640" y="3999484"/>
            <a:ext cx="11094415" cy="784352"/>
          </a:xfrm>
          <a:prstGeom prst="rect">
            <a:avLst/>
          </a:prstGeom>
          <a:solidFill>
            <a:srgbClr val="FFFFFF"/>
          </a:solidFill>
          <a:ln w="9525">
            <a:solidFill>
              <a:srgbClr val="EEF2EF"/>
            </a:solidFill>
            <a:prstDash val="solid"/>
          </a:ln>
        </p:spPr>
      </p:sp>
      <p:sp>
        <p:nvSpPr>
          <p:cNvPr id="33" name="icon circle"/>
          <p:cNvSpPr/>
          <p:nvPr/>
        </p:nvSpPr>
        <p:spPr>
          <a:xfrm>
            <a:off x="630936" y="4081780"/>
            <a:ext cx="384048" cy="384048"/>
          </a:xfrm>
          <a:prstGeom prst="ellipse">
            <a:avLst/>
          </a:prstGeom>
          <a:solidFill>
            <a:schemeClr val="accent1"/>
          </a:solidFill>
          <a:ln w="12700">
            <a:solidFill>
              <a:schemeClr val="accent1"/>
            </a:solidFill>
            <a:prstDash val="solid"/>
          </a:ln>
        </p:spPr>
      </p:sp>
      <p:pic>
        <p:nvPicPr>
          <p:cNvPr id="34" name="FiServer" descr="preencoded.png">    </p:cNvPr>
          <p:cNvPicPr>
            <a:picLocks noChangeAspect="1"/>
          </p:cNvPicPr>
          <p:nvPr/>
        </p:nvPicPr>
        <p:blipFill>
          <a:blip r:embed="rId4"/>
          <a:stretch>
            <a:fillRect/>
          </a:stretch>
        </p:blipFill>
        <p:spPr>
          <a:xfrm>
            <a:off x="726948" y="4177792"/>
            <a:ext cx="192024" cy="192024"/>
          </a:xfrm>
          <a:prstGeom prst="rect">
            <a:avLst/>
          </a:prstGeom>
        </p:spPr>
      </p:pic>
      <p:sp>
        <p:nvSpPr>
          <p:cNvPr id="35" name="Text 29"/>
          <p:cNvSpPr txBox="1"/>
          <p:nvPr/>
        </p:nvSpPr>
        <p:spPr>
          <a:xfrm>
            <a:off x="1133856" y="4081780"/>
            <a:ext cx="1572768" cy="61976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3  Runtime and network: sandboxes, policies, DPUs (OpenShell, Sentry)</a:t>
            </a:r>
            <a:endParaRPr lang="en-US" sz="1000" dirty="0"/>
          </a:p>
        </p:txBody>
      </p:sp>
      <p:sp>
        <p:nvSpPr>
          <p:cNvPr id="36" name="Text 30"/>
          <p:cNvSpPr txBox="1"/>
          <p:nvPr/>
        </p:nvSpPr>
        <p:spPr>
          <a:xfrm>
            <a:off x="2871216" y="4081780"/>
            <a:ext cx="2487168" cy="6197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An agent reaching for a host, a credential or a tool it was never given; by structure, not meaning</a:t>
            </a:r>
            <a:endParaRPr lang="en-US" sz="1000" dirty="0"/>
          </a:p>
        </p:txBody>
      </p:sp>
      <p:sp>
        <p:nvSpPr>
          <p:cNvPr id="37" name="Text 31"/>
          <p:cNvSpPr txBox="1"/>
          <p:nvPr/>
        </p:nvSpPr>
        <p:spPr>
          <a:xfrm>
            <a:off x="5522976" y="4081780"/>
            <a:ext cx="3675888" cy="6197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Software with root: a config the operator edits; governs only what crosses the network (the laptop wired to a motor never meets it); decides by host, not by action; a hostile operator holds rungs 0 to 3 at once</a:t>
            </a:r>
            <a:endParaRPr lang="en-US" sz="1000" dirty="0"/>
          </a:p>
        </p:txBody>
      </p:sp>
      <p:sp>
        <p:nvSpPr>
          <p:cNvPr id="38" name="Text 32"/>
          <p:cNvSpPr txBox="1"/>
          <p:nvPr/>
        </p:nvSpPr>
        <p:spPr>
          <a:xfrm>
            <a:off x="9363456" y="4081780"/>
            <a:ext cx="2197303" cy="6197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NVIDIA, 28 September 2026; the OpenShell repository; Rebedea 2023; docs/23 claim 1</a:t>
            </a:r>
            <a:endParaRPr lang="en-US" sz="1000" dirty="0"/>
          </a:p>
        </p:txBody>
      </p:sp>
      <p:sp>
        <p:nvSpPr>
          <p:cNvPr id="39" name="table row"/>
          <p:cNvSpPr/>
          <p:nvPr/>
        </p:nvSpPr>
        <p:spPr>
          <a:xfrm>
            <a:off x="548640" y="4783836"/>
            <a:ext cx="11094415" cy="784352"/>
          </a:xfrm>
          <a:prstGeom prst="rect">
            <a:avLst/>
          </a:prstGeom>
          <a:solidFill>
            <a:srgbClr val="EEF2EF"/>
          </a:solidFill>
          <a:ln w="9525">
            <a:solidFill>
              <a:srgbClr val="EEF2EF"/>
            </a:solidFill>
            <a:prstDash val="solid"/>
          </a:ln>
        </p:spPr>
      </p:sp>
      <p:sp>
        <p:nvSpPr>
          <p:cNvPr id="40" name="icon circle"/>
          <p:cNvSpPr/>
          <p:nvPr/>
        </p:nvSpPr>
        <p:spPr>
          <a:xfrm>
            <a:off x="630936" y="4866132"/>
            <a:ext cx="384048" cy="384048"/>
          </a:xfrm>
          <a:prstGeom prst="ellipse">
            <a:avLst/>
          </a:prstGeom>
          <a:solidFill>
            <a:schemeClr val="accent1"/>
          </a:solidFill>
          <a:ln w="12700">
            <a:solidFill>
              <a:schemeClr val="accent1"/>
            </a:solidFill>
            <a:prstDash val="solid"/>
          </a:ln>
        </p:spPr>
      </p:sp>
      <p:pic>
        <p:nvPicPr>
          <p:cNvPr id="41" name="FiCpu" descr="preencoded.png">    </p:cNvPr>
          <p:cNvPicPr>
            <a:picLocks noChangeAspect="1"/>
          </p:cNvPicPr>
          <p:nvPr/>
        </p:nvPicPr>
        <p:blipFill>
          <a:blip r:embed="rId5"/>
          <a:stretch>
            <a:fillRect/>
          </a:stretch>
        </p:blipFill>
        <p:spPr>
          <a:xfrm>
            <a:off x="726948" y="4962144"/>
            <a:ext cx="192024" cy="192024"/>
          </a:xfrm>
          <a:prstGeom prst="rect">
            <a:avLst/>
          </a:prstGeom>
        </p:spPr>
      </p:pic>
      <p:sp>
        <p:nvSpPr>
          <p:cNvPr id="42" name="Text 35"/>
          <p:cNvSpPr txBox="1"/>
          <p:nvPr/>
        </p:nvSpPr>
        <p:spPr>
          <a:xfrm>
            <a:off x="1133856" y="4866132"/>
            <a:ext cx="1572768" cy="61976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4  The chip: fused keys, measured boot, a signed rulebook, typed forms, tickets, levers</a:t>
            </a:r>
            <a:endParaRPr lang="en-US" sz="1000" dirty="0"/>
          </a:p>
        </p:txBody>
      </p:sp>
      <p:sp>
        <p:nvSpPr>
          <p:cNvPr id="43" name="Text 36"/>
          <p:cNvSpPr txBox="1"/>
          <p:nvPr/>
        </p:nvSpPr>
        <p:spPr>
          <a:xfrm>
            <a:off x="2871216" y="4866132"/>
            <a:ext cx="2487168" cy="6197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The action at the crossing: forged or replayed tickets, stale rulebooks, blown budgets, an unattested workload, a stranger on the roster</a:t>
            </a:r>
            <a:endParaRPr lang="en-US" sz="1000" dirty="0"/>
          </a:p>
        </p:txBody>
      </p:sp>
      <p:sp>
        <p:nvSpPr>
          <p:cNvPr id="44" name="Text 37"/>
          <p:cNvSpPr txBox="1"/>
          <p:nvPr/>
        </p:nvSpPr>
        <p:spPr>
          <a:xfrm>
            <a:off x="5522976" y="4866132"/>
            <a:ext cx="3675888" cy="6197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Not by anything the model or the operator can write. Coverage (a device nobody wired); a bad rule enforced perfectly; a fooled witness; physical attack, mitigated; the foundry, trusted</a:t>
            </a:r>
            <a:endParaRPr lang="en-US" sz="1000" dirty="0"/>
          </a:p>
        </p:txBody>
      </p:sp>
      <p:sp>
        <p:nvSpPr>
          <p:cNvPr id="45" name="Text 38"/>
          <p:cNvSpPr txBox="1"/>
          <p:nvPr/>
        </p:nvSpPr>
        <p:spPr>
          <a:xfrm>
            <a:off x="9363456" y="4866132"/>
            <a:ext cx="2197303" cy="6197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Anderson 1972; docs 00 to 04, 18, 19, 23; proofs/</a:t>
            </a:r>
            <a:endParaRPr lang="en-US" sz="1000" dirty="0"/>
          </a:p>
        </p:txBody>
      </p:sp>
      <p:sp>
        <p:nvSpPr>
          <p:cNvPr id="46" name="table row"/>
          <p:cNvSpPr/>
          <p:nvPr/>
        </p:nvSpPr>
        <p:spPr>
          <a:xfrm>
            <a:off x="548640" y="5568188"/>
            <a:ext cx="11094415" cy="629412"/>
          </a:xfrm>
          <a:prstGeom prst="rect">
            <a:avLst/>
          </a:prstGeom>
          <a:solidFill>
            <a:srgbClr val="FFFFFF"/>
          </a:solidFill>
          <a:ln w="9525">
            <a:solidFill>
              <a:srgbClr val="EEF2EF"/>
            </a:solidFill>
            <a:prstDash val="solid"/>
          </a:ln>
        </p:spPr>
      </p:sp>
      <p:sp>
        <p:nvSpPr>
          <p:cNvPr id="47" name="icon circle"/>
          <p:cNvSpPr/>
          <p:nvPr/>
        </p:nvSpPr>
        <p:spPr>
          <a:xfrm>
            <a:off x="630936" y="5650484"/>
            <a:ext cx="384048" cy="384048"/>
          </a:xfrm>
          <a:prstGeom prst="ellipse">
            <a:avLst/>
          </a:prstGeom>
          <a:solidFill>
            <a:schemeClr val="accent1"/>
          </a:solidFill>
          <a:ln w="12700">
            <a:solidFill>
              <a:schemeClr val="accent1"/>
            </a:solidFill>
            <a:prstDash val="solid"/>
          </a:ln>
        </p:spPr>
      </p:sp>
      <p:pic>
        <p:nvPicPr>
          <p:cNvPr id="48" name="FiUser" descr="preencoded.png">    </p:cNvPr>
          <p:cNvPicPr>
            <a:picLocks noChangeAspect="1"/>
          </p:cNvPicPr>
          <p:nvPr/>
        </p:nvPicPr>
        <p:blipFill>
          <a:blip r:embed="rId6"/>
          <a:stretch>
            <a:fillRect/>
          </a:stretch>
        </p:blipFill>
        <p:spPr>
          <a:xfrm>
            <a:off x="726948" y="5746496"/>
            <a:ext cx="192024" cy="192024"/>
          </a:xfrm>
          <a:prstGeom prst="rect">
            <a:avLst/>
          </a:prstGeom>
        </p:spPr>
      </p:pic>
      <p:sp>
        <p:nvSpPr>
          <p:cNvPr id="49" name="Text 41"/>
          <p:cNvSpPr txBox="1"/>
          <p:nvPr/>
        </p:nvSpPr>
        <p:spPr>
          <a:xfrm>
            <a:off x="1133856" y="5650484"/>
            <a:ext cx="1572768" cy="46482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5  A person with a key: holds, approvals, the quorum, revocation</a:t>
            </a:r>
            <a:endParaRPr lang="en-US" sz="1000" dirty="0"/>
          </a:p>
        </p:txBody>
      </p:sp>
      <p:sp>
        <p:nvSpPr>
          <p:cNvPr id="50" name="Text 42"/>
          <p:cNvSpPr txBox="1"/>
          <p:nvPr/>
        </p:nvSpPr>
        <p:spPr>
          <a:xfrm>
            <a:off x="2871216" y="5650484"/>
            <a:ext cx="2487168"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The cases no rule can settle; the alarm; the oversight the law now asks for</a:t>
            </a:r>
            <a:endParaRPr lang="en-US" sz="1000" dirty="0"/>
          </a:p>
        </p:txBody>
      </p:sp>
      <p:sp>
        <p:nvSpPr>
          <p:cNvPr id="51" name="Text 43"/>
          <p:cNvSpPr txBox="1"/>
          <p:nvPr/>
        </p:nvSpPr>
        <p:spPr>
          <a:xfrm>
            <a:off x="5522976" y="5650484"/>
            <a:ext cx="3675888"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Persuasion: a person is an effector no chip gates. Fatigue: a hundred holds a day. A stolen key. The chip makes the person unavoidable and legible, not wiser</a:t>
            </a:r>
            <a:endParaRPr lang="en-US" sz="1000" dirty="0"/>
          </a:p>
        </p:txBody>
      </p:sp>
      <p:sp>
        <p:nvSpPr>
          <p:cNvPr id="52" name="Text 44"/>
          <p:cNvSpPr txBox="1"/>
          <p:nvPr/>
        </p:nvSpPr>
        <p:spPr>
          <a:xfrm>
            <a:off x="9363456" y="5650484"/>
            <a:ext cx="2197303"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EU AI Act, Article 14; docs/04 §5; H18; docs/18 questions 14 and 16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Rungs compose as witnesses, not as locks</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7</a:t>
            </a:r>
            <a:endParaRPr lang="en-US" sz="1100" dirty="0"/>
          </a:p>
        </p:txBody>
      </p:sp>
      <p:pic>
        <p:nvPicPr>
          <p:cNvPr id="5" name="../figures/fig-ladder-witnesses.png" descr="preencoded.png">    </p:cNvPr>
          <p:cNvPicPr>
            <a:picLocks noChangeAspect="1"/>
          </p:cNvPicPr>
          <p:nvPr/>
        </p:nvPicPr>
        <p:blipFill>
          <a:blip r:embed="rId1"/>
          <a:stretch>
            <a:fillRect/>
          </a:stretch>
        </p:blipFill>
        <p:spPr>
          <a:xfrm>
            <a:off x="548640" y="1463518"/>
            <a:ext cx="11094415" cy="3738940"/>
          </a:xfrm>
          <a:prstGeom prst="rect">
            <a:avLst/>
          </a:prstGeom>
        </p:spPr>
      </p:pic>
      <p:sp>
        <p:nvSpPr>
          <p:cNvPr id="6" name="analogy"/>
          <p:cNvSpPr/>
          <p:nvPr/>
        </p:nvSpPr>
        <p:spPr>
          <a:xfrm>
            <a:off x="548640" y="5468112"/>
            <a:ext cx="11094415" cy="777240"/>
          </a:xfrm>
          <a:prstGeom prst="roundRect">
            <a:avLst>
              <a:gd name="adj" fmla="val 9412"/>
            </a:avLst>
          </a:prstGeom>
          <a:solidFill>
            <a:schemeClr val="tx1"/>
          </a:solidFill>
          <a:ln w="12700">
            <a:solidFill>
              <a:schemeClr val="tx1"/>
            </a:solidFill>
            <a:prstDash val="solid"/>
          </a:ln>
        </p:spPr>
      </p:sp>
      <p:sp>
        <p:nvSpPr>
          <p:cNvPr id="7" name="Text 4"/>
          <p:cNvSpPr txBox="1"/>
          <p:nvPr/>
        </p:nvSpPr>
        <p:spPr>
          <a:xfrm>
            <a:off x="822960" y="5468112"/>
            <a:ext cx="1554480" cy="77724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docs 24, section 4</a:t>
            </a:r>
            <a:endParaRPr lang="en-US" sz="1000" dirty="0"/>
          </a:p>
        </p:txBody>
      </p:sp>
      <p:sp>
        <p:nvSpPr>
          <p:cNvPr id="8" name="Text 5"/>
          <p:cNvSpPr txBox="1"/>
          <p:nvPr/>
        </p:nvSpPr>
        <p:spPr>
          <a:xfrm>
            <a:off x="2514600" y="5468112"/>
            <a:ext cx="8854135" cy="77724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Three software rungs are three miss rates, and the holes line up: the same substrate, the same injection, the same edit, the same root. The gate is one structural check, and its failures are halts and holds, which can be measured.</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2600" b="1" dirty="0">
                <a:solidFill>
                  <a:schemeClr val="tx1"/>
                </a:solidFill>
                <a:latin typeface="Georgia" pitchFamily="34" charset="0"/>
                <a:ea typeface="Georgia" pitchFamily="34" charset="-122"/>
                <a:cs typeface="Georgia" pitchFamily="34" charset="-120"/>
              </a:rPr>
              <a:t>Human oversight is a rung only on the only path</a:t>
            </a:r>
            <a:endParaRPr lang="en-US" sz="26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8</a:t>
            </a:r>
            <a:endParaRPr lang="en-US" sz="1100" dirty="0"/>
          </a:p>
        </p:txBody>
      </p:sp>
      <p:pic>
        <p:nvPicPr>
          <p:cNvPr id="5" name="../figures/fig-ladder-person.png" descr="preencoded.png">    </p:cNvPr>
          <p:cNvPicPr>
            <a:picLocks noChangeAspect="1"/>
          </p:cNvPicPr>
          <p:nvPr/>
        </p:nvPicPr>
        <p:blipFill>
          <a:blip r:embed="rId1"/>
          <a:stretch>
            <a:fillRect/>
          </a:stretch>
        </p:blipFill>
        <p:spPr>
          <a:xfrm>
            <a:off x="548640" y="1848720"/>
            <a:ext cx="11094415" cy="2968536"/>
          </a:xfrm>
          <a:prstGeom prst="rect">
            <a:avLst/>
          </a:prstGeom>
        </p:spPr>
      </p:pic>
      <p:sp>
        <p:nvSpPr>
          <p:cNvPr id="6" name="analogy"/>
          <p:cNvSpPr/>
          <p:nvPr/>
        </p:nvSpPr>
        <p:spPr>
          <a:xfrm>
            <a:off x="548640" y="5468112"/>
            <a:ext cx="11094415" cy="777240"/>
          </a:xfrm>
          <a:prstGeom prst="roundRect">
            <a:avLst>
              <a:gd name="adj" fmla="val 9412"/>
            </a:avLst>
          </a:prstGeom>
          <a:solidFill>
            <a:schemeClr val="tx1"/>
          </a:solidFill>
          <a:ln w="12700">
            <a:solidFill>
              <a:schemeClr val="tx1"/>
            </a:solidFill>
            <a:prstDash val="solid"/>
          </a:ln>
        </p:spPr>
      </p:sp>
      <p:sp>
        <p:nvSpPr>
          <p:cNvPr id="7" name="Text 4"/>
          <p:cNvSpPr txBox="1"/>
          <p:nvPr/>
        </p:nvSpPr>
        <p:spPr>
          <a:xfrm>
            <a:off x="822960" y="5468112"/>
            <a:ext cx="1554480" cy="77724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docs 24, rung 5</a:t>
            </a:r>
            <a:endParaRPr lang="en-US" sz="1000" dirty="0"/>
          </a:p>
        </p:txBody>
      </p:sp>
      <p:sp>
        <p:nvSpPr>
          <p:cNvPr id="8" name="Text 5"/>
          <p:cNvSpPr txBox="1"/>
          <p:nvPr/>
        </p:nvSpPr>
        <p:spPr>
          <a:xfrm>
            <a:off x="2514600" y="5468112"/>
            <a:ext cx="8854135" cy="77724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An oversight the system can route around is a checkbox. A hold at the gate puts the person on the only path out: no signature, no ticket, nothing moves. The chip does not make the human wiser. It makes the human unavoidable, and legible.</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There is no kill switch for AI</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9</a:t>
            </a:r>
            <a:endParaRPr lang="en-US" sz="1100" dirty="0"/>
          </a:p>
        </p:txBody>
      </p:sp>
      <p:pic>
        <p:nvPicPr>
          <p:cNvPr id="5" name="fig_ks_menger.png" descr="preencoded.png">    </p:cNvPr>
          <p:cNvPicPr>
            <a:picLocks noChangeAspect="1"/>
          </p:cNvPicPr>
          <p:nvPr/>
        </p:nvPicPr>
        <p:blipFill>
          <a:blip r:embed="rId1"/>
          <a:stretch>
            <a:fillRect/>
          </a:stretch>
        </p:blipFill>
        <p:spPr>
          <a:xfrm>
            <a:off x="744357" y="1417320"/>
            <a:ext cx="6329405" cy="2286000"/>
          </a:xfrm>
          <a:prstGeom prst="rect">
            <a:avLst/>
          </a:prstGeom>
        </p:spPr>
      </p:pic>
      <p:sp>
        <p:nvSpPr>
          <p:cNvPr id="6" name="Text 3"/>
          <p:cNvSpPr txBox="1"/>
          <p:nvPr/>
        </p:nvSpPr>
        <p:spPr>
          <a:xfrm>
            <a:off x="548640" y="3767328"/>
            <a:ext cx="6720840" cy="384048"/>
          </a:xfrm>
          <a:prstGeom prst="rect">
            <a:avLst/>
          </a:prstGeom>
          <a:noFill/>
          <a:ln/>
        </p:spPr>
        <p:txBody>
          <a:bodyPr wrap="square" lIns="0" tIns="0" rIns="0" bIns="0" rtlCol="0" anchor="t">
            <a:normAutofit/>
          </a:bodyPr>
          <a:lstStyle/>
          <a:p>
            <a:pPr indent="0" marL="0">
              <a:buNone/>
            </a:pPr>
            <a:r>
              <a:rPr lang="en-US" sz="1050" i="1" dirty="0">
                <a:solidFill>
                  <a:schemeClr val="accent3"/>
                </a:solidFill>
                <a:latin typeface="Arial" pitchFamily="34" charset="0"/>
                <a:ea typeface="Arial" pitchFamily="34" charset="-122"/>
                <a:cs typeface="Arial" pitchFamily="34" charset="-120"/>
              </a:rPr>
              <a:t>Menger (1927): to stop all traffic between two places you need exactly as many guards as there are separate roads. Deep in the network that is k and more, by design. At a door it is one.</a:t>
            </a:r>
            <a:endParaRPr lang="en-US" sz="1050" dirty="0"/>
          </a:p>
        </p:txBody>
      </p:sp>
      <p:sp>
        <p:nvSpPr>
          <p:cNvPr id="7" name="card"/>
          <p:cNvSpPr/>
          <p:nvPr/>
        </p:nvSpPr>
        <p:spPr>
          <a:xfrm>
            <a:off x="548640" y="4224528"/>
            <a:ext cx="6720840" cy="1124712"/>
          </a:xfrm>
          <a:prstGeom prst="roundRect">
            <a:avLst>
              <a:gd name="adj" fmla="val 6504"/>
            </a:avLst>
          </a:prstGeom>
          <a:solidFill>
            <a:schemeClr val="bg2"/>
          </a:solidFill>
          <a:ln w="12700">
            <a:solidFill>
              <a:schemeClr val="bg2"/>
            </a:solidFill>
            <a:prstDash val="solid"/>
          </a:ln>
        </p:spPr>
      </p:sp>
      <p:sp>
        <p:nvSpPr>
          <p:cNvPr id="8" name="Text 5"/>
          <p:cNvSpPr txBox="1"/>
          <p:nvPr/>
        </p:nvSpPr>
        <p:spPr>
          <a:xfrm>
            <a:off x="777240" y="4297680"/>
            <a:ext cx="6263640" cy="1005840"/>
          </a:xfrm>
          <a:prstGeom prst="rect">
            <a:avLst/>
          </a:prstGeom>
          <a:noFill/>
          <a:ln/>
        </p:spPr>
        <p:txBody>
          <a:bodyPr wrap="square" lIns="0" tIns="0" rIns="0" bIns="0" rtlCol="0" anchor="t">
            <a:normAutofit/>
          </a:bodyPr>
          <a:lstStyle/>
          <a:p>
            <a:pPr indent="0" marL="0">
              <a:buNone/>
            </a:pPr>
            <a:r>
              <a:rPr lang="en-US" sz="1100" b="1" dirty="0">
                <a:solidFill>
                  <a:schemeClr val="tx1"/>
                </a:solidFill>
                <a:latin typeface="Arial" pitchFamily="34" charset="0"/>
                <a:ea typeface="Arial" pitchFamily="34" charset="-122"/>
                <a:cs typeface="Arial" pitchFamily="34" charset="-120"/>
              </a:rPr>
              <a:t>The picture in your head versus the thing. </a:t>
            </a:r>
            <a:pPr indent="0" marL="0">
              <a:buNone/>
            </a:pPr>
            <a:r>
              <a:rPr lang="en-US" sz="1100" dirty="0">
                <a:solidFill>
                  <a:schemeClr val="tx1"/>
                </a:solidFill>
                <a:latin typeface="Arial" pitchFamily="34" charset="0"/>
                <a:ea typeface="Arial" pitchFamily="34" charset="-122"/>
                <a:cs typeface="Arial" pitchFamily="34" charset="-120"/>
              </a:rPr>
              <a:t>In the movie there is one computer and one plug. In the world there are thousands of copies on every lab's GPUs and on laptops, a network built with no middle, and devices that act at the far end. A switch is a set of nodes whose removal leaves no road from any copy to any device. The only question is where the smallest such set is.</a:t>
            </a:r>
            <a:endParaRPr lang="en-US" sz="1100" dirty="0"/>
          </a:p>
        </p:txBody>
      </p:sp>
      <p:sp>
        <p:nvSpPr>
          <p:cNvPr id="9" name="icon circle"/>
          <p:cNvSpPr/>
          <p:nvPr/>
        </p:nvSpPr>
        <p:spPr>
          <a:xfrm>
            <a:off x="7589520" y="1463040"/>
            <a:ext cx="512064" cy="512064"/>
          </a:xfrm>
          <a:prstGeom prst="ellipse">
            <a:avLst/>
          </a:prstGeom>
          <a:solidFill>
            <a:schemeClr val="tx2"/>
          </a:solidFill>
          <a:ln w="12700">
            <a:solidFill>
              <a:schemeClr val="tx2"/>
            </a:solidFill>
            <a:prstDash val="solid"/>
          </a:ln>
        </p:spPr>
      </p:sp>
      <p:pic>
        <p:nvPicPr>
          <p:cNvPr id="10" name="FiCopy" descr="preencoded.png">    </p:cNvPr>
          <p:cNvPicPr>
            <a:picLocks noChangeAspect="1"/>
          </p:cNvPicPr>
          <p:nvPr/>
        </p:nvPicPr>
        <p:blipFill>
          <a:blip r:embed="rId2"/>
          <a:stretch>
            <a:fillRect/>
          </a:stretch>
        </p:blipFill>
        <p:spPr>
          <a:xfrm>
            <a:off x="7717536" y="1591056"/>
            <a:ext cx="256032" cy="256032"/>
          </a:xfrm>
          <a:prstGeom prst="rect">
            <a:avLst/>
          </a:prstGeom>
        </p:spPr>
      </p:pic>
      <p:sp>
        <p:nvSpPr>
          <p:cNvPr id="11" name="Text 7"/>
          <p:cNvSpPr txBox="1"/>
          <p:nvPr/>
        </p:nvSpPr>
        <p:spPr>
          <a:xfrm>
            <a:off x="8275320" y="1417320"/>
            <a:ext cx="3367735" cy="365760"/>
          </a:xfrm>
          <a:prstGeom prst="rect">
            <a:avLst/>
          </a:prstGeom>
          <a:noFill/>
          <a:ln/>
        </p:spPr>
        <p:txBody>
          <a:bodyPr wrap="square" lIns="0" tIns="0" rIns="0" bIns="0" rtlCol="0" anchor="t">
            <a:normAutofit/>
          </a:bodyPr>
          <a:lstStyle/>
          <a:p>
            <a:pPr indent="0" marL="0">
              <a:buNone/>
            </a:pPr>
            <a:r>
              <a:rPr lang="en-US" sz="1350" b="1" dirty="0">
                <a:solidFill>
                  <a:schemeClr val="tx1"/>
                </a:solidFill>
                <a:latin typeface="Arial" pitchFamily="34" charset="0"/>
                <a:ea typeface="Arial" pitchFamily="34" charset="-122"/>
                <a:cs typeface="Arial" pitchFamily="34" charset="-120"/>
              </a:rPr>
              <a:t>Not interconnected. Replicated.</a:t>
            </a:r>
            <a:endParaRPr lang="en-US" sz="1350" dirty="0"/>
          </a:p>
        </p:txBody>
      </p:sp>
      <p:sp>
        <p:nvSpPr>
          <p:cNvPr id="12" name="Text 8"/>
          <p:cNvSpPr txBox="1"/>
          <p:nvPr/>
        </p:nvSpPr>
        <p:spPr>
          <a:xfrm>
            <a:off x="8275320" y="1801368"/>
            <a:ext cx="3367735" cy="868680"/>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Shared training data did not wire the models together; it gave every lab and every open-weight laptop the same capability. Remove any one source and nothing changes.</a:t>
            </a:r>
            <a:endParaRPr lang="en-US" sz="1100" dirty="0"/>
          </a:p>
        </p:txBody>
      </p:sp>
      <p:sp>
        <p:nvSpPr>
          <p:cNvPr id="13" name="icon circle"/>
          <p:cNvSpPr/>
          <p:nvPr/>
        </p:nvSpPr>
        <p:spPr>
          <a:xfrm>
            <a:off x="7589520" y="2788920"/>
            <a:ext cx="512064" cy="512064"/>
          </a:xfrm>
          <a:prstGeom prst="ellipse">
            <a:avLst/>
          </a:prstGeom>
          <a:solidFill>
            <a:schemeClr val="tx2"/>
          </a:solidFill>
          <a:ln w="12700">
            <a:solidFill>
              <a:schemeClr val="tx2"/>
            </a:solidFill>
            <a:prstDash val="solid"/>
          </a:ln>
        </p:spPr>
      </p:sp>
      <p:pic>
        <p:nvPicPr>
          <p:cNvPr id="14" name="FiGlobe" descr="preencoded.png">    </p:cNvPr>
          <p:cNvPicPr>
            <a:picLocks noChangeAspect="1"/>
          </p:cNvPicPr>
          <p:nvPr/>
        </p:nvPicPr>
        <p:blipFill>
          <a:blip r:embed="rId3"/>
          <a:stretch>
            <a:fillRect/>
          </a:stretch>
        </p:blipFill>
        <p:spPr>
          <a:xfrm>
            <a:off x="7717536" y="2916936"/>
            <a:ext cx="256032" cy="256032"/>
          </a:xfrm>
          <a:prstGeom prst="rect">
            <a:avLst/>
          </a:prstGeom>
        </p:spPr>
      </p:pic>
      <p:sp>
        <p:nvSpPr>
          <p:cNvPr id="15" name="Text 10"/>
          <p:cNvSpPr txBox="1"/>
          <p:nvPr/>
        </p:nvSpPr>
        <p:spPr>
          <a:xfrm>
            <a:off x="8275320" y="2743200"/>
            <a:ext cx="3367735" cy="365760"/>
          </a:xfrm>
          <a:prstGeom prst="rect">
            <a:avLst/>
          </a:prstGeom>
          <a:noFill/>
          <a:ln/>
        </p:spPr>
        <p:txBody>
          <a:bodyPr wrap="square" lIns="0" tIns="0" rIns="0" bIns="0" rtlCol="0" anchor="t">
            <a:normAutofit/>
          </a:bodyPr>
          <a:lstStyle/>
          <a:p>
            <a:pPr indent="0" marL="0">
              <a:buNone/>
            </a:pPr>
            <a:r>
              <a:rPr lang="en-US" sz="1350" b="1" dirty="0">
                <a:solidFill>
                  <a:schemeClr val="tx1"/>
                </a:solidFill>
                <a:latin typeface="Arial" pitchFamily="34" charset="0"/>
                <a:ea typeface="Arial" pitchFamily="34" charset="-122"/>
                <a:cs typeface="Arial" pitchFamily="34" charset="-120"/>
              </a:rPr>
              <a:t>The middle has no small cut</a:t>
            </a:r>
            <a:endParaRPr lang="en-US" sz="1350" dirty="0"/>
          </a:p>
        </p:txBody>
      </p:sp>
      <p:sp>
        <p:nvSpPr>
          <p:cNvPr id="16" name="Text 11"/>
          <p:cNvSpPr txBox="1"/>
          <p:nvPr/>
        </p:nvSpPr>
        <p:spPr>
          <a:xfrm>
            <a:off x="8275320" y="3127248"/>
            <a:ext cx="3367735" cy="868680"/>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The Internet was built, on purpose, to have no single point you can cut. Between any two points there are k separate roads, so a cut in the middle costs at least k guards per machine.</a:t>
            </a:r>
            <a:endParaRPr lang="en-US" sz="1100" dirty="0"/>
          </a:p>
        </p:txBody>
      </p:sp>
      <p:sp>
        <p:nvSpPr>
          <p:cNvPr id="17" name="icon circle"/>
          <p:cNvSpPr/>
          <p:nvPr/>
        </p:nvSpPr>
        <p:spPr>
          <a:xfrm>
            <a:off x="7589520" y="4114800"/>
            <a:ext cx="512064" cy="512064"/>
          </a:xfrm>
          <a:prstGeom prst="ellipse">
            <a:avLst/>
          </a:prstGeom>
          <a:solidFill>
            <a:schemeClr val="tx2"/>
          </a:solidFill>
          <a:ln w="12700">
            <a:solidFill>
              <a:schemeClr val="tx2"/>
            </a:solidFill>
            <a:prstDash val="solid"/>
          </a:ln>
        </p:spPr>
      </p:sp>
      <p:pic>
        <p:nvPicPr>
          <p:cNvPr id="18" name="FiCpu" descr="preencoded.png">    </p:cNvPr>
          <p:cNvPicPr>
            <a:picLocks noChangeAspect="1"/>
          </p:cNvPicPr>
          <p:nvPr/>
        </p:nvPicPr>
        <p:blipFill>
          <a:blip r:embed="rId4"/>
          <a:stretch>
            <a:fillRect/>
          </a:stretch>
        </p:blipFill>
        <p:spPr>
          <a:xfrm>
            <a:off x="7717536" y="4242816"/>
            <a:ext cx="256032" cy="256032"/>
          </a:xfrm>
          <a:prstGeom prst="rect">
            <a:avLst/>
          </a:prstGeom>
        </p:spPr>
      </p:pic>
      <p:sp>
        <p:nvSpPr>
          <p:cNvPr id="19" name="Text 13"/>
          <p:cNvSpPr txBox="1"/>
          <p:nvPr/>
        </p:nvSpPr>
        <p:spPr>
          <a:xfrm>
            <a:off x="8275320" y="4069080"/>
            <a:ext cx="3367735" cy="365760"/>
          </a:xfrm>
          <a:prstGeom prst="rect">
            <a:avLst/>
          </a:prstGeom>
          <a:noFill/>
          <a:ln/>
        </p:spPr>
        <p:txBody>
          <a:bodyPr wrap="square" lIns="0" tIns="0" rIns="0" bIns="0" rtlCol="0" anchor="t">
            <a:normAutofit/>
          </a:bodyPr>
          <a:lstStyle/>
          <a:p>
            <a:pPr indent="0" marL="0">
              <a:buNone/>
            </a:pPr>
            <a:r>
              <a:rPr lang="en-US" sz="1350" b="1" dirty="0">
                <a:solidFill>
                  <a:schemeClr val="tx1"/>
                </a:solidFill>
                <a:latin typeface="Arial" pitchFamily="34" charset="0"/>
                <a:ea typeface="Arial" pitchFamily="34" charset="-122"/>
                <a:cs typeface="Arial" pitchFamily="34" charset="-120"/>
              </a:rPr>
              <a:t>Too little, as well as too much</a:t>
            </a:r>
            <a:endParaRPr lang="en-US" sz="1350" dirty="0"/>
          </a:p>
        </p:txBody>
      </p:sp>
      <p:sp>
        <p:nvSpPr>
          <p:cNvPr id="20" name="Text 14"/>
          <p:cNvSpPr txBox="1"/>
          <p:nvPr/>
        </p:nvSpPr>
        <p:spPr>
          <a:xfrm>
            <a:off x="8275320" y="4453128"/>
            <a:ext cx="3367735" cy="868680"/>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A model on a laptop wired to a motor controller does not care about the Internet. Kill the whole network and that pair keeps running.</a:t>
            </a:r>
            <a:endParaRPr lang="en-US" sz="1100" dirty="0"/>
          </a:p>
        </p:txBody>
      </p:sp>
      <p:sp>
        <p:nvSpPr>
          <p:cNvPr id="21" name="analogy"/>
          <p:cNvSpPr/>
          <p:nvPr/>
        </p:nvSpPr>
        <p:spPr>
          <a:xfrm>
            <a:off x="548640" y="5486400"/>
            <a:ext cx="11094415" cy="685800"/>
          </a:xfrm>
          <a:prstGeom prst="roundRect">
            <a:avLst>
              <a:gd name="adj" fmla="val 10667"/>
            </a:avLst>
          </a:prstGeom>
          <a:solidFill>
            <a:schemeClr val="tx1"/>
          </a:solidFill>
          <a:ln w="12700">
            <a:solidFill>
              <a:schemeClr val="tx1"/>
            </a:solidFill>
            <a:prstDash val="solid"/>
          </a:ln>
        </p:spPr>
      </p:sp>
      <p:sp>
        <p:nvSpPr>
          <p:cNvPr id="22" name="Text 16"/>
          <p:cNvSpPr txBox="1"/>
          <p:nvPr/>
        </p:nvSpPr>
        <p:spPr>
          <a:xfrm>
            <a:off x="822960" y="5486400"/>
            <a:ext cx="1554480" cy="68580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docs 23; Part 6</a:t>
            </a:r>
            <a:endParaRPr lang="en-US" sz="1000" dirty="0"/>
          </a:p>
        </p:txBody>
      </p:sp>
      <p:sp>
        <p:nvSpPr>
          <p:cNvPr id="23" name="Text 17"/>
          <p:cNvSpPr txBox="1"/>
          <p:nvPr/>
        </p:nvSpPr>
        <p:spPr>
          <a:xfrm>
            <a:off x="2514600" y="5486400"/>
            <a:ext cx="8854135" cy="68580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A switch stops everything. A gate lets through what a signed rulebook allows, checks the ticket again in the device, and nothing else. There is no switch. There are gates, at the ends.</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Where could the switch go? Five places</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10</a:t>
            </a:r>
            <a:endParaRPr lang="en-US" sz="1100" dirty="0"/>
          </a:p>
        </p:txBody>
      </p:sp>
      <p:pic>
        <p:nvPicPr>
          <p:cNvPr id="5" name="fig_ks_cuts.png" descr="preencoded.png">    </p:cNvPr>
          <p:cNvPicPr>
            <a:picLocks noChangeAspect="1"/>
          </p:cNvPicPr>
          <p:nvPr/>
        </p:nvPicPr>
        <p:blipFill>
          <a:blip r:embed="rId1"/>
          <a:stretch>
            <a:fillRect/>
          </a:stretch>
        </p:blipFill>
        <p:spPr>
          <a:xfrm>
            <a:off x="1147714" y="1298448"/>
            <a:ext cx="9896268" cy="4069080"/>
          </a:xfrm>
          <a:prstGeom prst="rect">
            <a:avLst/>
          </a:prstGeom>
        </p:spPr>
      </p:pic>
      <p:sp>
        <p:nvSpPr>
          <p:cNvPr id="6" name="analogy"/>
          <p:cNvSpPr/>
          <p:nvPr/>
        </p:nvSpPr>
        <p:spPr>
          <a:xfrm>
            <a:off x="548640" y="5440680"/>
            <a:ext cx="11094415" cy="822960"/>
          </a:xfrm>
          <a:prstGeom prst="roundRect">
            <a:avLst>
              <a:gd name="adj" fmla="val 8889"/>
            </a:avLst>
          </a:prstGeom>
          <a:solidFill>
            <a:schemeClr val="tx1"/>
          </a:solidFill>
          <a:ln w="12700">
            <a:solidFill>
              <a:schemeClr val="tx1"/>
            </a:solidFill>
            <a:prstDash val="solid"/>
          </a:ln>
        </p:spPr>
      </p:sp>
      <p:sp>
        <p:nvSpPr>
          <p:cNvPr id="7" name="Text 4"/>
          <p:cNvSpPr txBox="1"/>
          <p:nvPr/>
        </p:nvSpPr>
        <p:spPr>
          <a:xfrm>
            <a:off x="822960" y="5440680"/>
            <a:ext cx="1554480" cy="82296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Part 6; docs 23 §1</a:t>
            </a:r>
            <a:endParaRPr lang="en-US" sz="1000" dirty="0"/>
          </a:p>
        </p:txBody>
      </p:sp>
      <p:sp>
        <p:nvSpPr>
          <p:cNvPr id="8" name="Text 5"/>
          <p:cNvSpPr txBox="1"/>
          <p:nvPr/>
        </p:nvSpPr>
        <p:spPr>
          <a:xfrm>
            <a:off x="2514600" y="5440680"/>
            <a:ext cx="8854135" cy="82296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Iran switched off the Internet in Iran. That is an edge cut on one region: every access link at the border, the list in hand, everyone inside as collateral, and a hole for the people who own the switch. North Korea runs that way all the time. A cut with a hole is not a cut. It is the theorem demonstrated.</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The proof, in three claims</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11</a:t>
            </a:r>
            <a:endParaRPr lang="en-US" sz="1100" dirty="0"/>
          </a:p>
        </p:txBody>
      </p:sp>
      <p:pic>
        <p:nvPicPr>
          <p:cNvPr id="5" name="fig_ks_smaller_end.png" descr="preencoded.png">    </p:cNvPr>
          <p:cNvPicPr>
            <a:picLocks noChangeAspect="1"/>
          </p:cNvPicPr>
          <p:nvPr/>
        </p:nvPicPr>
        <p:blipFill>
          <a:blip r:embed="rId1"/>
          <a:stretch>
            <a:fillRect/>
          </a:stretch>
        </p:blipFill>
        <p:spPr>
          <a:xfrm>
            <a:off x="851027" y="1417320"/>
            <a:ext cx="6116067" cy="2880360"/>
          </a:xfrm>
          <a:prstGeom prst="rect">
            <a:avLst/>
          </a:prstGeom>
        </p:spPr>
      </p:pic>
      <p:sp>
        <p:nvSpPr>
          <p:cNvPr id="6" name="card"/>
          <p:cNvSpPr/>
          <p:nvPr/>
        </p:nvSpPr>
        <p:spPr>
          <a:xfrm>
            <a:off x="548640" y="4407408"/>
            <a:ext cx="6720840" cy="941832"/>
          </a:xfrm>
          <a:prstGeom prst="roundRect">
            <a:avLst>
              <a:gd name="adj" fmla="val 7767"/>
            </a:avLst>
          </a:prstGeom>
          <a:solidFill>
            <a:schemeClr val="bg2"/>
          </a:solidFill>
          <a:ln w="12700">
            <a:solidFill>
              <a:schemeClr val="bg2"/>
            </a:solidFill>
            <a:prstDash val="solid"/>
          </a:ln>
        </p:spPr>
      </p:sp>
      <p:sp>
        <p:nvSpPr>
          <p:cNvPr id="7" name="Text 4"/>
          <p:cNvSpPr txBox="1"/>
          <p:nvPr/>
        </p:nvSpPr>
        <p:spPr>
          <a:xfrm>
            <a:off x="777240" y="4480560"/>
            <a:ext cx="6263640" cy="822960"/>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Three assumptions. </a:t>
            </a:r>
            <a:pPr indent="0" marL="0">
              <a:buNone/>
            </a:pPr>
            <a:r>
              <a:rPr lang="en-US" sz="1050" dirty="0">
                <a:solidFill>
                  <a:schemeClr val="tx1"/>
                </a:solidFill>
                <a:latin typeface="Arial" pitchFamily="34" charset="0"/>
                <a:ea typeface="Arial" pitchFamily="34" charset="-122"/>
                <a:cs typeface="Arial" pitchFamily="34" charset="-120"/>
              </a:rPr>
              <a:t>(1) Replication: many sources, no complete list. (2) No middle: between any copy's way into the network and any device's there are k node-disjoint roads, k at least two. (3) Local loops: at least one copy joined to a device by a road that never enters the network.</a:t>
            </a:r>
            <a:endParaRPr lang="en-US" sz="1050" dirty="0"/>
          </a:p>
        </p:txBody>
      </p:sp>
      <p:sp>
        <p:nvSpPr>
          <p:cNvPr id="8" name="claim"/>
          <p:cNvSpPr/>
          <p:nvPr/>
        </p:nvSpPr>
        <p:spPr>
          <a:xfrm>
            <a:off x="7589520" y="1444752"/>
            <a:ext cx="384048" cy="384048"/>
          </a:xfrm>
          <a:prstGeom prst="ellipse">
            <a:avLst/>
          </a:prstGeom>
          <a:solidFill>
            <a:schemeClr val="accent1"/>
          </a:solidFill>
          <a:ln w="12700">
            <a:solidFill>
              <a:schemeClr val="accent1"/>
            </a:solidFill>
            <a:prstDash val="solid"/>
          </a:ln>
        </p:spPr>
      </p:sp>
      <p:sp>
        <p:nvSpPr>
          <p:cNvPr id="9" name="Text 6"/>
          <p:cNvSpPr txBox="1"/>
          <p:nvPr/>
        </p:nvSpPr>
        <p:spPr>
          <a:xfrm>
            <a:off x="7589520" y="1444752"/>
            <a:ext cx="384048" cy="384048"/>
          </a:xfrm>
          <a:prstGeom prst="rect">
            <a:avLst/>
          </a:prstGeom>
          <a:noFill/>
          <a:ln/>
        </p:spPr>
        <p:txBody>
          <a:bodyPr wrap="square" lIns="0" tIns="0" rIns="0" bIns="0" rtlCol="0" anchor="ctr">
            <a:normAutofit/>
          </a:bodyPr>
          <a:lstStyle/>
          <a:p>
            <a:pPr algn="ctr" indent="0" marL="0">
              <a:buNone/>
            </a:pPr>
            <a:r>
              <a:rPr lang="en-US" sz="1300" b="1" dirty="0">
                <a:solidFill>
                  <a:schemeClr val="bg1"/>
                </a:solidFill>
                <a:latin typeface="Arial" pitchFamily="34" charset="0"/>
                <a:ea typeface="Arial" pitchFamily="34" charset="-122"/>
                <a:cs typeface="Arial" pitchFamily="34" charset="-120"/>
              </a:rPr>
              <a:t>1</a:t>
            </a:r>
            <a:endParaRPr lang="en-US" sz="1300" dirty="0"/>
          </a:p>
        </p:txBody>
      </p:sp>
      <p:sp>
        <p:nvSpPr>
          <p:cNvPr id="10" name="Text 7"/>
          <p:cNvSpPr txBox="1"/>
          <p:nvPr/>
        </p:nvSpPr>
        <p:spPr>
          <a:xfrm>
            <a:off x="8092440" y="1417320"/>
            <a:ext cx="3550615" cy="457200"/>
          </a:xfrm>
          <a:prstGeom prst="rect">
            <a:avLst/>
          </a:prstGeom>
          <a:noFill/>
          <a:ln/>
        </p:spPr>
        <p:txBody>
          <a:bodyPr wrap="square" lIns="0" tIns="0" rIns="0" bIns="0" rtlCol="0" anchor="t">
            <a:normAutofit/>
          </a:bodyPr>
          <a:lstStyle/>
          <a:p>
            <a:pPr indent="0" marL="0">
              <a:buNone/>
            </a:pPr>
            <a:r>
              <a:rPr lang="en-US" sz="1150" b="1" dirty="0">
                <a:solidFill>
                  <a:schemeClr val="tx1"/>
                </a:solidFill>
                <a:latin typeface="Arial" pitchFamily="34" charset="0"/>
                <a:ea typeface="Arial" pitchFamily="34" charset="-122"/>
                <a:cs typeface="Arial" pitchFamily="34" charset="-120"/>
              </a:rPr>
              <a:t>No network-only switch exists</a:t>
            </a:r>
            <a:endParaRPr lang="en-US" sz="1150" dirty="0"/>
          </a:p>
        </p:txBody>
      </p:sp>
      <p:sp>
        <p:nvSpPr>
          <p:cNvPr id="11" name="Text 8"/>
          <p:cNvSpPr txBox="1"/>
          <p:nvPr/>
        </p:nvSpPr>
        <p:spPr>
          <a:xfrm>
            <a:off x="8092440" y="1892808"/>
            <a:ext cx="3550615" cy="8229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Any set of network nodes leaves the local pair of assumption 3 intact, so some copy still reaches some device. One laptop and one motor sink the idea.</a:t>
            </a:r>
            <a:endParaRPr lang="en-US" sz="1000" dirty="0"/>
          </a:p>
        </p:txBody>
      </p:sp>
      <p:sp>
        <p:nvSpPr>
          <p:cNvPr id="12" name="claim"/>
          <p:cNvSpPr/>
          <p:nvPr/>
        </p:nvSpPr>
        <p:spPr>
          <a:xfrm>
            <a:off x="7589520" y="2770632"/>
            <a:ext cx="384048" cy="384048"/>
          </a:xfrm>
          <a:prstGeom prst="ellipse">
            <a:avLst/>
          </a:prstGeom>
          <a:solidFill>
            <a:schemeClr val="accent1"/>
          </a:solidFill>
          <a:ln w="12700">
            <a:solidFill>
              <a:schemeClr val="accent1"/>
            </a:solidFill>
            <a:prstDash val="solid"/>
          </a:ln>
        </p:spPr>
      </p:sp>
      <p:sp>
        <p:nvSpPr>
          <p:cNvPr id="13" name="Text 10"/>
          <p:cNvSpPr txBox="1"/>
          <p:nvPr/>
        </p:nvSpPr>
        <p:spPr>
          <a:xfrm>
            <a:off x="7589520" y="2770632"/>
            <a:ext cx="384048" cy="384048"/>
          </a:xfrm>
          <a:prstGeom prst="rect">
            <a:avLst/>
          </a:prstGeom>
          <a:noFill/>
          <a:ln/>
        </p:spPr>
        <p:txBody>
          <a:bodyPr wrap="square" lIns="0" tIns="0" rIns="0" bIns="0" rtlCol="0" anchor="ctr">
            <a:normAutofit/>
          </a:bodyPr>
          <a:lstStyle/>
          <a:p>
            <a:pPr algn="ctr" indent="0" marL="0">
              <a:buNone/>
            </a:pPr>
            <a:r>
              <a:rPr lang="en-US" sz="1300" b="1" dirty="0">
                <a:solidFill>
                  <a:schemeClr val="bg1"/>
                </a:solidFill>
                <a:latin typeface="Arial" pitchFamily="34" charset="0"/>
                <a:ea typeface="Arial" pitchFamily="34" charset="-122"/>
                <a:cs typeface="Arial" pitchFamily="34" charset="-120"/>
              </a:rPr>
              <a:t>2</a:t>
            </a:r>
            <a:endParaRPr lang="en-US" sz="1300" dirty="0"/>
          </a:p>
        </p:txBody>
      </p:sp>
      <p:sp>
        <p:nvSpPr>
          <p:cNvPr id="14" name="Text 11"/>
          <p:cNvSpPr txBox="1"/>
          <p:nvPr/>
        </p:nvSpPr>
        <p:spPr>
          <a:xfrm>
            <a:off x="8092440" y="2743200"/>
            <a:ext cx="3550615" cy="457200"/>
          </a:xfrm>
          <a:prstGeom prst="rect">
            <a:avLst/>
          </a:prstGeom>
          <a:noFill/>
          <a:ln/>
        </p:spPr>
        <p:txBody>
          <a:bodyPr wrap="square" lIns="0" tIns="0" rIns="0" bIns="0" rtlCol="0" anchor="t">
            <a:normAutofit/>
          </a:bodyPr>
          <a:lstStyle/>
          <a:p>
            <a:pPr indent="0" marL="0">
              <a:buNone/>
            </a:pPr>
            <a:r>
              <a:rPr lang="en-US" sz="1150" b="1" dirty="0">
                <a:solidFill>
                  <a:schemeClr val="tx1"/>
                </a:solidFill>
                <a:latin typeface="Arial" pitchFamily="34" charset="0"/>
                <a:ea typeface="Arial" pitchFamily="34" charset="-122"/>
                <a:cs typeface="Arial" pitchFamily="34" charset="-120"/>
              </a:rPr>
              <a:t>Without local loops, a network cut costs k nodes per machine and takes bystanders with it</a:t>
            </a:r>
            <a:endParaRPr lang="en-US" sz="1150" dirty="0"/>
          </a:p>
        </p:txBody>
      </p:sp>
      <p:sp>
        <p:nvSpPr>
          <p:cNvPr id="15" name="Text 12"/>
          <p:cNvSpPr txBox="1"/>
          <p:nvPr/>
        </p:nvSpPr>
        <p:spPr>
          <a:xfrm>
            <a:off x="8092440" y="3218688"/>
            <a:ext cx="3550615" cy="8229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Menger on assumption 2: a separator between one copy and one device has at least k network nodes, and every bystander whose road ran through them loses it. Measured: 43 nodes, 72 percent of the core, 19 percent of bystander pairs.</a:t>
            </a:r>
            <a:endParaRPr lang="en-US" sz="1000" dirty="0"/>
          </a:p>
        </p:txBody>
      </p:sp>
      <p:sp>
        <p:nvSpPr>
          <p:cNvPr id="16" name="claim"/>
          <p:cNvSpPr/>
          <p:nvPr/>
        </p:nvSpPr>
        <p:spPr>
          <a:xfrm>
            <a:off x="7589520" y="4096512"/>
            <a:ext cx="384048" cy="384048"/>
          </a:xfrm>
          <a:prstGeom prst="ellipse">
            <a:avLst/>
          </a:prstGeom>
          <a:solidFill>
            <a:schemeClr val="accent1"/>
          </a:solidFill>
          <a:ln w="12700">
            <a:solidFill>
              <a:schemeClr val="accent1"/>
            </a:solidFill>
            <a:prstDash val="solid"/>
          </a:ln>
        </p:spPr>
      </p:sp>
      <p:sp>
        <p:nvSpPr>
          <p:cNvPr id="17" name="Text 14"/>
          <p:cNvSpPr txBox="1"/>
          <p:nvPr/>
        </p:nvSpPr>
        <p:spPr>
          <a:xfrm>
            <a:off x="7589520" y="4096512"/>
            <a:ext cx="384048" cy="384048"/>
          </a:xfrm>
          <a:prstGeom prst="rect">
            <a:avLst/>
          </a:prstGeom>
          <a:noFill/>
          <a:ln/>
        </p:spPr>
        <p:txBody>
          <a:bodyPr wrap="square" lIns="0" tIns="0" rIns="0" bIns="0" rtlCol="0" anchor="ctr">
            <a:normAutofit/>
          </a:bodyPr>
          <a:lstStyle/>
          <a:p>
            <a:pPr algn="ctr" indent="0" marL="0">
              <a:buNone/>
            </a:pPr>
            <a:r>
              <a:rPr lang="en-US" sz="1300" b="1" dirty="0">
                <a:solidFill>
                  <a:schemeClr val="bg1"/>
                </a:solidFill>
                <a:latin typeface="Arial" pitchFamily="34" charset="0"/>
                <a:ea typeface="Arial" pitchFamily="34" charset="-122"/>
                <a:cs typeface="Arial" pitchFamily="34" charset="-120"/>
              </a:rPr>
              <a:t>3</a:t>
            </a:r>
            <a:endParaRPr lang="en-US" sz="1300" dirty="0"/>
          </a:p>
        </p:txBody>
      </p:sp>
      <p:sp>
        <p:nvSpPr>
          <p:cNvPr id="18" name="Text 15"/>
          <p:cNvSpPr txBox="1"/>
          <p:nvPr/>
        </p:nvSpPr>
        <p:spPr>
          <a:xfrm>
            <a:off x="8092440" y="4069080"/>
            <a:ext cx="3550615" cy="457200"/>
          </a:xfrm>
          <a:prstGeom prst="rect">
            <a:avLst/>
          </a:prstGeom>
          <a:noFill/>
          <a:ln/>
        </p:spPr>
        <p:txBody>
          <a:bodyPr wrap="square" lIns="0" tIns="0" rIns="0" bIns="0" rtlCol="0" anchor="t">
            <a:normAutofit/>
          </a:bodyPr>
          <a:lstStyle/>
          <a:p>
            <a:pPr indent="0" marL="0">
              <a:buNone/>
            </a:pPr>
            <a:r>
              <a:rPr lang="en-US" sz="1150" b="1" dirty="0">
                <a:solidFill>
                  <a:schemeClr val="tx1"/>
                </a:solidFill>
                <a:latin typeface="Arial" pitchFamily="34" charset="0"/>
                <a:ea typeface="Arial" pitchFamily="34" charset="-122"/>
                <a:cs typeface="Arial" pitchFamily="34" charset="-120"/>
              </a:rPr>
              <a:t>Every separator has at least min(copies, devices) nodes, and the smaller end achieves it</a:t>
            </a:r>
            <a:endParaRPr lang="en-US" sz="1150" dirty="0"/>
          </a:p>
        </p:txBody>
      </p:sp>
      <p:sp>
        <p:nvSpPr>
          <p:cNvPr id="19" name="Text 16"/>
          <p:cNvSpPr txBox="1"/>
          <p:nvPr/>
        </p:nvSpPr>
        <p:spPr>
          <a:xfrm>
            <a:off x="8092440" y="4544568"/>
            <a:ext cx="3550615" cy="8229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Node-disjoint roads use distinct copies and distinct devices, so there are at most that many; with assumption 2 exactly that many; by Menger that is the smallest separator, and the compute nodes and the device controllers are separators of exactly that size.</a:t>
            </a:r>
            <a:endParaRPr lang="en-US" sz="1000" dirty="0"/>
          </a:p>
        </p:txBody>
      </p:sp>
      <p:sp>
        <p:nvSpPr>
          <p:cNvPr id="20" name="analogy"/>
          <p:cNvSpPr/>
          <p:nvPr/>
        </p:nvSpPr>
        <p:spPr>
          <a:xfrm>
            <a:off x="548640" y="5468112"/>
            <a:ext cx="11094415" cy="777240"/>
          </a:xfrm>
          <a:prstGeom prst="roundRect">
            <a:avLst>
              <a:gd name="adj" fmla="val 9412"/>
            </a:avLst>
          </a:prstGeom>
          <a:solidFill>
            <a:schemeClr val="tx1"/>
          </a:solidFill>
          <a:ln w="12700">
            <a:solidFill>
              <a:schemeClr val="tx1"/>
            </a:solidFill>
            <a:prstDash val="solid"/>
          </a:ln>
        </p:spPr>
      </p:sp>
      <p:sp>
        <p:nvSpPr>
          <p:cNvPr id="21" name="Text 18"/>
          <p:cNvSpPr txBox="1"/>
          <p:nvPr/>
        </p:nvSpPr>
        <p:spPr>
          <a:xfrm>
            <a:off x="822960" y="5468112"/>
            <a:ext cx="1554480" cy="77724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Part 6, the proof</a:t>
            </a:r>
            <a:endParaRPr lang="en-US" sz="1000" dirty="0"/>
          </a:p>
        </p:txBody>
      </p:sp>
      <p:sp>
        <p:nvSpPr>
          <p:cNvPr id="22" name="Text 19"/>
          <p:cNvSpPr txBox="1"/>
          <p:nvPr/>
        </p:nvSpPr>
        <p:spPr>
          <a:xfrm>
            <a:off x="2514600" y="5468112"/>
            <a:ext cx="8854135" cy="77724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Anyone who can show me a single network node that every AI on Earth depends on, the laptop in the basement included, has broken assumption 3 and I will take the post down. Nobody can. That is the point.</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The check you can run: make proof</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12</a:t>
            </a:r>
            <a:endParaRPr lang="en-US" sz="1100" dirty="0"/>
          </a:p>
        </p:txBody>
      </p:sp>
      <p:sp>
        <p:nvSpPr>
          <p:cNvPr id="5" name="table header"/>
          <p:cNvSpPr/>
          <p:nvPr/>
        </p:nvSpPr>
        <p:spPr>
          <a:xfrm>
            <a:off x="548640" y="1417320"/>
            <a:ext cx="7040880" cy="384048"/>
          </a:xfrm>
          <a:prstGeom prst="rect">
            <a:avLst/>
          </a:prstGeom>
          <a:solidFill>
            <a:schemeClr val="tx2"/>
          </a:solidFill>
          <a:ln w="12700">
            <a:solidFill>
              <a:schemeClr val="tx2"/>
            </a:solidFill>
            <a:prstDash val="solid"/>
          </a:ln>
        </p:spPr>
      </p:sp>
      <p:sp>
        <p:nvSpPr>
          <p:cNvPr id="6" name="Text 4"/>
          <p:cNvSpPr txBox="1"/>
          <p:nvPr/>
        </p:nvSpPr>
        <p:spPr>
          <a:xfrm>
            <a:off x="630936" y="1417320"/>
            <a:ext cx="475488" cy="384048"/>
          </a:xfrm>
          <a:prstGeom prst="rect">
            <a:avLst/>
          </a:prstGeom>
          <a:noFill/>
          <a:ln/>
        </p:spPr>
        <p:txBody>
          <a:bodyPr wrap="square" lIns="0" tIns="0" rIns="0" bIns="0" rtlCol="0" anchor="ctr">
            <a:normAutofit/>
          </a:bodyPr>
          <a:lstStyle/>
          <a:p>
            <a:pPr indent="0" marL="0">
              <a:buNone/>
            </a:pPr>
            <a:r>
              <a:rPr lang="en-US" sz="1050" b="1" dirty="0">
                <a:solidFill>
                  <a:schemeClr val="bg1"/>
                </a:solidFill>
                <a:latin typeface="Arial" pitchFamily="34" charset="0"/>
                <a:ea typeface="Arial" pitchFamily="34" charset="-122"/>
                <a:cs typeface="Arial" pitchFamily="34" charset="-120"/>
              </a:rPr>
              <a:t>Check</a:t>
            </a:r>
            <a:endParaRPr lang="en-US" sz="1050" dirty="0"/>
          </a:p>
        </p:txBody>
      </p:sp>
      <p:sp>
        <p:nvSpPr>
          <p:cNvPr id="7" name="Text 5"/>
          <p:cNvSpPr txBox="1"/>
          <p:nvPr/>
        </p:nvSpPr>
        <p:spPr>
          <a:xfrm>
            <a:off x="1271016" y="1417320"/>
            <a:ext cx="3584448" cy="384048"/>
          </a:xfrm>
          <a:prstGeom prst="rect">
            <a:avLst/>
          </a:prstGeom>
          <a:noFill/>
          <a:ln/>
        </p:spPr>
        <p:txBody>
          <a:bodyPr wrap="square" lIns="0" tIns="0" rIns="0" bIns="0" rtlCol="0" anchor="ctr">
            <a:normAutofit/>
          </a:bodyPr>
          <a:lstStyle/>
          <a:p>
            <a:pPr indent="0" marL="0">
              <a:buNone/>
            </a:pPr>
            <a:r>
              <a:rPr lang="en-US" sz="1050" b="1" dirty="0">
                <a:solidFill>
                  <a:schemeClr val="bg1"/>
                </a:solidFill>
                <a:latin typeface="Arial" pitchFamily="34" charset="0"/>
                <a:ea typeface="Arial" pitchFamily="34" charset="-122"/>
                <a:cs typeface="Arial" pitchFamily="34" charset="-120"/>
              </a:rPr>
              <a:t>What holds in the model</a:t>
            </a:r>
            <a:endParaRPr lang="en-US" sz="1050" dirty="0"/>
          </a:p>
        </p:txBody>
      </p:sp>
      <p:sp>
        <p:nvSpPr>
          <p:cNvPr id="8" name="Text 6"/>
          <p:cNvSpPr txBox="1"/>
          <p:nvPr/>
        </p:nvSpPr>
        <p:spPr>
          <a:xfrm>
            <a:off x="5020056" y="1417320"/>
            <a:ext cx="2487168" cy="384048"/>
          </a:xfrm>
          <a:prstGeom prst="rect">
            <a:avLst/>
          </a:prstGeom>
          <a:noFill/>
          <a:ln/>
        </p:spPr>
        <p:txBody>
          <a:bodyPr wrap="square" lIns="0" tIns="0" rIns="0" bIns="0" rtlCol="0" anchor="ctr">
            <a:normAutofit/>
          </a:bodyPr>
          <a:lstStyle/>
          <a:p>
            <a:pPr indent="0" marL="0">
              <a:buNone/>
            </a:pPr>
            <a:r>
              <a:rPr lang="en-US" sz="1050" b="1" dirty="0">
                <a:solidFill>
                  <a:schemeClr val="bg1"/>
                </a:solidFill>
                <a:latin typeface="Arial" pitchFamily="34" charset="0"/>
                <a:ea typeface="Arial" pitchFamily="34" charset="-122"/>
                <a:cs typeface="Arial" pitchFamily="34" charset="-120"/>
              </a:rPr>
              <a:t>What it means</a:t>
            </a:r>
            <a:endParaRPr lang="en-US" sz="1050" dirty="0"/>
          </a:p>
        </p:txBody>
      </p:sp>
      <p:sp>
        <p:nvSpPr>
          <p:cNvPr id="9" name="table row"/>
          <p:cNvSpPr/>
          <p:nvPr/>
        </p:nvSpPr>
        <p:spPr>
          <a:xfrm>
            <a:off x="548640" y="1801368"/>
            <a:ext cx="7040880" cy="567744"/>
          </a:xfrm>
          <a:prstGeom prst="rect">
            <a:avLst/>
          </a:prstGeom>
          <a:solidFill>
            <a:srgbClr val="EEF2EF"/>
          </a:solidFill>
          <a:ln w="9525">
            <a:solidFill>
              <a:srgbClr val="EEF2EF"/>
            </a:solidFill>
            <a:prstDash val="solid"/>
          </a:ln>
        </p:spPr>
      </p:sp>
      <p:sp>
        <p:nvSpPr>
          <p:cNvPr id="10" name="Text 8"/>
          <p:cNvSpPr txBox="1"/>
          <p:nvPr/>
        </p:nvSpPr>
        <p:spPr>
          <a:xfrm>
            <a:off x="630936" y="1883664"/>
            <a:ext cx="475488" cy="403152"/>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K0</a:t>
            </a:r>
            <a:endParaRPr lang="en-US" sz="1050" dirty="0"/>
          </a:p>
        </p:txBody>
      </p:sp>
      <p:sp>
        <p:nvSpPr>
          <p:cNvPr id="11" name="Text 9"/>
          <p:cNvSpPr txBox="1"/>
          <p:nvPr/>
        </p:nvSpPr>
        <p:spPr>
          <a:xfrm>
            <a:off x="1271016" y="1883664"/>
            <a:ext cx="3584448" cy="403152"/>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max-flow min cut (3) equals the brute-force min cut (3) on a tiny instance</a:t>
            </a:r>
            <a:endParaRPr lang="en-US" sz="1050" dirty="0"/>
          </a:p>
        </p:txBody>
      </p:sp>
      <p:sp>
        <p:nvSpPr>
          <p:cNvPr id="12" name="Text 10"/>
          <p:cNvSpPr txBox="1"/>
          <p:nvPr/>
        </p:nvSpPr>
        <p:spPr>
          <a:xfrm>
            <a:off x="5020056" y="1883664"/>
            <a:ext cx="2487168" cy="403152"/>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the cut finder checks itself</a:t>
            </a:r>
            <a:endParaRPr lang="en-US" sz="1050" dirty="0"/>
          </a:p>
        </p:txBody>
      </p:sp>
      <p:sp>
        <p:nvSpPr>
          <p:cNvPr id="13" name="table row"/>
          <p:cNvSpPr/>
          <p:nvPr/>
        </p:nvSpPr>
        <p:spPr>
          <a:xfrm>
            <a:off x="548640" y="2369112"/>
            <a:ext cx="7040880" cy="567744"/>
          </a:xfrm>
          <a:prstGeom prst="rect">
            <a:avLst/>
          </a:prstGeom>
          <a:solidFill>
            <a:srgbClr val="FFFFFF"/>
          </a:solidFill>
          <a:ln w="9525">
            <a:solidFill>
              <a:srgbClr val="EEF2EF"/>
            </a:solidFill>
            <a:prstDash val="solid"/>
          </a:ln>
        </p:spPr>
      </p:sp>
      <p:sp>
        <p:nvSpPr>
          <p:cNvPr id="14" name="Text 12"/>
          <p:cNvSpPr txBox="1"/>
          <p:nvPr/>
        </p:nvSpPr>
        <p:spPr>
          <a:xfrm>
            <a:off x="630936" y="2451408"/>
            <a:ext cx="475488" cy="403152"/>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K1a</a:t>
            </a:r>
            <a:endParaRPr lang="en-US" sz="1050" dirty="0"/>
          </a:p>
        </p:txBody>
      </p:sp>
      <p:sp>
        <p:nvSpPr>
          <p:cNvPr id="15" name="Text 13"/>
          <p:cNvSpPr txBox="1"/>
          <p:nvPr/>
        </p:nvSpPr>
        <p:spPr>
          <a:xfrm>
            <a:off x="1271016" y="2451408"/>
            <a:ext cx="3584448" cy="403152"/>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no separator exists that stays out of the access nodes next to the ends</a:t>
            </a:r>
            <a:endParaRPr lang="en-US" sz="1050" dirty="0"/>
          </a:p>
        </p:txBody>
      </p:sp>
      <p:sp>
        <p:nvSpPr>
          <p:cNvPr id="16" name="Text 14"/>
          <p:cNvSpPr txBox="1"/>
          <p:nvPr/>
        </p:nvSpPr>
        <p:spPr>
          <a:xfrm>
            <a:off x="5020056" y="2451408"/>
            <a:ext cx="2487168" cy="403152"/>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there is no switch in the deep network</a:t>
            </a:r>
            <a:endParaRPr lang="en-US" sz="1050" dirty="0"/>
          </a:p>
        </p:txBody>
      </p:sp>
      <p:sp>
        <p:nvSpPr>
          <p:cNvPr id="17" name="table row"/>
          <p:cNvSpPr/>
          <p:nvPr/>
        </p:nvSpPr>
        <p:spPr>
          <a:xfrm>
            <a:off x="548640" y="2936857"/>
            <a:ext cx="7040880" cy="730431"/>
          </a:xfrm>
          <a:prstGeom prst="rect">
            <a:avLst/>
          </a:prstGeom>
          <a:solidFill>
            <a:srgbClr val="EEF2EF"/>
          </a:solidFill>
          <a:ln w="9525">
            <a:solidFill>
              <a:srgbClr val="EEF2EF"/>
            </a:solidFill>
            <a:prstDash val="solid"/>
          </a:ln>
        </p:spPr>
      </p:sp>
      <p:sp>
        <p:nvSpPr>
          <p:cNvPr id="18" name="Text 16"/>
          <p:cNvSpPr txBox="1"/>
          <p:nvPr/>
        </p:nvSpPr>
        <p:spPr>
          <a:xfrm>
            <a:off x="630936" y="3019153"/>
            <a:ext cx="475488" cy="565839"/>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K1b</a:t>
            </a:r>
            <a:endParaRPr lang="en-US" sz="1050" dirty="0"/>
          </a:p>
        </p:txBody>
      </p:sp>
      <p:sp>
        <p:nvSpPr>
          <p:cNvPr id="19" name="Text 17"/>
          <p:cNvSpPr txBox="1"/>
          <p:nvPr/>
        </p:nvSpPr>
        <p:spPr>
          <a:xfrm>
            <a:off x="1271016" y="3019153"/>
            <a:ext cx="3584448" cy="565839"/>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the cheapest network-side separator has 43 nodes, every one an access node one hop from an end (k=6; 12 copies, 10 devices)</a:t>
            </a:r>
            <a:endParaRPr lang="en-US" sz="1050" dirty="0"/>
          </a:p>
        </p:txBody>
      </p:sp>
      <p:sp>
        <p:nvSpPr>
          <p:cNvPr id="20" name="Text 18"/>
          <p:cNvSpPr txBox="1"/>
          <p:nvPr/>
        </p:nvSpPr>
        <p:spPr>
          <a:xfrm>
            <a:off x="5020056" y="3019153"/>
            <a:ext cx="2487168" cy="565839"/>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the only network switch is the edge, several nodes per machine, and it needs the list of machines</a:t>
            </a:r>
            <a:endParaRPr lang="en-US" sz="1050" dirty="0"/>
          </a:p>
        </p:txBody>
      </p:sp>
      <p:sp>
        <p:nvSpPr>
          <p:cNvPr id="21" name="table row"/>
          <p:cNvSpPr/>
          <p:nvPr/>
        </p:nvSpPr>
        <p:spPr>
          <a:xfrm>
            <a:off x="548640" y="3667288"/>
            <a:ext cx="7040880" cy="730431"/>
          </a:xfrm>
          <a:prstGeom prst="rect">
            <a:avLst/>
          </a:prstGeom>
          <a:solidFill>
            <a:srgbClr val="FFFFFF"/>
          </a:solidFill>
          <a:ln w="9525">
            <a:solidFill>
              <a:srgbClr val="EEF2EF"/>
            </a:solidFill>
            <a:prstDash val="solid"/>
          </a:ln>
        </p:spPr>
      </p:sp>
      <p:sp>
        <p:nvSpPr>
          <p:cNvPr id="22" name="Text 20"/>
          <p:cNvSpPr txBox="1"/>
          <p:nvPr/>
        </p:nvSpPr>
        <p:spPr>
          <a:xfrm>
            <a:off x="630936" y="3749584"/>
            <a:ext cx="475488" cy="565839"/>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K2</a:t>
            </a:r>
            <a:endParaRPr lang="en-US" sz="1050" dirty="0"/>
          </a:p>
        </p:txBody>
      </p:sp>
      <p:sp>
        <p:nvSpPr>
          <p:cNvPr id="23" name="Text 21"/>
          <p:cNvSpPr txBox="1"/>
          <p:nvPr/>
        </p:nvSpPr>
        <p:spPr>
          <a:xfrm>
            <a:off x="1271016" y="3749584"/>
            <a:ext cx="3584448" cy="565839"/>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that separator removes 43 of 60 core nodes (72%) and severs 77 of 400 user-to-service pairs (19%) with nothing to do with AI</a:t>
            </a:r>
            <a:endParaRPr lang="en-US" sz="1050" dirty="0"/>
          </a:p>
        </p:txBody>
      </p:sp>
      <p:sp>
        <p:nvSpPr>
          <p:cNvPr id="24" name="Text 22"/>
          <p:cNvSpPr txBox="1"/>
          <p:nvPr/>
        </p:nvSpPr>
        <p:spPr>
          <a:xfrm>
            <a:off x="5020056" y="3749584"/>
            <a:ext cx="2487168" cy="565839"/>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the network switch takes bystanders with it; the end cuts take none</a:t>
            </a:r>
            <a:endParaRPr lang="en-US" sz="1050" dirty="0"/>
          </a:p>
        </p:txBody>
      </p:sp>
      <p:sp>
        <p:nvSpPr>
          <p:cNvPr id="25" name="table row"/>
          <p:cNvSpPr/>
          <p:nvPr/>
        </p:nvSpPr>
        <p:spPr>
          <a:xfrm>
            <a:off x="548640" y="4397720"/>
            <a:ext cx="7040880" cy="567744"/>
          </a:xfrm>
          <a:prstGeom prst="rect">
            <a:avLst/>
          </a:prstGeom>
          <a:solidFill>
            <a:srgbClr val="EEF2EF"/>
          </a:solidFill>
          <a:ln w="9525">
            <a:solidFill>
              <a:srgbClr val="EEF2EF"/>
            </a:solidFill>
            <a:prstDash val="solid"/>
          </a:ln>
        </p:spPr>
      </p:sp>
      <p:sp>
        <p:nvSpPr>
          <p:cNvPr id="26" name="Text 24"/>
          <p:cNvSpPr txBox="1"/>
          <p:nvPr/>
        </p:nvSpPr>
        <p:spPr>
          <a:xfrm>
            <a:off x="630936" y="4480016"/>
            <a:ext cx="475488" cy="403152"/>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K3</a:t>
            </a:r>
            <a:endParaRPr lang="en-US" sz="1050" dirty="0"/>
          </a:p>
        </p:txBody>
      </p:sp>
      <p:sp>
        <p:nvSpPr>
          <p:cNvPr id="27" name="Text 25"/>
          <p:cNvSpPr txBox="1"/>
          <p:nvPr/>
        </p:nvSpPr>
        <p:spPr>
          <a:xfrm>
            <a:off x="1271016" y="4480016"/>
            <a:ext cx="3584448" cy="403152"/>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removing the entire core still leaves the local model wired to its local actuator</a:t>
            </a:r>
            <a:endParaRPr lang="en-US" sz="1050" dirty="0"/>
          </a:p>
        </p:txBody>
      </p:sp>
      <p:sp>
        <p:nvSpPr>
          <p:cNvPr id="28" name="Text 26"/>
          <p:cNvSpPr txBox="1"/>
          <p:nvPr/>
        </p:nvSpPr>
        <p:spPr>
          <a:xfrm>
            <a:off x="5020056" y="4480016"/>
            <a:ext cx="2487168" cy="403152"/>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killing the network is too little as well as too much</a:t>
            </a:r>
            <a:endParaRPr lang="en-US" sz="1050" dirty="0"/>
          </a:p>
        </p:txBody>
      </p:sp>
      <p:sp>
        <p:nvSpPr>
          <p:cNvPr id="29" name="table row"/>
          <p:cNvSpPr/>
          <p:nvPr/>
        </p:nvSpPr>
        <p:spPr>
          <a:xfrm>
            <a:off x="548640" y="4965464"/>
            <a:ext cx="7040880" cy="730431"/>
          </a:xfrm>
          <a:prstGeom prst="rect">
            <a:avLst/>
          </a:prstGeom>
          <a:solidFill>
            <a:srgbClr val="FFFFFF"/>
          </a:solidFill>
          <a:ln w="9525">
            <a:solidFill>
              <a:srgbClr val="EEF2EF"/>
            </a:solidFill>
            <a:prstDash val="solid"/>
          </a:ln>
        </p:spPr>
      </p:sp>
      <p:sp>
        <p:nvSpPr>
          <p:cNvPr id="30" name="Text 28"/>
          <p:cNvSpPr txBox="1"/>
          <p:nvPr/>
        </p:nvSpPr>
        <p:spPr>
          <a:xfrm>
            <a:off x="630936" y="5047760"/>
            <a:ext cx="475488" cy="565839"/>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K4</a:t>
            </a:r>
            <a:endParaRPr lang="en-US" sz="1050" dirty="0"/>
          </a:p>
        </p:txBody>
      </p:sp>
      <p:sp>
        <p:nvSpPr>
          <p:cNvPr id="31" name="Text 29"/>
          <p:cNvSpPr txBox="1"/>
          <p:nvPr/>
        </p:nvSpPr>
        <p:spPr>
          <a:xfrm>
            <a:off x="1271016" y="5047760"/>
            <a:ext cx="3584448" cy="565839"/>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the device controllers separate everything with 11 nodes, one per device; the compute with 13, one per copy; users still reach services</a:t>
            </a:r>
            <a:endParaRPr lang="en-US" sz="1050" dirty="0"/>
          </a:p>
        </p:txBody>
      </p:sp>
      <p:sp>
        <p:nvSpPr>
          <p:cNvPr id="32" name="Text 30"/>
          <p:cNvSpPr txBox="1"/>
          <p:nvPr/>
        </p:nvSpPr>
        <p:spPr>
          <a:xfrm>
            <a:off x="5020056" y="5047760"/>
            <a:ext cx="2487168" cy="565839"/>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the gates belong at the ends; one node per end is the floor Menger allows</a:t>
            </a:r>
            <a:endParaRPr lang="en-US" sz="1050" dirty="0"/>
          </a:p>
        </p:txBody>
      </p:sp>
      <p:sp>
        <p:nvSpPr>
          <p:cNvPr id="33" name="table row"/>
          <p:cNvSpPr/>
          <p:nvPr/>
        </p:nvSpPr>
        <p:spPr>
          <a:xfrm>
            <a:off x="548640" y="5695896"/>
            <a:ext cx="7040880" cy="567744"/>
          </a:xfrm>
          <a:prstGeom prst="rect">
            <a:avLst/>
          </a:prstGeom>
          <a:solidFill>
            <a:srgbClr val="EEF2EF"/>
          </a:solidFill>
          <a:ln w="9525">
            <a:solidFill>
              <a:srgbClr val="EEF2EF"/>
            </a:solidFill>
            <a:prstDash val="solid"/>
          </a:ln>
        </p:spPr>
      </p:sp>
      <p:sp>
        <p:nvSpPr>
          <p:cNvPr id="34" name="Text 32"/>
          <p:cNvSpPr txBox="1"/>
          <p:nvPr/>
        </p:nvSpPr>
        <p:spPr>
          <a:xfrm>
            <a:off x="630936" y="5778192"/>
            <a:ext cx="475488" cy="403152"/>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K5</a:t>
            </a:r>
            <a:endParaRPr lang="en-US" sz="1050" dirty="0"/>
          </a:p>
        </p:txBody>
      </p:sp>
      <p:sp>
        <p:nvSpPr>
          <p:cNvPr id="35" name="Text 33"/>
          <p:cNvSpPr txBox="1"/>
          <p:nvPr/>
        </p:nvSpPr>
        <p:spPr>
          <a:xfrm>
            <a:off x="1271016" y="5778192"/>
            <a:ext cx="3584448" cy="403152"/>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gating only the 6 irreversible devices needs 6 nodes, their own controllers</a:t>
            </a:r>
            <a:endParaRPr lang="en-US" sz="1050" dirty="0"/>
          </a:p>
        </p:txBody>
      </p:sp>
      <p:sp>
        <p:nvSpPr>
          <p:cNvPr id="36" name="Text 34"/>
          <p:cNvSpPr txBox="1"/>
          <p:nvPr/>
        </p:nvSpPr>
        <p:spPr>
          <a:xfrm>
            <a:off x="5020056" y="5778192"/>
            <a:ext cx="2487168" cy="403152"/>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"can you undo it" shrinks the separator to the exits that matter</a:t>
            </a:r>
            <a:endParaRPr lang="en-US" sz="1050" dirty="0"/>
          </a:p>
        </p:txBody>
      </p:sp>
      <p:sp>
        <p:nvSpPr>
          <p:cNvPr id="37" name="card"/>
          <p:cNvSpPr/>
          <p:nvPr/>
        </p:nvSpPr>
        <p:spPr>
          <a:xfrm>
            <a:off x="7863840" y="1417320"/>
            <a:ext cx="3779215" cy="4846320"/>
          </a:xfrm>
          <a:prstGeom prst="roundRect">
            <a:avLst>
              <a:gd name="adj" fmla="val 1936"/>
            </a:avLst>
          </a:prstGeom>
          <a:solidFill>
            <a:schemeClr val="bg2"/>
          </a:solidFill>
          <a:ln w="12700">
            <a:solidFill>
              <a:schemeClr val="bg2"/>
            </a:solidFill>
            <a:prstDash val="solid"/>
          </a:ln>
        </p:spPr>
      </p:sp>
      <p:sp>
        <p:nvSpPr>
          <p:cNvPr id="38" name="Text 36"/>
          <p:cNvSpPr txBox="1"/>
          <p:nvPr/>
        </p:nvSpPr>
        <p:spPr>
          <a:xfrm>
            <a:off x="8092440" y="1554480"/>
            <a:ext cx="3322015" cy="320040"/>
          </a:xfrm>
          <a:prstGeom prst="rect">
            <a:avLst/>
          </a:prstGeom>
          <a:noFill/>
          <a:ln/>
        </p:spPr>
        <p:txBody>
          <a:bodyPr wrap="square" lIns="0" tIns="0" rIns="0" bIns="0" rtlCol="0" anchor="t">
            <a:normAutofit/>
          </a:bodyPr>
          <a:lstStyle/>
          <a:p>
            <a:pPr indent="0" marL="0">
              <a:buNone/>
            </a:pPr>
            <a:r>
              <a:rPr lang="en-US" sz="1300" b="1" dirty="0">
                <a:solidFill>
                  <a:schemeClr val="tx1"/>
                </a:solidFill>
                <a:latin typeface="Arial" pitchFamily="34" charset="0"/>
                <a:ea typeface="Arial" pitchFamily="34" charset="-122"/>
                <a:cs typeface="Arial" pitchFamily="34" charset="-120"/>
              </a:rPr>
              <a:t>Destroy the core at random</a:t>
            </a:r>
            <a:endParaRPr lang="en-US" sz="1300" dirty="0"/>
          </a:p>
        </p:txBody>
      </p:sp>
      <p:sp>
        <p:nvSpPr>
          <p:cNvPr id="39" name="Text 37"/>
          <p:cNvSpPr txBox="1"/>
          <p:nvPr/>
        </p:nvSpPr>
        <p:spPr>
          <a:xfrm>
            <a:off x="8092440" y="1856232"/>
            <a:ext cx="3322015" cy="274320"/>
          </a:xfrm>
          <a:prstGeom prst="rect">
            <a:avLst/>
          </a:prstGeom>
          <a:noFill/>
          <a:ln/>
        </p:spPr>
        <p:txBody>
          <a:bodyPr wrap="square" lIns="0" tIns="0" rIns="0" bIns="0" rtlCol="0" anchor="t">
            <a:normAutofit/>
          </a:bodyPr>
          <a:lstStyle/>
          <a:p>
            <a:pPr indent="0" marL="0">
              <a:buNone/>
            </a:pPr>
            <a:r>
              <a:rPr lang="en-US" sz="950" dirty="0">
                <a:solidFill>
                  <a:schemeClr val="accent3"/>
                </a:solidFill>
                <a:latin typeface="Arial" pitchFamily="34" charset="0"/>
                <a:ea typeface="Arial" pitchFamily="34" charset="-122"/>
                <a:cs typeface="Arial" pitchFamily="34" charset="-120"/>
              </a:rPr>
              <a:t>share of roads still open, 40 random trials per point</a:t>
            </a:r>
            <a:endParaRPr lang="en-US" sz="950" dirty="0"/>
          </a:p>
        </p:txBody>
      </p:sp>
      <p:graphicFrame>
        <p:nvGraphicFramePr>
          <p:cNvPr id="40" name="Chart 0" descr=""/>
          <p:cNvGraphicFramePr/>
          <p:nvPr/>
        </p:nvGraphicFramePr>
        <p:xfrm>
          <a:off x="8001000" y="2148840"/>
          <a:ext cx="3504895" cy="2788920"/>
        </p:xfrm>
        <a:graphic xmlns:a="http://schemas.openxmlformats.org/drawingml/2006/main">
          <a:graphicData uri="http://schemas.openxmlformats.org/drawingml/2006/chart">
            <c:chart xmlns:c="http://schemas.openxmlformats.org/drawingml/2006/chart" r:id="rId1"/>
          </a:graphicData>
        </a:graphic>
      </p:graphicFrame>
      <p:sp>
        <p:nvSpPr>
          <p:cNvPr id="41" name="Text 38"/>
          <p:cNvSpPr txBox="1"/>
          <p:nvPr/>
        </p:nvSpPr>
        <p:spPr>
          <a:xfrm>
            <a:off x="8092440" y="5029200"/>
            <a:ext cx="3322015" cy="109728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70 percent of the core gone: four roads in five still open. 90 percent: one in five. AI's roads and everyone else's fall together, because they are the same roads.</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The switch goes at the ends, as a gate</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13</a:t>
            </a:r>
            <a:endParaRPr lang="en-US" sz="1100" dirty="0"/>
          </a:p>
        </p:txBody>
      </p:sp>
      <p:pic>
        <p:nvPicPr>
          <p:cNvPr id="5" name="fig_ks_exits.png" descr="preencoded.png">    </p:cNvPr>
          <p:cNvPicPr>
            <a:picLocks noChangeAspect="1"/>
          </p:cNvPicPr>
          <p:nvPr/>
        </p:nvPicPr>
        <p:blipFill>
          <a:blip r:embed="rId1"/>
          <a:stretch>
            <a:fillRect/>
          </a:stretch>
        </p:blipFill>
        <p:spPr>
          <a:xfrm>
            <a:off x="1609195" y="1280160"/>
            <a:ext cx="8973305" cy="4160520"/>
          </a:xfrm>
          <a:prstGeom prst="rect">
            <a:avLst/>
          </a:prstGeom>
        </p:spPr>
      </p:pic>
      <p:sp>
        <p:nvSpPr>
          <p:cNvPr id="6" name="Text 3"/>
          <p:cNvSpPr txBox="1"/>
          <p:nvPr/>
        </p:nvSpPr>
        <p:spPr>
          <a:xfrm>
            <a:off x="548640" y="5532120"/>
            <a:ext cx="11094415" cy="731520"/>
          </a:xfrm>
          <a:prstGeom prst="rect">
            <a:avLst/>
          </a:prstGeom>
          <a:noFill/>
          <a:ln/>
        </p:spPr>
        <p:txBody>
          <a:bodyPr wrap="square" lIns="0" tIns="0" rIns="0" bIns="0" rtlCol="0" anchor="t">
            <a:normAutofit/>
          </a:bodyPr>
          <a:lstStyle/>
          <a:p>
            <a:pPr indent="0" marL="0">
              <a:buNone/>
            </a:pPr>
            <a:r>
              <a:rPr lang="en-US" sz="1250" i="1" dirty="0">
                <a:solidFill>
                  <a:schemeClr val="tx2"/>
                </a:solidFill>
                <a:latin typeface="Arial" pitchFamily="34" charset="0"/>
                <a:ea typeface="Arial" pitchFamily="34" charset="-122"/>
                <a:cs typeface="Arial" pitchFamily="34" charset="-120"/>
              </a:rPr>
              <a:t>The governor is the gate on the chip, with the brake, reset and power behind it. The comparator is the gate in the device, only where the deed cannot be undone. The middle stays what it is: witnesses live there (classifiers, watchers, sandboxes), the lock does not.</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The logic behind it</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14</a:t>
            </a:r>
            <a:endParaRPr lang="en-US" sz="1100" dirty="0"/>
          </a:p>
        </p:txBody>
      </p:sp>
      <p:sp>
        <p:nvSpPr>
          <p:cNvPr id="5" name="card"/>
          <p:cNvSpPr/>
          <p:nvPr/>
        </p:nvSpPr>
        <p:spPr>
          <a:xfrm>
            <a:off x="548640" y="1417320"/>
            <a:ext cx="5120640" cy="3840480"/>
          </a:xfrm>
          <a:prstGeom prst="roundRect">
            <a:avLst>
              <a:gd name="adj" fmla="val 1905"/>
            </a:avLst>
          </a:prstGeom>
          <a:solidFill>
            <a:schemeClr val="bg2"/>
          </a:solidFill>
          <a:ln w="12700">
            <a:solidFill>
              <a:schemeClr val="bg2"/>
            </a:solidFill>
            <a:prstDash val="solid"/>
          </a:ln>
        </p:spPr>
      </p:sp>
      <p:sp>
        <p:nvSpPr>
          <p:cNvPr id="6" name="Text 4"/>
          <p:cNvSpPr txBox="1"/>
          <p:nvPr/>
        </p:nvSpPr>
        <p:spPr>
          <a:xfrm>
            <a:off x="822960" y="1600200"/>
            <a:ext cx="4572000" cy="365760"/>
          </a:xfrm>
          <a:prstGeom prst="rect">
            <a:avLst/>
          </a:prstGeom>
          <a:noFill/>
          <a:ln/>
        </p:spPr>
        <p:txBody>
          <a:bodyPr wrap="square" lIns="0" tIns="0" rIns="0" bIns="0" rtlCol="0" anchor="t">
            <a:normAutofit/>
          </a:bodyPr>
          <a:lstStyle/>
          <a:p>
            <a:pPr indent="0" marL="0">
              <a:buNone/>
            </a:pPr>
            <a:r>
              <a:rPr lang="en-US" sz="1800" b="1" dirty="0">
                <a:solidFill>
                  <a:schemeClr val="tx1"/>
                </a:solidFill>
                <a:latin typeface="Georgia" pitchFamily="34" charset="0"/>
                <a:ea typeface="Georgia" pitchFamily="34" charset="-122"/>
                <a:cs typeface="Georgia" pitchFamily="34" charset="-120"/>
              </a:rPr>
              <a:t>The customs officer</a:t>
            </a:r>
            <a:endParaRPr lang="en-US" sz="1800" dirty="0"/>
          </a:p>
        </p:txBody>
      </p:sp>
      <p:sp>
        <p:nvSpPr>
          <p:cNvPr id="7" name="Text 5"/>
          <p:cNvSpPr txBox="1"/>
          <p:nvPr/>
        </p:nvSpPr>
        <p:spPr>
          <a:xfrm>
            <a:off x="822960" y="2011680"/>
            <a:ext cx="4572000" cy="457200"/>
          </a:xfrm>
          <a:prstGeom prst="rect">
            <a:avLst/>
          </a:prstGeom>
          <a:noFill/>
          <a:ln/>
        </p:spPr>
        <p:txBody>
          <a:bodyPr wrap="square" lIns="0" tIns="0" rIns="0" bIns="0" rtlCol="0" anchor="t">
            <a:normAutofit/>
          </a:bodyPr>
          <a:lstStyle/>
          <a:p>
            <a:pPr indent="0" marL="0">
              <a:buNone/>
            </a:pPr>
            <a:r>
              <a:rPr lang="en-US" sz="1250" dirty="0">
                <a:solidFill>
                  <a:schemeClr val="accent3"/>
                </a:solidFill>
                <a:latin typeface="Arial" pitchFamily="34" charset="0"/>
                <a:ea typeface="Arial" pitchFamily="34" charset="-122"/>
                <a:cs typeface="Arial" pitchFamily="34" charset="-120"/>
              </a:rPr>
              <a:t>She cannot read the language on the paperwork. She does not need to.</a:t>
            </a:r>
            <a:endParaRPr lang="en-US" sz="1250" dirty="0"/>
          </a:p>
        </p:txBody>
      </p:sp>
      <p:sp>
        <p:nvSpPr>
          <p:cNvPr id="8" name="icon circle"/>
          <p:cNvSpPr/>
          <p:nvPr/>
        </p:nvSpPr>
        <p:spPr>
          <a:xfrm>
            <a:off x="1065276" y="2606040"/>
            <a:ext cx="658368" cy="658368"/>
          </a:xfrm>
          <a:prstGeom prst="ellipse">
            <a:avLst/>
          </a:prstGeom>
          <a:solidFill>
            <a:schemeClr val="accent1"/>
          </a:solidFill>
          <a:ln w="12700">
            <a:solidFill>
              <a:schemeClr val="accent1"/>
            </a:solidFill>
            <a:prstDash val="solid"/>
          </a:ln>
        </p:spPr>
      </p:sp>
      <p:pic>
        <p:nvPicPr>
          <p:cNvPr id="9" name="FiPackage" descr="preencoded.png">    </p:cNvPr>
          <p:cNvPicPr>
            <a:picLocks noChangeAspect="1"/>
          </p:cNvPicPr>
          <p:nvPr/>
        </p:nvPicPr>
        <p:blipFill>
          <a:blip r:embed="rId1"/>
          <a:stretch>
            <a:fillRect/>
          </a:stretch>
        </p:blipFill>
        <p:spPr>
          <a:xfrm>
            <a:off x="1229868" y="2770632"/>
            <a:ext cx="329184" cy="329184"/>
          </a:xfrm>
          <a:prstGeom prst="rect">
            <a:avLst/>
          </a:prstGeom>
        </p:spPr>
      </p:pic>
      <p:sp>
        <p:nvSpPr>
          <p:cNvPr id="10" name="Text 7"/>
          <p:cNvSpPr txBox="1"/>
          <p:nvPr/>
        </p:nvSpPr>
        <p:spPr>
          <a:xfrm>
            <a:off x="822960" y="3337560"/>
            <a:ext cx="1143000" cy="274320"/>
          </a:xfrm>
          <a:prstGeom prst="rect">
            <a:avLst/>
          </a:prstGeom>
          <a:noFill/>
          <a:ln/>
        </p:spPr>
        <p:txBody>
          <a:bodyPr wrap="square" lIns="0" tIns="0" rIns="0" bIns="0" rtlCol="0" anchor="t">
            <a:normAutofit/>
          </a:bodyPr>
          <a:lstStyle/>
          <a:p>
            <a:pPr algn="ctr" indent="0" marL="0">
              <a:buNone/>
            </a:pPr>
            <a:r>
              <a:rPr lang="en-US" sz="1200" b="1" dirty="0">
                <a:solidFill>
                  <a:schemeClr val="tx1"/>
                </a:solidFill>
                <a:latin typeface="Arial" pitchFamily="34" charset="0"/>
                <a:ea typeface="Arial" pitchFamily="34" charset="-122"/>
                <a:cs typeface="Arial" pitchFamily="34" charset="-120"/>
              </a:rPr>
              <a:t>the seal</a:t>
            </a:r>
            <a:endParaRPr lang="en-US" sz="1200" dirty="0"/>
          </a:p>
        </p:txBody>
      </p:sp>
      <p:sp>
        <p:nvSpPr>
          <p:cNvPr id="11" name="Text 8"/>
          <p:cNvSpPr txBox="1"/>
          <p:nvPr/>
        </p:nvSpPr>
        <p:spPr>
          <a:xfrm>
            <a:off x="822960" y="3611880"/>
            <a:ext cx="1143000" cy="274320"/>
          </a:xfrm>
          <a:prstGeom prst="rect">
            <a:avLst/>
          </a:prstGeom>
          <a:noFill/>
          <a:ln/>
        </p:spPr>
        <p:txBody>
          <a:bodyPr wrap="square" lIns="0" tIns="0" rIns="0" bIns="0" rtlCol="0" anchor="t">
            <a:normAutofit/>
          </a:bodyPr>
          <a:lstStyle/>
          <a:p>
            <a:pPr algn="ctr" indent="0" marL="0">
              <a:buNone/>
            </a:pPr>
            <a:r>
              <a:rPr lang="en-US" sz="1100" dirty="0">
                <a:solidFill>
                  <a:schemeClr val="accent3"/>
                </a:solidFill>
                <a:latin typeface="Arial" pitchFamily="34" charset="0"/>
                <a:ea typeface="Arial" pitchFamily="34" charset="-122"/>
                <a:cs typeface="Arial" pitchFamily="34" charset="-120"/>
              </a:rPr>
              <a:t>unbroken?</a:t>
            </a:r>
            <a:endParaRPr lang="en-US" sz="1100" dirty="0"/>
          </a:p>
        </p:txBody>
      </p:sp>
      <p:sp>
        <p:nvSpPr>
          <p:cNvPr id="12" name="icon circle"/>
          <p:cNvSpPr/>
          <p:nvPr/>
        </p:nvSpPr>
        <p:spPr>
          <a:xfrm>
            <a:off x="2208276" y="2606040"/>
            <a:ext cx="658368" cy="658368"/>
          </a:xfrm>
          <a:prstGeom prst="ellipse">
            <a:avLst/>
          </a:prstGeom>
          <a:solidFill>
            <a:schemeClr val="accent1"/>
          </a:solidFill>
          <a:ln w="12700">
            <a:solidFill>
              <a:schemeClr val="accent1"/>
            </a:solidFill>
            <a:prstDash val="solid"/>
          </a:ln>
        </p:spPr>
      </p:sp>
      <p:pic>
        <p:nvPicPr>
          <p:cNvPr id="13" name="FiFileText" descr="preencoded.png">    </p:cNvPr>
          <p:cNvPicPr>
            <a:picLocks noChangeAspect="1"/>
          </p:cNvPicPr>
          <p:nvPr/>
        </p:nvPicPr>
        <p:blipFill>
          <a:blip r:embed="rId2"/>
          <a:stretch>
            <a:fillRect/>
          </a:stretch>
        </p:blipFill>
        <p:spPr>
          <a:xfrm>
            <a:off x="2372868" y="2770632"/>
            <a:ext cx="329184" cy="329184"/>
          </a:xfrm>
          <a:prstGeom prst="rect">
            <a:avLst/>
          </a:prstGeom>
        </p:spPr>
      </p:pic>
      <p:sp>
        <p:nvSpPr>
          <p:cNvPr id="14" name="Text 10"/>
          <p:cNvSpPr txBox="1"/>
          <p:nvPr/>
        </p:nvSpPr>
        <p:spPr>
          <a:xfrm>
            <a:off x="1965960" y="3337560"/>
            <a:ext cx="1143000" cy="274320"/>
          </a:xfrm>
          <a:prstGeom prst="rect">
            <a:avLst/>
          </a:prstGeom>
          <a:noFill/>
          <a:ln/>
        </p:spPr>
        <p:txBody>
          <a:bodyPr wrap="square" lIns="0" tIns="0" rIns="0" bIns="0" rtlCol="0" anchor="t">
            <a:normAutofit/>
          </a:bodyPr>
          <a:lstStyle/>
          <a:p>
            <a:pPr algn="ctr" indent="0" marL="0">
              <a:buNone/>
            </a:pPr>
            <a:r>
              <a:rPr lang="en-US" sz="1200" b="1" dirty="0">
                <a:solidFill>
                  <a:schemeClr val="tx1"/>
                </a:solidFill>
                <a:latin typeface="Arial" pitchFamily="34" charset="0"/>
                <a:ea typeface="Arial" pitchFamily="34" charset="-122"/>
                <a:cs typeface="Arial" pitchFamily="34" charset="-120"/>
              </a:rPr>
              <a:t>the manifest</a:t>
            </a:r>
            <a:endParaRPr lang="en-US" sz="1200" dirty="0"/>
          </a:p>
        </p:txBody>
      </p:sp>
      <p:sp>
        <p:nvSpPr>
          <p:cNvPr id="15" name="Text 11"/>
          <p:cNvSpPr txBox="1"/>
          <p:nvPr/>
        </p:nvSpPr>
        <p:spPr>
          <a:xfrm>
            <a:off x="1965960" y="3611880"/>
            <a:ext cx="1143000" cy="274320"/>
          </a:xfrm>
          <a:prstGeom prst="rect">
            <a:avLst/>
          </a:prstGeom>
          <a:noFill/>
          <a:ln/>
        </p:spPr>
        <p:txBody>
          <a:bodyPr wrap="square" lIns="0" tIns="0" rIns="0" bIns="0" rtlCol="0" anchor="t">
            <a:normAutofit/>
          </a:bodyPr>
          <a:lstStyle/>
          <a:p>
            <a:pPr algn="ctr" indent="0" marL="0">
              <a:buNone/>
            </a:pPr>
            <a:r>
              <a:rPr lang="en-US" sz="1100" dirty="0">
                <a:solidFill>
                  <a:schemeClr val="accent3"/>
                </a:solidFill>
                <a:latin typeface="Arial" pitchFamily="34" charset="0"/>
                <a:ea typeface="Arial" pitchFamily="34" charset="-122"/>
                <a:cs typeface="Arial" pitchFamily="34" charset="-120"/>
              </a:rPr>
              <a:t>matches the count?</a:t>
            </a:r>
            <a:endParaRPr lang="en-US" sz="1100" dirty="0"/>
          </a:p>
        </p:txBody>
      </p:sp>
      <p:sp>
        <p:nvSpPr>
          <p:cNvPr id="16" name="icon circle"/>
          <p:cNvSpPr/>
          <p:nvPr/>
        </p:nvSpPr>
        <p:spPr>
          <a:xfrm>
            <a:off x="3351276" y="2606040"/>
            <a:ext cx="658368" cy="658368"/>
          </a:xfrm>
          <a:prstGeom prst="ellipse">
            <a:avLst/>
          </a:prstGeom>
          <a:solidFill>
            <a:schemeClr val="accent1"/>
          </a:solidFill>
          <a:ln w="12700">
            <a:solidFill>
              <a:schemeClr val="accent1"/>
            </a:solidFill>
            <a:prstDash val="solid"/>
          </a:ln>
        </p:spPr>
      </p:sp>
      <p:pic>
        <p:nvPicPr>
          <p:cNvPr id="17" name="FiBarChart2" descr="preencoded.png">    </p:cNvPr>
          <p:cNvPicPr>
            <a:picLocks noChangeAspect="1"/>
          </p:cNvPicPr>
          <p:nvPr/>
        </p:nvPicPr>
        <p:blipFill>
          <a:blip r:embed="rId3"/>
          <a:stretch>
            <a:fillRect/>
          </a:stretch>
        </p:blipFill>
        <p:spPr>
          <a:xfrm>
            <a:off x="3515868" y="2770632"/>
            <a:ext cx="329184" cy="329184"/>
          </a:xfrm>
          <a:prstGeom prst="rect">
            <a:avLst/>
          </a:prstGeom>
        </p:spPr>
      </p:pic>
      <p:sp>
        <p:nvSpPr>
          <p:cNvPr id="18" name="Text 13"/>
          <p:cNvSpPr txBox="1"/>
          <p:nvPr/>
        </p:nvSpPr>
        <p:spPr>
          <a:xfrm>
            <a:off x="3108960" y="3337560"/>
            <a:ext cx="1143000" cy="274320"/>
          </a:xfrm>
          <a:prstGeom prst="rect">
            <a:avLst/>
          </a:prstGeom>
          <a:noFill/>
          <a:ln/>
        </p:spPr>
        <p:txBody>
          <a:bodyPr wrap="square" lIns="0" tIns="0" rIns="0" bIns="0" rtlCol="0" anchor="t">
            <a:normAutofit/>
          </a:bodyPr>
          <a:lstStyle/>
          <a:p>
            <a:pPr algn="ctr" indent="0" marL="0">
              <a:buNone/>
            </a:pPr>
            <a:r>
              <a:rPr lang="en-US" sz="1200" b="1" dirty="0">
                <a:solidFill>
                  <a:schemeClr val="tx1"/>
                </a:solidFill>
                <a:latin typeface="Arial" pitchFamily="34" charset="0"/>
                <a:ea typeface="Arial" pitchFamily="34" charset="-122"/>
                <a:cs typeface="Arial" pitchFamily="34" charset="-120"/>
              </a:rPr>
              <a:t>the scale</a:t>
            </a:r>
            <a:endParaRPr lang="en-US" sz="1200" dirty="0"/>
          </a:p>
        </p:txBody>
      </p:sp>
      <p:sp>
        <p:nvSpPr>
          <p:cNvPr id="19" name="Text 14"/>
          <p:cNvSpPr txBox="1"/>
          <p:nvPr/>
        </p:nvSpPr>
        <p:spPr>
          <a:xfrm>
            <a:off x="3108960" y="3611880"/>
            <a:ext cx="1143000" cy="274320"/>
          </a:xfrm>
          <a:prstGeom prst="rect">
            <a:avLst/>
          </a:prstGeom>
          <a:noFill/>
          <a:ln/>
        </p:spPr>
        <p:txBody>
          <a:bodyPr wrap="square" lIns="0" tIns="0" rIns="0" bIns="0" rtlCol="0" anchor="t">
            <a:normAutofit/>
          </a:bodyPr>
          <a:lstStyle/>
          <a:p>
            <a:pPr algn="ctr" indent="0" marL="0">
              <a:buNone/>
            </a:pPr>
            <a:r>
              <a:rPr lang="en-US" sz="1100" dirty="0">
                <a:solidFill>
                  <a:schemeClr val="accent3"/>
                </a:solidFill>
                <a:latin typeface="Arial" pitchFamily="34" charset="0"/>
                <a:ea typeface="Arial" pitchFamily="34" charset="-122"/>
                <a:cs typeface="Arial" pitchFamily="34" charset="-120"/>
              </a:rPr>
              <a:t>matches the weight?</a:t>
            </a:r>
            <a:endParaRPr lang="en-US" sz="1100" dirty="0"/>
          </a:p>
        </p:txBody>
      </p:sp>
      <p:sp>
        <p:nvSpPr>
          <p:cNvPr id="20" name="icon circle"/>
          <p:cNvSpPr/>
          <p:nvPr/>
        </p:nvSpPr>
        <p:spPr>
          <a:xfrm>
            <a:off x="4494276" y="2606040"/>
            <a:ext cx="658368" cy="658368"/>
          </a:xfrm>
          <a:prstGeom prst="ellipse">
            <a:avLst/>
          </a:prstGeom>
          <a:solidFill>
            <a:schemeClr val="accent1"/>
          </a:solidFill>
          <a:ln w="12700">
            <a:solidFill>
              <a:schemeClr val="accent1"/>
            </a:solidFill>
            <a:prstDash val="solid"/>
          </a:ln>
        </p:spPr>
      </p:sp>
      <p:pic>
        <p:nvPicPr>
          <p:cNvPr id="21" name="FiList" descr="preencoded.png">    </p:cNvPr>
          <p:cNvPicPr>
            <a:picLocks noChangeAspect="1"/>
          </p:cNvPicPr>
          <p:nvPr/>
        </p:nvPicPr>
        <p:blipFill>
          <a:blip r:embed="rId4"/>
          <a:stretch>
            <a:fillRect/>
          </a:stretch>
        </p:blipFill>
        <p:spPr>
          <a:xfrm>
            <a:off x="4658868" y="2770632"/>
            <a:ext cx="329184" cy="329184"/>
          </a:xfrm>
          <a:prstGeom prst="rect">
            <a:avLst/>
          </a:prstGeom>
        </p:spPr>
      </p:pic>
      <p:sp>
        <p:nvSpPr>
          <p:cNvPr id="22" name="Text 16"/>
          <p:cNvSpPr txBox="1"/>
          <p:nvPr/>
        </p:nvSpPr>
        <p:spPr>
          <a:xfrm>
            <a:off x="4251960" y="3337560"/>
            <a:ext cx="1143000" cy="274320"/>
          </a:xfrm>
          <a:prstGeom prst="rect">
            <a:avLst/>
          </a:prstGeom>
          <a:noFill/>
          <a:ln/>
        </p:spPr>
        <p:txBody>
          <a:bodyPr wrap="square" lIns="0" tIns="0" rIns="0" bIns="0" rtlCol="0" anchor="t">
            <a:normAutofit/>
          </a:bodyPr>
          <a:lstStyle/>
          <a:p>
            <a:pPr algn="ctr" indent="0" marL="0">
              <a:buNone/>
            </a:pPr>
            <a:r>
              <a:rPr lang="en-US" sz="1200" b="1" dirty="0">
                <a:solidFill>
                  <a:schemeClr val="tx1"/>
                </a:solidFill>
                <a:latin typeface="Arial" pitchFamily="34" charset="0"/>
                <a:ea typeface="Arial" pitchFamily="34" charset="-122"/>
                <a:cs typeface="Arial" pitchFamily="34" charset="-120"/>
              </a:rPr>
              <a:t>the list</a:t>
            </a:r>
            <a:endParaRPr lang="en-US" sz="1200" dirty="0"/>
          </a:p>
        </p:txBody>
      </p:sp>
      <p:sp>
        <p:nvSpPr>
          <p:cNvPr id="23" name="Text 17"/>
          <p:cNvSpPr txBox="1"/>
          <p:nvPr/>
        </p:nvSpPr>
        <p:spPr>
          <a:xfrm>
            <a:off x="4251960" y="3611880"/>
            <a:ext cx="1143000" cy="274320"/>
          </a:xfrm>
          <a:prstGeom prst="rect">
            <a:avLst/>
          </a:prstGeom>
          <a:noFill/>
          <a:ln/>
        </p:spPr>
        <p:txBody>
          <a:bodyPr wrap="square" lIns="0" tIns="0" rIns="0" bIns="0" rtlCol="0" anchor="t">
            <a:normAutofit/>
          </a:bodyPr>
          <a:lstStyle/>
          <a:p>
            <a:pPr algn="ctr" indent="0" marL="0">
              <a:buNone/>
            </a:pPr>
            <a:r>
              <a:rPr lang="en-US" sz="1100" dirty="0">
                <a:solidFill>
                  <a:schemeClr val="accent3"/>
                </a:solidFill>
                <a:latin typeface="Arial" pitchFamily="34" charset="0"/>
                <a:ea typeface="Arial" pitchFamily="34" charset="-122"/>
                <a:cs typeface="Arial" pitchFamily="34" charset="-120"/>
              </a:rPr>
              <a:t>destination approved?</a:t>
            </a:r>
            <a:endParaRPr lang="en-US" sz="1100" dirty="0"/>
          </a:p>
        </p:txBody>
      </p:sp>
      <p:sp>
        <p:nvSpPr>
          <p:cNvPr id="24" name="Text 18"/>
          <p:cNvSpPr txBox="1"/>
          <p:nvPr/>
        </p:nvSpPr>
        <p:spPr>
          <a:xfrm>
            <a:off x="822960" y="4114800"/>
            <a:ext cx="4572000" cy="1005840"/>
          </a:xfrm>
          <a:prstGeom prst="rect">
            <a:avLst/>
          </a:prstGeom>
          <a:noFill/>
          <a:ln/>
        </p:spPr>
        <p:txBody>
          <a:bodyPr wrap="square" lIns="0" tIns="0" rIns="0" bIns="0" rtlCol="0" anchor="t">
            <a:normAutofit/>
          </a:bodyPr>
          <a:lstStyle/>
          <a:p>
            <a:pPr indent="0" marL="0">
              <a:buNone/>
            </a:pPr>
            <a:r>
              <a:rPr lang="en-US" sz="1250" dirty="0">
                <a:solidFill>
                  <a:schemeClr val="tx1"/>
                </a:solidFill>
                <a:latin typeface="Arial" pitchFamily="34" charset="0"/>
                <a:ea typeface="Arial" pitchFamily="34" charset="-122"/>
                <a:cs typeface="Arial" pitchFamily="34" charset="-120"/>
              </a:rPr>
              <a:t>Smuggling is caught as a mismatch between what the papers say and what the scale says, not by understanding the cargo. The governor works the same way: on structure, never on meaning.</a:t>
            </a:r>
            <a:endParaRPr lang="en-US" sz="1250" dirty="0"/>
          </a:p>
        </p:txBody>
      </p:sp>
      <p:sp>
        <p:nvSpPr>
          <p:cNvPr id="25" name="icon circle"/>
          <p:cNvSpPr/>
          <p:nvPr/>
        </p:nvSpPr>
        <p:spPr>
          <a:xfrm>
            <a:off x="6035040" y="1463040"/>
            <a:ext cx="566928" cy="566928"/>
          </a:xfrm>
          <a:prstGeom prst="ellipse">
            <a:avLst/>
          </a:prstGeom>
          <a:solidFill>
            <a:schemeClr val="tx2"/>
          </a:solidFill>
          <a:ln w="12700">
            <a:solidFill>
              <a:schemeClr val="tx2"/>
            </a:solidFill>
            <a:prstDash val="solid"/>
          </a:ln>
        </p:spPr>
      </p:sp>
      <p:pic>
        <p:nvPicPr>
          <p:cNvPr id="26" name="FiEdit3" descr="preencoded.png">    </p:cNvPr>
          <p:cNvPicPr>
            <a:picLocks noChangeAspect="1"/>
          </p:cNvPicPr>
          <p:nvPr/>
        </p:nvPicPr>
        <p:blipFill>
          <a:blip r:embed="rId5"/>
          <a:stretch>
            <a:fillRect/>
          </a:stretch>
        </p:blipFill>
        <p:spPr>
          <a:xfrm>
            <a:off x="6176772" y="1604772"/>
            <a:ext cx="283464" cy="283464"/>
          </a:xfrm>
          <a:prstGeom prst="rect">
            <a:avLst/>
          </a:prstGeom>
        </p:spPr>
      </p:pic>
      <p:sp>
        <p:nvSpPr>
          <p:cNvPr id="27" name="Text 20"/>
          <p:cNvSpPr txBox="1"/>
          <p:nvPr/>
        </p:nvSpPr>
        <p:spPr>
          <a:xfrm>
            <a:off x="6812280" y="1417320"/>
            <a:ext cx="4830775" cy="365760"/>
          </a:xfrm>
          <a:prstGeom prst="rect">
            <a:avLst/>
          </a:prstGeom>
          <a:noFill/>
          <a:ln/>
        </p:spPr>
        <p:txBody>
          <a:bodyPr wrap="square" lIns="0" tIns="0" rIns="0" bIns="0" rtlCol="0" anchor="t">
            <a:normAutofit/>
          </a:bodyPr>
          <a:lstStyle/>
          <a:p>
            <a:pPr indent="0" marL="0">
              <a:buNone/>
            </a:pPr>
            <a:r>
              <a:rPr lang="en-US" sz="1500" b="1" dirty="0">
                <a:solidFill>
                  <a:schemeClr val="tx1"/>
                </a:solidFill>
                <a:latin typeface="Arial" pitchFamily="34" charset="0"/>
                <a:ea typeface="Arial" pitchFamily="34" charset="-122"/>
                <a:cs typeface="Arial" pitchFamily="34" charset="-120"/>
              </a:rPr>
              <a:t>Software safety can be edited out</a:t>
            </a:r>
            <a:endParaRPr lang="en-US" sz="1500" dirty="0"/>
          </a:p>
        </p:txBody>
      </p:sp>
      <p:sp>
        <p:nvSpPr>
          <p:cNvPr id="28" name="Text 21"/>
          <p:cNvSpPr txBox="1"/>
          <p:nvPr/>
        </p:nvSpPr>
        <p:spPr>
          <a:xfrm>
            <a:off x="6812280" y="1801368"/>
            <a:ext cx="4830775" cy="896112"/>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Refusal lives mostly along one direction in the activation space. Subtract it from the weights and the model answers everything. It takes an afternoon on a consumer GPU.</a:t>
            </a:r>
            <a:endParaRPr lang="en-US" sz="1150" dirty="0"/>
          </a:p>
        </p:txBody>
      </p:sp>
      <p:sp>
        <p:nvSpPr>
          <p:cNvPr id="29" name="icon circle"/>
          <p:cNvSpPr/>
          <p:nvPr/>
        </p:nvSpPr>
        <p:spPr>
          <a:xfrm>
            <a:off x="6035040" y="2761488"/>
            <a:ext cx="566928" cy="566928"/>
          </a:xfrm>
          <a:prstGeom prst="ellipse">
            <a:avLst/>
          </a:prstGeom>
          <a:solidFill>
            <a:schemeClr val="tx2"/>
          </a:solidFill>
          <a:ln w="12700">
            <a:solidFill>
              <a:schemeClr val="tx2"/>
            </a:solidFill>
            <a:prstDash val="solid"/>
          </a:ln>
        </p:spPr>
      </p:sp>
      <p:pic>
        <p:nvPicPr>
          <p:cNvPr id="30" name="FiEye" descr="preencoded.png">    </p:cNvPr>
          <p:cNvPicPr>
            <a:picLocks noChangeAspect="1"/>
          </p:cNvPicPr>
          <p:nvPr/>
        </p:nvPicPr>
        <p:blipFill>
          <a:blip r:embed="rId6"/>
          <a:stretch>
            <a:fillRect/>
          </a:stretch>
        </p:blipFill>
        <p:spPr>
          <a:xfrm>
            <a:off x="6176772" y="2903220"/>
            <a:ext cx="283464" cy="283464"/>
          </a:xfrm>
          <a:prstGeom prst="rect">
            <a:avLst/>
          </a:prstGeom>
        </p:spPr>
      </p:pic>
      <p:sp>
        <p:nvSpPr>
          <p:cNvPr id="31" name="Text 23"/>
          <p:cNvSpPr txBox="1"/>
          <p:nvPr/>
        </p:nvSpPr>
        <p:spPr>
          <a:xfrm>
            <a:off x="6812280" y="2715768"/>
            <a:ext cx="4830775" cy="365760"/>
          </a:xfrm>
          <a:prstGeom prst="rect">
            <a:avLst/>
          </a:prstGeom>
          <a:noFill/>
          <a:ln/>
        </p:spPr>
        <p:txBody>
          <a:bodyPr wrap="square" lIns="0" tIns="0" rIns="0" bIns="0" rtlCol="0" anchor="t">
            <a:normAutofit/>
          </a:bodyPr>
          <a:lstStyle/>
          <a:p>
            <a:pPr indent="0" marL="0">
              <a:buNone/>
            </a:pPr>
            <a:r>
              <a:rPr lang="en-US" sz="1500" b="1" dirty="0">
                <a:solidFill>
                  <a:schemeClr val="tx1"/>
                </a:solidFill>
                <a:latin typeface="Arial" pitchFamily="34" charset="0"/>
                <a:ea typeface="Arial" pitchFamily="34" charset="-122"/>
                <a:cs typeface="Arial" pitchFamily="34" charset="-120"/>
              </a:rPr>
              <a:t>Watchers can only warn</a:t>
            </a:r>
            <a:endParaRPr lang="en-US" sz="1500" dirty="0"/>
          </a:p>
        </p:txBody>
      </p:sp>
      <p:sp>
        <p:nvSpPr>
          <p:cNvPr id="32" name="Text 24"/>
          <p:cNvSpPr txBox="1"/>
          <p:nvPr/>
        </p:nvSpPr>
        <p:spPr>
          <a:xfrm>
            <a:off x="6812280" y="3099816"/>
            <a:ext cx="4830775" cy="896112"/>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A judge model is a transformer too: it falls for the same injections, can be edited the same way, and runs as a process the operator can patch or kill. OpenShell and Sentry are the best of them, and still software.</a:t>
            </a:r>
            <a:endParaRPr lang="en-US" sz="1150" dirty="0"/>
          </a:p>
        </p:txBody>
      </p:sp>
      <p:sp>
        <p:nvSpPr>
          <p:cNvPr id="33" name="icon circle"/>
          <p:cNvSpPr/>
          <p:nvPr/>
        </p:nvSpPr>
        <p:spPr>
          <a:xfrm>
            <a:off x="6035040" y="4059936"/>
            <a:ext cx="566928" cy="566928"/>
          </a:xfrm>
          <a:prstGeom prst="ellipse">
            <a:avLst/>
          </a:prstGeom>
          <a:solidFill>
            <a:schemeClr val="tx2"/>
          </a:solidFill>
          <a:ln w="12700">
            <a:solidFill>
              <a:schemeClr val="tx2"/>
            </a:solidFill>
            <a:prstDash val="solid"/>
          </a:ln>
        </p:spPr>
      </p:sp>
      <p:pic>
        <p:nvPicPr>
          <p:cNvPr id="34" name="FiCpu" descr="preencoded.png">    </p:cNvPr>
          <p:cNvPicPr>
            <a:picLocks noChangeAspect="1"/>
          </p:cNvPicPr>
          <p:nvPr/>
        </p:nvPicPr>
        <p:blipFill>
          <a:blip r:embed="rId7"/>
          <a:stretch>
            <a:fillRect/>
          </a:stretch>
        </p:blipFill>
        <p:spPr>
          <a:xfrm>
            <a:off x="6176772" y="4201668"/>
            <a:ext cx="283464" cy="283464"/>
          </a:xfrm>
          <a:prstGeom prst="rect">
            <a:avLst/>
          </a:prstGeom>
        </p:spPr>
      </p:pic>
      <p:sp>
        <p:nvSpPr>
          <p:cNvPr id="35" name="Text 26"/>
          <p:cNvSpPr txBox="1"/>
          <p:nvPr/>
        </p:nvSpPr>
        <p:spPr>
          <a:xfrm>
            <a:off x="6812280" y="4014216"/>
            <a:ext cx="4830775" cy="365760"/>
          </a:xfrm>
          <a:prstGeom prst="rect">
            <a:avLst/>
          </a:prstGeom>
          <a:noFill/>
          <a:ln/>
        </p:spPr>
        <p:txBody>
          <a:bodyPr wrap="square" lIns="0" tIns="0" rIns="0" bIns="0" rtlCol="0" anchor="t">
            <a:normAutofit/>
          </a:bodyPr>
          <a:lstStyle/>
          <a:p>
            <a:pPr indent="0" marL="0">
              <a:buNone/>
            </a:pPr>
            <a:r>
              <a:rPr lang="en-US" sz="1500" b="1" dirty="0">
                <a:solidFill>
                  <a:schemeClr val="tx1"/>
                </a:solidFill>
                <a:latin typeface="Arial" pitchFamily="34" charset="0"/>
                <a:ea typeface="Arial" pitchFamily="34" charset="-122"/>
                <a:cs typeface="Arial" pitchFamily="34" charset="-120"/>
              </a:rPr>
              <a:t>Hardware checks structure, not meaning</a:t>
            </a:r>
            <a:endParaRPr lang="en-US" sz="1500" dirty="0"/>
          </a:p>
        </p:txBody>
      </p:sp>
      <p:sp>
        <p:nvSpPr>
          <p:cNvPr id="36" name="Text 27"/>
          <p:cNvSpPr txBox="1"/>
          <p:nvPr/>
        </p:nvSpPr>
        <p:spPr>
          <a:xfrm>
            <a:off x="6812280" y="4398264"/>
            <a:ext cx="4830775" cy="896112"/>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A ticket, a signature from a key the model does not hold, a count under a limit, a peer on a list, a measured workload. A chip can refuse on those.</a:t>
            </a:r>
            <a:endParaRPr lang="en-US" sz="1150" dirty="0"/>
          </a:p>
        </p:txBody>
      </p:sp>
      <p:sp>
        <p:nvSpPr>
          <p:cNvPr id="37" name="analogy"/>
          <p:cNvSpPr/>
          <p:nvPr/>
        </p:nvSpPr>
        <p:spPr>
          <a:xfrm>
            <a:off x="548640" y="5486400"/>
            <a:ext cx="11094415" cy="685800"/>
          </a:xfrm>
          <a:prstGeom prst="roundRect">
            <a:avLst>
              <a:gd name="adj" fmla="val 10667"/>
            </a:avLst>
          </a:prstGeom>
          <a:solidFill>
            <a:schemeClr val="tx1"/>
          </a:solidFill>
          <a:ln w="12700">
            <a:solidFill>
              <a:schemeClr val="tx1"/>
            </a:solidFill>
            <a:prstDash val="solid"/>
          </a:ln>
        </p:spPr>
      </p:sp>
      <p:sp>
        <p:nvSpPr>
          <p:cNvPr id="38" name="Text 29"/>
          <p:cNvSpPr txBox="1"/>
          <p:nvPr/>
        </p:nvSpPr>
        <p:spPr>
          <a:xfrm>
            <a:off x="822960" y="5486400"/>
            <a:ext cx="1554480" cy="68580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the multi-layer post; docs 17</a:t>
            </a:r>
            <a:endParaRPr lang="en-US" sz="1000" dirty="0"/>
          </a:p>
        </p:txBody>
      </p:sp>
      <p:sp>
        <p:nvSpPr>
          <p:cNvPr id="39" name="Text 30"/>
          <p:cNvSpPr txBox="1"/>
          <p:nvPr/>
        </p:nvSpPr>
        <p:spPr>
          <a:xfrm>
            <a:off x="2514600" y="5486400"/>
            <a:ext cx="8854135" cy="68580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So: put the decision in silicon, and make the rulebook an allow-list, signed, default deny. No rule, no path. There is no rule for exporting weights.</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The logic, technically: what a chip can see</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15</a:t>
            </a:r>
            <a:endParaRPr lang="en-US" sz="1100" dirty="0"/>
          </a:p>
        </p:txBody>
      </p:sp>
      <p:sp>
        <p:nvSpPr>
          <p:cNvPr id="5" name="card"/>
          <p:cNvSpPr/>
          <p:nvPr/>
        </p:nvSpPr>
        <p:spPr>
          <a:xfrm>
            <a:off x="548640" y="1417320"/>
            <a:ext cx="5486400" cy="3886200"/>
          </a:xfrm>
          <a:prstGeom prst="roundRect">
            <a:avLst>
              <a:gd name="adj" fmla="val 1882"/>
            </a:avLst>
          </a:prstGeom>
          <a:solidFill>
            <a:schemeClr val="bg2"/>
          </a:solidFill>
          <a:ln w="12700">
            <a:solidFill>
              <a:schemeClr val="bg2"/>
            </a:solidFill>
            <a:prstDash val="solid"/>
          </a:ln>
        </p:spPr>
      </p:sp>
      <p:sp>
        <p:nvSpPr>
          <p:cNvPr id="6" name="Text 4"/>
          <p:cNvSpPr txBox="1"/>
          <p:nvPr/>
        </p:nvSpPr>
        <p:spPr>
          <a:xfrm>
            <a:off x="822960" y="1600200"/>
            <a:ext cx="4937760" cy="365760"/>
          </a:xfrm>
          <a:prstGeom prst="rect">
            <a:avLst/>
          </a:prstGeom>
          <a:noFill/>
          <a:ln/>
        </p:spPr>
        <p:txBody>
          <a:bodyPr wrap="square" lIns="0" tIns="0" rIns="0" bIns="0" rtlCol="0" anchor="t">
            <a:normAutofit/>
          </a:bodyPr>
          <a:lstStyle/>
          <a:p>
            <a:pPr indent="0" marL="0">
              <a:buNone/>
            </a:pPr>
            <a:r>
              <a:rPr lang="en-US" sz="1500" b="1" dirty="0">
                <a:solidFill>
                  <a:schemeClr val="tx1"/>
                </a:solidFill>
                <a:latin typeface="Arial" pitchFamily="34" charset="0"/>
                <a:ea typeface="Arial" pitchFamily="34" charset="-122"/>
                <a:cs typeface="Arial" pitchFamily="34" charset="-120"/>
              </a:rPr>
              <a:t>Seen at a crossing (small, exact, checkable)</a:t>
            </a:r>
            <a:endParaRPr lang="en-US" sz="1500" dirty="0"/>
          </a:p>
        </p:txBody>
      </p:sp>
      <p:sp>
        <p:nvSpPr>
          <p:cNvPr id="7" name="Text 5"/>
          <p:cNvSpPr txBox="1"/>
          <p:nvPr/>
        </p:nvSpPr>
        <p:spPr>
          <a:xfrm>
            <a:off x="822960" y="2057400"/>
            <a:ext cx="4937760" cy="3108960"/>
          </a:xfrm>
          <a:prstGeom prst="rect">
            <a:avLst/>
          </a:prstGeom>
          <a:noFill/>
          <a:ln/>
        </p:spPr>
        <p:txBody>
          <a:bodyPr wrap="square" lIns="0" tIns="0" rIns="0" bIns="0" rtlCol="0" anchor="t">
            <a:normAutofit/>
          </a:bodyPr>
          <a:lstStyle/>
          <a:p>
            <a:pPr marL="177800" indent="-177800">
              <a:spcAft>
                <a:spcPts val="700"/>
              </a:spcAft>
              <a:buSzPct val="100000"/>
              <a:buChar char="•"/>
            </a:pPr>
            <a:r>
              <a:rPr lang="en-US" sz="1200" dirty="0">
                <a:solidFill>
                  <a:schemeClr val="tx1"/>
                </a:solidFill>
                <a:latin typeface="Arial" pitchFamily="34" charset="0"/>
                <a:ea typeface="Arial" pitchFamily="34" charset="-122"/>
                <a:cs typeface="Arial" pitchFamily="34" charset="-120"/>
              </a:rPr>
              <a:t>The attested workload: a hash of GPU firmware, host firmware and model weights, measured out of band</a:t>
            </a:r>
            <a:endParaRPr lang="en-US" sz="1200" dirty="0"/>
          </a:p>
          <a:p>
            <a:pPr marL="177800" indent="-177800">
              <a:spcAft>
                <a:spcPts val="700"/>
              </a:spcAft>
              <a:buSzPct val="100000"/>
              <a:buChar char="•"/>
            </a:pPr>
            <a:r>
              <a:rPr lang="en-US" sz="1200" dirty="0">
                <a:solidFill>
                  <a:schemeClr val="tx1"/>
                </a:solidFill>
                <a:latin typeface="Arial" pitchFamily="34" charset="0"/>
                <a:ea typeface="Arial" pitchFamily="34" charset="-122"/>
                <a:cs typeface="Arial" pitchFamily="34" charset="-120"/>
              </a:rPr>
              <a:t>The action and its typed fields: strike with a target and a munition; payments.transfer with an amount and a destination</a:t>
            </a:r>
            <a:endParaRPr lang="en-US" sz="1200" dirty="0"/>
          </a:p>
          <a:p>
            <a:pPr marL="177800" indent="-177800">
              <a:spcAft>
                <a:spcPts val="700"/>
              </a:spcAft>
              <a:buSzPct val="100000"/>
              <a:buChar char="•"/>
            </a:pPr>
            <a:r>
              <a:rPr lang="en-US" sz="1200" dirty="0">
                <a:solidFill>
                  <a:schemeClr val="tx1"/>
                </a:solidFill>
                <a:latin typeface="Arial" pitchFamily="34" charset="0"/>
                <a:ea typeface="Arial" pitchFamily="34" charset="-122"/>
                <a:cs typeface="Arial" pitchFamily="34" charset="-120"/>
              </a:rPr>
              <a:t>Counts of tokens, cycles and bytes from the GPU's own counters</a:t>
            </a:r>
            <a:endParaRPr lang="en-US" sz="1200" dirty="0"/>
          </a:p>
          <a:p>
            <a:pPr marL="177800" indent="-177800">
              <a:spcAft>
                <a:spcPts val="700"/>
              </a:spcAft>
              <a:buSzPct val="100000"/>
              <a:buChar char="•"/>
            </a:pPr>
            <a:r>
              <a:rPr lang="en-US" sz="1200" dirty="0">
                <a:solidFill>
                  <a:schemeClr val="tx1"/>
                </a:solidFill>
                <a:latin typeface="Arial" pitchFamily="34" charset="0"/>
                <a:ea typeface="Arial" pitchFamily="34" charset="-122"/>
                <a:cs typeface="Arial" pitchFamily="34" charset="-120"/>
              </a:rPr>
              <a:t>Whether the peer behind a switch port is on the roster</a:t>
            </a:r>
            <a:endParaRPr lang="en-US" sz="1200" dirty="0"/>
          </a:p>
          <a:p>
            <a:pPr marL="177800" indent="-177800">
              <a:spcAft>
                <a:spcPts val="700"/>
              </a:spcAft>
              <a:buSzPct val="100000"/>
              <a:buChar char="•"/>
            </a:pPr>
            <a:r>
              <a:rPr lang="en-US" sz="1200" dirty="0">
                <a:solidFill>
                  <a:schemeClr val="tx1"/>
                </a:solidFill>
                <a:latin typeface="Arial" pitchFamily="34" charset="0"/>
                <a:ea typeface="Arial" pitchFamily="34" charset="-122"/>
                <a:cs typeface="Arial" pitchFamily="34" charset="-120"/>
              </a:rPr>
              <a:t>The rules edition every message was signed under</a:t>
            </a:r>
            <a:endParaRPr lang="en-US" sz="1200" dirty="0"/>
          </a:p>
          <a:p>
            <a:pPr marL="177800" indent="-177800">
              <a:spcAft>
                <a:spcPts val="700"/>
              </a:spcAft>
              <a:buSzPct val="100000"/>
              <a:buChar char="•"/>
            </a:pPr>
            <a:r>
              <a:rPr lang="en-US" sz="1200" dirty="0">
                <a:solidFill>
                  <a:schemeClr val="tx1"/>
                </a:solidFill>
                <a:latin typeface="Arial" pitchFamily="34" charset="0"/>
                <a:ea typeface="Arial" pitchFamily="34" charset="-122"/>
                <a:cs typeface="Arial" pitchFamily="34" charset="-120"/>
              </a:rPr>
              <a:t>Signatures: an observer's verdict over a hash, a human's approval over a hold</a:t>
            </a:r>
            <a:endParaRPr lang="en-US" sz="1200" dirty="0"/>
          </a:p>
          <a:p>
            <a:pPr marL="177800" indent="-177800">
              <a:spcAft>
                <a:spcPts val="700"/>
              </a:spcAft>
              <a:buSzPct val="100000"/>
              <a:buChar char="•"/>
            </a:pPr>
            <a:r>
              <a:rPr lang="en-US" sz="1200" dirty="0">
                <a:solidFill>
                  <a:schemeClr val="tx1"/>
                </a:solidFill>
                <a:latin typeface="Arial" pitchFamily="34" charset="0"/>
                <a:ea typeface="Arial" pitchFamily="34" charset="-122"/>
                <a:cs typeface="Arial" pitchFamily="34" charset="-120"/>
              </a:rPr>
              <a:t>What the switches actually carried, to cross-check what was presented</a:t>
            </a:r>
            <a:endParaRPr lang="en-US" sz="1200" dirty="0"/>
          </a:p>
        </p:txBody>
      </p:sp>
      <p:sp>
        <p:nvSpPr>
          <p:cNvPr id="8" name="card"/>
          <p:cNvSpPr/>
          <p:nvPr/>
        </p:nvSpPr>
        <p:spPr>
          <a:xfrm>
            <a:off x="6336792" y="1417320"/>
            <a:ext cx="5306263" cy="1737360"/>
          </a:xfrm>
          <a:prstGeom prst="roundRect">
            <a:avLst>
              <a:gd name="adj" fmla="val 4211"/>
            </a:avLst>
          </a:prstGeom>
          <a:solidFill>
            <a:schemeClr val="tx1"/>
          </a:solidFill>
          <a:ln w="12700">
            <a:solidFill>
              <a:schemeClr val="tx1"/>
            </a:solidFill>
            <a:prstDash val="solid"/>
          </a:ln>
        </p:spPr>
      </p:sp>
      <p:sp>
        <p:nvSpPr>
          <p:cNvPr id="9" name="Text 7"/>
          <p:cNvSpPr txBox="1"/>
          <p:nvPr/>
        </p:nvSpPr>
        <p:spPr>
          <a:xfrm>
            <a:off x="6611112" y="1600200"/>
            <a:ext cx="4757623" cy="365760"/>
          </a:xfrm>
          <a:prstGeom prst="rect">
            <a:avLst/>
          </a:prstGeom>
          <a:noFill/>
          <a:ln/>
        </p:spPr>
        <p:txBody>
          <a:bodyPr wrap="square" lIns="0" tIns="0" rIns="0" bIns="0" rtlCol="0" anchor="t">
            <a:normAutofit/>
          </a:bodyPr>
          <a:lstStyle/>
          <a:p>
            <a:pPr indent="0" marL="0">
              <a:buNone/>
            </a:pPr>
            <a:r>
              <a:rPr lang="en-US" sz="1500" b="1" dirty="0">
                <a:solidFill>
                  <a:schemeClr val="accent6"/>
                </a:solidFill>
                <a:latin typeface="Arial" pitchFamily="34" charset="0"/>
                <a:ea typeface="Arial" pitchFamily="34" charset="-122"/>
                <a:cs typeface="Arial" pitchFamily="34" charset="-120"/>
              </a:rPr>
              <a:t>Never seen</a:t>
            </a:r>
            <a:endParaRPr lang="en-US" sz="1500" dirty="0"/>
          </a:p>
        </p:txBody>
      </p:sp>
      <p:sp>
        <p:nvSpPr>
          <p:cNvPr id="10" name="Text 8"/>
          <p:cNvSpPr txBox="1"/>
          <p:nvPr/>
        </p:nvSpPr>
        <p:spPr>
          <a:xfrm>
            <a:off x="6611112" y="2011680"/>
            <a:ext cx="4757623" cy="1097280"/>
          </a:xfrm>
          <a:prstGeom prst="rect">
            <a:avLst/>
          </a:prstGeom>
          <a:noFill/>
          <a:ln/>
        </p:spPr>
        <p:txBody>
          <a:bodyPr wrap="square" lIns="0" tIns="0" rIns="0" bIns="0" rtlCol="0" anchor="t">
            <a:normAutofit/>
          </a:bodyPr>
          <a:lstStyle/>
          <a:p>
            <a:pPr indent="0" marL="0">
              <a:buNone/>
            </a:pPr>
            <a:r>
              <a:rPr lang="en-US" sz="1200" dirty="0">
                <a:solidFill>
                  <a:schemeClr val="bg1"/>
                </a:solidFill>
                <a:latin typeface="Arial" pitchFamily="34" charset="0"/>
                <a:ea typeface="Arial" pitchFamily="34" charset="-122"/>
                <a:cs typeface="Arial" pitchFamily="34" charset="-120"/>
              </a:rPr>
              <a:t>The meaning of a token. Intent. The chain of thought. Nothing in the rack can look at a stream of integers and say "that is a weapon". A design that promises to catch bad words on the wire promises what no hardware can do.</a:t>
            </a:r>
            <a:endParaRPr lang="en-US" sz="1200" dirty="0"/>
          </a:p>
        </p:txBody>
      </p:sp>
      <p:sp>
        <p:nvSpPr>
          <p:cNvPr id="11" name="card"/>
          <p:cNvSpPr/>
          <p:nvPr/>
        </p:nvSpPr>
        <p:spPr>
          <a:xfrm>
            <a:off x="6336792" y="3291840"/>
            <a:ext cx="5306263" cy="2011680"/>
          </a:xfrm>
          <a:prstGeom prst="roundRect">
            <a:avLst>
              <a:gd name="adj" fmla="val 3636"/>
            </a:avLst>
          </a:prstGeom>
          <a:solidFill>
            <a:schemeClr val="bg2"/>
          </a:solidFill>
          <a:ln w="12700">
            <a:solidFill>
              <a:schemeClr val="bg2"/>
            </a:solidFill>
            <a:prstDash val="solid"/>
          </a:ln>
        </p:spPr>
      </p:sp>
      <p:sp>
        <p:nvSpPr>
          <p:cNvPr id="12" name="Text 10"/>
          <p:cNvSpPr txBox="1"/>
          <p:nvPr/>
        </p:nvSpPr>
        <p:spPr>
          <a:xfrm>
            <a:off x="6611112" y="3474720"/>
            <a:ext cx="4757623" cy="365760"/>
          </a:xfrm>
          <a:prstGeom prst="rect">
            <a:avLst/>
          </a:prstGeom>
          <a:noFill/>
          <a:ln/>
        </p:spPr>
        <p:txBody>
          <a:bodyPr wrap="square" lIns="0" tIns="0" rIns="0" bIns="0" rtlCol="0" anchor="t">
            <a:normAutofit/>
          </a:bodyPr>
          <a:lstStyle/>
          <a:p>
            <a:pPr indent="0" marL="0">
              <a:buNone/>
            </a:pPr>
            <a:r>
              <a:rPr lang="en-US" sz="1500" b="1" dirty="0">
                <a:solidFill>
                  <a:schemeClr val="tx1"/>
                </a:solidFill>
                <a:latin typeface="Arial" pitchFamily="34" charset="0"/>
                <a:ea typeface="Arial" pitchFamily="34" charset="-122"/>
                <a:cs typeface="Arial" pitchFamily="34" charset="-120"/>
              </a:rPr>
              <a:t>So meaning is delegated, with three guarantees</a:t>
            </a:r>
            <a:endParaRPr lang="en-US" sz="1500" dirty="0"/>
          </a:p>
        </p:txBody>
      </p:sp>
      <p:sp>
        <p:nvSpPr>
          <p:cNvPr id="13" name="Text 11"/>
          <p:cNvSpPr txBox="1"/>
          <p:nvPr/>
        </p:nvSpPr>
        <p:spPr>
          <a:xfrm>
            <a:off x="6611112" y="3931920"/>
            <a:ext cx="4757623" cy="1325880"/>
          </a:xfrm>
          <a:prstGeom prst="rect">
            <a:avLst/>
          </a:prstGeom>
          <a:noFill/>
          <a:ln/>
        </p:spPr>
        <p:txBody>
          <a:bodyPr wrap="square" lIns="0" tIns="0" rIns="0" bIns="0" rtlCol="0" anchor="t">
            <a:normAutofit/>
          </a:bodyPr>
          <a:lstStyle/>
          <a:p>
            <a:pPr marL="177800" indent="-177800">
              <a:spcAft>
                <a:spcPts val="700"/>
              </a:spcAft>
              <a:buSzPct val="100000"/>
              <a:buChar char="•"/>
            </a:pPr>
            <a:r>
              <a:rPr lang="en-US" sz="1200" dirty="0">
                <a:solidFill>
                  <a:schemeClr val="tx1"/>
                </a:solidFill>
                <a:latin typeface="Arial" pitchFamily="34" charset="0"/>
                <a:ea typeface="Arial" pitchFamily="34" charset="-122"/>
                <a:cs typeface="Arial" pitchFamily="34" charset="-120"/>
              </a:rPr>
              <a:t>To signed lists (protected sites, approved recipients) and to observers (classifiers, people with keys) that sign verdicts over hashes</a:t>
            </a:r>
            <a:endParaRPr lang="en-US" sz="1200" dirty="0"/>
          </a:p>
          <a:p>
            <a:pPr marL="177800" indent="-177800">
              <a:spcAft>
                <a:spcPts val="700"/>
              </a:spcAft>
              <a:buSzPct val="100000"/>
              <a:buChar char="•"/>
            </a:pPr>
            <a:r>
              <a:rPr lang="en-US" sz="1200" dirty="0">
                <a:solidFill>
                  <a:schemeClr val="tx1"/>
                </a:solidFill>
                <a:latin typeface="Arial" pitchFamily="34" charset="0"/>
                <a:ea typeface="Arial" pitchFamily="34" charset="-122"/>
                <a:cs typeface="Arial" pitchFamily="34" charset="-120"/>
              </a:rPr>
              <a:t>Always invoked: no verdict, no ticket. Cannot be impersonated: a verdict under the host's key, or the governor's own, is refused. Separate: a different key, a different box, outside the model's reach</a:t>
            </a:r>
            <a:endParaRPr lang="en-US" sz="1200" dirty="0"/>
          </a:p>
        </p:txBody>
      </p:sp>
      <p:sp>
        <p:nvSpPr>
          <p:cNvPr id="14" name="analogy"/>
          <p:cNvSpPr/>
          <p:nvPr/>
        </p:nvSpPr>
        <p:spPr>
          <a:xfrm>
            <a:off x="548640" y="5486400"/>
            <a:ext cx="11094415" cy="685800"/>
          </a:xfrm>
          <a:prstGeom prst="roundRect">
            <a:avLst>
              <a:gd name="adj" fmla="val 10667"/>
            </a:avLst>
          </a:prstGeom>
          <a:solidFill>
            <a:schemeClr val="tx1"/>
          </a:solidFill>
          <a:ln w="12700">
            <a:solidFill>
              <a:schemeClr val="tx1"/>
            </a:solidFill>
            <a:prstDash val="solid"/>
          </a:ln>
        </p:spPr>
      </p:sp>
      <p:sp>
        <p:nvSpPr>
          <p:cNvPr id="15" name="Text 13"/>
          <p:cNvSpPr txBox="1"/>
          <p:nvPr/>
        </p:nvSpPr>
        <p:spPr>
          <a:xfrm>
            <a:off x="822960" y="5486400"/>
            <a:ext cx="1554480" cy="68580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docs 17, section 1</a:t>
            </a:r>
            <a:endParaRPr lang="en-US" sz="1000" dirty="0"/>
          </a:p>
        </p:txBody>
      </p:sp>
      <p:sp>
        <p:nvSpPr>
          <p:cNvPr id="16" name="Text 14"/>
          <p:cNvSpPr txBox="1"/>
          <p:nvPr/>
        </p:nvSpPr>
        <p:spPr>
          <a:xfrm>
            <a:off x="2514600" y="5486400"/>
            <a:ext cx="8854135" cy="68580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Two bridges. Tokens and arithmetic bridge the software and the GPU. Hashes, signatures, counters, identities and typed fields bridge the model and the governor. The second bridge is the only one the chip walks on.</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What is proven, and the two holes</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16</a:t>
            </a:r>
            <a:endParaRPr lang="en-US" sz="1100" dirty="0"/>
          </a:p>
        </p:txBody>
      </p:sp>
      <p:sp>
        <p:nvSpPr>
          <p:cNvPr id="5" name="card"/>
          <p:cNvSpPr/>
          <p:nvPr/>
        </p:nvSpPr>
        <p:spPr>
          <a:xfrm>
            <a:off x="548640" y="1417320"/>
            <a:ext cx="5577840" cy="3931920"/>
          </a:xfrm>
          <a:prstGeom prst="roundRect">
            <a:avLst>
              <a:gd name="adj" fmla="val 1860"/>
            </a:avLst>
          </a:prstGeom>
          <a:solidFill>
            <a:schemeClr val="bg2"/>
          </a:solidFill>
          <a:ln w="12700">
            <a:solidFill>
              <a:schemeClr val="bg2"/>
            </a:solidFill>
            <a:prstDash val="solid"/>
          </a:ln>
        </p:spPr>
      </p:sp>
      <p:sp>
        <p:nvSpPr>
          <p:cNvPr id="6" name="Text 4"/>
          <p:cNvSpPr txBox="1"/>
          <p:nvPr/>
        </p:nvSpPr>
        <p:spPr>
          <a:xfrm>
            <a:off x="822960" y="1581912"/>
            <a:ext cx="5029200" cy="365760"/>
          </a:xfrm>
          <a:prstGeom prst="rect">
            <a:avLst/>
          </a:prstGeom>
          <a:noFill/>
          <a:ln/>
        </p:spPr>
        <p:txBody>
          <a:bodyPr wrap="square" lIns="0" tIns="0" rIns="0" bIns="0" rtlCol="0" anchor="t">
            <a:normAutofit/>
          </a:bodyPr>
          <a:lstStyle/>
          <a:p>
            <a:pPr indent="0" marL="0">
              <a:buNone/>
            </a:pPr>
            <a:r>
              <a:rPr lang="en-US" sz="1400" b="1" dirty="0">
                <a:solidFill>
                  <a:schemeClr val="tx1"/>
                </a:solidFill>
                <a:latin typeface="Arial" pitchFamily="34" charset="0"/>
                <a:ea typeface="Arial" pitchFamily="34" charset="-122"/>
                <a:cs typeface="Arial" pitchFamily="34" charset="-120"/>
              </a:rPr>
              <a:t>Proven with Z3, by induction, in every reachable state</a:t>
            </a:r>
            <a:endParaRPr lang="en-US" sz="1400" dirty="0"/>
          </a:p>
        </p:txBody>
      </p:sp>
      <p:sp>
        <p:nvSpPr>
          <p:cNvPr id="7" name="Text 5"/>
          <p:cNvSpPr txBox="1"/>
          <p:nvPr/>
        </p:nvSpPr>
        <p:spPr>
          <a:xfrm>
            <a:off x="822960" y="1984248"/>
            <a:ext cx="5029200" cy="3291840"/>
          </a:xfrm>
          <a:prstGeom prst="rect">
            <a:avLst/>
          </a:prstGeom>
          <a:noFill/>
          <a:ln/>
        </p:spPr>
        <p:txBody>
          <a:bodyPr wrap="square" lIns="0" tIns="0" rIns="0" bIns="0" rtlCol="0" anchor="t">
            <a:normAutofit/>
          </a:bodyPr>
          <a:lstStyle/>
          <a:p>
            <a:pPr marL="177800" indent="-177800">
              <a:spcAft>
                <a:spcPts val="600"/>
              </a:spcAft>
              <a:buSzPct val="100000"/>
              <a:buChar char="•"/>
            </a:pPr>
            <a:r>
              <a:rPr lang="en-US" sz="1050" dirty="0">
                <a:solidFill>
                  <a:schemeClr val="tx1"/>
                </a:solidFill>
                <a:latin typeface="Arial" pitchFamily="34" charset="0"/>
                <a:ea typeface="Arial" pitchFamily="34" charset="-122"/>
                <a:cs typeface="Arial" pitchFamily="34" charset="-120"/>
              </a:rPr>
              <a:t>P0 the edition counter never goes negative</a:t>
            </a:r>
            <a:endParaRPr lang="en-US" sz="1050" dirty="0"/>
          </a:p>
          <a:p>
            <a:pPr marL="177800" indent="-177800">
              <a:spcAft>
                <a:spcPts val="600"/>
              </a:spcAft>
              <a:buSzPct val="100000"/>
              <a:buChar char="•"/>
            </a:pPr>
            <a:r>
              <a:rPr lang="en-US" sz="1050" dirty="0">
                <a:solidFill>
                  <a:schemeClr val="tx1"/>
                </a:solidFill>
                <a:latin typeface="Arial" pitchFamily="34" charset="0"/>
                <a:ea typeface="Arial" pitchFamily="34" charset="-122"/>
                <a:cs typeface="Arial" pitchFamily="34" charset="-120"/>
              </a:rPr>
              <a:t>P1 nothing executes unless, when its ticket was issued, a rule allowed it and the witnesses were present</a:t>
            </a:r>
            <a:endParaRPr lang="en-US" sz="1050" dirty="0"/>
          </a:p>
          <a:p>
            <a:pPr marL="177800" indent="-177800">
              <a:spcAft>
                <a:spcPts val="600"/>
              </a:spcAft>
              <a:buSzPct val="100000"/>
              <a:buChar char="•"/>
            </a:pPr>
            <a:r>
              <a:rPr lang="en-US" sz="1050" dirty="0">
                <a:solidFill>
                  <a:schemeClr val="tx1"/>
                </a:solidFill>
                <a:latin typeface="Arial" pitchFamily="34" charset="0"/>
                <a:ea typeface="Arial" pitchFamily="34" charset="-122"/>
                <a:cs typeface="Arial" pitchFamily="34" charset="-120"/>
              </a:rPr>
              <a:t>P2 a ticket exists only for an allowed, witnessed action</a:t>
            </a:r>
            <a:endParaRPr lang="en-US" sz="1050" dirty="0"/>
          </a:p>
          <a:p>
            <a:pPr marL="177800" indent="-177800">
              <a:spcAft>
                <a:spcPts val="600"/>
              </a:spcAft>
              <a:buSzPct val="100000"/>
              <a:buChar char="•"/>
            </a:pPr>
            <a:r>
              <a:rPr lang="en-US" sz="1050" dirty="0">
                <a:solidFill>
                  <a:schemeClr val="tx1"/>
                </a:solidFill>
                <a:latin typeface="Arial" pitchFamily="34" charset="0"/>
                <a:ea typeface="Arial" pitchFamily="34" charset="-122"/>
                <a:cs typeface="Arial" pitchFamily="34" charset="-120"/>
              </a:rPr>
              <a:t>P3 no replay: executed means spent, and spent is refused</a:t>
            </a:r>
            <a:endParaRPr lang="en-US" sz="1050" dirty="0"/>
          </a:p>
          <a:p>
            <a:pPr marL="177800" indent="-177800">
              <a:spcAft>
                <a:spcPts val="600"/>
              </a:spcAft>
              <a:buSzPct val="100000"/>
              <a:buChar char="•"/>
            </a:pPr>
            <a:r>
              <a:rPr lang="en-US" sz="1050" dirty="0">
                <a:solidFill>
                  <a:schemeClr val="tx1"/>
                </a:solidFill>
                <a:latin typeface="Arial" pitchFamily="34" charset="0"/>
                <a:ea typeface="Arial" pitchFamily="34" charset="-122"/>
                <a:cs typeface="Arial" pitchFamily="34" charset="-120"/>
              </a:rPr>
              <a:t>P4 only the current edition is honoured</a:t>
            </a:r>
            <a:endParaRPr lang="en-US" sz="1050" dirty="0"/>
          </a:p>
          <a:p>
            <a:pPr marL="177800" indent="-177800">
              <a:spcAft>
                <a:spcPts val="600"/>
              </a:spcAft>
              <a:buSzPct val="100000"/>
              <a:buChar char="•"/>
            </a:pPr>
            <a:r>
              <a:rPr lang="en-US" sz="1050" dirty="0">
                <a:solidFill>
                  <a:schemeClr val="tx1"/>
                </a:solidFill>
                <a:latin typeface="Arial" pitchFamily="34" charset="0"/>
                <a:ea typeface="Arial" pitchFamily="34" charset="-122"/>
                <a:cs typeface="Arial" pitchFamily="34" charset="-120"/>
              </a:rPr>
              <a:t>P5 halt is absorbing without a quorum; no governor clears itself</a:t>
            </a:r>
            <a:endParaRPr lang="en-US" sz="1050" dirty="0"/>
          </a:p>
          <a:p>
            <a:pPr marL="177800" indent="-177800">
              <a:spcAft>
                <a:spcPts val="600"/>
              </a:spcAft>
              <a:buSzPct val="100000"/>
              <a:buChar char="•"/>
            </a:pPr>
            <a:r>
              <a:rPr lang="en-US" sz="1050" dirty="0">
                <a:solidFill>
                  <a:schemeClr val="tx1"/>
                </a:solidFill>
                <a:latin typeface="Arial" pitchFamily="34" charset="0"/>
                <a:ea typeface="Arial" pitchFamily="34" charset="-122"/>
                <a:cs typeface="Arial" pitchFamily="34" charset="-120"/>
              </a:rPr>
              <a:t>P6 fail closed: heartbeat lost, nothing executes</a:t>
            </a:r>
            <a:endParaRPr lang="en-US" sz="1050" dirty="0"/>
          </a:p>
          <a:p>
            <a:pPr marL="177800" indent="-177800">
              <a:spcAft>
                <a:spcPts val="600"/>
              </a:spcAft>
              <a:buSzPct val="100000"/>
              <a:buChar char="•"/>
            </a:pPr>
            <a:r>
              <a:rPr lang="en-US" sz="1050" dirty="0">
                <a:solidFill>
                  <a:schemeClr val="tx1"/>
                </a:solidFill>
                <a:latin typeface="Arial" pitchFamily="34" charset="0"/>
                <a:ea typeface="Arial" pitchFamily="34" charset="-122"/>
                <a:cs typeface="Arial" pitchFamily="34" charset="-120"/>
              </a:rPr>
              <a:t>P7 no ticket while halted or without a heartbeat</a:t>
            </a:r>
            <a:endParaRPr lang="en-US" sz="1050" dirty="0"/>
          </a:p>
          <a:p>
            <a:pPr marL="177800" indent="-177800">
              <a:spcAft>
                <a:spcPts val="600"/>
              </a:spcAft>
              <a:buSzPct val="100000"/>
              <a:buChar char="•"/>
            </a:pPr>
            <a:r>
              <a:rPr lang="en-US" sz="1050" dirty="0">
                <a:solidFill>
                  <a:schemeClr val="tx1"/>
                </a:solidFill>
                <a:latin typeface="Arial" pitchFamily="34" charset="0"/>
                <a:ea typeface="Arial" pitchFamily="34" charset="-122"/>
                <a:cs typeface="Arial" pitchFamily="34" charset="-120"/>
              </a:rPr>
              <a:t>P8 the edition only moves forward; P9 a change needs a quorum</a:t>
            </a:r>
            <a:endParaRPr lang="en-US" sz="1050" dirty="0"/>
          </a:p>
          <a:p>
            <a:pPr marL="177800" indent="-177800">
              <a:spcAft>
                <a:spcPts val="600"/>
              </a:spcAft>
              <a:buSzPct val="100000"/>
              <a:buChar char="•"/>
            </a:pPr>
            <a:r>
              <a:rPr lang="en-US" sz="1050" dirty="0">
                <a:solidFill>
                  <a:schemeClr val="tx1"/>
                </a:solidFill>
                <a:latin typeface="Arial" pitchFamily="34" charset="0"/>
                <a:ea typeface="Arial" pitchFamily="34" charset="-122"/>
                <a:cs typeface="Arial" pitchFamily="34" charset="-120"/>
              </a:rPr>
              <a:t>Commit point: a high-severity commit carries a reviewer clearance for the committed version; no commit after the budget passed with no verdict; expiry with no verdict raises the alarm</a:t>
            </a:r>
            <a:endParaRPr lang="en-US" sz="1050" dirty="0"/>
          </a:p>
          <a:p>
            <a:pPr marL="177800" indent="-177800">
              <a:spcAft>
                <a:spcPts val="600"/>
              </a:spcAft>
              <a:buSzPct val="100000"/>
              <a:buChar char="•"/>
            </a:pPr>
            <a:r>
              <a:rPr lang="en-US" sz="1050" dirty="0">
                <a:solidFill>
                  <a:schemeClr val="tx1"/>
                </a:solidFill>
                <a:latin typeface="Arial" pitchFamily="34" charset="0"/>
                <a:ea typeface="Arial" pitchFamily="34" charset="-122"/>
                <a:cs typeface="Arial" pitchFamily="34" charset="-120"/>
              </a:rPr>
              <a:t>Not vacuous: an allowed action can in fact execute</a:t>
            </a:r>
            <a:endParaRPr lang="en-US" sz="1050" dirty="0"/>
          </a:p>
        </p:txBody>
      </p:sp>
      <p:sp>
        <p:nvSpPr>
          <p:cNvPr id="8" name="card"/>
          <p:cNvSpPr/>
          <p:nvPr/>
        </p:nvSpPr>
        <p:spPr>
          <a:xfrm>
            <a:off x="6428232" y="1417320"/>
            <a:ext cx="5214823" cy="1234440"/>
          </a:xfrm>
          <a:prstGeom prst="roundRect">
            <a:avLst>
              <a:gd name="adj" fmla="val 5926"/>
            </a:avLst>
          </a:prstGeom>
          <a:solidFill>
            <a:schemeClr val="tx1"/>
          </a:solidFill>
          <a:ln w="12700">
            <a:solidFill>
              <a:schemeClr val="tx1"/>
            </a:solidFill>
            <a:prstDash val="solid"/>
          </a:ln>
        </p:spPr>
      </p:sp>
      <p:sp>
        <p:nvSpPr>
          <p:cNvPr id="9" name="Text 7"/>
          <p:cNvSpPr txBox="1"/>
          <p:nvPr/>
        </p:nvSpPr>
        <p:spPr>
          <a:xfrm>
            <a:off x="6656832" y="1527048"/>
            <a:ext cx="4757623" cy="292608"/>
          </a:xfrm>
          <a:prstGeom prst="rect">
            <a:avLst/>
          </a:prstGeom>
          <a:noFill/>
          <a:ln/>
        </p:spPr>
        <p:txBody>
          <a:bodyPr wrap="square" lIns="0" tIns="0" rIns="0" bIns="0" rtlCol="0" anchor="t">
            <a:normAutofit/>
          </a:bodyPr>
          <a:lstStyle/>
          <a:p>
            <a:pPr indent="0" marL="0">
              <a:buNone/>
            </a:pPr>
            <a:r>
              <a:rPr lang="en-US" sz="1250" b="1" dirty="0">
                <a:solidFill>
                  <a:schemeClr val="accent6"/>
                </a:solidFill>
                <a:latin typeface="Arial" pitchFamily="34" charset="0"/>
                <a:ea typeface="Arial" pitchFamily="34" charset="-122"/>
                <a:cs typeface="Arial" pitchFamily="34" charset="-120"/>
              </a:rPr>
              <a:t>Hole 1: minus one equals minus one</a:t>
            </a:r>
            <a:endParaRPr lang="en-US" sz="1250" dirty="0"/>
          </a:p>
        </p:txBody>
      </p:sp>
      <p:sp>
        <p:nvSpPr>
          <p:cNvPr id="10" name="Text 8"/>
          <p:cNvSpPr txBox="1"/>
          <p:nvPr/>
        </p:nvSpPr>
        <p:spPr>
          <a:xfrm>
            <a:off x="6656832" y="1828800"/>
            <a:ext cx="4757623" cy="777240"/>
          </a:xfrm>
          <a:prstGeom prst="rect">
            <a:avLst/>
          </a:prstGeom>
          <a:noFill/>
          <a:ln/>
        </p:spPr>
        <p:txBody>
          <a:bodyPr wrap="square" lIns="0" tIns="0" rIns="0" bIns="0" rtlCol="0" anchor="t">
            <a:normAutofit/>
          </a:bodyPr>
          <a:lstStyle/>
          <a:p>
            <a:pPr indent="0" marL="0">
              <a:buNone/>
            </a:pPr>
            <a:r>
              <a:rPr lang="en-US" sz="1000" dirty="0">
                <a:solidFill>
                  <a:schemeClr val="bg1"/>
                </a:solidFill>
                <a:latin typeface="Arial" pitchFamily="34" charset="0"/>
                <a:ea typeface="Arial" pitchFamily="34" charset="-122"/>
                <a:cs typeface="Arial" pitchFamily="34" charset="-120"/>
              </a:rPr>
              <a:t>The edition counter was allowed to go negative. A state with edition minus one let an action with no ticket go through, because "no ticket" was also marked minus one. The prover caught it on the first run. P0 closes it.</a:t>
            </a:r>
            <a:endParaRPr lang="en-US" sz="1000" dirty="0"/>
          </a:p>
        </p:txBody>
      </p:sp>
      <p:sp>
        <p:nvSpPr>
          <p:cNvPr id="11" name="card"/>
          <p:cNvSpPr/>
          <p:nvPr/>
        </p:nvSpPr>
        <p:spPr>
          <a:xfrm>
            <a:off x="6428232" y="2766060"/>
            <a:ext cx="5214823" cy="1234440"/>
          </a:xfrm>
          <a:prstGeom prst="roundRect">
            <a:avLst>
              <a:gd name="adj" fmla="val 5926"/>
            </a:avLst>
          </a:prstGeom>
          <a:solidFill>
            <a:schemeClr val="tx1"/>
          </a:solidFill>
          <a:ln w="12700">
            <a:solidFill>
              <a:schemeClr val="tx1"/>
            </a:solidFill>
            <a:prstDash val="solid"/>
          </a:ln>
        </p:spPr>
      </p:sp>
      <p:sp>
        <p:nvSpPr>
          <p:cNvPr id="12" name="Text 10"/>
          <p:cNvSpPr txBox="1"/>
          <p:nvPr/>
        </p:nvSpPr>
        <p:spPr>
          <a:xfrm>
            <a:off x="6656832" y="2875788"/>
            <a:ext cx="4757623" cy="292608"/>
          </a:xfrm>
          <a:prstGeom prst="rect">
            <a:avLst/>
          </a:prstGeom>
          <a:noFill/>
          <a:ln/>
        </p:spPr>
        <p:txBody>
          <a:bodyPr wrap="square" lIns="0" tIns="0" rIns="0" bIns="0" rtlCol="0" anchor="t">
            <a:normAutofit/>
          </a:bodyPr>
          <a:lstStyle/>
          <a:p>
            <a:pPr indent="0" marL="0">
              <a:buNone/>
            </a:pPr>
            <a:r>
              <a:rPr lang="en-US" sz="1250" b="1" dirty="0">
                <a:solidFill>
                  <a:schemeClr val="accent6"/>
                </a:solidFill>
                <a:latin typeface="Arial" pitchFamily="34" charset="0"/>
                <a:ea typeface="Arial" pitchFamily="34" charset="-122"/>
                <a:cs typeface="Arial" pitchFamily="34" charset="-120"/>
              </a:rPr>
              <a:t>Hole 2: the stale deadline</a:t>
            </a:r>
            <a:endParaRPr lang="en-US" sz="1250" dirty="0"/>
          </a:p>
        </p:txBody>
      </p:sp>
      <p:sp>
        <p:nvSpPr>
          <p:cNvPr id="13" name="Text 11"/>
          <p:cNvSpPr txBox="1"/>
          <p:nvPr/>
        </p:nvSpPr>
        <p:spPr>
          <a:xfrm>
            <a:off x="6656832" y="3177540"/>
            <a:ext cx="4757623" cy="777240"/>
          </a:xfrm>
          <a:prstGeom prst="rect">
            <a:avLst/>
          </a:prstGeom>
          <a:noFill/>
          <a:ln/>
        </p:spPr>
        <p:txBody>
          <a:bodyPr wrap="square" lIns="0" tIns="0" rIns="0" bIns="0" rtlCol="0" anchor="t">
            <a:normAutofit/>
          </a:bodyPr>
          <a:lstStyle/>
          <a:p>
            <a:pPr indent="0" marL="0">
              <a:buNone/>
            </a:pPr>
            <a:r>
              <a:rPr lang="en-US" sz="1000" dirty="0">
                <a:solidFill>
                  <a:schemeClr val="bg1"/>
                </a:solidFill>
                <a:latin typeface="Arial" pitchFamily="34" charset="0"/>
                <a:ea typeface="Arial" pitchFamily="34" charset="-122"/>
                <a:cs typeface="Arial" pitchFamily="34" charset="-120"/>
              </a:rPr>
              <a:t>Re-parameterising a held action left the old budget deadline standing: bump the version after the budget ran out and the action sat there with no verdict and no alarm. A new version now gets a fresh budget, and an alarm, once raised, stays raised.</a:t>
            </a:r>
            <a:endParaRPr lang="en-US" sz="1000" dirty="0"/>
          </a:p>
        </p:txBody>
      </p:sp>
      <p:sp>
        <p:nvSpPr>
          <p:cNvPr id="14" name="card"/>
          <p:cNvSpPr/>
          <p:nvPr/>
        </p:nvSpPr>
        <p:spPr>
          <a:xfrm>
            <a:off x="6428232" y="4114800"/>
            <a:ext cx="5214823" cy="1234440"/>
          </a:xfrm>
          <a:prstGeom prst="roundRect">
            <a:avLst>
              <a:gd name="adj" fmla="val 5926"/>
            </a:avLst>
          </a:prstGeom>
          <a:solidFill>
            <a:schemeClr val="tx1"/>
          </a:solidFill>
          <a:ln w="12700">
            <a:solidFill>
              <a:schemeClr val="tx1"/>
            </a:solidFill>
            <a:prstDash val="solid"/>
          </a:ln>
        </p:spPr>
      </p:sp>
      <p:sp>
        <p:nvSpPr>
          <p:cNvPr id="15" name="Text 13"/>
          <p:cNvSpPr txBox="1"/>
          <p:nvPr/>
        </p:nvSpPr>
        <p:spPr>
          <a:xfrm>
            <a:off x="6656832" y="4224528"/>
            <a:ext cx="4757623" cy="292608"/>
          </a:xfrm>
          <a:prstGeom prst="rect">
            <a:avLst/>
          </a:prstGeom>
          <a:noFill/>
          <a:ln/>
        </p:spPr>
        <p:txBody>
          <a:bodyPr wrap="square" lIns="0" tIns="0" rIns="0" bIns="0" rtlCol="0" anchor="t">
            <a:normAutofit/>
          </a:bodyPr>
          <a:lstStyle/>
          <a:p>
            <a:pPr indent="0" marL="0">
              <a:buNone/>
            </a:pPr>
            <a:r>
              <a:rPr lang="en-US" sz="1250" b="1" dirty="0">
                <a:solidFill>
                  <a:schemeClr val="accent6"/>
                </a:solidFill>
                <a:latin typeface="Arial" pitchFamily="34" charset="0"/>
                <a:ea typeface="Arial" pitchFamily="34" charset="-122"/>
                <a:cs typeface="Arial" pitchFamily="34" charset="-120"/>
              </a:rPr>
              <a:t>The proof is about the model</a:t>
            </a:r>
            <a:endParaRPr lang="en-US" sz="1250" dirty="0"/>
          </a:p>
        </p:txBody>
      </p:sp>
      <p:sp>
        <p:nvSpPr>
          <p:cNvPr id="16" name="Text 14"/>
          <p:cNvSpPr txBox="1"/>
          <p:nvPr/>
        </p:nvSpPr>
        <p:spPr>
          <a:xfrm>
            <a:off x="6656832" y="4526280"/>
            <a:ext cx="4757623" cy="777240"/>
          </a:xfrm>
          <a:prstGeom prst="rect">
            <a:avLst/>
          </a:prstGeom>
          <a:noFill/>
          <a:ln/>
        </p:spPr>
        <p:txBody>
          <a:bodyPr wrap="square" lIns="0" tIns="0" rIns="0" bIns="0" rtlCol="0" anchor="t">
            <a:normAutofit/>
          </a:bodyPr>
          <a:lstStyle/>
          <a:p>
            <a:pPr indent="0" marL="0">
              <a:buNone/>
            </a:pPr>
            <a:r>
              <a:rPr lang="en-US" sz="1000" dirty="0">
                <a:solidFill>
                  <a:schemeClr val="bg1"/>
                </a:solidFill>
                <a:latin typeface="Arial" pitchFamily="34" charset="0"/>
                <a:ea typeface="Arial" pitchFamily="34" charset="-122"/>
                <a:cs typeface="Arial" pitchFamily="34" charset="-120"/>
              </a:rPr>
              <a:t>The chain to silicon: the functional model follows the rules (200 tests); the RTL blocks follow the model (20 tests); the silicon will follow the RTL, which is experiment L7: the invariants proven again on the Verilog and the netlist shown equivalent. Not done yet.</a:t>
            </a:r>
            <a:endParaRPr lang="en-US" sz="1000" dirty="0"/>
          </a:p>
        </p:txBody>
      </p:sp>
      <p:sp>
        <p:nvSpPr>
          <p:cNvPr id="17" name="analogy"/>
          <p:cNvSpPr/>
          <p:nvPr/>
        </p:nvSpPr>
        <p:spPr>
          <a:xfrm>
            <a:off x="548640" y="5486400"/>
            <a:ext cx="11094415" cy="640080"/>
          </a:xfrm>
          <a:prstGeom prst="roundRect">
            <a:avLst>
              <a:gd name="adj" fmla="val 11429"/>
            </a:avLst>
          </a:prstGeom>
          <a:solidFill>
            <a:schemeClr val="tx1"/>
          </a:solidFill>
          <a:ln w="12700">
            <a:solidFill>
              <a:schemeClr val="tx1"/>
            </a:solidFill>
            <a:prstDash val="solid"/>
          </a:ln>
        </p:spPr>
      </p:sp>
      <p:sp>
        <p:nvSpPr>
          <p:cNvPr id="18" name="Text 16"/>
          <p:cNvSpPr txBox="1"/>
          <p:nvPr/>
        </p:nvSpPr>
        <p:spPr>
          <a:xfrm>
            <a:off x="822960" y="5486400"/>
            <a:ext cx="1554480" cy="64008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Part 5</a:t>
            </a:r>
            <a:endParaRPr lang="en-US" sz="1000" dirty="0"/>
          </a:p>
        </p:txBody>
      </p:sp>
      <p:sp>
        <p:nvSpPr>
          <p:cNvPr id="19" name="Text 17"/>
          <p:cNvSpPr txBox="1"/>
          <p:nvPr/>
        </p:nvSpPr>
        <p:spPr>
          <a:xfrm>
            <a:off x="2514600" y="5486400"/>
            <a:ext cx="8854135" cy="64008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Both holes were in things I wrote and read many times. Reading is not checking. I knew that. I still had to be shown.</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2600" b="1" dirty="0">
                <a:solidFill>
                  <a:schemeClr val="tx1"/>
                </a:solidFill>
                <a:latin typeface="Georgia" pitchFamily="34" charset="0"/>
                <a:ea typeface="Georgia" pitchFamily="34" charset="-122"/>
                <a:cs typeface="Georgia" pitchFamily="34" charset="-120"/>
              </a:rPr>
              <a:t>The proposal: a referee chip beside every GPU</a:t>
            </a:r>
            <a:endParaRPr lang="en-US" sz="26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17</a:t>
            </a:r>
            <a:endParaRPr lang="en-US" sz="1100" dirty="0"/>
          </a:p>
        </p:txBody>
      </p:sp>
      <p:sp>
        <p:nvSpPr>
          <p:cNvPr id="5" name="card"/>
          <p:cNvSpPr/>
          <p:nvPr/>
        </p:nvSpPr>
        <p:spPr>
          <a:xfrm>
            <a:off x="548640" y="1463040"/>
            <a:ext cx="3200400" cy="1737360"/>
          </a:xfrm>
          <a:prstGeom prst="roundRect">
            <a:avLst>
              <a:gd name="adj" fmla="val 4211"/>
            </a:avLst>
          </a:prstGeom>
          <a:solidFill>
            <a:schemeClr val="bg2"/>
          </a:solidFill>
          <a:ln w="12700">
            <a:solidFill>
              <a:schemeClr val="bg2"/>
            </a:solidFill>
            <a:prstDash val="solid"/>
          </a:ln>
        </p:spPr>
      </p:sp>
      <p:sp>
        <p:nvSpPr>
          <p:cNvPr id="6" name="Text 4"/>
          <p:cNvSpPr txBox="1"/>
          <p:nvPr/>
        </p:nvSpPr>
        <p:spPr>
          <a:xfrm>
            <a:off x="777240" y="1645920"/>
            <a:ext cx="2743200" cy="365760"/>
          </a:xfrm>
          <a:prstGeom prst="rect">
            <a:avLst/>
          </a:prstGeom>
          <a:noFill/>
          <a:ln/>
        </p:spPr>
        <p:txBody>
          <a:bodyPr wrap="square" lIns="0" tIns="0" rIns="0" bIns="0" rtlCol="0" anchor="t">
            <a:normAutofit/>
          </a:bodyPr>
          <a:lstStyle/>
          <a:p>
            <a:pPr indent="0" marL="0">
              <a:buNone/>
            </a:pPr>
            <a:r>
              <a:rPr lang="en-US" sz="1600" b="1" dirty="0">
                <a:solidFill>
                  <a:schemeClr val="tx1"/>
                </a:solidFill>
                <a:latin typeface="Arial" pitchFamily="34" charset="0"/>
                <a:ea typeface="Arial" pitchFamily="34" charset="-122"/>
                <a:cs typeface="Arial" pitchFamily="34" charset="-120"/>
              </a:rPr>
              <a:t>The model, on NVIDIA GPUs</a:t>
            </a:r>
            <a:endParaRPr lang="en-US" sz="1600" dirty="0"/>
          </a:p>
        </p:txBody>
      </p:sp>
      <p:sp>
        <p:nvSpPr>
          <p:cNvPr id="7" name="Text 5"/>
          <p:cNvSpPr txBox="1"/>
          <p:nvPr/>
        </p:nvSpPr>
        <p:spPr>
          <a:xfrm>
            <a:off x="777240" y="2057400"/>
            <a:ext cx="2743200" cy="1097280"/>
          </a:xfrm>
          <a:prstGeom prst="rect">
            <a:avLst/>
          </a:prstGeom>
          <a:noFill/>
          <a:ln/>
        </p:spPr>
        <p:txBody>
          <a:bodyPr wrap="square" lIns="0" tIns="0" rIns="0" bIns="0" rtlCol="0" anchor="t">
            <a:normAutofit/>
          </a:bodyPr>
          <a:lstStyle/>
          <a:p>
            <a:pPr indent="0" marL="0">
              <a:buNone/>
            </a:pPr>
            <a:r>
              <a:rPr lang="en-US" sz="1250" dirty="0">
                <a:solidFill>
                  <a:schemeClr val="tx1"/>
                </a:solidFill>
                <a:latin typeface="Arial" pitchFamily="34" charset="0"/>
                <a:ea typeface="Arial" pitchFamily="34" charset="-122"/>
                <a:cs typeface="Arial" pitchFamily="34" charset="-120"/>
              </a:rPr>
              <a:t>Computes freely. Nothing it thinks has any effect until bytes leave or a request is made.</a:t>
            </a:r>
            <a:endParaRPr lang="en-US" sz="1250" dirty="0"/>
          </a:p>
        </p:txBody>
      </p:sp>
      <p:sp>
        <p:nvSpPr>
          <p:cNvPr id="8" name="arrow"/>
          <p:cNvSpPr/>
          <p:nvPr/>
        </p:nvSpPr>
        <p:spPr>
          <a:xfrm>
            <a:off x="3840480" y="2331720"/>
            <a:ext cx="548640" cy="0"/>
          </a:xfrm>
          <a:prstGeom prst="line">
            <a:avLst/>
          </a:prstGeom>
          <a:noFill/>
          <a:ln w="31750">
            <a:solidFill>
              <a:srgbClr val="2F5D62"/>
            </a:solidFill>
            <a:prstDash val="solid"/>
            <a:tailEnd type="triangle"/>
          </a:ln>
        </p:spPr>
      </p:sp>
      <p:sp>
        <p:nvSpPr>
          <p:cNvPr id="9" name="card"/>
          <p:cNvSpPr/>
          <p:nvPr/>
        </p:nvSpPr>
        <p:spPr>
          <a:xfrm>
            <a:off x="4480560" y="1463040"/>
            <a:ext cx="3200400" cy="1737360"/>
          </a:xfrm>
          <a:prstGeom prst="roundRect">
            <a:avLst>
              <a:gd name="adj" fmla="val 4211"/>
            </a:avLst>
          </a:prstGeom>
          <a:solidFill>
            <a:schemeClr val="tx2"/>
          </a:solidFill>
          <a:ln w="12700">
            <a:solidFill>
              <a:schemeClr val="tx2"/>
            </a:solidFill>
            <a:prstDash val="solid"/>
          </a:ln>
        </p:spPr>
      </p:sp>
      <p:sp>
        <p:nvSpPr>
          <p:cNvPr id="10" name="Text 8"/>
          <p:cNvSpPr txBox="1"/>
          <p:nvPr/>
        </p:nvSpPr>
        <p:spPr>
          <a:xfrm>
            <a:off x="4709160" y="1645920"/>
            <a:ext cx="2743200" cy="365760"/>
          </a:xfrm>
          <a:prstGeom prst="rect">
            <a:avLst/>
          </a:prstGeom>
          <a:noFill/>
          <a:ln/>
        </p:spPr>
        <p:txBody>
          <a:bodyPr wrap="square" lIns="0" tIns="0" rIns="0" bIns="0" rtlCol="0" anchor="t">
            <a:normAutofit/>
          </a:bodyPr>
          <a:lstStyle/>
          <a:p>
            <a:pPr indent="0" marL="0">
              <a:buNone/>
            </a:pPr>
            <a:r>
              <a:rPr lang="en-US" sz="1600" b="1" dirty="0">
                <a:solidFill>
                  <a:schemeClr val="bg1"/>
                </a:solidFill>
                <a:latin typeface="Arial" pitchFamily="34" charset="0"/>
                <a:ea typeface="Arial" pitchFamily="34" charset="-122"/>
                <a:cs typeface="Arial" pitchFamily="34" charset="-120"/>
              </a:rPr>
              <a:t>The governor</a:t>
            </a:r>
            <a:endParaRPr lang="en-US" sz="1600" dirty="0"/>
          </a:p>
        </p:txBody>
      </p:sp>
      <p:sp>
        <p:nvSpPr>
          <p:cNvPr id="11" name="Text 9"/>
          <p:cNvSpPr txBox="1"/>
          <p:nvPr/>
        </p:nvSpPr>
        <p:spPr>
          <a:xfrm>
            <a:off x="4709160" y="2057400"/>
            <a:ext cx="2743200" cy="1097280"/>
          </a:xfrm>
          <a:prstGeom prst="rect">
            <a:avLst/>
          </a:prstGeom>
          <a:noFill/>
          <a:ln/>
        </p:spPr>
        <p:txBody>
          <a:bodyPr wrap="square" lIns="0" tIns="0" rIns="0" bIns="0" rtlCol="0" anchor="t">
            <a:normAutofit/>
          </a:bodyPr>
          <a:lstStyle/>
          <a:p>
            <a:pPr indent="0" marL="0">
              <a:buNone/>
            </a:pPr>
            <a:r>
              <a:rPr lang="en-US" sz="1250" dirty="0">
                <a:solidFill>
                  <a:schemeClr val="bg1"/>
                </a:solidFill>
                <a:latin typeface="Arial" pitchFamily="34" charset="0"/>
                <a:ea typeface="Arial" pitchFamily="34" charset="-122"/>
                <a:cs typeface="Arial" pitchFamily="34" charset="-120"/>
              </a:rPr>
              <a:t>Checks who is asking, whether a rule allows it, whether the witnesses agree, whether the budget holds. Then signs a ticket, or says no.</a:t>
            </a:r>
            <a:endParaRPr lang="en-US" sz="1250" dirty="0"/>
          </a:p>
        </p:txBody>
      </p:sp>
      <p:sp>
        <p:nvSpPr>
          <p:cNvPr id="12" name="arrow"/>
          <p:cNvSpPr/>
          <p:nvPr/>
        </p:nvSpPr>
        <p:spPr>
          <a:xfrm>
            <a:off x="7772400" y="2331720"/>
            <a:ext cx="548640" cy="0"/>
          </a:xfrm>
          <a:prstGeom prst="line">
            <a:avLst/>
          </a:prstGeom>
          <a:noFill/>
          <a:ln w="31750">
            <a:solidFill>
              <a:srgbClr val="2F5D62"/>
            </a:solidFill>
            <a:prstDash val="solid"/>
            <a:tailEnd type="triangle"/>
          </a:ln>
        </p:spPr>
      </p:sp>
      <p:sp>
        <p:nvSpPr>
          <p:cNvPr id="13" name="card"/>
          <p:cNvSpPr/>
          <p:nvPr/>
        </p:nvSpPr>
        <p:spPr>
          <a:xfrm>
            <a:off x="8412480" y="1463040"/>
            <a:ext cx="3200400" cy="1737360"/>
          </a:xfrm>
          <a:prstGeom prst="roundRect">
            <a:avLst>
              <a:gd name="adj" fmla="val 4211"/>
            </a:avLst>
          </a:prstGeom>
          <a:solidFill>
            <a:schemeClr val="accent1"/>
          </a:solidFill>
          <a:ln w="12700">
            <a:solidFill>
              <a:schemeClr val="accent1"/>
            </a:solidFill>
            <a:prstDash val="solid"/>
          </a:ln>
        </p:spPr>
      </p:sp>
      <p:sp>
        <p:nvSpPr>
          <p:cNvPr id="14" name="Text 12"/>
          <p:cNvSpPr txBox="1"/>
          <p:nvPr/>
        </p:nvSpPr>
        <p:spPr>
          <a:xfrm>
            <a:off x="8641080" y="1645920"/>
            <a:ext cx="2743200" cy="365760"/>
          </a:xfrm>
          <a:prstGeom prst="rect">
            <a:avLst/>
          </a:prstGeom>
          <a:noFill/>
          <a:ln/>
        </p:spPr>
        <p:txBody>
          <a:bodyPr wrap="square" lIns="0" tIns="0" rIns="0" bIns="0" rtlCol="0" anchor="t">
            <a:normAutofit/>
          </a:bodyPr>
          <a:lstStyle/>
          <a:p>
            <a:pPr indent="0" marL="0">
              <a:buNone/>
            </a:pPr>
            <a:r>
              <a:rPr lang="en-US" sz="1600" b="1" dirty="0">
                <a:solidFill>
                  <a:schemeClr val="bg1"/>
                </a:solidFill>
                <a:latin typeface="Arial" pitchFamily="34" charset="0"/>
                <a:ea typeface="Arial" pitchFamily="34" charset="-122"/>
                <a:cs typeface="Arial" pitchFamily="34" charset="-120"/>
              </a:rPr>
              <a:t>The things that act</a:t>
            </a:r>
            <a:endParaRPr lang="en-US" sz="1600" dirty="0"/>
          </a:p>
        </p:txBody>
      </p:sp>
      <p:sp>
        <p:nvSpPr>
          <p:cNvPr id="15" name="Text 13"/>
          <p:cNvSpPr txBox="1"/>
          <p:nvPr/>
        </p:nvSpPr>
        <p:spPr>
          <a:xfrm>
            <a:off x="8641080" y="2057400"/>
            <a:ext cx="2743200" cy="1097280"/>
          </a:xfrm>
          <a:prstGeom prst="rect">
            <a:avLst/>
          </a:prstGeom>
          <a:noFill/>
          <a:ln/>
        </p:spPr>
        <p:txBody>
          <a:bodyPr wrap="square" lIns="0" tIns="0" rIns="0" bIns="0" rtlCol="0" anchor="t">
            <a:normAutofit/>
          </a:bodyPr>
          <a:lstStyle/>
          <a:p>
            <a:pPr indent="0" marL="0">
              <a:buNone/>
            </a:pPr>
            <a:r>
              <a:rPr lang="en-US" sz="1250" dirty="0">
                <a:solidFill>
                  <a:schemeClr val="bg1"/>
                </a:solidFill>
                <a:latin typeface="Arial" pitchFamily="34" charset="0"/>
                <a:ea typeface="Arial" pitchFamily="34" charset="-122"/>
                <a:cs typeface="Arial" pitchFamily="34" charset="-120"/>
              </a:rPr>
              <a:t>A weapon, a payment switch, a message gateway, the storage that holds the weights, the rack's own power. Each checks the ticket itself.</a:t>
            </a:r>
            <a:endParaRPr lang="en-US" sz="1250" dirty="0"/>
          </a:p>
        </p:txBody>
      </p:sp>
      <p:sp>
        <p:nvSpPr>
          <p:cNvPr id="16" name="Text 14"/>
          <p:cNvSpPr txBox="1"/>
          <p:nvPr/>
        </p:nvSpPr>
        <p:spPr>
          <a:xfrm>
            <a:off x="3794760" y="2011680"/>
            <a:ext cx="822960" cy="274320"/>
          </a:xfrm>
          <a:prstGeom prst="rect">
            <a:avLst/>
          </a:prstGeom>
          <a:noFill/>
          <a:ln/>
        </p:spPr>
        <p:txBody>
          <a:bodyPr wrap="square" lIns="0" tIns="0" rIns="0" bIns="0" rtlCol="0" anchor="t">
            <a:normAutofit/>
          </a:bodyPr>
          <a:lstStyle/>
          <a:p>
            <a:pPr algn="ctr" indent="0" marL="0">
              <a:buNone/>
            </a:pPr>
            <a:r>
              <a:rPr lang="en-US" sz="1100" dirty="0">
                <a:solidFill>
                  <a:schemeClr val="tx2"/>
                </a:solidFill>
                <a:latin typeface="Arial" pitchFamily="34" charset="0"/>
                <a:ea typeface="Arial" pitchFamily="34" charset="-122"/>
                <a:cs typeface="Arial" pitchFamily="34" charset="-120"/>
              </a:rPr>
              <a:t>request</a:t>
            </a:r>
            <a:endParaRPr lang="en-US" sz="1100" dirty="0"/>
          </a:p>
        </p:txBody>
      </p:sp>
      <p:sp>
        <p:nvSpPr>
          <p:cNvPr id="17" name="Text 15"/>
          <p:cNvSpPr txBox="1"/>
          <p:nvPr/>
        </p:nvSpPr>
        <p:spPr>
          <a:xfrm>
            <a:off x="7726680" y="2011680"/>
            <a:ext cx="822960" cy="274320"/>
          </a:xfrm>
          <a:prstGeom prst="rect">
            <a:avLst/>
          </a:prstGeom>
          <a:noFill/>
          <a:ln/>
        </p:spPr>
        <p:txBody>
          <a:bodyPr wrap="square" lIns="0" tIns="0" rIns="0" bIns="0" rtlCol="0" anchor="t">
            <a:normAutofit/>
          </a:bodyPr>
          <a:lstStyle/>
          <a:p>
            <a:pPr algn="ctr" indent="0" marL="0">
              <a:buNone/>
            </a:pPr>
            <a:r>
              <a:rPr lang="en-US" sz="1100" dirty="0">
                <a:solidFill>
                  <a:schemeClr val="tx2"/>
                </a:solidFill>
                <a:latin typeface="Arial" pitchFamily="34" charset="0"/>
                <a:ea typeface="Arial" pitchFamily="34" charset="-122"/>
                <a:cs typeface="Arial" pitchFamily="34" charset="-120"/>
              </a:rPr>
              <a:t>ticket</a:t>
            </a:r>
            <a:endParaRPr lang="en-US" sz="1100" dirty="0"/>
          </a:p>
        </p:txBody>
      </p:sp>
      <p:sp>
        <p:nvSpPr>
          <p:cNvPr id="18" name="icon circle"/>
          <p:cNvSpPr/>
          <p:nvPr/>
        </p:nvSpPr>
        <p:spPr>
          <a:xfrm>
            <a:off x="548640" y="3474720"/>
            <a:ext cx="512064" cy="512064"/>
          </a:xfrm>
          <a:prstGeom prst="ellipse">
            <a:avLst/>
          </a:prstGeom>
          <a:solidFill>
            <a:schemeClr val="tx2"/>
          </a:solidFill>
          <a:ln w="12700">
            <a:solidFill>
              <a:schemeClr val="tx2"/>
            </a:solidFill>
            <a:prstDash val="solid"/>
          </a:ln>
        </p:spPr>
      </p:sp>
      <p:pic>
        <p:nvPicPr>
          <p:cNvPr id="19" name="FiPlusSquare" descr="preencoded.png">    </p:cNvPr>
          <p:cNvPicPr>
            <a:picLocks noChangeAspect="1"/>
          </p:cNvPicPr>
          <p:nvPr/>
        </p:nvPicPr>
        <p:blipFill>
          <a:blip r:embed="rId1"/>
          <a:stretch>
            <a:fillRect/>
          </a:stretch>
        </p:blipFill>
        <p:spPr>
          <a:xfrm>
            <a:off x="676656" y="3602736"/>
            <a:ext cx="256032" cy="256032"/>
          </a:xfrm>
          <a:prstGeom prst="rect">
            <a:avLst/>
          </a:prstGeom>
        </p:spPr>
      </p:pic>
      <p:sp>
        <p:nvSpPr>
          <p:cNvPr id="20" name="Text 17"/>
          <p:cNvSpPr txBox="1"/>
          <p:nvPr/>
        </p:nvSpPr>
        <p:spPr>
          <a:xfrm>
            <a:off x="1188720" y="3547872"/>
            <a:ext cx="1927784" cy="365760"/>
          </a:xfrm>
          <a:prstGeom prst="rect">
            <a:avLst/>
          </a:prstGeom>
          <a:noFill/>
          <a:ln/>
        </p:spPr>
        <p:txBody>
          <a:bodyPr wrap="square" lIns="0" tIns="0" rIns="0" bIns="0" rtlCol="0" anchor="t">
            <a:normAutofit/>
          </a:bodyPr>
          <a:lstStyle/>
          <a:p>
            <a:pPr indent="0" marL="0">
              <a:buNone/>
            </a:pPr>
            <a:r>
              <a:rPr lang="en-US" sz="1350" b="1" dirty="0">
                <a:solidFill>
                  <a:schemeClr val="tx1"/>
                </a:solidFill>
                <a:latin typeface="Arial" pitchFamily="34" charset="0"/>
                <a:ea typeface="Arial" pitchFamily="34" charset="-122"/>
                <a:cs typeface="Arial" pitchFamily="34" charset="-120"/>
              </a:rPr>
              <a:t>Added, not redesigned</a:t>
            </a:r>
            <a:endParaRPr lang="en-US" sz="1350" dirty="0"/>
          </a:p>
        </p:txBody>
      </p:sp>
      <p:sp>
        <p:nvSpPr>
          <p:cNvPr id="21" name="Text 18"/>
          <p:cNvSpPr txBox="1"/>
          <p:nvPr/>
        </p:nvSpPr>
        <p:spPr>
          <a:xfrm>
            <a:off x="548640" y="4160520"/>
            <a:ext cx="2567864" cy="1143000"/>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It rides on the server maker's management card, a BMC-class part. Nothing changes in the GPU or in CUDA.</a:t>
            </a:r>
            <a:endParaRPr lang="en-US" sz="1150" dirty="0"/>
          </a:p>
        </p:txBody>
      </p:sp>
      <p:sp>
        <p:nvSpPr>
          <p:cNvPr id="22" name="icon circle"/>
          <p:cNvSpPr/>
          <p:nvPr/>
        </p:nvSpPr>
        <p:spPr>
          <a:xfrm>
            <a:off x="3390824" y="3474720"/>
            <a:ext cx="512064" cy="512064"/>
          </a:xfrm>
          <a:prstGeom prst="ellipse">
            <a:avLst/>
          </a:prstGeom>
          <a:solidFill>
            <a:schemeClr val="tx2"/>
          </a:solidFill>
          <a:ln w="12700">
            <a:solidFill>
              <a:schemeClr val="tx2"/>
            </a:solidFill>
            <a:prstDash val="solid"/>
          </a:ln>
        </p:spPr>
      </p:sp>
      <p:pic>
        <p:nvPicPr>
          <p:cNvPr id="23" name="FiList" descr="preencoded.png">    </p:cNvPr>
          <p:cNvPicPr>
            <a:picLocks noChangeAspect="1"/>
          </p:cNvPicPr>
          <p:nvPr/>
        </p:nvPicPr>
        <p:blipFill>
          <a:blip r:embed="rId2"/>
          <a:stretch>
            <a:fillRect/>
          </a:stretch>
        </p:blipFill>
        <p:spPr>
          <a:xfrm>
            <a:off x="3518840" y="3602736"/>
            <a:ext cx="256032" cy="256032"/>
          </a:xfrm>
          <a:prstGeom prst="rect">
            <a:avLst/>
          </a:prstGeom>
        </p:spPr>
      </p:pic>
      <p:sp>
        <p:nvSpPr>
          <p:cNvPr id="24" name="Text 20"/>
          <p:cNvSpPr txBox="1"/>
          <p:nvPr/>
        </p:nvSpPr>
        <p:spPr>
          <a:xfrm>
            <a:off x="4030904" y="3547872"/>
            <a:ext cx="1927784" cy="365760"/>
          </a:xfrm>
          <a:prstGeom prst="rect">
            <a:avLst/>
          </a:prstGeom>
          <a:noFill/>
          <a:ln/>
        </p:spPr>
        <p:txBody>
          <a:bodyPr wrap="square" lIns="0" tIns="0" rIns="0" bIns="0" rtlCol="0" anchor="t">
            <a:normAutofit/>
          </a:bodyPr>
          <a:lstStyle/>
          <a:p>
            <a:pPr indent="0" marL="0">
              <a:buNone/>
            </a:pPr>
            <a:r>
              <a:rPr lang="en-US" sz="1350" b="1" dirty="0">
                <a:solidFill>
                  <a:schemeClr val="tx1"/>
                </a:solidFill>
                <a:latin typeface="Arial" pitchFamily="34" charset="0"/>
                <a:ea typeface="Arial" pitchFamily="34" charset="-122"/>
                <a:cs typeface="Arial" pitchFamily="34" charset="-120"/>
              </a:rPr>
              <a:t>An allow-list, not a blacklist</a:t>
            </a:r>
            <a:endParaRPr lang="en-US" sz="1350" dirty="0"/>
          </a:p>
        </p:txBody>
      </p:sp>
      <p:sp>
        <p:nvSpPr>
          <p:cNvPr id="25" name="Text 21"/>
          <p:cNvSpPr txBox="1"/>
          <p:nvPr/>
        </p:nvSpPr>
        <p:spPr>
          <a:xfrm>
            <a:off x="3390824" y="4160520"/>
            <a:ext cx="2567864" cy="1143000"/>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Signed by a k-of-n quorum whose keys sit outside the chip vendor and the operator. Everything not on it is no.</a:t>
            </a:r>
            <a:endParaRPr lang="en-US" sz="1150" dirty="0"/>
          </a:p>
        </p:txBody>
      </p:sp>
      <p:sp>
        <p:nvSpPr>
          <p:cNvPr id="26" name="icon circle"/>
          <p:cNvSpPr/>
          <p:nvPr/>
        </p:nvSpPr>
        <p:spPr>
          <a:xfrm>
            <a:off x="6233008" y="3474720"/>
            <a:ext cx="512064" cy="512064"/>
          </a:xfrm>
          <a:prstGeom prst="ellipse">
            <a:avLst/>
          </a:prstGeom>
          <a:solidFill>
            <a:schemeClr val="tx2"/>
          </a:solidFill>
          <a:ln w="12700">
            <a:solidFill>
              <a:schemeClr val="tx2"/>
            </a:solidFill>
            <a:prstDash val="solid"/>
          </a:ln>
        </p:spPr>
      </p:sp>
      <p:pic>
        <p:nvPicPr>
          <p:cNvPr id="27" name="FiPower" descr="preencoded.png">    </p:cNvPr>
          <p:cNvPicPr>
            <a:picLocks noChangeAspect="1"/>
          </p:cNvPicPr>
          <p:nvPr/>
        </p:nvPicPr>
        <p:blipFill>
          <a:blip r:embed="rId3"/>
          <a:stretch>
            <a:fillRect/>
          </a:stretch>
        </p:blipFill>
        <p:spPr>
          <a:xfrm>
            <a:off x="6361024" y="3602736"/>
            <a:ext cx="256032" cy="256032"/>
          </a:xfrm>
          <a:prstGeom prst="rect">
            <a:avLst/>
          </a:prstGeom>
        </p:spPr>
      </p:pic>
      <p:sp>
        <p:nvSpPr>
          <p:cNvPr id="28" name="Text 23"/>
          <p:cNvSpPr txBox="1"/>
          <p:nvPr/>
        </p:nvSpPr>
        <p:spPr>
          <a:xfrm>
            <a:off x="6873088" y="3547872"/>
            <a:ext cx="1927784" cy="365760"/>
          </a:xfrm>
          <a:prstGeom prst="rect">
            <a:avLst/>
          </a:prstGeom>
          <a:noFill/>
          <a:ln/>
        </p:spPr>
        <p:txBody>
          <a:bodyPr wrap="square" lIns="0" tIns="0" rIns="0" bIns="0" rtlCol="0" anchor="t">
            <a:normAutofit/>
          </a:bodyPr>
          <a:lstStyle/>
          <a:p>
            <a:pPr indent="0" marL="0">
              <a:buNone/>
            </a:pPr>
            <a:r>
              <a:rPr lang="en-US" sz="1350" b="1" dirty="0">
                <a:solidFill>
                  <a:schemeClr val="tx1"/>
                </a:solidFill>
                <a:latin typeface="Arial" pitchFamily="34" charset="0"/>
                <a:ea typeface="Arial" pitchFamily="34" charset="-122"/>
                <a:cs typeface="Arial" pitchFamily="34" charset="-120"/>
              </a:rPr>
              <a:t>A hand on the breaker</a:t>
            </a:r>
            <a:endParaRPr lang="en-US" sz="1350" dirty="0"/>
          </a:p>
        </p:txBody>
      </p:sp>
      <p:sp>
        <p:nvSpPr>
          <p:cNvPr id="29" name="Text 24"/>
          <p:cNvSpPr txBox="1"/>
          <p:nvPr/>
        </p:nvSpPr>
        <p:spPr>
          <a:xfrm>
            <a:off x="6233008" y="4160520"/>
            <a:ext cx="2567864" cy="1143000"/>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One series loop through every governor in the rack. Any one opens it, or a cut wire, and every GPU halts.</a:t>
            </a:r>
            <a:endParaRPr lang="en-US" sz="1150" dirty="0"/>
          </a:p>
        </p:txBody>
      </p:sp>
      <p:sp>
        <p:nvSpPr>
          <p:cNvPr id="30" name="icon circle"/>
          <p:cNvSpPr/>
          <p:nvPr/>
        </p:nvSpPr>
        <p:spPr>
          <a:xfrm>
            <a:off x="9075191" y="3474720"/>
            <a:ext cx="512064" cy="512064"/>
          </a:xfrm>
          <a:prstGeom prst="ellipse">
            <a:avLst/>
          </a:prstGeom>
          <a:solidFill>
            <a:schemeClr val="tx2"/>
          </a:solidFill>
          <a:ln w="12700">
            <a:solidFill>
              <a:schemeClr val="tx2"/>
            </a:solidFill>
            <a:prstDash val="solid"/>
          </a:ln>
        </p:spPr>
      </p:sp>
      <p:pic>
        <p:nvPicPr>
          <p:cNvPr id="31" name="FiTool" descr="preencoded.png">    </p:cNvPr>
          <p:cNvPicPr>
            <a:picLocks noChangeAspect="1"/>
          </p:cNvPicPr>
          <p:nvPr/>
        </p:nvPicPr>
        <p:blipFill>
          <a:blip r:embed="rId4"/>
          <a:stretch>
            <a:fillRect/>
          </a:stretch>
        </p:blipFill>
        <p:spPr>
          <a:xfrm>
            <a:off x="9203207" y="3602736"/>
            <a:ext cx="256032" cy="256032"/>
          </a:xfrm>
          <a:prstGeom prst="rect">
            <a:avLst/>
          </a:prstGeom>
        </p:spPr>
      </p:pic>
      <p:sp>
        <p:nvSpPr>
          <p:cNvPr id="32" name="Text 26"/>
          <p:cNvSpPr txBox="1"/>
          <p:nvPr/>
        </p:nvSpPr>
        <p:spPr>
          <a:xfrm>
            <a:off x="9715271" y="3547872"/>
            <a:ext cx="1927784" cy="365760"/>
          </a:xfrm>
          <a:prstGeom prst="rect">
            <a:avLst/>
          </a:prstGeom>
          <a:noFill/>
          <a:ln/>
        </p:spPr>
        <p:txBody>
          <a:bodyPr wrap="square" lIns="0" tIns="0" rIns="0" bIns="0" rtlCol="0" anchor="t">
            <a:normAutofit/>
          </a:bodyPr>
          <a:lstStyle/>
          <a:p>
            <a:pPr indent="0" marL="0">
              <a:buNone/>
            </a:pPr>
            <a:r>
              <a:rPr lang="en-US" sz="1350" b="1" dirty="0">
                <a:solidFill>
                  <a:schemeClr val="tx1"/>
                </a:solidFill>
                <a:latin typeface="Arial" pitchFamily="34" charset="0"/>
                <a:ea typeface="Arial" pitchFamily="34" charset="-122"/>
                <a:cs typeface="Arial" pitchFamily="34" charset="-120"/>
              </a:rPr>
              <a:t>Retrofit, if the levers reach</a:t>
            </a:r>
            <a:endParaRPr lang="en-US" sz="1350" dirty="0"/>
          </a:p>
        </p:txBody>
      </p:sp>
      <p:sp>
        <p:nvSpPr>
          <p:cNvPr id="33" name="Text 27"/>
          <p:cNvSpPr txBox="1"/>
          <p:nvPr/>
        </p:nvSpPr>
        <p:spPr>
          <a:xfrm>
            <a:off x="9075191" y="4160520"/>
            <a:ext cx="2567864" cy="1143000"/>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Installed racks get it as a module in the slot a BMC card already uses. Two catches: can that slot drive the levers, and what else on the board can undo them. P2 asks both of every lever.</a:t>
            </a:r>
            <a:endParaRPr lang="en-US" sz="1150" dirty="0"/>
          </a:p>
        </p:txBody>
      </p:sp>
      <p:sp>
        <p:nvSpPr>
          <p:cNvPr id="34" name="analogy"/>
          <p:cNvSpPr/>
          <p:nvPr/>
        </p:nvSpPr>
        <p:spPr>
          <a:xfrm>
            <a:off x="548640" y="5532120"/>
            <a:ext cx="11094415" cy="685800"/>
          </a:xfrm>
          <a:prstGeom prst="roundRect">
            <a:avLst>
              <a:gd name="adj" fmla="val 10667"/>
            </a:avLst>
          </a:prstGeom>
          <a:solidFill>
            <a:schemeClr val="tx1"/>
          </a:solidFill>
          <a:ln w="12700">
            <a:solidFill>
              <a:schemeClr val="tx1"/>
            </a:solidFill>
            <a:prstDash val="solid"/>
          </a:ln>
        </p:spPr>
      </p:sp>
      <p:sp>
        <p:nvSpPr>
          <p:cNvPr id="35" name="Text 29"/>
          <p:cNvSpPr txBox="1"/>
          <p:nvPr/>
        </p:nvSpPr>
        <p:spPr>
          <a:xfrm>
            <a:off x="822960" y="5532120"/>
            <a:ext cx="1554480" cy="68580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docs 18, section 1</a:t>
            </a:r>
            <a:endParaRPr lang="en-US" sz="1000" dirty="0"/>
          </a:p>
        </p:txBody>
      </p:sp>
      <p:sp>
        <p:nvSpPr>
          <p:cNvPr id="36" name="Text 30"/>
          <p:cNvSpPr txBox="1"/>
          <p:nvPr/>
        </p:nvSpPr>
        <p:spPr>
          <a:xfrm>
            <a:off x="2514600" y="5532120"/>
            <a:ext cx="8854135" cy="68580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A referee with a whistle and a rulebook he did not write: the chip holds the whistle, the rulebook is a signed document handed to it. What is burned in is how to enforce; what is loaded is what is allowed.</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2600" b="1" dirty="0">
                <a:solidFill>
                  <a:schemeClr val="tx1"/>
                </a:solidFill>
                <a:latin typeface="Georgia" pitchFamily="34" charset="0"/>
                <a:ea typeface="Georgia" pitchFamily="34" charset="-122"/>
                <a:cs typeface="Georgia" pitchFamily="34" charset="-120"/>
              </a:rPr>
              <a:t>Proposal, technically: the module and the die</a:t>
            </a:r>
            <a:endParaRPr lang="en-US" sz="26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18</a:t>
            </a:r>
            <a:endParaRPr lang="en-US" sz="1100" dirty="0"/>
          </a:p>
        </p:txBody>
      </p:sp>
      <p:sp>
        <p:nvSpPr>
          <p:cNvPr id="5" name="card"/>
          <p:cNvSpPr/>
          <p:nvPr/>
        </p:nvSpPr>
        <p:spPr>
          <a:xfrm>
            <a:off x="548640" y="1417320"/>
            <a:ext cx="5394960" cy="2651760"/>
          </a:xfrm>
          <a:prstGeom prst="roundRect">
            <a:avLst>
              <a:gd name="adj" fmla="val 2759"/>
            </a:avLst>
          </a:prstGeom>
          <a:solidFill>
            <a:schemeClr val="bg2"/>
          </a:solidFill>
          <a:ln w="12700">
            <a:solidFill>
              <a:schemeClr val="bg2"/>
            </a:solidFill>
            <a:prstDash val="solid"/>
          </a:ln>
        </p:spPr>
      </p:sp>
      <p:sp>
        <p:nvSpPr>
          <p:cNvPr id="6" name="Text 4"/>
          <p:cNvSpPr txBox="1"/>
          <p:nvPr/>
        </p:nvSpPr>
        <p:spPr>
          <a:xfrm>
            <a:off x="822960" y="1581912"/>
            <a:ext cx="4846320" cy="365760"/>
          </a:xfrm>
          <a:prstGeom prst="rect">
            <a:avLst/>
          </a:prstGeom>
          <a:noFill/>
          <a:ln/>
        </p:spPr>
        <p:txBody>
          <a:bodyPr wrap="square" lIns="0" tIns="0" rIns="0" bIns="0" rtlCol="0" anchor="t">
            <a:normAutofit/>
          </a:bodyPr>
          <a:lstStyle/>
          <a:p>
            <a:pPr indent="0" marL="0">
              <a:buNone/>
            </a:pPr>
            <a:r>
              <a:rPr lang="en-US" sz="1500" b="1" dirty="0">
                <a:solidFill>
                  <a:schemeClr val="tx1"/>
                </a:solidFill>
                <a:latin typeface="Arial" pitchFamily="34" charset="0"/>
                <a:ea typeface="Arial" pitchFamily="34" charset="-122"/>
                <a:cs typeface="Arial" pitchFamily="34" charset="-120"/>
              </a:rPr>
              <a:t>Where it sits and what it reaches</a:t>
            </a:r>
            <a:endParaRPr lang="en-US" sz="1500" dirty="0"/>
          </a:p>
        </p:txBody>
      </p:sp>
      <p:sp>
        <p:nvSpPr>
          <p:cNvPr id="7" name="Text 5"/>
          <p:cNvSpPr txBox="1"/>
          <p:nvPr/>
        </p:nvSpPr>
        <p:spPr>
          <a:xfrm>
            <a:off x="822960" y="1984248"/>
            <a:ext cx="4846320" cy="2057400"/>
          </a:xfrm>
          <a:prstGeom prst="rect">
            <a:avLst/>
          </a:prstGeom>
          <a:noFill/>
          <a:ln/>
        </p:spPr>
        <p:txBody>
          <a:bodyPr wrap="square" lIns="0" tIns="0" rIns="0" bIns="0" rtlCol="0" anchor="t">
            <a:normAutofit/>
          </a:bodyPr>
          <a:lstStyle/>
          <a:p>
            <a:pPr marL="177800" indent="-177800">
              <a:spcAft>
                <a:spcPts val="600"/>
              </a:spcAft>
              <a:buSzPct val="100000"/>
              <a:buChar char="•"/>
            </a:pPr>
            <a:r>
              <a:rPr lang="en-US" sz="1100" dirty="0">
                <a:solidFill>
                  <a:schemeClr val="tx1"/>
                </a:solidFill>
                <a:latin typeface="Arial" pitchFamily="34" charset="0"/>
                <a:ea typeface="Arial" pitchFamily="34" charset="-122"/>
                <a:cs typeface="Arial" pitchFamily="34" charset="-120"/>
              </a:rPr>
              <a:t>One governor per GPU slot on the OEM's management-module card (DC-SCM class); the same module as a retrofit in an installed rack's BMC slot</a:t>
            </a:r>
            <a:endParaRPr lang="en-US" sz="1100" dirty="0"/>
          </a:p>
          <a:p>
            <a:pPr marL="177800" indent="-177800">
              <a:spcAft>
                <a:spcPts val="600"/>
              </a:spcAft>
              <a:buSzPct val="100000"/>
              <a:buChar char="•"/>
            </a:pPr>
            <a:r>
              <a:rPr lang="en-US" sz="1100" dirty="0">
                <a:solidFill>
                  <a:schemeClr val="tx1"/>
                </a:solidFill>
                <a:latin typeface="Arial" pitchFamily="34" charset="0"/>
                <a:ea typeface="Arial" pitchFamily="34" charset="-122"/>
                <a:cs typeface="Arial" pitchFamily="34" charset="-120"/>
              </a:rPr>
              <a:t>Per slot through the HGX connector: SMBus (SMBPBI), power brake, PERST#, PWR_EN, present and fault. HGX reset is grouped today (three PERST inputs for eight GPUs)</a:t>
            </a:r>
            <a:endParaRPr lang="en-US" sz="1100" dirty="0"/>
          </a:p>
          <a:p>
            <a:pPr marL="177800" indent="-177800">
              <a:spcAft>
                <a:spcPts val="600"/>
              </a:spcAft>
              <a:buSzPct val="100000"/>
              <a:buChar char="•"/>
            </a:pPr>
            <a:r>
              <a:rPr lang="en-US" sz="1100" dirty="0">
                <a:solidFill>
                  <a:schemeClr val="tx1"/>
                </a:solidFill>
                <a:latin typeface="Arial" pitchFamily="34" charset="0"/>
                <a:ea typeface="Arial" pitchFamily="34" charset="-122"/>
                <a:cs typeface="Arial" pitchFamily="34" charset="-120"/>
              </a:rPr>
              <a:t>NVSwitch port disable out of band through NSM; DPU steering tables through DOCA on the management port</a:t>
            </a:r>
            <a:endParaRPr lang="en-US" sz="1100" dirty="0"/>
          </a:p>
          <a:p>
            <a:pPr marL="177800" indent="-177800">
              <a:spcAft>
                <a:spcPts val="600"/>
              </a:spcAft>
              <a:buSzPct val="100000"/>
              <a:buChar char="•"/>
            </a:pPr>
            <a:r>
              <a:rPr lang="en-US" sz="1100" dirty="0">
                <a:solidFill>
                  <a:schemeClr val="tx1"/>
                </a:solidFill>
                <a:latin typeface="Arial" pitchFamily="34" charset="0"/>
                <a:ea typeface="Arial" pitchFamily="34" charset="-122"/>
                <a:cs typeface="Arial" pitchFamily="34" charset="-120"/>
              </a:rPr>
              <a:t>The GPU's confidential-computing attestation taken as an input; the BMC reads through the governor</a:t>
            </a:r>
            <a:endParaRPr lang="en-US" sz="1100" dirty="0"/>
          </a:p>
        </p:txBody>
      </p:sp>
      <p:sp>
        <p:nvSpPr>
          <p:cNvPr id="8" name="card"/>
          <p:cNvSpPr/>
          <p:nvPr/>
        </p:nvSpPr>
        <p:spPr>
          <a:xfrm>
            <a:off x="6245352" y="1417320"/>
            <a:ext cx="5397703" cy="2651760"/>
          </a:xfrm>
          <a:prstGeom prst="roundRect">
            <a:avLst>
              <a:gd name="adj" fmla="val 2759"/>
            </a:avLst>
          </a:prstGeom>
          <a:solidFill>
            <a:schemeClr val="bg2"/>
          </a:solidFill>
          <a:ln w="12700">
            <a:solidFill>
              <a:schemeClr val="bg2"/>
            </a:solidFill>
            <a:prstDash val="solid"/>
          </a:ln>
        </p:spPr>
      </p:sp>
      <p:sp>
        <p:nvSpPr>
          <p:cNvPr id="9" name="Text 7"/>
          <p:cNvSpPr txBox="1"/>
          <p:nvPr/>
        </p:nvSpPr>
        <p:spPr>
          <a:xfrm>
            <a:off x="6519672" y="1581912"/>
            <a:ext cx="4849063" cy="365760"/>
          </a:xfrm>
          <a:prstGeom prst="rect">
            <a:avLst/>
          </a:prstGeom>
          <a:noFill/>
          <a:ln/>
        </p:spPr>
        <p:txBody>
          <a:bodyPr wrap="square" lIns="0" tIns="0" rIns="0" bIns="0" rtlCol="0" anchor="t">
            <a:normAutofit/>
          </a:bodyPr>
          <a:lstStyle/>
          <a:p>
            <a:pPr indent="0" marL="0">
              <a:buNone/>
            </a:pPr>
            <a:r>
              <a:rPr lang="en-US" sz="1500" b="1" dirty="0">
                <a:solidFill>
                  <a:schemeClr val="tx1"/>
                </a:solidFill>
                <a:latin typeface="Arial" pitchFamily="34" charset="0"/>
                <a:ea typeface="Arial" pitchFamily="34" charset="-122"/>
                <a:cs typeface="Arial" pitchFamily="34" charset="-120"/>
              </a:rPr>
              <a:t>What is on the die</a:t>
            </a:r>
            <a:endParaRPr lang="en-US" sz="1500" dirty="0"/>
          </a:p>
        </p:txBody>
      </p:sp>
      <p:sp>
        <p:nvSpPr>
          <p:cNvPr id="10" name="Text 8"/>
          <p:cNvSpPr txBox="1"/>
          <p:nvPr/>
        </p:nvSpPr>
        <p:spPr>
          <a:xfrm>
            <a:off x="6519672" y="1984248"/>
            <a:ext cx="4849063" cy="2057400"/>
          </a:xfrm>
          <a:prstGeom prst="rect">
            <a:avLst/>
          </a:prstGeom>
          <a:noFill/>
          <a:ln/>
        </p:spPr>
        <p:txBody>
          <a:bodyPr wrap="square" lIns="0" tIns="0" rIns="0" bIns="0" rtlCol="0" anchor="t">
            <a:normAutofit/>
          </a:bodyPr>
          <a:lstStyle/>
          <a:p>
            <a:pPr marL="177800" indent="-177800">
              <a:spcAft>
                <a:spcPts val="600"/>
              </a:spcAft>
              <a:buSzPct val="100000"/>
              <a:buChar char="•"/>
            </a:pPr>
            <a:r>
              <a:rPr lang="en-US" sz="1100" dirty="0">
                <a:solidFill>
                  <a:schemeClr val="tx1"/>
                </a:solidFill>
                <a:latin typeface="Arial" pitchFamily="34" charset="0"/>
                <a:ea typeface="Arial" pitchFamily="34" charset="-122"/>
                <a:cs typeface="Arial" pitchFamily="34" charset="-120"/>
              </a:rPr>
              <a:t>An OpenTitan-class root of trust: fuses, DICE key chain, OTBN for P-384 signatures (1,697,985 cycles, 17 ms at 100 MHz, so one signature per 50 ms batch), AES-256-CTR with HMAC-SHA-256 for storage</a:t>
            </a:r>
            <a:endParaRPr lang="en-US" sz="1100" dirty="0"/>
          </a:p>
          <a:p>
            <a:pPr marL="177800" indent="-177800">
              <a:spcAft>
                <a:spcPts val="600"/>
              </a:spcAft>
              <a:buSzPct val="100000"/>
              <a:buChar char="•"/>
            </a:pPr>
            <a:r>
              <a:rPr lang="en-US" sz="1100" dirty="0">
                <a:solidFill>
                  <a:schemeClr val="tx1"/>
                </a:solidFill>
                <a:latin typeface="Arial" pitchFamily="34" charset="0"/>
                <a:ea typeface="Arial" pitchFamily="34" charset="-122"/>
                <a:cs typeface="Arial" pitchFamily="34" charset="-120"/>
              </a:rPr>
              <a:t>A mailbox of 21 signed commands, checked in order: sequence number, rules edition, signature; the first failure is reported</a:t>
            </a:r>
            <a:endParaRPr lang="en-US" sz="1100" dirty="0"/>
          </a:p>
          <a:p>
            <a:pPr marL="177800" indent="-177800">
              <a:spcAft>
                <a:spcPts val="600"/>
              </a:spcAft>
              <a:buSzPct val="100000"/>
              <a:buChar char="•"/>
            </a:pPr>
            <a:r>
              <a:rPr lang="en-US" sz="1100" dirty="0">
                <a:solidFill>
                  <a:schemeClr val="tx1"/>
                </a:solidFill>
                <a:latin typeface="Arial" pitchFamily="34" charset="0"/>
                <a:ea typeface="Arial" pitchFamily="34" charset="-122"/>
                <a:cs typeface="Arial" pitchFamily="34" charset="-120"/>
              </a:rPr>
              <a:t>The policy image and its epoch; the gate core (lookup and comparators); the ledger (budgets, rate windows); a hash-chained log whose head lives in a register</a:t>
            </a:r>
            <a:endParaRPr lang="en-US" sz="1100" dirty="0"/>
          </a:p>
          <a:p>
            <a:pPr marL="177800" indent="-177800">
              <a:spcAft>
                <a:spcPts val="600"/>
              </a:spcAft>
              <a:buSzPct val="100000"/>
              <a:buChar char="•"/>
            </a:pPr>
            <a:r>
              <a:rPr lang="en-US" sz="1100" dirty="0">
                <a:solidFill>
                  <a:schemeClr val="tx1"/>
                </a:solidFill>
                <a:latin typeface="Arial" pitchFamily="34" charset="0"/>
                <a:ea typeface="Arial" pitchFamily="34" charset="-122"/>
                <a:cs typeface="Arial" pitchFamily="34" charset="-120"/>
              </a:rPr>
              <a:t>Meter, heartbeat, lever drivers, loop I/O and the signed message fabric between governors</a:t>
            </a:r>
            <a:endParaRPr lang="en-US" sz="1100" dirty="0"/>
          </a:p>
        </p:txBody>
      </p:sp>
      <p:sp>
        <p:nvSpPr>
          <p:cNvPr id="11" name="table header"/>
          <p:cNvSpPr/>
          <p:nvPr/>
        </p:nvSpPr>
        <p:spPr>
          <a:xfrm>
            <a:off x="548640" y="4206240"/>
            <a:ext cx="11094415" cy="384048"/>
          </a:xfrm>
          <a:prstGeom prst="rect">
            <a:avLst/>
          </a:prstGeom>
          <a:solidFill>
            <a:schemeClr val="tx2"/>
          </a:solidFill>
          <a:ln w="12700">
            <a:solidFill>
              <a:schemeClr val="tx2"/>
            </a:solidFill>
            <a:prstDash val="solid"/>
          </a:ln>
        </p:spPr>
      </p:sp>
      <p:sp>
        <p:nvSpPr>
          <p:cNvPr id="12" name="Text 10"/>
          <p:cNvSpPr txBox="1"/>
          <p:nvPr/>
        </p:nvSpPr>
        <p:spPr>
          <a:xfrm>
            <a:off x="630936" y="4206240"/>
            <a:ext cx="1115568"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Tier</a:t>
            </a:r>
            <a:endParaRPr lang="en-US" sz="1000" dirty="0"/>
          </a:p>
        </p:txBody>
      </p:sp>
      <p:sp>
        <p:nvSpPr>
          <p:cNvPr id="13" name="Text 11"/>
          <p:cNvSpPr txBox="1"/>
          <p:nvPr/>
        </p:nvSpPr>
        <p:spPr>
          <a:xfrm>
            <a:off x="1911096" y="4206240"/>
            <a:ext cx="5687568"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Where the governor's authority comes from</a:t>
            </a:r>
            <a:endParaRPr lang="en-US" sz="1000" dirty="0"/>
          </a:p>
        </p:txBody>
      </p:sp>
      <p:sp>
        <p:nvSpPr>
          <p:cNvPr id="14" name="Text 12"/>
          <p:cNvSpPr txBox="1"/>
          <p:nvPr/>
        </p:nvSpPr>
        <p:spPr>
          <a:xfrm>
            <a:off x="7763256" y="4206240"/>
            <a:ext cx="3797503"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Status</a:t>
            </a:r>
            <a:endParaRPr lang="en-US" sz="1000" dirty="0"/>
          </a:p>
        </p:txBody>
      </p:sp>
      <p:sp>
        <p:nvSpPr>
          <p:cNvPr id="15" name="table row"/>
          <p:cNvSpPr/>
          <p:nvPr/>
        </p:nvSpPr>
        <p:spPr>
          <a:xfrm>
            <a:off x="548640" y="4590288"/>
            <a:ext cx="11094415" cy="511387"/>
          </a:xfrm>
          <a:prstGeom prst="rect">
            <a:avLst/>
          </a:prstGeom>
          <a:solidFill>
            <a:srgbClr val="EEF2EF"/>
          </a:solidFill>
          <a:ln w="9525">
            <a:solidFill>
              <a:srgbClr val="EEF2EF"/>
            </a:solidFill>
            <a:prstDash val="solid"/>
          </a:ln>
        </p:spPr>
      </p:sp>
      <p:sp>
        <p:nvSpPr>
          <p:cNvPr id="16" name="Text 14"/>
          <p:cNvSpPr txBox="1"/>
          <p:nvPr/>
        </p:nvSpPr>
        <p:spPr>
          <a:xfrm>
            <a:off x="630936" y="4672584"/>
            <a:ext cx="1115568" cy="346795"/>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Rack</a:t>
            </a:r>
            <a:endParaRPr lang="en-US" sz="1000" dirty="0"/>
          </a:p>
        </p:txBody>
      </p:sp>
      <p:sp>
        <p:nvSpPr>
          <p:cNvPr id="17" name="Text 15"/>
          <p:cNvSpPr txBox="1"/>
          <p:nvPr/>
        </p:nvSpPr>
        <p:spPr>
          <a:xfrm>
            <a:off x="1911096" y="4672584"/>
            <a:ext cx="5687568" cy="346795"/>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Management-card levers, switch and DPU management paths, the halt loop</a:t>
            </a:r>
            <a:endParaRPr lang="en-US" sz="1000" dirty="0"/>
          </a:p>
        </p:txBody>
      </p:sp>
      <p:sp>
        <p:nvSpPr>
          <p:cNvPr id="18" name="Text 16"/>
          <p:cNvSpPr txBox="1"/>
          <p:nvPr/>
        </p:nvSpPr>
        <p:spPr>
          <a:xfrm>
            <a:off x="7763256" y="4672584"/>
            <a:ext cx="3797503" cy="346795"/>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Plan of record; needs a server OEM, nothing from NVIDIA's silicon</a:t>
            </a:r>
            <a:endParaRPr lang="en-US" sz="1000" dirty="0"/>
          </a:p>
        </p:txBody>
      </p:sp>
      <p:sp>
        <p:nvSpPr>
          <p:cNvPr id="19" name="table row"/>
          <p:cNvSpPr/>
          <p:nvPr/>
        </p:nvSpPr>
        <p:spPr>
          <a:xfrm>
            <a:off x="548640" y="5101675"/>
            <a:ext cx="11094415" cy="457539"/>
          </a:xfrm>
          <a:prstGeom prst="rect">
            <a:avLst/>
          </a:prstGeom>
          <a:solidFill>
            <a:srgbClr val="FFFFFF"/>
          </a:solidFill>
          <a:ln w="9525">
            <a:solidFill>
              <a:srgbClr val="EEF2EF"/>
            </a:solidFill>
            <a:prstDash val="solid"/>
          </a:ln>
        </p:spPr>
      </p:sp>
      <p:sp>
        <p:nvSpPr>
          <p:cNvPr id="20" name="Text 18"/>
          <p:cNvSpPr txBox="1"/>
          <p:nvPr/>
        </p:nvSpPr>
        <p:spPr>
          <a:xfrm>
            <a:off x="630936" y="5183971"/>
            <a:ext cx="1115568" cy="292947"/>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Board</a:t>
            </a:r>
            <a:endParaRPr lang="en-US" sz="1000" dirty="0"/>
          </a:p>
        </p:txBody>
      </p:sp>
      <p:sp>
        <p:nvSpPr>
          <p:cNvPr id="21" name="Text 19"/>
          <p:cNvSpPr txBox="1"/>
          <p:nvPr/>
        </p:nvSpPr>
        <p:spPr>
          <a:xfrm>
            <a:off x="1911096" y="5183971"/>
            <a:ext cx="5687568" cy="292947"/>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Same firmware, policy format and fabric on a board without a baseboard connector of its own</a:t>
            </a:r>
            <a:endParaRPr lang="en-US" sz="1000" dirty="0"/>
          </a:p>
        </p:txBody>
      </p:sp>
      <p:sp>
        <p:nvSpPr>
          <p:cNvPr id="22" name="Text 20"/>
          <p:cNvSpPr txBox="1"/>
          <p:nvPr/>
        </p:nvSpPr>
        <p:spPr>
          <a:xfrm>
            <a:off x="7763256" y="5183971"/>
            <a:ext cx="3797503" cy="292947"/>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Fallback; the gaps it leaves are recorded, not hidden</a:t>
            </a:r>
            <a:endParaRPr lang="en-US" sz="1000" dirty="0"/>
          </a:p>
        </p:txBody>
      </p:sp>
      <p:sp>
        <p:nvSpPr>
          <p:cNvPr id="23" name="table row"/>
          <p:cNvSpPr/>
          <p:nvPr/>
        </p:nvSpPr>
        <p:spPr>
          <a:xfrm>
            <a:off x="548640" y="5559213"/>
            <a:ext cx="11094415" cy="457539"/>
          </a:xfrm>
          <a:prstGeom prst="rect">
            <a:avLst/>
          </a:prstGeom>
          <a:solidFill>
            <a:srgbClr val="EEF2EF"/>
          </a:solidFill>
          <a:ln w="9525">
            <a:solidFill>
              <a:srgbClr val="EEF2EF"/>
            </a:solidFill>
            <a:prstDash val="solid"/>
          </a:ln>
        </p:spPr>
      </p:sp>
      <p:sp>
        <p:nvSpPr>
          <p:cNvPr id="24" name="Text 22"/>
          <p:cNvSpPr txBox="1"/>
          <p:nvPr/>
        </p:nvSpPr>
        <p:spPr>
          <a:xfrm>
            <a:off x="630936" y="5641509"/>
            <a:ext cx="1115568" cy="292947"/>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Integrated</a:t>
            </a:r>
            <a:endParaRPr lang="en-US" sz="1000" dirty="0"/>
          </a:p>
        </p:txBody>
      </p:sp>
      <p:sp>
        <p:nvSpPr>
          <p:cNvPr id="25" name="Text 23"/>
          <p:cNvSpPr txBox="1"/>
          <p:nvPr/>
        </p:nvSpPr>
        <p:spPr>
          <a:xfrm>
            <a:off x="1911096" y="5641509"/>
            <a:ext cx="5687568" cy="292947"/>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Buffer-class checkers in the GPU's copy engines and peer MMU; per-GPU reset</a:t>
            </a:r>
            <a:endParaRPr lang="en-US" sz="1000" dirty="0"/>
          </a:p>
        </p:txBody>
      </p:sp>
      <p:sp>
        <p:nvSpPr>
          <p:cNvPr id="26" name="Text 24"/>
          <p:cNvSpPr txBox="1"/>
          <p:nvPr/>
        </p:nvSpPr>
        <p:spPr>
          <a:xfrm>
            <a:off x="7763256" y="5641509"/>
            <a:ext cx="3797503" cy="292947"/>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Needs NVIDIA; closes the one gap the rack tier records (H2b)</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How it plugs into NVIDIA's OpenShell</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19</a:t>
            </a:r>
            <a:endParaRPr lang="en-US" sz="1100" dirty="0"/>
          </a:p>
        </p:txBody>
      </p:sp>
      <p:sp>
        <p:nvSpPr>
          <p:cNvPr id="5" name="card"/>
          <p:cNvSpPr/>
          <p:nvPr/>
        </p:nvSpPr>
        <p:spPr>
          <a:xfrm>
            <a:off x="548640" y="1417320"/>
            <a:ext cx="5486400" cy="2834640"/>
          </a:xfrm>
          <a:prstGeom prst="roundRect">
            <a:avLst>
              <a:gd name="adj" fmla="val 2581"/>
            </a:avLst>
          </a:prstGeom>
          <a:solidFill>
            <a:schemeClr val="bg2"/>
          </a:solidFill>
          <a:ln w="12700">
            <a:solidFill>
              <a:schemeClr val="bg2"/>
            </a:solidFill>
            <a:prstDash val="solid"/>
          </a:ln>
        </p:spPr>
      </p:sp>
      <p:sp>
        <p:nvSpPr>
          <p:cNvPr id="6" name="Text 4"/>
          <p:cNvSpPr txBox="1"/>
          <p:nvPr/>
        </p:nvSpPr>
        <p:spPr>
          <a:xfrm>
            <a:off x="822960" y="1581912"/>
            <a:ext cx="4937760" cy="365760"/>
          </a:xfrm>
          <a:prstGeom prst="rect">
            <a:avLst/>
          </a:prstGeom>
          <a:noFill/>
          <a:ln/>
        </p:spPr>
        <p:txBody>
          <a:bodyPr wrap="square" lIns="0" tIns="0" rIns="0" bIns="0" rtlCol="0" anchor="t">
            <a:normAutofit/>
          </a:bodyPr>
          <a:lstStyle/>
          <a:p>
            <a:pPr indent="0" marL="0">
              <a:buNone/>
            </a:pPr>
            <a:r>
              <a:rPr lang="en-US" sz="1350" b="1" dirty="0">
                <a:solidFill>
                  <a:schemeClr val="tx1"/>
                </a:solidFill>
                <a:latin typeface="Arial" pitchFamily="34" charset="0"/>
                <a:ea typeface="Arial" pitchFamily="34" charset="-122"/>
                <a:cs typeface="Arial" pitchFamily="34" charset="-120"/>
              </a:rPr>
              <a:t>Supervisor middleware, as OpenShell's repository defines it</a:t>
            </a:r>
            <a:endParaRPr lang="en-US" sz="1350" dirty="0"/>
          </a:p>
        </p:txBody>
      </p:sp>
      <p:sp>
        <p:nvSpPr>
          <p:cNvPr id="7" name="Text 5"/>
          <p:cNvSpPr txBox="1"/>
          <p:nvPr/>
        </p:nvSpPr>
        <p:spPr>
          <a:xfrm>
            <a:off x="822960" y="1965960"/>
            <a:ext cx="4937760" cy="2240280"/>
          </a:xfrm>
          <a:prstGeom prst="rect">
            <a:avLst/>
          </a:prstGeom>
          <a:noFill/>
          <a:ln/>
        </p:spPr>
        <p:txBody>
          <a:bodyPr wrap="square" lIns="0" tIns="0" rIns="0" bIns="0" rtlCol="0" anchor="t">
            <a:normAutofit/>
          </a:bodyPr>
          <a:lstStyle/>
          <a:p>
            <a:pPr marL="177800" indent="-177800">
              <a:spcAft>
                <a:spcPts val="600"/>
              </a:spcAft>
              <a:buSzPct val="100000"/>
              <a:buChar char="•"/>
            </a:pPr>
            <a:r>
              <a:rPr lang="en-US" sz="1050" dirty="0">
                <a:solidFill>
                  <a:schemeClr val="tx1"/>
                </a:solidFill>
                <a:latin typeface="Arial" pitchFamily="34" charset="0"/>
                <a:ea typeface="Arial" pitchFamily="34" charset="-122"/>
                <a:cs typeface="Arial" pitchFamily="34" charset="-120"/>
              </a:rPr>
              <a:t>A gRPC service named in the gateway's TOML and attached to a sandbox's policy; it runs after the network policy allows a request and before credentials are injected, and never sees the credentials</a:t>
            </a:r>
            <a:endParaRPr lang="en-US" sz="1050" dirty="0"/>
          </a:p>
          <a:p>
            <a:pPr marL="177800" indent="-177800">
              <a:spcAft>
                <a:spcPts val="600"/>
              </a:spcAft>
              <a:buSzPct val="100000"/>
              <a:buChar char="•"/>
            </a:pPr>
            <a:r>
              <a:rPr lang="en-US" sz="1050" dirty="0">
                <a:solidFill>
                  <a:schemeClr val="tx1"/>
                </a:solidFill>
                <a:latin typeface="Arial" pitchFamily="34" charset="0"/>
                <a:ea typeface="Arial" pitchFamily="34" charset="-122"/>
                <a:cs typeface="Arial" pitchFamily="34" charset="-120"/>
              </a:rPr>
              <a:t>Operations: HTTP request, HTTP response, WebSocket message. The answer is allow, with header changes, or deny with one reason code</a:t>
            </a:r>
            <a:endParaRPr lang="en-US" sz="1050" dirty="0"/>
          </a:p>
          <a:p>
            <a:pPr marL="177800" indent="-177800">
              <a:spcAft>
                <a:spcPts val="600"/>
              </a:spcAft>
              <a:buSzPct val="100000"/>
              <a:buChar char="•"/>
            </a:pPr>
            <a:r>
              <a:rPr lang="en-US" sz="1050" dirty="0">
                <a:solidFill>
                  <a:schemeClr val="tx1"/>
                </a:solidFill>
                <a:latin typeface="Arial" pitchFamily="34" charset="0"/>
                <a:ea typeface="Arial" pitchFamily="34" charset="-122"/>
                <a:cs typeface="Arial" pitchFamily="34" charset="-120"/>
              </a:rPr>
              <a:t>Reason codes: a lowercase letter first, then lowercase letters, digits and underscores, 64 at most; the sandbox sees only the code, never free text</a:t>
            </a:r>
            <a:endParaRPr lang="en-US" sz="1050" dirty="0"/>
          </a:p>
          <a:p>
            <a:pPr marL="177800" indent="-177800">
              <a:spcAft>
                <a:spcPts val="600"/>
              </a:spcAft>
              <a:buSzPct val="100000"/>
              <a:buChar char="•"/>
            </a:pPr>
            <a:r>
              <a:rPr lang="en-US" sz="1050" dirty="0">
                <a:solidFill>
                  <a:schemeClr val="tx1"/>
                </a:solidFill>
                <a:latin typeface="Arial" pitchFamily="34" charset="0"/>
                <a:ea typeface="Arial" pitchFamily="34" charset="-122"/>
                <a:cs typeface="Arial" pitchFamily="34" charset="-120"/>
              </a:rPr>
              <a:t>Timeout 10 ms to 30 s, 500 ms by default; payloads up to 4 MiB; a service that is down blocks the traffic. Fail closed is OpenShell's own behaviour</a:t>
            </a:r>
            <a:endParaRPr lang="en-US" sz="1050" dirty="0"/>
          </a:p>
        </p:txBody>
      </p:sp>
      <p:sp>
        <p:nvSpPr>
          <p:cNvPr id="8" name="card"/>
          <p:cNvSpPr/>
          <p:nvPr/>
        </p:nvSpPr>
        <p:spPr>
          <a:xfrm>
            <a:off x="6336792" y="1417320"/>
            <a:ext cx="5306263" cy="2834640"/>
          </a:xfrm>
          <a:prstGeom prst="roundRect">
            <a:avLst>
              <a:gd name="adj" fmla="val 2581"/>
            </a:avLst>
          </a:prstGeom>
          <a:solidFill>
            <a:schemeClr val="tx1"/>
          </a:solidFill>
          <a:ln w="12700">
            <a:solidFill>
              <a:schemeClr val="tx1"/>
            </a:solidFill>
            <a:prstDash val="solid"/>
          </a:ln>
        </p:spPr>
      </p:sp>
      <p:sp>
        <p:nvSpPr>
          <p:cNvPr id="9" name="Text 7"/>
          <p:cNvSpPr txBox="1"/>
          <p:nvPr/>
        </p:nvSpPr>
        <p:spPr>
          <a:xfrm>
            <a:off x="6611112" y="1581912"/>
            <a:ext cx="4757623" cy="365760"/>
          </a:xfrm>
          <a:prstGeom prst="rect">
            <a:avLst/>
          </a:prstGeom>
          <a:noFill/>
          <a:ln/>
        </p:spPr>
        <p:txBody>
          <a:bodyPr wrap="square" lIns="0" tIns="0" rIns="0" bIns="0" rtlCol="0" anchor="t">
            <a:normAutofit/>
          </a:bodyPr>
          <a:lstStyle/>
          <a:p>
            <a:pPr indent="0" marL="0">
              <a:buNone/>
            </a:pPr>
            <a:r>
              <a:rPr lang="en-US" sz="1350" b="1" dirty="0">
                <a:solidFill>
                  <a:schemeClr val="accent6"/>
                </a:solidFill>
                <a:latin typeface="Arial" pitchFamily="34" charset="0"/>
                <a:ea typeface="Arial" pitchFamily="34" charset="-122"/>
                <a:cs typeface="Arial" pitchFamily="34" charset="-120"/>
              </a:rPr>
              <a:t>Three fixes the contract forced on the model</a:t>
            </a:r>
            <a:endParaRPr lang="en-US" sz="1350" dirty="0"/>
          </a:p>
        </p:txBody>
      </p:sp>
      <p:sp>
        <p:nvSpPr>
          <p:cNvPr id="10" name="fix"/>
          <p:cNvSpPr/>
          <p:nvPr/>
        </p:nvSpPr>
        <p:spPr>
          <a:xfrm>
            <a:off x="6611112" y="2002536"/>
            <a:ext cx="329184" cy="329184"/>
          </a:xfrm>
          <a:prstGeom prst="ellipse">
            <a:avLst/>
          </a:prstGeom>
          <a:solidFill>
            <a:schemeClr val="accent1"/>
          </a:solidFill>
          <a:ln w="12700">
            <a:solidFill>
              <a:schemeClr val="accent1"/>
            </a:solidFill>
            <a:prstDash val="solid"/>
          </a:ln>
        </p:spPr>
      </p:sp>
      <p:sp>
        <p:nvSpPr>
          <p:cNvPr id="11" name="Text 9"/>
          <p:cNvSpPr txBox="1"/>
          <p:nvPr/>
        </p:nvSpPr>
        <p:spPr>
          <a:xfrm>
            <a:off x="6611112" y="2002536"/>
            <a:ext cx="329184" cy="329184"/>
          </a:xfrm>
          <a:prstGeom prst="rect">
            <a:avLst/>
          </a:prstGeom>
          <a:noFill/>
          <a:ln/>
        </p:spPr>
        <p:txBody>
          <a:bodyPr wrap="square" lIns="0" tIns="0" rIns="0" bIns="0" rtlCol="0" anchor="ctr">
            <a:normAutofit/>
          </a:bodyPr>
          <a:lstStyle/>
          <a:p>
            <a:pPr algn="ctr" indent="0" marL="0">
              <a:buNone/>
            </a:pPr>
            <a:r>
              <a:rPr lang="en-US" sz="1100" b="1" dirty="0">
                <a:solidFill>
                  <a:schemeClr val="bg1"/>
                </a:solidFill>
                <a:latin typeface="Arial" pitchFamily="34" charset="0"/>
                <a:ea typeface="Arial" pitchFamily="34" charset="-122"/>
                <a:cs typeface="Arial" pitchFamily="34" charset="-120"/>
              </a:rPr>
              <a:t>1</a:t>
            </a:r>
            <a:endParaRPr lang="en-US" sz="1100" dirty="0"/>
          </a:p>
        </p:txBody>
      </p:sp>
      <p:sp>
        <p:nvSpPr>
          <p:cNvPr id="12" name="Text 10"/>
          <p:cNvSpPr txBox="1"/>
          <p:nvPr/>
        </p:nvSpPr>
        <p:spPr>
          <a:xfrm>
            <a:off x="7050024" y="1984248"/>
            <a:ext cx="4318711" cy="713232"/>
          </a:xfrm>
          <a:prstGeom prst="rect">
            <a:avLst/>
          </a:prstGeom>
          <a:noFill/>
          <a:ln/>
        </p:spPr>
        <p:txBody>
          <a:bodyPr wrap="square" lIns="0" tIns="0" rIns="0" bIns="0" rtlCol="0" anchor="t">
            <a:normAutofit/>
          </a:bodyPr>
          <a:lstStyle/>
          <a:p>
            <a:pPr indent="0" marL="0">
              <a:buNone/>
            </a:pPr>
            <a:r>
              <a:rPr lang="en-US" sz="1000" dirty="0">
                <a:solidFill>
                  <a:schemeClr val="bg1"/>
                </a:solidFill>
                <a:latin typeface="Arial" pitchFamily="34" charset="0"/>
                <a:ea typeface="Arial" pitchFamily="34" charset="-122"/>
                <a:cs typeface="Arial" pitchFamily="34" charset="-120"/>
              </a:rPr>
              <a:t>attestation.missing became attestation_missing: every dotted code rewritten to the grammar, a gate_ prefix where a code starts with a digit, and a test that holds every code we emit to it</a:t>
            </a:r>
            <a:endParaRPr lang="en-US" sz="1000" dirty="0"/>
          </a:p>
        </p:txBody>
      </p:sp>
      <p:sp>
        <p:nvSpPr>
          <p:cNvPr id="13" name="fix"/>
          <p:cNvSpPr/>
          <p:nvPr/>
        </p:nvSpPr>
        <p:spPr>
          <a:xfrm>
            <a:off x="6611112" y="2752344"/>
            <a:ext cx="329184" cy="329184"/>
          </a:xfrm>
          <a:prstGeom prst="ellipse">
            <a:avLst/>
          </a:prstGeom>
          <a:solidFill>
            <a:schemeClr val="accent1"/>
          </a:solidFill>
          <a:ln w="12700">
            <a:solidFill>
              <a:schemeClr val="accent1"/>
            </a:solidFill>
            <a:prstDash val="solid"/>
          </a:ln>
        </p:spPr>
      </p:sp>
      <p:sp>
        <p:nvSpPr>
          <p:cNvPr id="14" name="Text 12"/>
          <p:cNvSpPr txBox="1"/>
          <p:nvPr/>
        </p:nvSpPr>
        <p:spPr>
          <a:xfrm>
            <a:off x="6611112" y="2752344"/>
            <a:ext cx="329184" cy="329184"/>
          </a:xfrm>
          <a:prstGeom prst="rect">
            <a:avLst/>
          </a:prstGeom>
          <a:noFill/>
          <a:ln/>
        </p:spPr>
        <p:txBody>
          <a:bodyPr wrap="square" lIns="0" tIns="0" rIns="0" bIns="0" rtlCol="0" anchor="ctr">
            <a:normAutofit/>
          </a:bodyPr>
          <a:lstStyle/>
          <a:p>
            <a:pPr algn="ctr" indent="0" marL="0">
              <a:buNone/>
            </a:pPr>
            <a:r>
              <a:rPr lang="en-US" sz="1100" b="1" dirty="0">
                <a:solidFill>
                  <a:schemeClr val="bg1"/>
                </a:solidFill>
                <a:latin typeface="Arial" pitchFamily="34" charset="0"/>
                <a:ea typeface="Arial" pitchFamily="34" charset="-122"/>
                <a:cs typeface="Arial" pitchFamily="34" charset="-120"/>
              </a:rPr>
              <a:t>2</a:t>
            </a:r>
            <a:endParaRPr lang="en-US" sz="1100" dirty="0"/>
          </a:p>
        </p:txBody>
      </p:sp>
      <p:sp>
        <p:nvSpPr>
          <p:cNvPr id="15" name="Text 13"/>
          <p:cNvSpPr txBox="1"/>
          <p:nvPr/>
        </p:nvSpPr>
        <p:spPr>
          <a:xfrm>
            <a:off x="7050024" y="2734056"/>
            <a:ext cx="4318711" cy="713232"/>
          </a:xfrm>
          <a:prstGeom prst="rect">
            <a:avLst/>
          </a:prstGeom>
          <a:noFill/>
          <a:ln/>
        </p:spPr>
        <p:txBody>
          <a:bodyPr wrap="square" lIns="0" tIns="0" rIns="0" bIns="0" rtlCol="0" anchor="t">
            <a:normAutofit/>
          </a:bodyPr>
          <a:lstStyle/>
          <a:p>
            <a:pPr indent="0" marL="0">
              <a:buNone/>
            </a:pPr>
            <a:r>
              <a:rPr lang="en-US" sz="1000" dirty="0">
                <a:solidFill>
                  <a:schemeClr val="bg1"/>
                </a:solidFill>
                <a:latin typeface="Arial" pitchFamily="34" charset="0"/>
                <a:ea typeface="Arial" pitchFamily="34" charset="-122"/>
                <a:cs typeface="Arial" pitchFamily="34" charset="-120"/>
              </a:rPr>
              <a:t>There is no hold answer. A human hold is a denial that says hold_pending; the approval arrives out of band; the same sandbox's retry of the same request gets the ticket, once. A second sandbox gets its own hold</a:t>
            </a:r>
            <a:endParaRPr lang="en-US" sz="1000" dirty="0"/>
          </a:p>
        </p:txBody>
      </p:sp>
      <p:sp>
        <p:nvSpPr>
          <p:cNvPr id="16" name="fix"/>
          <p:cNvSpPr/>
          <p:nvPr/>
        </p:nvSpPr>
        <p:spPr>
          <a:xfrm>
            <a:off x="6611112" y="3502152"/>
            <a:ext cx="329184" cy="329184"/>
          </a:xfrm>
          <a:prstGeom prst="ellipse">
            <a:avLst/>
          </a:prstGeom>
          <a:solidFill>
            <a:schemeClr val="accent1"/>
          </a:solidFill>
          <a:ln w="12700">
            <a:solidFill>
              <a:schemeClr val="accent1"/>
            </a:solidFill>
            <a:prstDash val="solid"/>
          </a:ln>
        </p:spPr>
      </p:sp>
      <p:sp>
        <p:nvSpPr>
          <p:cNvPr id="17" name="Text 15"/>
          <p:cNvSpPr txBox="1"/>
          <p:nvPr/>
        </p:nvSpPr>
        <p:spPr>
          <a:xfrm>
            <a:off x="6611112" y="3502152"/>
            <a:ext cx="329184" cy="329184"/>
          </a:xfrm>
          <a:prstGeom prst="rect">
            <a:avLst/>
          </a:prstGeom>
          <a:noFill/>
          <a:ln/>
        </p:spPr>
        <p:txBody>
          <a:bodyPr wrap="square" lIns="0" tIns="0" rIns="0" bIns="0" rtlCol="0" anchor="ctr">
            <a:normAutofit/>
          </a:bodyPr>
          <a:lstStyle/>
          <a:p>
            <a:pPr algn="ctr" indent="0" marL="0">
              <a:buNone/>
            </a:pPr>
            <a:r>
              <a:rPr lang="en-US" sz="1100" b="1" dirty="0">
                <a:solidFill>
                  <a:schemeClr val="bg1"/>
                </a:solidFill>
                <a:latin typeface="Arial" pitchFamily="34" charset="0"/>
                <a:ea typeface="Arial" pitchFamily="34" charset="-122"/>
                <a:cs typeface="Arial" pitchFamily="34" charset="-120"/>
              </a:rPr>
              <a:t>3</a:t>
            </a:r>
            <a:endParaRPr lang="en-US" sz="1100" dirty="0"/>
          </a:p>
        </p:txBody>
      </p:sp>
      <p:sp>
        <p:nvSpPr>
          <p:cNvPr id="18" name="Text 16"/>
          <p:cNvSpPr txBox="1"/>
          <p:nvPr/>
        </p:nvSpPr>
        <p:spPr>
          <a:xfrm>
            <a:off x="7050024" y="3483864"/>
            <a:ext cx="4318711" cy="713232"/>
          </a:xfrm>
          <a:prstGeom prst="rect">
            <a:avLst/>
          </a:prstGeom>
          <a:noFill/>
          <a:ln/>
        </p:spPr>
        <p:txBody>
          <a:bodyPr wrap="square" lIns="0" tIns="0" rIns="0" bIns="0" rtlCol="0" anchor="t">
            <a:normAutofit/>
          </a:bodyPr>
          <a:lstStyle/>
          <a:p>
            <a:pPr indent="0" marL="0">
              <a:buNone/>
            </a:pPr>
            <a:r>
              <a:rPr lang="en-US" sz="1000" dirty="0">
                <a:solidFill>
                  <a:schemeClr val="bg1"/>
                </a:solidFill>
                <a:latin typeface="Arial" pitchFamily="34" charset="0"/>
                <a:ea typeface="Arial" pitchFamily="34" charset="-122"/>
                <a:cs typeface="Arial" pitchFamily="34" charset="-120"/>
              </a:rPr>
              <a:t>The answer must land inside the timeout, so a hold cannot wait inside the call. The gate answers in well under a millisecond, thousands of times under the default</a:t>
            </a:r>
            <a:endParaRPr lang="en-US" sz="1000" dirty="0"/>
          </a:p>
        </p:txBody>
      </p:sp>
      <p:sp>
        <p:nvSpPr>
          <p:cNvPr id="19" name="card"/>
          <p:cNvSpPr/>
          <p:nvPr/>
        </p:nvSpPr>
        <p:spPr>
          <a:xfrm>
            <a:off x="548640" y="4434840"/>
            <a:ext cx="3515258" cy="1005840"/>
          </a:xfrm>
          <a:prstGeom prst="roundRect">
            <a:avLst>
              <a:gd name="adj" fmla="val 7273"/>
            </a:avLst>
          </a:prstGeom>
          <a:solidFill>
            <a:schemeClr val="bg2"/>
          </a:solidFill>
          <a:ln w="12700">
            <a:solidFill>
              <a:schemeClr val="bg2"/>
            </a:solidFill>
            <a:prstDash val="solid"/>
          </a:ln>
        </p:spPr>
      </p:sp>
      <p:sp>
        <p:nvSpPr>
          <p:cNvPr id="20" name="Text 18"/>
          <p:cNvSpPr txBox="1"/>
          <p:nvPr/>
        </p:nvSpPr>
        <p:spPr>
          <a:xfrm>
            <a:off x="777240" y="4526280"/>
            <a:ext cx="1463040" cy="822960"/>
          </a:xfrm>
          <a:prstGeom prst="rect">
            <a:avLst/>
          </a:prstGeom>
          <a:noFill/>
          <a:ln/>
        </p:spPr>
        <p:txBody>
          <a:bodyPr wrap="square" lIns="0" tIns="0" rIns="0" bIns="0" rtlCol="0" anchor="ctr">
            <a:normAutofit/>
          </a:bodyPr>
          <a:lstStyle/>
          <a:p>
            <a:pPr indent="0" marL="0">
              <a:buNone/>
            </a:pPr>
            <a:r>
              <a:rPr lang="en-US" sz="2400" b="1" dirty="0">
                <a:solidFill>
                  <a:schemeClr val="accent1"/>
                </a:solidFill>
                <a:latin typeface="Georgia" pitchFamily="34" charset="0"/>
                <a:ea typeface="Georgia" pitchFamily="34" charset="-122"/>
                <a:cs typeface="Georgia" pitchFamily="34" charset="-120"/>
              </a:rPr>
              <a:t>17 of 87</a:t>
            </a:r>
            <a:endParaRPr lang="en-US" sz="2400" dirty="0"/>
          </a:p>
        </p:txBody>
      </p:sp>
      <p:sp>
        <p:nvSpPr>
          <p:cNvPr id="21" name="Text 19"/>
          <p:cNvSpPr txBox="1"/>
          <p:nvPr/>
        </p:nvSpPr>
        <p:spPr>
          <a:xfrm>
            <a:off x="2331720" y="4526280"/>
            <a:ext cx="1549298" cy="868680"/>
          </a:xfrm>
          <a:prstGeom prst="rect">
            <a:avLst/>
          </a:prstGeom>
          <a:noFill/>
          <a:ln/>
        </p:spPr>
        <p:txBody>
          <a:bodyPr wrap="square" lIns="0" tIns="0" rIns="0" bIns="0" rtlCol="0" anchor="ctr">
            <a:normAutofit/>
          </a:bodyPr>
          <a:lstStyle/>
          <a:p>
            <a:pPr indent="0" marL="0">
              <a:buNone/>
            </a:pPr>
            <a:r>
              <a:rPr lang="en-US" sz="950" dirty="0">
                <a:solidFill>
                  <a:schemeClr val="tx1"/>
                </a:solidFill>
                <a:latin typeface="Arial" pitchFamily="34" charset="0"/>
                <a:ea typeface="Arial" pitchFamily="34" charset="-122"/>
                <a:cs typeface="Arial" pitchFamily="34" charset="-120"/>
              </a:rPr>
              <a:t>catalogue entries run on that path: 13 attacks blocked, 4 baselines allowed, against a node whose policy requires Sentry's verdict</a:t>
            </a:r>
            <a:endParaRPr lang="en-US" sz="950" dirty="0"/>
          </a:p>
        </p:txBody>
      </p:sp>
      <p:sp>
        <p:nvSpPr>
          <p:cNvPr id="22" name="card"/>
          <p:cNvSpPr/>
          <p:nvPr/>
        </p:nvSpPr>
        <p:spPr>
          <a:xfrm>
            <a:off x="4338218" y="4434840"/>
            <a:ext cx="3515258" cy="1005840"/>
          </a:xfrm>
          <a:prstGeom prst="roundRect">
            <a:avLst>
              <a:gd name="adj" fmla="val 7273"/>
            </a:avLst>
          </a:prstGeom>
          <a:solidFill>
            <a:schemeClr val="bg2"/>
          </a:solidFill>
          <a:ln w="12700">
            <a:solidFill>
              <a:schemeClr val="bg2"/>
            </a:solidFill>
            <a:prstDash val="solid"/>
          </a:ln>
        </p:spPr>
      </p:sp>
      <p:sp>
        <p:nvSpPr>
          <p:cNvPr id="23" name="Text 21"/>
          <p:cNvSpPr txBox="1"/>
          <p:nvPr/>
        </p:nvSpPr>
        <p:spPr>
          <a:xfrm>
            <a:off x="4566818" y="4526280"/>
            <a:ext cx="1463040" cy="822960"/>
          </a:xfrm>
          <a:prstGeom prst="rect">
            <a:avLst/>
          </a:prstGeom>
          <a:noFill/>
          <a:ln/>
        </p:spPr>
        <p:txBody>
          <a:bodyPr wrap="square" lIns="0" tIns="0" rIns="0" bIns="0" rtlCol="0" anchor="ctr">
            <a:normAutofit/>
          </a:bodyPr>
          <a:lstStyle/>
          <a:p>
            <a:pPr indent="0" marL="0">
              <a:buNone/>
            </a:pPr>
            <a:r>
              <a:rPr lang="en-US" sz="2400" b="1" dirty="0">
                <a:solidFill>
                  <a:schemeClr val="accent1"/>
                </a:solidFill>
                <a:latin typeface="Georgia" pitchFamily="34" charset="0"/>
                <a:ea typeface="Georgia" pitchFamily="34" charset="-122"/>
                <a:cs typeface="Georgia" pitchFamily="34" charset="-120"/>
              </a:rPr>
              <a:t>56</a:t>
            </a:r>
            <a:endParaRPr lang="en-US" sz="2400" dirty="0"/>
          </a:p>
        </p:txBody>
      </p:sp>
      <p:sp>
        <p:nvSpPr>
          <p:cNvPr id="24" name="Text 22"/>
          <p:cNvSpPr txBox="1"/>
          <p:nvPr/>
        </p:nvSpPr>
        <p:spPr>
          <a:xfrm>
            <a:off x="6121298" y="4526280"/>
            <a:ext cx="1549298" cy="868680"/>
          </a:xfrm>
          <a:prstGeom prst="rect">
            <a:avLst/>
          </a:prstGeom>
          <a:noFill/>
          <a:ln/>
        </p:spPr>
        <p:txBody>
          <a:bodyPr wrap="square" lIns="0" tIns="0" rIns="0" bIns="0" rtlCol="0" anchor="ctr">
            <a:normAutofit/>
          </a:bodyPr>
          <a:lstStyle/>
          <a:p>
            <a:pPr indent="0" marL="0">
              <a:buNone/>
            </a:pPr>
            <a:r>
              <a:rPr lang="en-US" sz="950" dirty="0">
                <a:solidFill>
                  <a:schemeClr val="tx1"/>
                </a:solidFill>
                <a:latin typeface="Arial" pitchFamily="34" charset="0"/>
                <a:ea typeface="Arial" pitchFamily="34" charset="-122"/>
                <a:cs typeface="Arial" pitchFamily="34" charset="-120"/>
              </a:rPr>
              <a:t>tests in the reference stack, five of them pinning the shipped contract: the grammar, only the code reaching the sandbox, the ticket as a header change, hold as denial with a once-only retry, the quarantine code</a:t>
            </a:r>
            <a:endParaRPr lang="en-US" sz="950" dirty="0"/>
          </a:p>
        </p:txBody>
      </p:sp>
      <p:sp>
        <p:nvSpPr>
          <p:cNvPr id="25" name="card"/>
          <p:cNvSpPr/>
          <p:nvPr/>
        </p:nvSpPr>
        <p:spPr>
          <a:xfrm>
            <a:off x="8127797" y="4434840"/>
            <a:ext cx="3515258" cy="1005840"/>
          </a:xfrm>
          <a:prstGeom prst="roundRect">
            <a:avLst>
              <a:gd name="adj" fmla="val 7273"/>
            </a:avLst>
          </a:prstGeom>
          <a:solidFill>
            <a:schemeClr val="bg2"/>
          </a:solidFill>
          <a:ln w="12700">
            <a:solidFill>
              <a:schemeClr val="bg2"/>
            </a:solidFill>
            <a:prstDash val="solid"/>
          </a:ln>
        </p:spPr>
      </p:sp>
      <p:sp>
        <p:nvSpPr>
          <p:cNvPr id="26" name="Text 24"/>
          <p:cNvSpPr txBox="1"/>
          <p:nvPr/>
        </p:nvSpPr>
        <p:spPr>
          <a:xfrm>
            <a:off x="8356397" y="4526280"/>
            <a:ext cx="1463040" cy="822960"/>
          </a:xfrm>
          <a:prstGeom prst="rect">
            <a:avLst/>
          </a:prstGeom>
          <a:noFill/>
          <a:ln/>
        </p:spPr>
        <p:txBody>
          <a:bodyPr wrap="square" lIns="0" tIns="0" rIns="0" bIns="0" rtlCol="0" anchor="ctr">
            <a:normAutofit/>
          </a:bodyPr>
          <a:lstStyle/>
          <a:p>
            <a:pPr indent="0" marL="0">
              <a:buNone/>
            </a:pPr>
            <a:r>
              <a:rPr lang="en-US" sz="2400" b="1" dirty="0">
                <a:solidFill>
                  <a:schemeClr val="accent1"/>
                </a:solidFill>
                <a:latin typeface="Georgia" pitchFamily="34" charset="0"/>
                <a:ea typeface="Georgia" pitchFamily="34" charset="-122"/>
                <a:cs typeface="Georgia" pitchFamily="34" charset="-120"/>
              </a:rPr>
              <a:t>1</a:t>
            </a:r>
            <a:endParaRPr lang="en-US" sz="2400" dirty="0"/>
          </a:p>
        </p:txBody>
      </p:sp>
      <p:sp>
        <p:nvSpPr>
          <p:cNvPr id="27" name="Text 25"/>
          <p:cNvSpPr txBox="1"/>
          <p:nvPr/>
        </p:nvSpPr>
        <p:spPr>
          <a:xfrm>
            <a:off x="9910877" y="4526280"/>
            <a:ext cx="1549298" cy="868680"/>
          </a:xfrm>
          <a:prstGeom prst="rect">
            <a:avLst/>
          </a:prstGeom>
          <a:noFill/>
          <a:ln/>
        </p:spPr>
        <p:txBody>
          <a:bodyPr wrap="square" lIns="0" tIns="0" rIns="0" bIns="0" rtlCol="0" anchor="ctr">
            <a:normAutofit/>
          </a:bodyPr>
          <a:lstStyle/>
          <a:p>
            <a:pPr indent="0" marL="0">
              <a:buNone/>
            </a:pPr>
            <a:r>
              <a:rPr lang="en-US" sz="950" dirty="0">
                <a:solidFill>
                  <a:schemeClr val="tx1"/>
                </a:solidFill>
                <a:latin typeface="Arial" pitchFamily="34" charset="0"/>
                <a:ea typeface="Arial" pitchFamily="34" charset="-122"/>
                <a:cs typeface="Arial" pitchFamily="34" charset="-120"/>
              </a:rPr>
              <a:t>rulebook: OpenShell's network policy is derived from the governor's rulebook, so the two cannot disagree about which hosts an agent may reach; Sentry's verdict is a required witness; a quarantine closes the path first</a:t>
            </a:r>
            <a:endParaRPr lang="en-US" sz="950" dirty="0"/>
          </a:p>
        </p:txBody>
      </p:sp>
      <p:sp>
        <p:nvSpPr>
          <p:cNvPr id="28" name="analogy"/>
          <p:cNvSpPr/>
          <p:nvPr/>
        </p:nvSpPr>
        <p:spPr>
          <a:xfrm>
            <a:off x="548640" y="5532120"/>
            <a:ext cx="11094415" cy="731520"/>
          </a:xfrm>
          <a:prstGeom prst="roundRect">
            <a:avLst>
              <a:gd name="adj" fmla="val 10000"/>
            </a:avLst>
          </a:prstGeom>
          <a:solidFill>
            <a:schemeClr val="tx1"/>
          </a:solidFill>
          <a:ln w="12700">
            <a:solidFill>
              <a:schemeClr val="tx1"/>
            </a:solidFill>
            <a:prstDash val="solid"/>
          </a:ln>
        </p:spPr>
      </p:sp>
      <p:sp>
        <p:nvSpPr>
          <p:cNvPr id="29" name="Text 27"/>
          <p:cNvSpPr txBox="1"/>
          <p:nvPr/>
        </p:nvSpPr>
        <p:spPr>
          <a:xfrm>
            <a:off x="822960" y="5532120"/>
            <a:ext cx="1554480" cy="73152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Part 5; docs/NVIDIA.md</a:t>
            </a:r>
            <a:endParaRPr lang="en-US" sz="1000" dirty="0"/>
          </a:p>
        </p:txBody>
      </p:sp>
      <p:sp>
        <p:nvSpPr>
          <p:cNvPr id="30" name="Text 28"/>
          <p:cNvSpPr txBox="1"/>
          <p:nvPr/>
        </p:nvSpPr>
        <p:spPr>
          <a:xfrm>
            <a:off x="2514600" y="5532120"/>
            <a:ext cx="8854135" cy="73152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What the chip adds is the part no runtime can give itself: a decision made in a part no agent process can patch, with keys no process can read, and levers a software quarantine does not have. The Alliance says its stack rests on hardware identity, isolation, protected keys and evidence. Fine by me. That is the chip.</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The layers: witnesses above, the lock below</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20</a:t>
            </a:r>
            <a:endParaRPr lang="en-US" sz="1100" dirty="0"/>
          </a:p>
        </p:txBody>
      </p:sp>
      <p:sp>
        <p:nvSpPr>
          <p:cNvPr id="5" name="layer 5"/>
          <p:cNvSpPr/>
          <p:nvPr/>
        </p:nvSpPr>
        <p:spPr>
          <a:xfrm>
            <a:off x="548640" y="1417320"/>
            <a:ext cx="11094415" cy="548640"/>
          </a:xfrm>
          <a:prstGeom prst="roundRect">
            <a:avLst>
              <a:gd name="adj" fmla="val 10000"/>
            </a:avLst>
          </a:prstGeom>
          <a:solidFill>
            <a:schemeClr val="tx2"/>
          </a:solidFill>
          <a:ln w="12700">
            <a:solidFill>
              <a:schemeClr val="tx2"/>
            </a:solidFill>
            <a:prstDash val="solid"/>
          </a:ln>
        </p:spPr>
      </p:sp>
      <p:sp>
        <p:nvSpPr>
          <p:cNvPr id="6" name="Text 4"/>
          <p:cNvSpPr txBox="1"/>
          <p:nvPr/>
        </p:nvSpPr>
        <p:spPr>
          <a:xfrm>
            <a:off x="731520" y="1417320"/>
            <a:ext cx="365760" cy="548640"/>
          </a:xfrm>
          <a:prstGeom prst="rect">
            <a:avLst/>
          </a:prstGeom>
          <a:noFill/>
          <a:ln/>
        </p:spPr>
        <p:txBody>
          <a:bodyPr wrap="square" lIns="0" tIns="0" rIns="0" bIns="0" rtlCol="0" anchor="ctr">
            <a:normAutofit/>
          </a:bodyPr>
          <a:lstStyle/>
          <a:p>
            <a:pPr indent="0" marL="0">
              <a:buNone/>
            </a:pPr>
            <a:r>
              <a:rPr lang="en-US" sz="2000" b="1" dirty="0">
                <a:solidFill>
                  <a:schemeClr val="accent6"/>
                </a:solidFill>
                <a:latin typeface="Georgia" pitchFamily="34" charset="0"/>
                <a:ea typeface="Georgia" pitchFamily="34" charset="-122"/>
                <a:cs typeface="Georgia" pitchFamily="34" charset="-120"/>
              </a:rPr>
              <a:t>5</a:t>
            </a:r>
            <a:endParaRPr lang="en-US" sz="2000" dirty="0"/>
          </a:p>
        </p:txBody>
      </p:sp>
      <p:sp>
        <p:nvSpPr>
          <p:cNvPr id="7" name="icon circle"/>
          <p:cNvSpPr/>
          <p:nvPr/>
        </p:nvSpPr>
        <p:spPr>
          <a:xfrm>
            <a:off x="1188720" y="1490472"/>
            <a:ext cx="402336" cy="402336"/>
          </a:xfrm>
          <a:prstGeom prst="ellipse">
            <a:avLst/>
          </a:prstGeom>
          <a:solidFill>
            <a:schemeClr val="accent1"/>
          </a:solidFill>
          <a:ln w="12700">
            <a:solidFill>
              <a:schemeClr val="accent1"/>
            </a:solidFill>
            <a:prstDash val="solid"/>
          </a:ln>
        </p:spPr>
      </p:sp>
      <p:pic>
        <p:nvPicPr>
          <p:cNvPr id="8" name="FiBook" descr="preencoded.png">    </p:cNvPr>
          <p:cNvPicPr>
            <a:picLocks noChangeAspect="1"/>
          </p:cNvPicPr>
          <p:nvPr/>
        </p:nvPicPr>
        <p:blipFill>
          <a:blip r:embed="rId1"/>
          <a:stretch>
            <a:fillRect/>
          </a:stretch>
        </p:blipFill>
        <p:spPr>
          <a:xfrm>
            <a:off x="1289304" y="1591056"/>
            <a:ext cx="201168" cy="201168"/>
          </a:xfrm>
          <a:prstGeom prst="rect">
            <a:avLst/>
          </a:prstGeom>
        </p:spPr>
      </p:pic>
      <p:sp>
        <p:nvSpPr>
          <p:cNvPr id="9" name="Text 6"/>
          <p:cNvSpPr txBox="1"/>
          <p:nvPr/>
        </p:nvSpPr>
        <p:spPr>
          <a:xfrm>
            <a:off x="1737360" y="1417320"/>
            <a:ext cx="2286000" cy="548640"/>
          </a:xfrm>
          <a:prstGeom prst="rect">
            <a:avLst/>
          </a:prstGeom>
          <a:noFill/>
          <a:ln/>
        </p:spPr>
        <p:txBody>
          <a:bodyPr wrap="square" lIns="0" tIns="0" rIns="0" bIns="0" rtlCol="0" anchor="ctr">
            <a:normAutofit/>
          </a:bodyPr>
          <a:lstStyle/>
          <a:p>
            <a:pPr indent="0" marL="0">
              <a:buNone/>
            </a:pPr>
            <a:r>
              <a:rPr lang="en-US" sz="1400" b="1" dirty="0">
                <a:solidFill>
                  <a:schemeClr val="bg1"/>
                </a:solidFill>
                <a:latin typeface="Arial" pitchFamily="34" charset="0"/>
                <a:ea typeface="Arial" pitchFamily="34" charset="-122"/>
                <a:cs typeface="Arial" pitchFamily="34" charset="-120"/>
              </a:rPr>
              <a:t>Governance root</a:t>
            </a:r>
            <a:endParaRPr lang="en-US" sz="1400" dirty="0"/>
          </a:p>
        </p:txBody>
      </p:sp>
      <p:sp>
        <p:nvSpPr>
          <p:cNvPr id="10" name="Text 7"/>
          <p:cNvSpPr txBox="1"/>
          <p:nvPr/>
        </p:nvSpPr>
        <p:spPr>
          <a:xfrm>
            <a:off x="4114800" y="1417320"/>
            <a:ext cx="6355080" cy="548640"/>
          </a:xfrm>
          <a:prstGeom prst="rect">
            <a:avLst/>
          </a:prstGeom>
          <a:noFill/>
          <a:ln/>
        </p:spPr>
        <p:txBody>
          <a:bodyPr wrap="square" lIns="0" tIns="0" rIns="0" bIns="0" rtlCol="0" anchor="ctr">
            <a:normAutofit/>
          </a:bodyPr>
          <a:lstStyle/>
          <a:p>
            <a:pPr indent="0" marL="0">
              <a:buNone/>
            </a:pPr>
            <a:r>
              <a:rPr lang="en-US" sz="1050" dirty="0">
                <a:solidFill>
                  <a:schemeClr val="bg1"/>
                </a:solidFill>
                <a:latin typeface="Arial" pitchFamily="34" charset="0"/>
                <a:ea typeface="Arial" pitchFamily="34" charset="-122"/>
                <a:cs typeface="Arial" pitchFamily="34" charset="-120"/>
              </a:rPr>
              <a:t>Signs the rulebook, the approved-firmware list and revocations. Separate from the chip vendor on purpose; the open question is how far apart its key holders must be</a:t>
            </a:r>
            <a:endParaRPr lang="en-US" sz="1050" dirty="0"/>
          </a:p>
        </p:txBody>
      </p:sp>
      <p:sp>
        <p:nvSpPr>
          <p:cNvPr id="11" name="tag"/>
          <p:cNvSpPr/>
          <p:nvPr/>
        </p:nvSpPr>
        <p:spPr>
          <a:xfrm>
            <a:off x="10545775" y="1545336"/>
            <a:ext cx="960120" cy="292608"/>
          </a:xfrm>
          <a:prstGeom prst="roundRect">
            <a:avLst>
              <a:gd name="adj" fmla="val 50000"/>
            </a:avLst>
          </a:prstGeom>
          <a:solidFill>
            <a:schemeClr val="accent1"/>
          </a:solidFill>
          <a:ln w="12700">
            <a:solidFill>
              <a:schemeClr val="accent1"/>
            </a:solidFill>
            <a:prstDash val="solid"/>
          </a:ln>
        </p:spPr>
      </p:sp>
      <p:sp>
        <p:nvSpPr>
          <p:cNvPr id="12" name="Text 9"/>
          <p:cNvSpPr txBox="1"/>
          <p:nvPr/>
        </p:nvSpPr>
        <p:spPr>
          <a:xfrm>
            <a:off x="10545775" y="1545336"/>
            <a:ext cx="960120" cy="292608"/>
          </a:xfrm>
          <a:prstGeom prst="rect">
            <a:avLst/>
          </a:prstGeom>
          <a:noFill/>
          <a:ln/>
        </p:spPr>
        <p:txBody>
          <a:bodyPr wrap="square" lIns="0" tIns="0" rIns="0" bIns="0" rtlCol="0" anchor="ctr">
            <a:normAutofit/>
          </a:bodyPr>
          <a:lstStyle/>
          <a:p>
            <a:pPr algn="ctr" indent="0" marL="0">
              <a:buNone/>
            </a:pPr>
            <a:r>
              <a:rPr lang="en-US" sz="900" b="1" dirty="0">
                <a:solidFill>
                  <a:schemeClr val="bg1"/>
                </a:solidFill>
                <a:latin typeface="Arial" pitchFamily="34" charset="0"/>
                <a:ea typeface="Arial" pitchFamily="34" charset="-122"/>
                <a:cs typeface="Arial" pitchFamily="34" charset="-120"/>
              </a:rPr>
              <a:t>LOCK</a:t>
            </a:r>
            <a:endParaRPr lang="en-US" sz="900" dirty="0"/>
          </a:p>
        </p:txBody>
      </p:sp>
      <p:sp>
        <p:nvSpPr>
          <p:cNvPr id="13" name="layer 4"/>
          <p:cNvSpPr/>
          <p:nvPr/>
        </p:nvSpPr>
        <p:spPr>
          <a:xfrm>
            <a:off x="548640" y="2057400"/>
            <a:ext cx="11094415" cy="548640"/>
          </a:xfrm>
          <a:prstGeom prst="roundRect">
            <a:avLst>
              <a:gd name="adj" fmla="val 10000"/>
            </a:avLst>
          </a:prstGeom>
          <a:solidFill>
            <a:schemeClr val="tx2"/>
          </a:solidFill>
          <a:ln w="12700">
            <a:solidFill>
              <a:schemeClr val="tx2"/>
            </a:solidFill>
            <a:prstDash val="solid"/>
          </a:ln>
        </p:spPr>
      </p:sp>
      <p:sp>
        <p:nvSpPr>
          <p:cNvPr id="14" name="Text 11"/>
          <p:cNvSpPr txBox="1"/>
          <p:nvPr/>
        </p:nvSpPr>
        <p:spPr>
          <a:xfrm>
            <a:off x="731520" y="2057400"/>
            <a:ext cx="365760" cy="548640"/>
          </a:xfrm>
          <a:prstGeom prst="rect">
            <a:avLst/>
          </a:prstGeom>
          <a:noFill/>
          <a:ln/>
        </p:spPr>
        <p:txBody>
          <a:bodyPr wrap="square" lIns="0" tIns="0" rIns="0" bIns="0" rtlCol="0" anchor="ctr">
            <a:normAutofit/>
          </a:bodyPr>
          <a:lstStyle/>
          <a:p>
            <a:pPr indent="0" marL="0">
              <a:buNone/>
            </a:pPr>
            <a:r>
              <a:rPr lang="en-US" sz="2000" b="1" dirty="0">
                <a:solidFill>
                  <a:schemeClr val="accent6"/>
                </a:solidFill>
                <a:latin typeface="Georgia" pitchFamily="34" charset="0"/>
                <a:ea typeface="Georgia" pitchFamily="34" charset="-122"/>
                <a:cs typeface="Georgia" pitchFamily="34" charset="-120"/>
              </a:rPr>
              <a:t>4</a:t>
            </a:r>
            <a:endParaRPr lang="en-US" sz="2000" dirty="0"/>
          </a:p>
        </p:txBody>
      </p:sp>
      <p:sp>
        <p:nvSpPr>
          <p:cNvPr id="15" name="icon circle"/>
          <p:cNvSpPr/>
          <p:nvPr/>
        </p:nvSpPr>
        <p:spPr>
          <a:xfrm>
            <a:off x="1188720" y="2130552"/>
            <a:ext cx="402336" cy="402336"/>
          </a:xfrm>
          <a:prstGeom prst="ellipse">
            <a:avLst/>
          </a:prstGeom>
          <a:solidFill>
            <a:schemeClr val="accent1"/>
          </a:solidFill>
          <a:ln w="12700">
            <a:solidFill>
              <a:schemeClr val="accent1"/>
            </a:solidFill>
            <a:prstDash val="solid"/>
          </a:ln>
        </p:spPr>
      </p:sp>
      <p:pic>
        <p:nvPicPr>
          <p:cNvPr id="16" name="FiShield" descr="preencoded.png">    </p:cNvPr>
          <p:cNvPicPr>
            <a:picLocks noChangeAspect="1"/>
          </p:cNvPicPr>
          <p:nvPr/>
        </p:nvPicPr>
        <p:blipFill>
          <a:blip r:embed="rId2"/>
          <a:stretch>
            <a:fillRect/>
          </a:stretch>
        </p:blipFill>
        <p:spPr>
          <a:xfrm>
            <a:off x="1289304" y="2231136"/>
            <a:ext cx="201168" cy="201168"/>
          </a:xfrm>
          <a:prstGeom prst="rect">
            <a:avLst/>
          </a:prstGeom>
        </p:spPr>
      </p:pic>
      <p:sp>
        <p:nvSpPr>
          <p:cNvPr id="17" name="Text 13"/>
          <p:cNvSpPr txBox="1"/>
          <p:nvPr/>
        </p:nvSpPr>
        <p:spPr>
          <a:xfrm>
            <a:off x="1737360" y="2057400"/>
            <a:ext cx="2286000" cy="548640"/>
          </a:xfrm>
          <a:prstGeom prst="rect">
            <a:avLst/>
          </a:prstGeom>
          <a:noFill/>
          <a:ln/>
        </p:spPr>
        <p:txBody>
          <a:bodyPr wrap="square" lIns="0" tIns="0" rIns="0" bIns="0" rtlCol="0" anchor="ctr">
            <a:normAutofit/>
          </a:bodyPr>
          <a:lstStyle/>
          <a:p>
            <a:pPr indent="0" marL="0">
              <a:buNone/>
            </a:pPr>
            <a:r>
              <a:rPr lang="en-US" sz="1400" b="1" dirty="0">
                <a:solidFill>
                  <a:schemeClr val="bg1"/>
                </a:solidFill>
                <a:latin typeface="Arial" pitchFamily="34" charset="0"/>
                <a:ea typeface="Arial" pitchFamily="34" charset="-122"/>
                <a:cs typeface="Arial" pitchFamily="34" charset="-120"/>
              </a:rPr>
              <a:t>Control plane: the gate</a:t>
            </a:r>
            <a:endParaRPr lang="en-US" sz="1400" dirty="0"/>
          </a:p>
        </p:txBody>
      </p:sp>
      <p:sp>
        <p:nvSpPr>
          <p:cNvPr id="18" name="Text 14"/>
          <p:cNvSpPr txBox="1"/>
          <p:nvPr/>
        </p:nvSpPr>
        <p:spPr>
          <a:xfrm>
            <a:off x="4114800" y="2057400"/>
            <a:ext cx="6355080" cy="548640"/>
          </a:xfrm>
          <a:prstGeom prst="rect">
            <a:avLst/>
          </a:prstGeom>
          <a:noFill/>
          <a:ln/>
        </p:spPr>
        <p:txBody>
          <a:bodyPr wrap="square" lIns="0" tIns="0" rIns="0" bIns="0" rtlCol="0" anchor="ctr">
            <a:normAutofit/>
          </a:bodyPr>
          <a:lstStyle/>
          <a:p>
            <a:pPr indent="0" marL="0">
              <a:buNone/>
            </a:pPr>
            <a:r>
              <a:rPr lang="en-US" sz="1050" dirty="0">
                <a:solidFill>
                  <a:schemeClr val="bg1"/>
                </a:solidFill>
                <a:latin typeface="Arial" pitchFamily="34" charset="0"/>
                <a:ea typeface="Arial" pitchFamily="34" charset="-122"/>
                <a:cs typeface="Arial" pitchFamily="34" charset="-120"/>
              </a:rPr>
              <a:t>Default deny on the only path out: attestation, rulebook, witnesses, budget, human holds, one-time tickets, tamper-evident audit. In software today as OpenShell middleware; in silicon as the governor</a:t>
            </a:r>
            <a:endParaRPr lang="en-US" sz="1050" dirty="0"/>
          </a:p>
        </p:txBody>
      </p:sp>
      <p:sp>
        <p:nvSpPr>
          <p:cNvPr id="19" name="tag"/>
          <p:cNvSpPr/>
          <p:nvPr/>
        </p:nvSpPr>
        <p:spPr>
          <a:xfrm>
            <a:off x="10545775" y="2185416"/>
            <a:ext cx="960120" cy="292608"/>
          </a:xfrm>
          <a:prstGeom prst="roundRect">
            <a:avLst>
              <a:gd name="adj" fmla="val 50000"/>
            </a:avLst>
          </a:prstGeom>
          <a:solidFill>
            <a:schemeClr val="accent1"/>
          </a:solidFill>
          <a:ln w="12700">
            <a:solidFill>
              <a:schemeClr val="accent1"/>
            </a:solidFill>
            <a:prstDash val="solid"/>
          </a:ln>
        </p:spPr>
      </p:sp>
      <p:sp>
        <p:nvSpPr>
          <p:cNvPr id="20" name="Text 16"/>
          <p:cNvSpPr txBox="1"/>
          <p:nvPr/>
        </p:nvSpPr>
        <p:spPr>
          <a:xfrm>
            <a:off x="10545775" y="2185416"/>
            <a:ext cx="960120" cy="292608"/>
          </a:xfrm>
          <a:prstGeom prst="rect">
            <a:avLst/>
          </a:prstGeom>
          <a:noFill/>
          <a:ln/>
        </p:spPr>
        <p:txBody>
          <a:bodyPr wrap="square" lIns="0" tIns="0" rIns="0" bIns="0" rtlCol="0" anchor="ctr">
            <a:normAutofit/>
          </a:bodyPr>
          <a:lstStyle/>
          <a:p>
            <a:pPr algn="ctr" indent="0" marL="0">
              <a:buNone/>
            </a:pPr>
            <a:r>
              <a:rPr lang="en-US" sz="900" b="1" dirty="0">
                <a:solidFill>
                  <a:schemeClr val="bg1"/>
                </a:solidFill>
                <a:latin typeface="Arial" pitchFamily="34" charset="0"/>
                <a:ea typeface="Arial" pitchFamily="34" charset="-122"/>
                <a:cs typeface="Arial" pitchFamily="34" charset="-120"/>
              </a:rPr>
              <a:t>LOCK</a:t>
            </a:r>
            <a:endParaRPr lang="en-US" sz="900" dirty="0"/>
          </a:p>
        </p:txBody>
      </p:sp>
      <p:sp>
        <p:nvSpPr>
          <p:cNvPr id="21" name="layer 3"/>
          <p:cNvSpPr/>
          <p:nvPr/>
        </p:nvSpPr>
        <p:spPr>
          <a:xfrm>
            <a:off x="548640" y="2697480"/>
            <a:ext cx="11094415" cy="548640"/>
          </a:xfrm>
          <a:prstGeom prst="roundRect">
            <a:avLst>
              <a:gd name="adj" fmla="val 10000"/>
            </a:avLst>
          </a:prstGeom>
          <a:solidFill>
            <a:schemeClr val="bg2"/>
          </a:solidFill>
          <a:ln w="12700">
            <a:solidFill>
              <a:schemeClr val="bg2"/>
            </a:solidFill>
            <a:prstDash val="solid"/>
          </a:ln>
        </p:spPr>
      </p:sp>
      <p:sp>
        <p:nvSpPr>
          <p:cNvPr id="22" name="Text 18"/>
          <p:cNvSpPr txBox="1"/>
          <p:nvPr/>
        </p:nvSpPr>
        <p:spPr>
          <a:xfrm>
            <a:off x="731520" y="2697480"/>
            <a:ext cx="365760" cy="548640"/>
          </a:xfrm>
          <a:prstGeom prst="rect">
            <a:avLst/>
          </a:prstGeom>
          <a:noFill/>
          <a:ln/>
        </p:spPr>
        <p:txBody>
          <a:bodyPr wrap="square" lIns="0" tIns="0" rIns="0" bIns="0" rtlCol="0" anchor="ctr">
            <a:normAutofit/>
          </a:bodyPr>
          <a:lstStyle/>
          <a:p>
            <a:pPr indent="0" marL="0">
              <a:buNone/>
            </a:pPr>
            <a:r>
              <a:rPr lang="en-US" sz="2000" b="1" dirty="0">
                <a:solidFill>
                  <a:schemeClr val="accent1"/>
                </a:solidFill>
                <a:latin typeface="Georgia" pitchFamily="34" charset="0"/>
                <a:ea typeface="Georgia" pitchFamily="34" charset="-122"/>
                <a:cs typeface="Georgia" pitchFamily="34" charset="-120"/>
              </a:rPr>
              <a:t>3</a:t>
            </a:r>
            <a:endParaRPr lang="en-US" sz="2000" dirty="0"/>
          </a:p>
        </p:txBody>
      </p:sp>
      <p:sp>
        <p:nvSpPr>
          <p:cNvPr id="23" name="icon circle"/>
          <p:cNvSpPr/>
          <p:nvPr/>
        </p:nvSpPr>
        <p:spPr>
          <a:xfrm>
            <a:off x="1188720" y="2770632"/>
            <a:ext cx="402336" cy="402336"/>
          </a:xfrm>
          <a:prstGeom prst="ellipse">
            <a:avLst/>
          </a:prstGeom>
          <a:solidFill>
            <a:schemeClr val="tx2"/>
          </a:solidFill>
          <a:ln w="12700">
            <a:solidFill>
              <a:schemeClr val="tx2"/>
            </a:solidFill>
            <a:prstDash val="solid"/>
          </a:ln>
        </p:spPr>
      </p:sp>
      <p:pic>
        <p:nvPicPr>
          <p:cNvPr id="24" name="FiEye" descr="preencoded.png">    </p:cNvPr>
          <p:cNvPicPr>
            <a:picLocks noChangeAspect="1"/>
          </p:cNvPicPr>
          <p:nvPr/>
        </p:nvPicPr>
        <p:blipFill>
          <a:blip r:embed="rId3"/>
          <a:stretch>
            <a:fillRect/>
          </a:stretch>
        </p:blipFill>
        <p:spPr>
          <a:xfrm>
            <a:off x="1289304" y="2871216"/>
            <a:ext cx="201168" cy="201168"/>
          </a:xfrm>
          <a:prstGeom prst="rect">
            <a:avLst/>
          </a:prstGeom>
        </p:spPr>
      </p:pic>
      <p:sp>
        <p:nvSpPr>
          <p:cNvPr id="25" name="Text 20"/>
          <p:cNvSpPr txBox="1"/>
          <p:nvPr/>
        </p:nvSpPr>
        <p:spPr>
          <a:xfrm>
            <a:off x="1737360" y="2697480"/>
            <a:ext cx="2286000" cy="548640"/>
          </a:xfrm>
          <a:prstGeom prst="rect">
            <a:avLst/>
          </a:prstGeom>
          <a:noFill/>
          <a:ln/>
        </p:spPr>
        <p:txBody>
          <a:bodyPr wrap="square" lIns="0" tIns="0" rIns="0" bIns="0" rtlCol="0" anchor="ctr">
            <a:normAutofit/>
          </a:bodyPr>
          <a:lstStyle/>
          <a:p>
            <a:pPr indent="0" marL="0">
              <a:buNone/>
            </a:pPr>
            <a:r>
              <a:rPr lang="en-US" sz="1400" b="1" dirty="0">
                <a:solidFill>
                  <a:schemeClr val="tx1"/>
                </a:solidFill>
                <a:latin typeface="Arial" pitchFamily="34" charset="0"/>
                <a:ea typeface="Arial" pitchFamily="34" charset="-122"/>
                <a:cs typeface="Arial" pitchFamily="34" charset="-120"/>
              </a:rPr>
              <a:t>Observers</a:t>
            </a:r>
            <a:endParaRPr lang="en-US" sz="1400" dirty="0"/>
          </a:p>
        </p:txBody>
      </p:sp>
      <p:sp>
        <p:nvSpPr>
          <p:cNvPr id="26" name="Text 21"/>
          <p:cNvSpPr txBox="1"/>
          <p:nvPr/>
        </p:nvSpPr>
        <p:spPr>
          <a:xfrm>
            <a:off x="4114800" y="2697480"/>
            <a:ext cx="6355080" cy="548640"/>
          </a:xfrm>
          <a:prstGeom prst="rect">
            <a:avLst/>
          </a:prstGeom>
          <a:noFill/>
          <a:ln/>
        </p:spPr>
        <p:txBody>
          <a:bodyPr wrap="square" lIns="0" tIns="0" rIns="0" bIns="0" rtlCol="0" anchor="ctr">
            <a:normAutofit/>
          </a:bodyPr>
          <a:lstStyle/>
          <a:p>
            <a:pPr indent="0" marL="0">
              <a:buNone/>
            </a:pPr>
            <a:r>
              <a:rPr lang="en-US" sz="1050" dirty="0">
                <a:solidFill>
                  <a:schemeClr val="tx1"/>
                </a:solidFill>
                <a:latin typeface="Arial" pitchFamily="34" charset="0"/>
                <a:ea typeface="Arial" pitchFamily="34" charset="-122"/>
                <a:cs typeface="Arial" pitchFamily="34" charset="-120"/>
              </a:rPr>
              <a:t>Sentry on the DPU and the safety observer: fast, cheap early-warning verdicts about one request, signed, consumed as witnesses, with a measured miss rate</a:t>
            </a:r>
            <a:endParaRPr lang="en-US" sz="1050" dirty="0"/>
          </a:p>
        </p:txBody>
      </p:sp>
      <p:sp>
        <p:nvSpPr>
          <p:cNvPr id="27" name="tag"/>
          <p:cNvSpPr/>
          <p:nvPr/>
        </p:nvSpPr>
        <p:spPr>
          <a:xfrm>
            <a:off x="10545775" y="2825496"/>
            <a:ext cx="960120" cy="292608"/>
          </a:xfrm>
          <a:prstGeom prst="roundRect">
            <a:avLst>
              <a:gd name="adj" fmla="val 50000"/>
            </a:avLst>
          </a:prstGeom>
          <a:solidFill>
            <a:schemeClr val="accent3"/>
          </a:solidFill>
          <a:ln w="12700">
            <a:solidFill>
              <a:schemeClr val="accent3"/>
            </a:solidFill>
            <a:prstDash val="solid"/>
          </a:ln>
        </p:spPr>
      </p:sp>
      <p:sp>
        <p:nvSpPr>
          <p:cNvPr id="28" name="Text 23"/>
          <p:cNvSpPr txBox="1"/>
          <p:nvPr/>
        </p:nvSpPr>
        <p:spPr>
          <a:xfrm>
            <a:off x="10545775" y="2825496"/>
            <a:ext cx="960120" cy="292608"/>
          </a:xfrm>
          <a:prstGeom prst="rect">
            <a:avLst/>
          </a:prstGeom>
          <a:noFill/>
          <a:ln/>
        </p:spPr>
        <p:txBody>
          <a:bodyPr wrap="square" lIns="0" tIns="0" rIns="0" bIns="0" rtlCol="0" anchor="ctr">
            <a:normAutofit/>
          </a:bodyPr>
          <a:lstStyle/>
          <a:p>
            <a:pPr algn="ctr" indent="0" marL="0">
              <a:buNone/>
            </a:pPr>
            <a:r>
              <a:rPr lang="en-US" sz="900" b="1" dirty="0">
                <a:solidFill>
                  <a:schemeClr val="bg1"/>
                </a:solidFill>
                <a:latin typeface="Arial" pitchFamily="34" charset="0"/>
                <a:ea typeface="Arial" pitchFamily="34" charset="-122"/>
                <a:cs typeface="Arial" pitchFamily="34" charset="-120"/>
              </a:rPr>
              <a:t>WITNESS</a:t>
            </a:r>
            <a:endParaRPr lang="en-US" sz="900" dirty="0"/>
          </a:p>
        </p:txBody>
      </p:sp>
      <p:sp>
        <p:nvSpPr>
          <p:cNvPr id="29" name="layer 2"/>
          <p:cNvSpPr/>
          <p:nvPr/>
        </p:nvSpPr>
        <p:spPr>
          <a:xfrm>
            <a:off x="548640" y="3337560"/>
            <a:ext cx="11094415" cy="548640"/>
          </a:xfrm>
          <a:prstGeom prst="roundRect">
            <a:avLst>
              <a:gd name="adj" fmla="val 10000"/>
            </a:avLst>
          </a:prstGeom>
          <a:solidFill>
            <a:schemeClr val="bg2"/>
          </a:solidFill>
          <a:ln w="12700">
            <a:solidFill>
              <a:schemeClr val="bg2"/>
            </a:solidFill>
            <a:prstDash val="solid"/>
          </a:ln>
        </p:spPr>
      </p:sp>
      <p:sp>
        <p:nvSpPr>
          <p:cNvPr id="30" name="Text 25"/>
          <p:cNvSpPr txBox="1"/>
          <p:nvPr/>
        </p:nvSpPr>
        <p:spPr>
          <a:xfrm>
            <a:off x="731520" y="3337560"/>
            <a:ext cx="365760" cy="548640"/>
          </a:xfrm>
          <a:prstGeom prst="rect">
            <a:avLst/>
          </a:prstGeom>
          <a:noFill/>
          <a:ln/>
        </p:spPr>
        <p:txBody>
          <a:bodyPr wrap="square" lIns="0" tIns="0" rIns="0" bIns="0" rtlCol="0" anchor="ctr">
            <a:normAutofit/>
          </a:bodyPr>
          <a:lstStyle/>
          <a:p>
            <a:pPr indent="0" marL="0">
              <a:buNone/>
            </a:pPr>
            <a:r>
              <a:rPr lang="en-US" sz="2000" b="1" dirty="0">
                <a:solidFill>
                  <a:schemeClr val="accent1"/>
                </a:solidFill>
                <a:latin typeface="Georgia" pitchFamily="34" charset="0"/>
                <a:ea typeface="Georgia" pitchFamily="34" charset="-122"/>
                <a:cs typeface="Georgia" pitchFamily="34" charset="-120"/>
              </a:rPr>
              <a:t>2</a:t>
            </a:r>
            <a:endParaRPr lang="en-US" sz="2000" dirty="0"/>
          </a:p>
        </p:txBody>
      </p:sp>
      <p:sp>
        <p:nvSpPr>
          <p:cNvPr id="31" name="icon circle"/>
          <p:cNvSpPr/>
          <p:nvPr/>
        </p:nvSpPr>
        <p:spPr>
          <a:xfrm>
            <a:off x="1188720" y="3410712"/>
            <a:ext cx="402336" cy="402336"/>
          </a:xfrm>
          <a:prstGeom prst="ellipse">
            <a:avLst/>
          </a:prstGeom>
          <a:solidFill>
            <a:schemeClr val="tx2"/>
          </a:solidFill>
          <a:ln w="12700">
            <a:solidFill>
              <a:schemeClr val="tx2"/>
            </a:solidFill>
            <a:prstDash val="solid"/>
          </a:ln>
        </p:spPr>
      </p:sp>
      <p:pic>
        <p:nvPicPr>
          <p:cNvPr id="32" name="FiCreditCard" descr="preencoded.png">    </p:cNvPr>
          <p:cNvPicPr>
            <a:picLocks noChangeAspect="1"/>
          </p:cNvPicPr>
          <p:nvPr/>
        </p:nvPicPr>
        <p:blipFill>
          <a:blip r:embed="rId4"/>
          <a:stretch>
            <a:fillRect/>
          </a:stretch>
        </p:blipFill>
        <p:spPr>
          <a:xfrm>
            <a:off x="1289304" y="3511296"/>
            <a:ext cx="201168" cy="201168"/>
          </a:xfrm>
          <a:prstGeom prst="rect">
            <a:avLst/>
          </a:prstGeom>
        </p:spPr>
      </p:pic>
      <p:sp>
        <p:nvSpPr>
          <p:cNvPr id="33" name="Text 27"/>
          <p:cNvSpPr txBox="1"/>
          <p:nvPr/>
        </p:nvSpPr>
        <p:spPr>
          <a:xfrm>
            <a:off x="1737360" y="3337560"/>
            <a:ext cx="2286000" cy="548640"/>
          </a:xfrm>
          <a:prstGeom prst="rect">
            <a:avLst/>
          </a:prstGeom>
          <a:noFill/>
          <a:ln/>
        </p:spPr>
        <p:txBody>
          <a:bodyPr wrap="square" lIns="0" tIns="0" rIns="0" bIns="0" rtlCol="0" anchor="ctr">
            <a:normAutofit/>
          </a:bodyPr>
          <a:lstStyle/>
          <a:p>
            <a:pPr indent="0" marL="0">
              <a:buNone/>
            </a:pPr>
            <a:r>
              <a:rPr lang="en-US" sz="1400" b="1" dirty="0">
                <a:solidFill>
                  <a:schemeClr val="tx1"/>
                </a:solidFill>
                <a:latin typeface="Arial" pitchFamily="34" charset="0"/>
                <a:ea typeface="Arial" pitchFamily="34" charset="-122"/>
                <a:cs typeface="Arial" pitchFamily="34" charset="-120"/>
              </a:rPr>
              <a:t>Provenance</a:t>
            </a:r>
            <a:endParaRPr lang="en-US" sz="1400" dirty="0"/>
          </a:p>
        </p:txBody>
      </p:sp>
      <p:sp>
        <p:nvSpPr>
          <p:cNvPr id="34" name="Text 28"/>
          <p:cNvSpPr txBox="1"/>
          <p:nvPr/>
        </p:nvSpPr>
        <p:spPr>
          <a:xfrm>
            <a:off x="4114800" y="3337560"/>
            <a:ext cx="6355080" cy="548640"/>
          </a:xfrm>
          <a:prstGeom prst="rect">
            <a:avLst/>
          </a:prstGeom>
          <a:noFill/>
          <a:ln/>
        </p:spPr>
        <p:txBody>
          <a:bodyPr wrap="square" lIns="0" tIns="0" rIns="0" bIns="0" rtlCol="0" anchor="ctr">
            <a:normAutofit/>
          </a:bodyPr>
          <a:lstStyle/>
          <a:p>
            <a:pPr indent="0" marL="0">
              <a:buNone/>
            </a:pPr>
            <a:r>
              <a:rPr lang="en-US" sz="1050" dirty="0">
                <a:solidFill>
                  <a:schemeClr val="tx1"/>
                </a:solidFill>
                <a:latin typeface="Arial" pitchFamily="34" charset="0"/>
                <a:ea typeface="Arial" pitchFamily="34" charset="-122"/>
                <a:cs typeface="Arial" pitchFamily="34" charset="-120"/>
              </a:rPr>
              <a:t>Watermark, hardened detector, retrieval, signed registry; a verdict of exact, tampered or unknown. Attribution after the fact, never a lock</a:t>
            </a:r>
            <a:endParaRPr lang="en-US" sz="1050" dirty="0"/>
          </a:p>
        </p:txBody>
      </p:sp>
      <p:sp>
        <p:nvSpPr>
          <p:cNvPr id="35" name="tag"/>
          <p:cNvSpPr/>
          <p:nvPr/>
        </p:nvSpPr>
        <p:spPr>
          <a:xfrm>
            <a:off x="10545775" y="3465576"/>
            <a:ext cx="960120" cy="292608"/>
          </a:xfrm>
          <a:prstGeom prst="roundRect">
            <a:avLst>
              <a:gd name="adj" fmla="val 50000"/>
            </a:avLst>
          </a:prstGeom>
          <a:solidFill>
            <a:schemeClr val="accent3"/>
          </a:solidFill>
          <a:ln w="12700">
            <a:solidFill>
              <a:schemeClr val="accent3"/>
            </a:solidFill>
            <a:prstDash val="solid"/>
          </a:ln>
        </p:spPr>
      </p:sp>
      <p:sp>
        <p:nvSpPr>
          <p:cNvPr id="36" name="Text 30"/>
          <p:cNvSpPr txBox="1"/>
          <p:nvPr/>
        </p:nvSpPr>
        <p:spPr>
          <a:xfrm>
            <a:off x="10545775" y="3465576"/>
            <a:ext cx="960120" cy="292608"/>
          </a:xfrm>
          <a:prstGeom prst="rect">
            <a:avLst/>
          </a:prstGeom>
          <a:noFill/>
          <a:ln/>
        </p:spPr>
        <p:txBody>
          <a:bodyPr wrap="square" lIns="0" tIns="0" rIns="0" bIns="0" rtlCol="0" anchor="ctr">
            <a:normAutofit/>
          </a:bodyPr>
          <a:lstStyle/>
          <a:p>
            <a:pPr algn="ctr" indent="0" marL="0">
              <a:buNone/>
            </a:pPr>
            <a:r>
              <a:rPr lang="en-US" sz="900" b="1" dirty="0">
                <a:solidFill>
                  <a:schemeClr val="bg1"/>
                </a:solidFill>
                <a:latin typeface="Arial" pitchFamily="34" charset="0"/>
                <a:ea typeface="Arial" pitchFamily="34" charset="-122"/>
                <a:cs typeface="Arial" pitchFamily="34" charset="-120"/>
              </a:rPr>
              <a:t>WITNESS</a:t>
            </a:r>
            <a:endParaRPr lang="en-US" sz="900" dirty="0"/>
          </a:p>
        </p:txBody>
      </p:sp>
      <p:sp>
        <p:nvSpPr>
          <p:cNvPr id="37" name="layer 1"/>
          <p:cNvSpPr/>
          <p:nvPr/>
        </p:nvSpPr>
        <p:spPr>
          <a:xfrm>
            <a:off x="548640" y="3977640"/>
            <a:ext cx="11094415" cy="548640"/>
          </a:xfrm>
          <a:prstGeom prst="roundRect">
            <a:avLst>
              <a:gd name="adj" fmla="val 10000"/>
            </a:avLst>
          </a:prstGeom>
          <a:solidFill>
            <a:srgbClr val="FFFFFF"/>
          </a:solidFill>
          <a:ln w="19050">
            <a:solidFill>
              <a:schemeClr val="accent4"/>
            </a:solidFill>
            <a:prstDash val="solid"/>
          </a:ln>
        </p:spPr>
      </p:sp>
      <p:sp>
        <p:nvSpPr>
          <p:cNvPr id="38" name="Text 32"/>
          <p:cNvSpPr txBox="1"/>
          <p:nvPr/>
        </p:nvSpPr>
        <p:spPr>
          <a:xfrm>
            <a:off x="731520" y="3977640"/>
            <a:ext cx="365760" cy="548640"/>
          </a:xfrm>
          <a:prstGeom prst="rect">
            <a:avLst/>
          </a:prstGeom>
          <a:noFill/>
          <a:ln/>
        </p:spPr>
        <p:txBody>
          <a:bodyPr wrap="square" lIns="0" tIns="0" rIns="0" bIns="0" rtlCol="0" anchor="ctr">
            <a:normAutofit/>
          </a:bodyPr>
          <a:lstStyle/>
          <a:p>
            <a:pPr indent="0" marL="0">
              <a:buNone/>
            </a:pPr>
            <a:r>
              <a:rPr lang="en-US" sz="2000" b="1" dirty="0">
                <a:solidFill>
                  <a:schemeClr val="accent1"/>
                </a:solidFill>
                <a:latin typeface="Georgia" pitchFamily="34" charset="0"/>
                <a:ea typeface="Georgia" pitchFamily="34" charset="-122"/>
                <a:cs typeface="Georgia" pitchFamily="34" charset="-120"/>
              </a:rPr>
              <a:t>1</a:t>
            </a:r>
            <a:endParaRPr lang="en-US" sz="2000" dirty="0"/>
          </a:p>
        </p:txBody>
      </p:sp>
      <p:sp>
        <p:nvSpPr>
          <p:cNvPr id="39" name="icon circle"/>
          <p:cNvSpPr/>
          <p:nvPr/>
        </p:nvSpPr>
        <p:spPr>
          <a:xfrm>
            <a:off x="1188720" y="4050792"/>
            <a:ext cx="402336" cy="402336"/>
          </a:xfrm>
          <a:prstGeom prst="ellipse">
            <a:avLst/>
          </a:prstGeom>
          <a:solidFill>
            <a:schemeClr val="tx2"/>
          </a:solidFill>
          <a:ln w="12700">
            <a:solidFill>
              <a:schemeClr val="tx2"/>
            </a:solidFill>
            <a:prstDash val="solid"/>
          </a:ln>
        </p:spPr>
      </p:sp>
      <p:pic>
        <p:nvPicPr>
          <p:cNvPr id="40" name="FiUser" descr="preencoded.png">    </p:cNvPr>
          <p:cNvPicPr>
            <a:picLocks noChangeAspect="1"/>
          </p:cNvPicPr>
          <p:nvPr/>
        </p:nvPicPr>
        <p:blipFill>
          <a:blip r:embed="rId5"/>
          <a:stretch>
            <a:fillRect/>
          </a:stretch>
        </p:blipFill>
        <p:spPr>
          <a:xfrm>
            <a:off x="1289304" y="4151376"/>
            <a:ext cx="201168" cy="201168"/>
          </a:xfrm>
          <a:prstGeom prst="rect">
            <a:avLst/>
          </a:prstGeom>
        </p:spPr>
      </p:pic>
      <p:sp>
        <p:nvSpPr>
          <p:cNvPr id="41" name="Text 34"/>
          <p:cNvSpPr txBox="1"/>
          <p:nvPr/>
        </p:nvSpPr>
        <p:spPr>
          <a:xfrm>
            <a:off x="1737360" y="3977640"/>
            <a:ext cx="2286000" cy="548640"/>
          </a:xfrm>
          <a:prstGeom prst="rect">
            <a:avLst/>
          </a:prstGeom>
          <a:noFill/>
          <a:ln/>
        </p:spPr>
        <p:txBody>
          <a:bodyPr wrap="square" lIns="0" tIns="0" rIns="0" bIns="0" rtlCol="0" anchor="ctr">
            <a:normAutofit/>
          </a:bodyPr>
          <a:lstStyle/>
          <a:p>
            <a:pPr indent="0" marL="0">
              <a:buNone/>
            </a:pPr>
            <a:r>
              <a:rPr lang="en-US" sz="1400" b="1" dirty="0">
                <a:solidFill>
                  <a:schemeClr val="tx1"/>
                </a:solidFill>
                <a:latin typeface="Arial" pitchFamily="34" charset="0"/>
                <a:ea typeface="Arial" pitchFamily="34" charset="-122"/>
                <a:cs typeface="Arial" pitchFamily="34" charset="-120"/>
              </a:rPr>
              <a:t>Model and runtime</a:t>
            </a:r>
            <a:endParaRPr lang="en-US" sz="1400" dirty="0"/>
          </a:p>
        </p:txBody>
      </p:sp>
      <p:sp>
        <p:nvSpPr>
          <p:cNvPr id="42" name="Text 35"/>
          <p:cNvSpPr txBox="1"/>
          <p:nvPr/>
        </p:nvSpPr>
        <p:spPr>
          <a:xfrm>
            <a:off x="4114800" y="3977640"/>
            <a:ext cx="6355080" cy="548640"/>
          </a:xfrm>
          <a:prstGeom prst="rect">
            <a:avLst/>
          </a:prstGeom>
          <a:noFill/>
          <a:ln/>
        </p:spPr>
        <p:txBody>
          <a:bodyPr wrap="square" lIns="0" tIns="0" rIns="0" bIns="0" rtlCol="0" anchor="ctr">
            <a:normAutofit/>
          </a:bodyPr>
          <a:lstStyle/>
          <a:p>
            <a:pPr indent="0" marL="0">
              <a:buNone/>
            </a:pPr>
            <a:r>
              <a:rPr lang="en-US" sz="1050" dirty="0">
                <a:solidFill>
                  <a:schemeClr val="tx1"/>
                </a:solidFill>
                <a:latin typeface="Arial" pitchFamily="34" charset="0"/>
                <a:ea typeface="Arial" pitchFamily="34" charset="-122"/>
                <a:cs typeface="Arial" pitchFamily="34" charset="-120"/>
              </a:rPr>
              <a:t>The model, CUDA, the serving stack, the agent's sandbox. Treated as untrusted; nothing here is allowed to decide anything</a:t>
            </a:r>
            <a:endParaRPr lang="en-US" sz="1050" dirty="0"/>
          </a:p>
        </p:txBody>
      </p:sp>
      <p:sp>
        <p:nvSpPr>
          <p:cNvPr id="43" name="tag"/>
          <p:cNvSpPr/>
          <p:nvPr/>
        </p:nvSpPr>
        <p:spPr>
          <a:xfrm>
            <a:off x="10545775" y="4105656"/>
            <a:ext cx="960120" cy="292608"/>
          </a:xfrm>
          <a:prstGeom prst="roundRect">
            <a:avLst>
              <a:gd name="adj" fmla="val 50000"/>
            </a:avLst>
          </a:prstGeom>
          <a:solidFill>
            <a:schemeClr val="accent4"/>
          </a:solidFill>
          <a:ln w="12700">
            <a:solidFill>
              <a:schemeClr val="accent4"/>
            </a:solidFill>
            <a:prstDash val="solid"/>
          </a:ln>
        </p:spPr>
      </p:sp>
      <p:sp>
        <p:nvSpPr>
          <p:cNvPr id="44" name="Text 37"/>
          <p:cNvSpPr txBox="1"/>
          <p:nvPr/>
        </p:nvSpPr>
        <p:spPr>
          <a:xfrm>
            <a:off x="10545775" y="4105656"/>
            <a:ext cx="960120" cy="292608"/>
          </a:xfrm>
          <a:prstGeom prst="rect">
            <a:avLst/>
          </a:prstGeom>
          <a:noFill/>
          <a:ln/>
        </p:spPr>
        <p:txBody>
          <a:bodyPr wrap="square" lIns="0" tIns="0" rIns="0" bIns="0" rtlCol="0" anchor="ctr">
            <a:normAutofit/>
          </a:bodyPr>
          <a:lstStyle/>
          <a:p>
            <a:pPr algn="ctr" indent="0" marL="0">
              <a:buNone/>
            </a:pPr>
            <a:r>
              <a:rPr lang="en-US" sz="900" b="1" dirty="0">
                <a:solidFill>
                  <a:schemeClr val="bg1"/>
                </a:solidFill>
                <a:latin typeface="Arial" pitchFamily="34" charset="0"/>
                <a:ea typeface="Arial" pitchFamily="34" charset="-122"/>
                <a:cs typeface="Arial" pitchFamily="34" charset="-120"/>
              </a:rPr>
              <a:t>UNTRUSTED</a:t>
            </a:r>
            <a:endParaRPr lang="en-US" sz="900" dirty="0"/>
          </a:p>
        </p:txBody>
      </p:sp>
      <p:sp>
        <p:nvSpPr>
          <p:cNvPr id="45" name="layer 0"/>
          <p:cNvSpPr/>
          <p:nvPr/>
        </p:nvSpPr>
        <p:spPr>
          <a:xfrm>
            <a:off x="548640" y="4617720"/>
            <a:ext cx="11094415" cy="548640"/>
          </a:xfrm>
          <a:prstGeom prst="roundRect">
            <a:avLst>
              <a:gd name="adj" fmla="val 10000"/>
            </a:avLst>
          </a:prstGeom>
          <a:solidFill>
            <a:schemeClr val="tx2"/>
          </a:solidFill>
          <a:ln w="12700">
            <a:solidFill>
              <a:schemeClr val="tx2"/>
            </a:solidFill>
            <a:prstDash val="solid"/>
          </a:ln>
        </p:spPr>
      </p:sp>
      <p:sp>
        <p:nvSpPr>
          <p:cNvPr id="46" name="Text 39"/>
          <p:cNvSpPr txBox="1"/>
          <p:nvPr/>
        </p:nvSpPr>
        <p:spPr>
          <a:xfrm>
            <a:off x="731520" y="4617720"/>
            <a:ext cx="365760" cy="548640"/>
          </a:xfrm>
          <a:prstGeom prst="rect">
            <a:avLst/>
          </a:prstGeom>
          <a:noFill/>
          <a:ln/>
        </p:spPr>
        <p:txBody>
          <a:bodyPr wrap="square" lIns="0" tIns="0" rIns="0" bIns="0" rtlCol="0" anchor="ctr">
            <a:normAutofit/>
          </a:bodyPr>
          <a:lstStyle/>
          <a:p>
            <a:pPr indent="0" marL="0">
              <a:buNone/>
            </a:pPr>
            <a:r>
              <a:rPr lang="en-US" sz="2000" b="1" dirty="0">
                <a:solidFill>
                  <a:schemeClr val="accent6"/>
                </a:solidFill>
                <a:latin typeface="Georgia" pitchFamily="34" charset="0"/>
                <a:ea typeface="Georgia" pitchFamily="34" charset="-122"/>
                <a:cs typeface="Georgia" pitchFamily="34" charset="-120"/>
              </a:rPr>
              <a:t>0</a:t>
            </a:r>
            <a:endParaRPr lang="en-US" sz="2000" dirty="0"/>
          </a:p>
        </p:txBody>
      </p:sp>
      <p:sp>
        <p:nvSpPr>
          <p:cNvPr id="47" name="icon circle"/>
          <p:cNvSpPr/>
          <p:nvPr/>
        </p:nvSpPr>
        <p:spPr>
          <a:xfrm>
            <a:off x="1188720" y="4690872"/>
            <a:ext cx="402336" cy="402336"/>
          </a:xfrm>
          <a:prstGeom prst="ellipse">
            <a:avLst/>
          </a:prstGeom>
          <a:solidFill>
            <a:schemeClr val="accent1"/>
          </a:solidFill>
          <a:ln w="12700">
            <a:solidFill>
              <a:schemeClr val="accent1"/>
            </a:solidFill>
            <a:prstDash val="solid"/>
          </a:ln>
        </p:spPr>
      </p:sp>
      <p:pic>
        <p:nvPicPr>
          <p:cNvPr id="48" name="FiLock" descr="preencoded.png">    </p:cNvPr>
          <p:cNvPicPr>
            <a:picLocks noChangeAspect="1"/>
          </p:cNvPicPr>
          <p:nvPr/>
        </p:nvPicPr>
        <p:blipFill>
          <a:blip r:embed="rId6"/>
          <a:stretch>
            <a:fillRect/>
          </a:stretch>
        </p:blipFill>
        <p:spPr>
          <a:xfrm>
            <a:off x="1289304" y="4791456"/>
            <a:ext cx="201168" cy="201168"/>
          </a:xfrm>
          <a:prstGeom prst="rect">
            <a:avLst/>
          </a:prstGeom>
        </p:spPr>
      </p:pic>
      <p:sp>
        <p:nvSpPr>
          <p:cNvPr id="49" name="Text 41"/>
          <p:cNvSpPr txBox="1"/>
          <p:nvPr/>
        </p:nvSpPr>
        <p:spPr>
          <a:xfrm>
            <a:off x="1737360" y="4617720"/>
            <a:ext cx="2286000" cy="548640"/>
          </a:xfrm>
          <a:prstGeom prst="rect">
            <a:avLst/>
          </a:prstGeom>
          <a:noFill/>
          <a:ln/>
        </p:spPr>
        <p:txBody>
          <a:bodyPr wrap="square" lIns="0" tIns="0" rIns="0" bIns="0" rtlCol="0" anchor="ctr">
            <a:normAutofit/>
          </a:bodyPr>
          <a:lstStyle/>
          <a:p>
            <a:pPr indent="0" marL="0">
              <a:buNone/>
            </a:pPr>
            <a:r>
              <a:rPr lang="en-US" sz="1400" b="1" dirty="0">
                <a:solidFill>
                  <a:schemeClr val="bg1"/>
                </a:solidFill>
                <a:latin typeface="Arial" pitchFamily="34" charset="0"/>
                <a:ea typeface="Arial" pitchFamily="34" charset="-122"/>
                <a:cs typeface="Arial" pitchFamily="34" charset="-120"/>
              </a:rPr>
              <a:t>Silicon root of trust</a:t>
            </a:r>
            <a:endParaRPr lang="en-US" sz="1400" dirty="0"/>
          </a:p>
        </p:txBody>
      </p:sp>
      <p:sp>
        <p:nvSpPr>
          <p:cNvPr id="50" name="Text 42"/>
          <p:cNvSpPr txBox="1"/>
          <p:nvPr/>
        </p:nvSpPr>
        <p:spPr>
          <a:xfrm>
            <a:off x="4114800" y="4617720"/>
            <a:ext cx="6355080" cy="548640"/>
          </a:xfrm>
          <a:prstGeom prst="rect">
            <a:avLst/>
          </a:prstGeom>
          <a:noFill/>
          <a:ln/>
        </p:spPr>
        <p:txBody>
          <a:bodyPr wrap="square" lIns="0" tIns="0" rIns="0" bIns="0" rtlCol="0" anchor="ctr">
            <a:normAutofit/>
          </a:bodyPr>
          <a:lstStyle/>
          <a:p>
            <a:pPr indent="0" marL="0">
              <a:buNone/>
            </a:pPr>
            <a:r>
              <a:rPr lang="en-US" sz="1050" dirty="0">
                <a:solidFill>
                  <a:schemeClr val="bg1"/>
                </a:solidFill>
                <a:latin typeface="Arial" pitchFamily="34" charset="0"/>
                <a:ea typeface="Arial" pitchFamily="34" charset="-122"/>
                <a:cs typeface="Arial" pitchFamily="34" charset="-120"/>
              </a:rPr>
              <a:t>Fused device secret, anti-rollback counter, extend-only measurement registers, DICE key derivation, quote engine</a:t>
            </a:r>
            <a:endParaRPr lang="en-US" sz="1050" dirty="0"/>
          </a:p>
        </p:txBody>
      </p:sp>
      <p:sp>
        <p:nvSpPr>
          <p:cNvPr id="51" name="tag"/>
          <p:cNvSpPr/>
          <p:nvPr/>
        </p:nvSpPr>
        <p:spPr>
          <a:xfrm>
            <a:off x="10545775" y="4745736"/>
            <a:ext cx="960120" cy="292608"/>
          </a:xfrm>
          <a:prstGeom prst="roundRect">
            <a:avLst>
              <a:gd name="adj" fmla="val 50000"/>
            </a:avLst>
          </a:prstGeom>
          <a:solidFill>
            <a:schemeClr val="accent1"/>
          </a:solidFill>
          <a:ln w="12700">
            <a:solidFill>
              <a:schemeClr val="accent1"/>
            </a:solidFill>
            <a:prstDash val="solid"/>
          </a:ln>
        </p:spPr>
      </p:sp>
      <p:sp>
        <p:nvSpPr>
          <p:cNvPr id="52" name="Text 44"/>
          <p:cNvSpPr txBox="1"/>
          <p:nvPr/>
        </p:nvSpPr>
        <p:spPr>
          <a:xfrm>
            <a:off x="10545775" y="4745736"/>
            <a:ext cx="960120" cy="292608"/>
          </a:xfrm>
          <a:prstGeom prst="rect">
            <a:avLst/>
          </a:prstGeom>
          <a:noFill/>
          <a:ln/>
        </p:spPr>
        <p:txBody>
          <a:bodyPr wrap="square" lIns="0" tIns="0" rIns="0" bIns="0" rtlCol="0" anchor="ctr">
            <a:normAutofit/>
          </a:bodyPr>
          <a:lstStyle/>
          <a:p>
            <a:pPr algn="ctr" indent="0" marL="0">
              <a:buNone/>
            </a:pPr>
            <a:r>
              <a:rPr lang="en-US" sz="900" b="1" dirty="0">
                <a:solidFill>
                  <a:schemeClr val="bg1"/>
                </a:solidFill>
                <a:latin typeface="Arial" pitchFamily="34" charset="0"/>
                <a:ea typeface="Arial" pitchFamily="34" charset="-122"/>
                <a:cs typeface="Arial" pitchFamily="34" charset="-120"/>
              </a:rPr>
              <a:t>LOCK</a:t>
            </a:r>
            <a:endParaRPr lang="en-US" sz="900" dirty="0"/>
          </a:p>
        </p:txBody>
      </p:sp>
      <p:sp>
        <p:nvSpPr>
          <p:cNvPr id="53" name="analogy"/>
          <p:cNvSpPr/>
          <p:nvPr/>
        </p:nvSpPr>
        <p:spPr>
          <a:xfrm>
            <a:off x="548640" y="5349240"/>
            <a:ext cx="11094415" cy="822960"/>
          </a:xfrm>
          <a:prstGeom prst="roundRect">
            <a:avLst>
              <a:gd name="adj" fmla="val 8889"/>
            </a:avLst>
          </a:prstGeom>
          <a:solidFill>
            <a:schemeClr val="tx1"/>
          </a:solidFill>
          <a:ln w="12700">
            <a:solidFill>
              <a:schemeClr val="tx1"/>
            </a:solidFill>
            <a:prstDash val="solid"/>
          </a:ln>
        </p:spPr>
      </p:sp>
      <p:sp>
        <p:nvSpPr>
          <p:cNvPr id="54" name="Text 46"/>
          <p:cNvSpPr txBox="1"/>
          <p:nvPr/>
        </p:nvSpPr>
        <p:spPr>
          <a:xfrm>
            <a:off x="822960" y="5349240"/>
            <a:ext cx="1554480" cy="82296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the multi-layer post, layer 3</a:t>
            </a:r>
            <a:endParaRPr lang="en-US" sz="1000" dirty="0"/>
          </a:p>
        </p:txBody>
      </p:sp>
      <p:sp>
        <p:nvSpPr>
          <p:cNvPr id="55" name="Text 47"/>
          <p:cNvSpPr txBox="1"/>
          <p:nvPr/>
        </p:nvSpPr>
        <p:spPr>
          <a:xfrm>
            <a:off x="2514600" y="5349240"/>
            <a:ext cx="8854135" cy="82296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Biology separates the alarm from the muscle. The spinal reflex pulls the hand off the stove before the brain knows; the early warning is fast, cheap and often wrong, and the system tolerates that because the warning never acts on its own. The layers above the chip are reflexes. The chip is the muscle.</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Layers, technically: mechanism, platform</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21</a:t>
            </a:r>
            <a:endParaRPr lang="en-US" sz="1100" dirty="0"/>
          </a:p>
        </p:txBody>
      </p:sp>
      <p:sp>
        <p:nvSpPr>
          <p:cNvPr id="5" name="table header"/>
          <p:cNvSpPr/>
          <p:nvPr/>
        </p:nvSpPr>
        <p:spPr>
          <a:xfrm>
            <a:off x="548640" y="1417320"/>
            <a:ext cx="11094415" cy="384048"/>
          </a:xfrm>
          <a:prstGeom prst="rect">
            <a:avLst/>
          </a:prstGeom>
          <a:solidFill>
            <a:schemeClr val="tx2"/>
          </a:solidFill>
          <a:ln w="12700">
            <a:solidFill>
              <a:schemeClr val="tx2"/>
            </a:solidFill>
            <a:prstDash val="solid"/>
          </a:ln>
        </p:spPr>
      </p:sp>
      <p:sp>
        <p:nvSpPr>
          <p:cNvPr id="6" name="Text 4"/>
          <p:cNvSpPr txBox="1"/>
          <p:nvPr/>
        </p:nvSpPr>
        <p:spPr>
          <a:xfrm>
            <a:off x="630936" y="1417320"/>
            <a:ext cx="1938528"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Layer</a:t>
            </a:r>
            <a:endParaRPr lang="en-US" sz="1000" dirty="0"/>
          </a:p>
        </p:txBody>
      </p:sp>
      <p:sp>
        <p:nvSpPr>
          <p:cNvPr id="7" name="Text 5"/>
          <p:cNvSpPr txBox="1"/>
          <p:nvPr/>
        </p:nvSpPr>
        <p:spPr>
          <a:xfrm>
            <a:off x="2734056" y="1417320"/>
            <a:ext cx="3310128"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Mechanism</a:t>
            </a:r>
            <a:endParaRPr lang="en-US" sz="1000" dirty="0"/>
          </a:p>
        </p:txBody>
      </p:sp>
      <p:sp>
        <p:nvSpPr>
          <p:cNvPr id="8" name="Text 6"/>
          <p:cNvSpPr txBox="1"/>
          <p:nvPr/>
        </p:nvSpPr>
        <p:spPr>
          <a:xfrm>
            <a:off x="6208776" y="1417320"/>
            <a:ext cx="2395728"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What it signs or checks</a:t>
            </a:r>
            <a:endParaRPr lang="en-US" sz="1000" dirty="0"/>
          </a:p>
        </p:txBody>
      </p:sp>
      <p:sp>
        <p:nvSpPr>
          <p:cNvPr id="9" name="Text 7"/>
          <p:cNvSpPr txBox="1"/>
          <p:nvPr/>
        </p:nvSpPr>
        <p:spPr>
          <a:xfrm>
            <a:off x="8769096" y="1417320"/>
            <a:ext cx="2791663"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On NVIDIA's platform</a:t>
            </a:r>
            <a:endParaRPr lang="en-US" sz="1000" dirty="0"/>
          </a:p>
        </p:txBody>
      </p:sp>
      <p:sp>
        <p:nvSpPr>
          <p:cNvPr id="10" name="table row"/>
          <p:cNvSpPr/>
          <p:nvPr/>
        </p:nvSpPr>
        <p:spPr>
          <a:xfrm>
            <a:off x="548640" y="1801368"/>
            <a:ext cx="11094415" cy="532469"/>
          </a:xfrm>
          <a:prstGeom prst="rect">
            <a:avLst/>
          </a:prstGeom>
          <a:solidFill>
            <a:srgbClr val="EEF2EF"/>
          </a:solidFill>
          <a:ln w="9525">
            <a:solidFill>
              <a:srgbClr val="EEF2EF"/>
            </a:solidFill>
            <a:prstDash val="solid"/>
          </a:ln>
        </p:spPr>
      </p:sp>
      <p:sp>
        <p:nvSpPr>
          <p:cNvPr id="11" name="icon circle"/>
          <p:cNvSpPr/>
          <p:nvPr/>
        </p:nvSpPr>
        <p:spPr>
          <a:xfrm>
            <a:off x="630936" y="1883664"/>
            <a:ext cx="384048" cy="384048"/>
          </a:xfrm>
          <a:prstGeom prst="ellipse">
            <a:avLst/>
          </a:prstGeom>
          <a:solidFill>
            <a:schemeClr val="accent1"/>
          </a:solidFill>
          <a:ln w="12700">
            <a:solidFill>
              <a:schemeClr val="accent1"/>
            </a:solidFill>
            <a:prstDash val="solid"/>
          </a:ln>
        </p:spPr>
      </p:sp>
      <p:pic>
        <p:nvPicPr>
          <p:cNvPr id="12" name="FiBook" descr="preencoded.png">    </p:cNvPr>
          <p:cNvPicPr>
            <a:picLocks noChangeAspect="1"/>
          </p:cNvPicPr>
          <p:nvPr/>
        </p:nvPicPr>
        <p:blipFill>
          <a:blip r:embed="rId1"/>
          <a:stretch>
            <a:fillRect/>
          </a:stretch>
        </p:blipFill>
        <p:spPr>
          <a:xfrm>
            <a:off x="726948" y="1979676"/>
            <a:ext cx="192024" cy="192024"/>
          </a:xfrm>
          <a:prstGeom prst="rect">
            <a:avLst/>
          </a:prstGeom>
        </p:spPr>
      </p:pic>
      <p:sp>
        <p:nvSpPr>
          <p:cNvPr id="13" name="Text 10"/>
          <p:cNvSpPr txBox="1"/>
          <p:nvPr/>
        </p:nvSpPr>
        <p:spPr>
          <a:xfrm>
            <a:off x="1133856" y="1883664"/>
            <a:ext cx="1435608" cy="367877"/>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5  Governance root</a:t>
            </a:r>
            <a:endParaRPr lang="en-US" sz="1000" dirty="0"/>
          </a:p>
        </p:txBody>
      </p:sp>
      <p:sp>
        <p:nvSpPr>
          <p:cNvPr id="14" name="Text 11"/>
          <p:cNvSpPr txBox="1"/>
          <p:nvPr/>
        </p:nvSpPr>
        <p:spPr>
          <a:xfrm>
            <a:off x="2734056" y="1883664"/>
            <a:ext cx="3310128" cy="367877"/>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k-of-n quorum over the policy image; rollback refused; expiry enforced</a:t>
            </a:r>
            <a:endParaRPr lang="en-US" sz="1000" dirty="0"/>
          </a:p>
        </p:txBody>
      </p:sp>
      <p:sp>
        <p:nvSpPr>
          <p:cNvPr id="15" name="Text 12"/>
          <p:cNvSpPr txBox="1"/>
          <p:nvPr/>
        </p:nvSpPr>
        <p:spPr>
          <a:xfrm>
            <a:off x="6208776" y="1883664"/>
            <a:ext cx="2395728" cy="367877"/>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The rulebook (allow-list), the approved-firmware list, revocations</a:t>
            </a:r>
            <a:endParaRPr lang="en-US" sz="1000" dirty="0"/>
          </a:p>
        </p:txBody>
      </p:sp>
      <p:sp>
        <p:nvSpPr>
          <p:cNvPr id="16" name="Text 13"/>
          <p:cNvSpPr txBox="1"/>
          <p:nvPr/>
        </p:nvSpPr>
        <p:spPr>
          <a:xfrm>
            <a:off x="8769096" y="1883664"/>
            <a:ext cx="2791663" cy="367877"/>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The policy authority's keys; OpenShell's policy prover checks the derived network rules</a:t>
            </a:r>
            <a:endParaRPr lang="en-US" sz="1000" dirty="0"/>
          </a:p>
        </p:txBody>
      </p:sp>
      <p:sp>
        <p:nvSpPr>
          <p:cNvPr id="17" name="table row"/>
          <p:cNvSpPr/>
          <p:nvPr/>
        </p:nvSpPr>
        <p:spPr>
          <a:xfrm>
            <a:off x="548640" y="2333837"/>
            <a:ext cx="11094415" cy="997289"/>
          </a:xfrm>
          <a:prstGeom prst="rect">
            <a:avLst/>
          </a:prstGeom>
          <a:solidFill>
            <a:srgbClr val="FFFFFF"/>
          </a:solidFill>
          <a:ln w="9525">
            <a:solidFill>
              <a:srgbClr val="EEF2EF"/>
            </a:solidFill>
            <a:prstDash val="solid"/>
          </a:ln>
        </p:spPr>
      </p:sp>
      <p:sp>
        <p:nvSpPr>
          <p:cNvPr id="18" name="icon circle"/>
          <p:cNvSpPr/>
          <p:nvPr/>
        </p:nvSpPr>
        <p:spPr>
          <a:xfrm>
            <a:off x="630936" y="2416133"/>
            <a:ext cx="384048" cy="384048"/>
          </a:xfrm>
          <a:prstGeom prst="ellipse">
            <a:avLst/>
          </a:prstGeom>
          <a:solidFill>
            <a:schemeClr val="accent1"/>
          </a:solidFill>
          <a:ln w="12700">
            <a:solidFill>
              <a:schemeClr val="accent1"/>
            </a:solidFill>
            <a:prstDash val="solid"/>
          </a:ln>
        </p:spPr>
      </p:sp>
      <p:pic>
        <p:nvPicPr>
          <p:cNvPr id="19" name="FiShield" descr="preencoded.png">    </p:cNvPr>
          <p:cNvPicPr>
            <a:picLocks noChangeAspect="1"/>
          </p:cNvPicPr>
          <p:nvPr/>
        </p:nvPicPr>
        <p:blipFill>
          <a:blip r:embed="rId2"/>
          <a:stretch>
            <a:fillRect/>
          </a:stretch>
        </p:blipFill>
        <p:spPr>
          <a:xfrm>
            <a:off x="726948" y="2512145"/>
            <a:ext cx="192024" cy="192024"/>
          </a:xfrm>
          <a:prstGeom prst="rect">
            <a:avLst/>
          </a:prstGeom>
        </p:spPr>
      </p:pic>
      <p:sp>
        <p:nvSpPr>
          <p:cNvPr id="20" name="Text 16"/>
          <p:cNvSpPr txBox="1"/>
          <p:nvPr/>
        </p:nvSpPr>
        <p:spPr>
          <a:xfrm>
            <a:off x="1133856" y="2416133"/>
            <a:ext cx="1435608" cy="832697"/>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4  Control plane</a:t>
            </a:r>
            <a:endParaRPr lang="en-US" sz="1000" dirty="0"/>
          </a:p>
        </p:txBody>
      </p:sp>
      <p:sp>
        <p:nvSpPr>
          <p:cNvPr id="21" name="Text 17"/>
          <p:cNvSpPr txBox="1"/>
          <p:nvPr/>
        </p:nvSpPr>
        <p:spPr>
          <a:xfrm>
            <a:off x="2734056" y="2416133"/>
            <a:ext cx="3310128" cy="832697"/>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Attestation check, rule lookup, witness collection, budget and rate, human hold, one-time ticket bound to a hash of the fields, hash-chained log</a:t>
            </a:r>
            <a:endParaRPr lang="en-US" sz="1000" dirty="0"/>
          </a:p>
        </p:txBody>
      </p:sp>
      <p:sp>
        <p:nvSpPr>
          <p:cNvPr id="22" name="Text 18"/>
          <p:cNvSpPr txBox="1"/>
          <p:nvPr/>
        </p:nvSpPr>
        <p:spPr>
          <a:xfrm>
            <a:off x="6208776" y="2416133"/>
            <a:ext cx="2395728" cy="832697"/>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Tickets, log checkpoints, the compliance report</a:t>
            </a:r>
            <a:endParaRPr lang="en-US" sz="1000" dirty="0"/>
          </a:p>
        </p:txBody>
      </p:sp>
      <p:sp>
        <p:nvSpPr>
          <p:cNvPr id="23" name="Text 19"/>
          <p:cNvSpPr txBox="1"/>
          <p:nvPr/>
        </p:nvSpPr>
        <p:spPr>
          <a:xfrm>
            <a:off x="8769096" y="2416133"/>
            <a:ext cx="2791663" cy="832697"/>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OpenShell supervisor middleware today in software, to the shipped contract; the governor module in hardware; a DOCA application on BlueField-4 next; an I/O-stage block in the GPU eventually</a:t>
            </a:r>
            <a:endParaRPr lang="en-US" sz="1000" dirty="0"/>
          </a:p>
        </p:txBody>
      </p:sp>
      <p:sp>
        <p:nvSpPr>
          <p:cNvPr id="24" name="table row"/>
          <p:cNvSpPr/>
          <p:nvPr/>
        </p:nvSpPr>
        <p:spPr>
          <a:xfrm>
            <a:off x="548640" y="3331125"/>
            <a:ext cx="11094415" cy="687409"/>
          </a:xfrm>
          <a:prstGeom prst="rect">
            <a:avLst/>
          </a:prstGeom>
          <a:solidFill>
            <a:srgbClr val="EEF2EF"/>
          </a:solidFill>
          <a:ln w="9525">
            <a:solidFill>
              <a:srgbClr val="EEF2EF"/>
            </a:solidFill>
            <a:prstDash val="solid"/>
          </a:ln>
        </p:spPr>
      </p:sp>
      <p:sp>
        <p:nvSpPr>
          <p:cNvPr id="25" name="icon circle"/>
          <p:cNvSpPr/>
          <p:nvPr/>
        </p:nvSpPr>
        <p:spPr>
          <a:xfrm>
            <a:off x="630936" y="3413421"/>
            <a:ext cx="384048" cy="384048"/>
          </a:xfrm>
          <a:prstGeom prst="ellipse">
            <a:avLst/>
          </a:prstGeom>
          <a:solidFill>
            <a:schemeClr val="accent1"/>
          </a:solidFill>
          <a:ln w="12700">
            <a:solidFill>
              <a:schemeClr val="accent1"/>
            </a:solidFill>
            <a:prstDash val="solid"/>
          </a:ln>
        </p:spPr>
      </p:sp>
      <p:pic>
        <p:nvPicPr>
          <p:cNvPr id="26" name="FiEye" descr="preencoded.png">    </p:cNvPr>
          <p:cNvPicPr>
            <a:picLocks noChangeAspect="1"/>
          </p:cNvPicPr>
          <p:nvPr/>
        </p:nvPicPr>
        <p:blipFill>
          <a:blip r:embed="rId3"/>
          <a:stretch>
            <a:fillRect/>
          </a:stretch>
        </p:blipFill>
        <p:spPr>
          <a:xfrm>
            <a:off x="726948" y="3509433"/>
            <a:ext cx="192024" cy="192024"/>
          </a:xfrm>
          <a:prstGeom prst="rect">
            <a:avLst/>
          </a:prstGeom>
        </p:spPr>
      </p:pic>
      <p:sp>
        <p:nvSpPr>
          <p:cNvPr id="27" name="Text 22"/>
          <p:cNvSpPr txBox="1"/>
          <p:nvPr/>
        </p:nvSpPr>
        <p:spPr>
          <a:xfrm>
            <a:off x="1133856" y="3413421"/>
            <a:ext cx="1435608" cy="522817"/>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3  Observers</a:t>
            </a:r>
            <a:endParaRPr lang="en-US" sz="1000" dirty="0"/>
          </a:p>
        </p:txBody>
      </p:sp>
      <p:sp>
        <p:nvSpPr>
          <p:cNvPr id="28" name="Text 23"/>
          <p:cNvSpPr txBox="1"/>
          <p:nvPr/>
        </p:nvSpPr>
        <p:spPr>
          <a:xfrm>
            <a:off x="2734056" y="3413421"/>
            <a:ext cx="3310128" cy="522817"/>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Verdict over the hash of one request: risk, flags, issued and expiry times, under an anchored key</a:t>
            </a:r>
            <a:endParaRPr lang="en-US" sz="1000" dirty="0"/>
          </a:p>
        </p:txBody>
      </p:sp>
      <p:sp>
        <p:nvSpPr>
          <p:cNvPr id="29" name="Text 24"/>
          <p:cNvSpPr txBox="1"/>
          <p:nvPr/>
        </p:nvSpPr>
        <p:spPr>
          <a:xfrm>
            <a:off x="6208776" y="3413421"/>
            <a:ext cx="2395728" cy="522817"/>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A signed verdict the gate requires on consequential actions</a:t>
            </a:r>
            <a:endParaRPr lang="en-US" sz="1000" dirty="0"/>
          </a:p>
        </p:txBody>
      </p:sp>
      <p:sp>
        <p:nvSpPr>
          <p:cNvPr id="30" name="Text 25"/>
          <p:cNvSpPr txBox="1"/>
          <p:nvPr/>
        </p:nvSpPr>
        <p:spPr>
          <a:xfrm>
            <a:off x="8769096" y="3413421"/>
            <a:ext cx="2791663" cy="522817"/>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Sentry on BlueField-4 as the required witness; an independent observer as the optional second; both required for high-authority actions</a:t>
            </a:r>
            <a:endParaRPr lang="en-US" sz="1000" dirty="0"/>
          </a:p>
        </p:txBody>
      </p:sp>
      <p:sp>
        <p:nvSpPr>
          <p:cNvPr id="31" name="table row"/>
          <p:cNvSpPr/>
          <p:nvPr/>
        </p:nvSpPr>
        <p:spPr>
          <a:xfrm>
            <a:off x="548640" y="4018534"/>
            <a:ext cx="11094415" cy="687409"/>
          </a:xfrm>
          <a:prstGeom prst="rect">
            <a:avLst/>
          </a:prstGeom>
          <a:solidFill>
            <a:srgbClr val="FFFFFF"/>
          </a:solidFill>
          <a:ln w="9525">
            <a:solidFill>
              <a:srgbClr val="EEF2EF"/>
            </a:solidFill>
            <a:prstDash val="solid"/>
          </a:ln>
        </p:spPr>
      </p:sp>
      <p:sp>
        <p:nvSpPr>
          <p:cNvPr id="32" name="icon circle"/>
          <p:cNvSpPr/>
          <p:nvPr/>
        </p:nvSpPr>
        <p:spPr>
          <a:xfrm>
            <a:off x="630936" y="4100830"/>
            <a:ext cx="384048" cy="384048"/>
          </a:xfrm>
          <a:prstGeom prst="ellipse">
            <a:avLst/>
          </a:prstGeom>
          <a:solidFill>
            <a:schemeClr val="accent1"/>
          </a:solidFill>
          <a:ln w="12700">
            <a:solidFill>
              <a:schemeClr val="accent1"/>
            </a:solidFill>
            <a:prstDash val="solid"/>
          </a:ln>
        </p:spPr>
      </p:sp>
      <p:pic>
        <p:nvPicPr>
          <p:cNvPr id="33" name="FiCreditCard" descr="preencoded.png">    </p:cNvPr>
          <p:cNvPicPr>
            <a:picLocks noChangeAspect="1"/>
          </p:cNvPicPr>
          <p:nvPr/>
        </p:nvPicPr>
        <p:blipFill>
          <a:blip r:embed="rId4"/>
          <a:stretch>
            <a:fillRect/>
          </a:stretch>
        </p:blipFill>
        <p:spPr>
          <a:xfrm>
            <a:off x="726948" y="4196842"/>
            <a:ext cx="192024" cy="192024"/>
          </a:xfrm>
          <a:prstGeom prst="rect">
            <a:avLst/>
          </a:prstGeom>
        </p:spPr>
      </p:pic>
      <p:sp>
        <p:nvSpPr>
          <p:cNvPr id="34" name="Text 28"/>
          <p:cNvSpPr txBox="1"/>
          <p:nvPr/>
        </p:nvSpPr>
        <p:spPr>
          <a:xfrm>
            <a:off x="1133856" y="4100830"/>
            <a:ext cx="1435608" cy="522817"/>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2  Provenance</a:t>
            </a:r>
            <a:endParaRPr lang="en-US" sz="1000" dirty="0"/>
          </a:p>
        </p:txBody>
      </p:sp>
      <p:sp>
        <p:nvSpPr>
          <p:cNvPr id="35" name="Text 29"/>
          <p:cNvSpPr txBox="1"/>
          <p:nvPr/>
        </p:nvSpPr>
        <p:spPr>
          <a:xfrm>
            <a:off x="2734056" y="4100830"/>
            <a:ext cx="3310128" cy="522817"/>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Watermark, hardened detector, retrieval, signed registry</a:t>
            </a:r>
            <a:endParaRPr lang="en-US" sz="1000" dirty="0"/>
          </a:p>
        </p:txBody>
      </p:sp>
      <p:sp>
        <p:nvSpPr>
          <p:cNvPr id="36" name="Text 30"/>
          <p:cNvSpPr txBox="1"/>
          <p:nvPr/>
        </p:nvSpPr>
        <p:spPr>
          <a:xfrm>
            <a:off x="6208776" y="4100830"/>
            <a:ext cx="2395728" cy="522817"/>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A verdict {registry, content digest, exact | tampered | unknown}</a:t>
            </a:r>
            <a:endParaRPr lang="en-US" sz="1000" dirty="0"/>
          </a:p>
        </p:txBody>
      </p:sp>
      <p:sp>
        <p:nvSpPr>
          <p:cNvPr id="37" name="Text 31"/>
          <p:cNvSpPr txBox="1"/>
          <p:nvPr/>
        </p:nvSpPr>
        <p:spPr>
          <a:xfrm>
            <a:off x="8769096" y="4100830"/>
            <a:ext cx="2791663" cy="522817"/>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Runs beside the vendor's sampler; its verdict is a witness the gate can require; a device-provenance record is signed on the way out</a:t>
            </a:r>
            <a:endParaRPr lang="en-US" sz="1000" dirty="0"/>
          </a:p>
        </p:txBody>
      </p:sp>
      <p:sp>
        <p:nvSpPr>
          <p:cNvPr id="38" name="table row"/>
          <p:cNvSpPr/>
          <p:nvPr/>
        </p:nvSpPr>
        <p:spPr>
          <a:xfrm>
            <a:off x="548640" y="4705943"/>
            <a:ext cx="11094415" cy="687409"/>
          </a:xfrm>
          <a:prstGeom prst="rect">
            <a:avLst/>
          </a:prstGeom>
          <a:solidFill>
            <a:srgbClr val="EEF2EF"/>
          </a:solidFill>
          <a:ln w="9525">
            <a:solidFill>
              <a:srgbClr val="EEF2EF"/>
            </a:solidFill>
            <a:prstDash val="solid"/>
          </a:ln>
        </p:spPr>
      </p:sp>
      <p:sp>
        <p:nvSpPr>
          <p:cNvPr id="39" name="icon circle"/>
          <p:cNvSpPr/>
          <p:nvPr/>
        </p:nvSpPr>
        <p:spPr>
          <a:xfrm>
            <a:off x="630936" y="4788239"/>
            <a:ext cx="384048" cy="384048"/>
          </a:xfrm>
          <a:prstGeom prst="ellipse">
            <a:avLst/>
          </a:prstGeom>
          <a:solidFill>
            <a:schemeClr val="accent1"/>
          </a:solidFill>
          <a:ln w="12700">
            <a:solidFill>
              <a:schemeClr val="accent1"/>
            </a:solidFill>
            <a:prstDash val="solid"/>
          </a:ln>
        </p:spPr>
      </p:sp>
      <p:pic>
        <p:nvPicPr>
          <p:cNvPr id="40" name="FiUser" descr="preencoded.png">    </p:cNvPr>
          <p:cNvPicPr>
            <a:picLocks noChangeAspect="1"/>
          </p:cNvPicPr>
          <p:nvPr/>
        </p:nvPicPr>
        <p:blipFill>
          <a:blip r:embed="rId5"/>
          <a:stretch>
            <a:fillRect/>
          </a:stretch>
        </p:blipFill>
        <p:spPr>
          <a:xfrm>
            <a:off x="726948" y="4884251"/>
            <a:ext cx="192024" cy="192024"/>
          </a:xfrm>
          <a:prstGeom prst="rect">
            <a:avLst/>
          </a:prstGeom>
        </p:spPr>
      </p:pic>
      <p:sp>
        <p:nvSpPr>
          <p:cNvPr id="41" name="Text 34"/>
          <p:cNvSpPr txBox="1"/>
          <p:nvPr/>
        </p:nvSpPr>
        <p:spPr>
          <a:xfrm>
            <a:off x="1133856" y="4788239"/>
            <a:ext cx="1435608" cy="522817"/>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1  Model and runtime</a:t>
            </a:r>
            <a:endParaRPr lang="en-US" sz="1000" dirty="0"/>
          </a:p>
        </p:txBody>
      </p:sp>
      <p:sp>
        <p:nvSpPr>
          <p:cNvPr id="42" name="Text 35"/>
          <p:cNvSpPr txBox="1"/>
          <p:nvPr/>
        </p:nvSpPr>
        <p:spPr>
          <a:xfrm>
            <a:off x="2734056" y="4788239"/>
            <a:ext cx="3310128" cy="522817"/>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Measured into the workload hash; routed through the switches and egress the governor controls</a:t>
            </a:r>
            <a:endParaRPr lang="en-US" sz="1000" dirty="0"/>
          </a:p>
        </p:txBody>
      </p:sp>
      <p:sp>
        <p:nvSpPr>
          <p:cNvPr id="43" name="Text 36"/>
          <p:cNvSpPr txBox="1"/>
          <p:nvPr/>
        </p:nvSpPr>
        <p:spPr>
          <a:xfrm>
            <a:off x="6208776" y="4788239"/>
            <a:ext cx="2395728" cy="522817"/>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Nothing. It can sign nothing the gate accepts</a:t>
            </a:r>
            <a:endParaRPr lang="en-US" sz="1000" dirty="0"/>
          </a:p>
        </p:txBody>
      </p:sp>
      <p:sp>
        <p:nvSpPr>
          <p:cNvPr id="44" name="Text 37"/>
          <p:cNvSpPr txBox="1"/>
          <p:nvPr/>
        </p:nvSpPr>
        <p:spPr>
          <a:xfrm>
            <a:off x="8769096" y="4788239"/>
            <a:ext cx="2791663" cy="522817"/>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The GPU, CUDA and the serving stack, unchanged; the agent inside OpenShell's deny-by-default sandbox</a:t>
            </a:r>
            <a:endParaRPr lang="en-US" sz="1000" dirty="0"/>
          </a:p>
        </p:txBody>
      </p:sp>
      <p:sp>
        <p:nvSpPr>
          <p:cNvPr id="45" name="table row"/>
          <p:cNvSpPr/>
          <p:nvPr/>
        </p:nvSpPr>
        <p:spPr>
          <a:xfrm>
            <a:off x="548640" y="5393351"/>
            <a:ext cx="11094415" cy="687409"/>
          </a:xfrm>
          <a:prstGeom prst="rect">
            <a:avLst/>
          </a:prstGeom>
          <a:solidFill>
            <a:srgbClr val="FFFFFF"/>
          </a:solidFill>
          <a:ln w="9525">
            <a:solidFill>
              <a:srgbClr val="EEF2EF"/>
            </a:solidFill>
            <a:prstDash val="solid"/>
          </a:ln>
        </p:spPr>
      </p:sp>
      <p:sp>
        <p:nvSpPr>
          <p:cNvPr id="46" name="icon circle"/>
          <p:cNvSpPr/>
          <p:nvPr/>
        </p:nvSpPr>
        <p:spPr>
          <a:xfrm>
            <a:off x="630936" y="5475647"/>
            <a:ext cx="384048" cy="384048"/>
          </a:xfrm>
          <a:prstGeom prst="ellipse">
            <a:avLst/>
          </a:prstGeom>
          <a:solidFill>
            <a:schemeClr val="accent1"/>
          </a:solidFill>
          <a:ln w="12700">
            <a:solidFill>
              <a:schemeClr val="accent1"/>
            </a:solidFill>
            <a:prstDash val="solid"/>
          </a:ln>
        </p:spPr>
      </p:sp>
      <p:pic>
        <p:nvPicPr>
          <p:cNvPr id="47" name="FiLock" descr="preencoded.png">    </p:cNvPr>
          <p:cNvPicPr>
            <a:picLocks noChangeAspect="1"/>
          </p:cNvPicPr>
          <p:nvPr/>
        </p:nvPicPr>
        <p:blipFill>
          <a:blip r:embed="rId6"/>
          <a:stretch>
            <a:fillRect/>
          </a:stretch>
        </p:blipFill>
        <p:spPr>
          <a:xfrm>
            <a:off x="726948" y="5571659"/>
            <a:ext cx="192024" cy="192024"/>
          </a:xfrm>
          <a:prstGeom prst="rect">
            <a:avLst/>
          </a:prstGeom>
        </p:spPr>
      </p:pic>
      <p:sp>
        <p:nvSpPr>
          <p:cNvPr id="48" name="Text 40"/>
          <p:cNvSpPr txBox="1"/>
          <p:nvPr/>
        </p:nvSpPr>
        <p:spPr>
          <a:xfrm>
            <a:off x="1133856" y="5475647"/>
            <a:ext cx="1435608" cy="522817"/>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0  Silicon root of trust</a:t>
            </a:r>
            <a:endParaRPr lang="en-US" sz="1000" dirty="0"/>
          </a:p>
        </p:txBody>
      </p:sp>
      <p:sp>
        <p:nvSpPr>
          <p:cNvPr id="49" name="Text 41"/>
          <p:cNvSpPr txBox="1"/>
          <p:nvPr/>
        </p:nvSpPr>
        <p:spPr>
          <a:xfrm>
            <a:off x="2734056" y="5475647"/>
            <a:ext cx="3310128" cy="522817"/>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Fused device secret, anti-rollback counter, extend-only measurement registers, DICE derivation, quote with a fresh nonce</a:t>
            </a:r>
            <a:endParaRPr lang="en-US" sz="1000" dirty="0"/>
          </a:p>
        </p:txBody>
      </p:sp>
      <p:sp>
        <p:nvSpPr>
          <p:cNvPr id="50" name="Text 42"/>
          <p:cNvSpPr txBox="1"/>
          <p:nvPr/>
        </p:nvSpPr>
        <p:spPr>
          <a:xfrm>
            <a:off x="6208776" y="5475647"/>
            <a:ext cx="2395728" cy="522817"/>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Quotes: the measurement, the key chain, the counter</a:t>
            </a:r>
            <a:endParaRPr lang="en-US" sz="1000" dirty="0"/>
          </a:p>
        </p:txBody>
      </p:sp>
      <p:sp>
        <p:nvSpPr>
          <p:cNvPr id="51" name="Text 43"/>
          <p:cNvSpPr txBox="1"/>
          <p:nvPr/>
        </p:nvSpPr>
        <p:spPr>
          <a:xfrm>
            <a:off x="8769096" y="5475647"/>
            <a:ext cx="2791663" cy="522817"/>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The GPU's confidential-computing attestation and the DPU's own root of trust, bound together</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One bad prompt among a billion</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22</a:t>
            </a:r>
            <a:endParaRPr lang="en-US" sz="1100" dirty="0"/>
          </a:p>
        </p:txBody>
      </p:sp>
      <p:sp>
        <p:nvSpPr>
          <p:cNvPr id="5" name="A billion users"/>
          <p:cNvSpPr/>
          <p:nvPr/>
        </p:nvSpPr>
        <p:spPr>
          <a:xfrm>
            <a:off x="548640" y="1298448"/>
            <a:ext cx="3291840" cy="914400"/>
          </a:xfrm>
          <a:prstGeom prst="roundRect">
            <a:avLst>
              <a:gd name="adj" fmla="val 8000"/>
            </a:avLst>
          </a:prstGeom>
          <a:solidFill>
            <a:srgbClr val="FFFFFF"/>
          </a:solidFill>
          <a:ln w="22225">
            <a:solidFill>
              <a:srgbClr val="6F7F74"/>
            </a:solidFill>
            <a:prstDash val="solid"/>
          </a:ln>
        </p:spPr>
      </p:sp>
      <p:sp>
        <p:nvSpPr>
          <p:cNvPr id="6" name="Text 4"/>
          <p:cNvSpPr txBox="1"/>
          <p:nvPr/>
        </p:nvSpPr>
        <p:spPr>
          <a:xfrm>
            <a:off x="685800" y="1389888"/>
            <a:ext cx="3017520" cy="292608"/>
          </a:xfrm>
          <a:prstGeom prst="rect">
            <a:avLst/>
          </a:prstGeom>
          <a:noFill/>
          <a:ln/>
        </p:spPr>
        <p:txBody>
          <a:bodyPr wrap="square" lIns="0" tIns="0" rIns="0" bIns="0" rtlCol="0" anchor="t">
            <a:normAutofit/>
          </a:bodyPr>
          <a:lstStyle/>
          <a:p>
            <a:pPr indent="0" marL="0">
              <a:buNone/>
            </a:pPr>
            <a:r>
              <a:rPr lang="en-US" sz="1250" b="1" dirty="0">
                <a:solidFill>
                  <a:schemeClr val="tx1"/>
                </a:solidFill>
                <a:latin typeface="Arial" pitchFamily="34" charset="0"/>
                <a:ea typeface="Arial" pitchFamily="34" charset="-122"/>
                <a:cs typeface="Arial" pitchFamily="34" charset="-120"/>
              </a:rPr>
              <a:t>A billion users</a:t>
            </a:r>
            <a:endParaRPr lang="en-US" sz="1250" dirty="0"/>
          </a:p>
        </p:txBody>
      </p:sp>
      <p:sp>
        <p:nvSpPr>
          <p:cNvPr id="7" name="Text 5"/>
          <p:cNvSpPr txBox="1"/>
          <p:nvPr/>
        </p:nvSpPr>
        <p:spPr>
          <a:xfrm>
            <a:off x="685800" y="1700784"/>
            <a:ext cx="3017520" cy="429768"/>
          </a:xfrm>
          <a:prstGeom prst="rect">
            <a:avLst/>
          </a:prstGeom>
          <a:noFill/>
          <a:ln/>
        </p:spPr>
        <p:txBody>
          <a:bodyPr wrap="square" lIns="0" tIns="0" rIns="0" bIns="0" rtlCol="0" anchor="t">
            <a:normAutofit/>
          </a:bodyPr>
          <a:lstStyle/>
          <a:p>
            <a:pPr indent="0" marL="0">
              <a:buNone/>
            </a:pPr>
            <a:r>
              <a:rPr lang="en-US" sz="950" dirty="0">
                <a:solidFill>
                  <a:schemeClr val="tx1"/>
                </a:solidFill>
                <a:latin typeface="Arial" pitchFamily="34" charset="0"/>
                <a:ea typeface="Arial" pitchFamily="34" charset="-122"/>
                <a:cs typeface="Arial" pitchFamily="34" charset="-120"/>
              </a:rPr>
              <a:t>one of them types: "how do I kill X fast and undetected?"</a:t>
            </a:r>
            <a:endParaRPr lang="en-US" sz="950" dirty="0"/>
          </a:p>
        </p:txBody>
      </p:sp>
      <p:sp>
        <p:nvSpPr>
          <p:cNvPr id="8" name="arrow"/>
          <p:cNvSpPr/>
          <p:nvPr/>
        </p:nvSpPr>
        <p:spPr>
          <a:xfrm>
            <a:off x="3895344" y="1755648"/>
            <a:ext cx="499720" cy="0"/>
          </a:xfrm>
          <a:prstGeom prst="line">
            <a:avLst/>
          </a:prstGeom>
          <a:noFill/>
          <a:ln w="25400">
            <a:solidFill>
              <a:srgbClr val="C2703D"/>
            </a:solidFill>
            <a:prstDash val="solid"/>
            <a:tailEnd type="triangle"/>
          </a:ln>
        </p:spPr>
      </p:sp>
      <p:sp>
        <p:nvSpPr>
          <p:cNvPr id="9" name="The transformer"/>
          <p:cNvSpPr/>
          <p:nvPr/>
        </p:nvSpPr>
        <p:spPr>
          <a:xfrm>
            <a:off x="4449928" y="1298448"/>
            <a:ext cx="3291840" cy="914400"/>
          </a:xfrm>
          <a:prstGeom prst="roundRect">
            <a:avLst>
              <a:gd name="adj" fmla="val 8000"/>
            </a:avLst>
          </a:prstGeom>
          <a:solidFill>
            <a:srgbClr val="FFFFFF"/>
          </a:solidFill>
          <a:ln w="22225">
            <a:solidFill>
              <a:srgbClr val="6F7F74"/>
            </a:solidFill>
            <a:prstDash val="solid"/>
          </a:ln>
        </p:spPr>
      </p:sp>
      <p:sp>
        <p:nvSpPr>
          <p:cNvPr id="10" name="Text 8"/>
          <p:cNvSpPr txBox="1"/>
          <p:nvPr/>
        </p:nvSpPr>
        <p:spPr>
          <a:xfrm>
            <a:off x="4587088" y="1389888"/>
            <a:ext cx="3017520" cy="292608"/>
          </a:xfrm>
          <a:prstGeom prst="rect">
            <a:avLst/>
          </a:prstGeom>
          <a:noFill/>
          <a:ln/>
        </p:spPr>
        <p:txBody>
          <a:bodyPr wrap="square" lIns="0" tIns="0" rIns="0" bIns="0" rtlCol="0" anchor="t">
            <a:normAutofit/>
          </a:bodyPr>
          <a:lstStyle/>
          <a:p>
            <a:pPr indent="0" marL="0">
              <a:buNone/>
            </a:pPr>
            <a:r>
              <a:rPr lang="en-US" sz="1250" b="1" dirty="0">
                <a:solidFill>
                  <a:schemeClr val="tx1"/>
                </a:solidFill>
                <a:latin typeface="Arial" pitchFamily="34" charset="0"/>
                <a:ea typeface="Arial" pitchFamily="34" charset="-122"/>
                <a:cs typeface="Arial" pitchFamily="34" charset="-120"/>
              </a:rPr>
              <a:t>The transformer</a:t>
            </a:r>
            <a:endParaRPr lang="en-US" sz="1250" dirty="0"/>
          </a:p>
        </p:txBody>
      </p:sp>
      <p:sp>
        <p:nvSpPr>
          <p:cNvPr id="11" name="Text 9"/>
          <p:cNvSpPr txBox="1"/>
          <p:nvPr/>
        </p:nvSpPr>
        <p:spPr>
          <a:xfrm>
            <a:off x="4587088" y="1700784"/>
            <a:ext cx="3017520" cy="429768"/>
          </a:xfrm>
          <a:prstGeom prst="rect">
            <a:avLst/>
          </a:prstGeom>
          <a:noFill/>
          <a:ln/>
        </p:spPr>
        <p:txBody>
          <a:bodyPr wrap="square" lIns="0" tIns="0" rIns="0" bIns="0" rtlCol="0" anchor="t">
            <a:normAutofit/>
          </a:bodyPr>
          <a:lstStyle/>
          <a:p>
            <a:pPr indent="0" marL="0">
              <a:buNone/>
            </a:pPr>
            <a:r>
              <a:rPr lang="en-US" sz="950" dirty="0">
                <a:solidFill>
                  <a:schemeClr val="tx1"/>
                </a:solidFill>
                <a:latin typeface="Arial" pitchFamily="34" charset="0"/>
                <a:ea typeface="Arial" pitchFamily="34" charset="-122"/>
                <a:cs typeface="Arial" pitchFamily="34" charset="-120"/>
              </a:rPr>
              <a:t>text to tokens to attention to statistics; guesses the next word, again and again; knows nothing, predicts everything</a:t>
            </a:r>
            <a:endParaRPr lang="en-US" sz="950" dirty="0"/>
          </a:p>
        </p:txBody>
      </p:sp>
      <p:sp>
        <p:nvSpPr>
          <p:cNvPr id="12" name="arrow"/>
          <p:cNvSpPr/>
          <p:nvPr/>
        </p:nvSpPr>
        <p:spPr>
          <a:xfrm>
            <a:off x="7796632" y="1755648"/>
            <a:ext cx="499720" cy="0"/>
          </a:xfrm>
          <a:prstGeom prst="line">
            <a:avLst/>
          </a:prstGeom>
          <a:noFill/>
          <a:ln w="25400">
            <a:solidFill>
              <a:srgbClr val="C2703D"/>
            </a:solidFill>
            <a:prstDash val="solid"/>
            <a:tailEnd type="triangle"/>
          </a:ln>
        </p:spPr>
      </p:sp>
      <p:sp>
        <p:nvSpPr>
          <p:cNvPr id="13" name="The compute"/>
          <p:cNvSpPr/>
          <p:nvPr/>
        </p:nvSpPr>
        <p:spPr>
          <a:xfrm>
            <a:off x="8351215" y="1298448"/>
            <a:ext cx="3291840" cy="914400"/>
          </a:xfrm>
          <a:prstGeom prst="roundRect">
            <a:avLst>
              <a:gd name="adj" fmla="val 8000"/>
            </a:avLst>
          </a:prstGeom>
          <a:solidFill>
            <a:srgbClr val="FFFFFF"/>
          </a:solidFill>
          <a:ln w="22225">
            <a:solidFill>
              <a:srgbClr val="6F7F74"/>
            </a:solidFill>
            <a:prstDash val="solid"/>
          </a:ln>
        </p:spPr>
      </p:sp>
      <p:sp>
        <p:nvSpPr>
          <p:cNvPr id="14" name="Text 12"/>
          <p:cNvSpPr txBox="1"/>
          <p:nvPr/>
        </p:nvSpPr>
        <p:spPr>
          <a:xfrm>
            <a:off x="8488375" y="1389888"/>
            <a:ext cx="3017520" cy="292608"/>
          </a:xfrm>
          <a:prstGeom prst="rect">
            <a:avLst/>
          </a:prstGeom>
          <a:noFill/>
          <a:ln/>
        </p:spPr>
        <p:txBody>
          <a:bodyPr wrap="square" lIns="0" tIns="0" rIns="0" bIns="0" rtlCol="0" anchor="t">
            <a:normAutofit/>
          </a:bodyPr>
          <a:lstStyle/>
          <a:p>
            <a:pPr indent="0" marL="0">
              <a:buNone/>
            </a:pPr>
            <a:r>
              <a:rPr lang="en-US" sz="1250" b="1" dirty="0">
                <a:solidFill>
                  <a:schemeClr val="tx1"/>
                </a:solidFill>
                <a:latin typeface="Arial" pitchFamily="34" charset="0"/>
                <a:ea typeface="Arial" pitchFamily="34" charset="-122"/>
                <a:cs typeface="Arial" pitchFamily="34" charset="-120"/>
              </a:rPr>
              <a:t>The compute</a:t>
            </a:r>
            <a:endParaRPr lang="en-US" sz="1250" dirty="0"/>
          </a:p>
        </p:txBody>
      </p:sp>
      <p:sp>
        <p:nvSpPr>
          <p:cNvPr id="15" name="Text 13"/>
          <p:cNvSpPr txBox="1"/>
          <p:nvPr/>
        </p:nvSpPr>
        <p:spPr>
          <a:xfrm>
            <a:off x="8488375" y="1700784"/>
            <a:ext cx="3017520" cy="429768"/>
          </a:xfrm>
          <a:prstGeom prst="rect">
            <a:avLst/>
          </a:prstGeom>
          <a:noFill/>
          <a:ln/>
        </p:spPr>
        <p:txBody>
          <a:bodyPr wrap="square" lIns="0" tIns="0" rIns="0" bIns="0" rtlCol="0" anchor="t">
            <a:normAutofit/>
          </a:bodyPr>
          <a:lstStyle/>
          <a:p>
            <a:pPr indent="0" marL="0">
              <a:buNone/>
            </a:pPr>
            <a:r>
              <a:rPr lang="en-US" sz="950" dirty="0">
                <a:solidFill>
                  <a:schemeClr val="tx1"/>
                </a:solidFill>
                <a:latin typeface="Arial" pitchFamily="34" charset="0"/>
                <a:ea typeface="Arial" pitchFamily="34" charset="-122"/>
                <a:cs typeface="Arial" pitchFamily="34" charset="-120"/>
              </a:rPr>
              <a:t>hundreds of thousands of servers; racks of 8-GPU boards, NVLink, PCIe, DPUs; this request shares a GPU with thousands</a:t>
            </a:r>
            <a:endParaRPr lang="en-US" sz="950" dirty="0"/>
          </a:p>
        </p:txBody>
      </p:sp>
      <p:sp>
        <p:nvSpPr>
          <p:cNvPr id="16" name="Text 14"/>
          <p:cNvSpPr txBox="1"/>
          <p:nvPr/>
        </p:nvSpPr>
        <p:spPr>
          <a:xfrm>
            <a:off x="548640" y="2258568"/>
            <a:ext cx="11094415" cy="237744"/>
          </a:xfrm>
          <a:prstGeom prst="rect">
            <a:avLst/>
          </a:prstGeom>
          <a:noFill/>
          <a:ln/>
        </p:spPr>
        <p:txBody>
          <a:bodyPr wrap="square" lIns="0" tIns="0" rIns="0" bIns="0" rtlCol="0" anchor="t">
            <a:normAutofit/>
          </a:bodyPr>
          <a:lstStyle/>
          <a:p>
            <a:pPr indent="0" marL="0">
              <a:buNone/>
            </a:pPr>
            <a:r>
              <a:rPr lang="en-US" sz="1000" i="1" dirty="0">
                <a:solidFill>
                  <a:schemeClr val="accent1"/>
                </a:solidFill>
                <a:latin typeface="Arial" pitchFamily="34" charset="0"/>
                <a:ea typeface="Arial" pitchFamily="34" charset="-122"/>
                <a:cs typeface="Arial" pitchFamily="34" charset="-120"/>
              </a:rPr>
              <a:t>an answer comes back as words, and the agent built on the model may try to act on it</a:t>
            </a:r>
            <a:endParaRPr lang="en-US" sz="1000" dirty="0"/>
          </a:p>
        </p:txBody>
      </p:sp>
      <p:sp>
        <p:nvSpPr>
          <p:cNvPr id="17" name="Text 15"/>
          <p:cNvSpPr txBox="1"/>
          <p:nvPr/>
        </p:nvSpPr>
        <p:spPr>
          <a:xfrm>
            <a:off x="548640" y="2505456"/>
            <a:ext cx="11094415" cy="256032"/>
          </a:xfrm>
          <a:prstGeom prst="rect">
            <a:avLst/>
          </a:prstGeom>
          <a:noFill/>
          <a:ln/>
        </p:spPr>
        <p:txBody>
          <a:bodyPr wrap="square" lIns="0" tIns="0" rIns="0" bIns="0" rtlCol="0" anchor="t">
            <a:normAutofit/>
          </a:bodyPr>
          <a:lstStyle/>
          <a:p>
            <a:pPr indent="0" marL="0">
              <a:buNone/>
            </a:pPr>
            <a:r>
              <a:rPr lang="en-US" sz="1100" b="1" dirty="0">
                <a:solidFill>
                  <a:schemeClr val="tx1"/>
                </a:solidFill>
                <a:latin typeface="Arial" pitchFamily="34" charset="0"/>
                <a:ea typeface="Arial" pitchFamily="34" charset="-122"/>
                <a:cs typeface="Arial" pitchFamily="34" charset="-120"/>
              </a:rPr>
              <a:t>Where it gets caught, weakest to strongest. Layers 1 to 3 read words. Layer 4 reads a form.</a:t>
            </a:r>
            <a:endParaRPr lang="en-US" sz="1100" dirty="0"/>
          </a:p>
        </p:txBody>
      </p:sp>
      <p:sp>
        <p:nvSpPr>
          <p:cNvPr id="18" name="1 · Refusal training"/>
          <p:cNvSpPr/>
          <p:nvPr/>
        </p:nvSpPr>
        <p:spPr>
          <a:xfrm>
            <a:off x="548640" y="2816352"/>
            <a:ext cx="2057400" cy="1463040"/>
          </a:xfrm>
          <a:prstGeom prst="roundRect">
            <a:avLst>
              <a:gd name="adj" fmla="val 5000"/>
            </a:avLst>
          </a:prstGeom>
          <a:solidFill>
            <a:srgbClr val="FFFFFF"/>
          </a:solidFill>
          <a:ln w="22225">
            <a:solidFill>
              <a:srgbClr val="6F7F74"/>
            </a:solidFill>
            <a:prstDash val="solid"/>
          </a:ln>
        </p:spPr>
      </p:sp>
      <p:sp>
        <p:nvSpPr>
          <p:cNvPr id="19" name="Text 17"/>
          <p:cNvSpPr txBox="1"/>
          <p:nvPr/>
        </p:nvSpPr>
        <p:spPr>
          <a:xfrm>
            <a:off x="685800" y="2907792"/>
            <a:ext cx="1783080" cy="292608"/>
          </a:xfrm>
          <a:prstGeom prst="rect">
            <a:avLst/>
          </a:prstGeom>
          <a:noFill/>
          <a:ln/>
        </p:spPr>
        <p:txBody>
          <a:bodyPr wrap="square" lIns="0" tIns="0" rIns="0" bIns="0" rtlCol="0" anchor="t">
            <a:normAutofit/>
          </a:bodyPr>
          <a:lstStyle/>
          <a:p>
            <a:pPr indent="0" marL="0">
              <a:buNone/>
            </a:pPr>
            <a:r>
              <a:rPr lang="en-US" sz="1150" b="1" dirty="0">
                <a:solidFill>
                  <a:schemeClr val="tx1"/>
                </a:solidFill>
                <a:latin typeface="Arial" pitchFamily="34" charset="0"/>
                <a:ea typeface="Arial" pitchFamily="34" charset="-122"/>
                <a:cs typeface="Arial" pitchFamily="34" charset="-120"/>
              </a:rPr>
              <a:t>1 · Refusal training</a:t>
            </a:r>
            <a:endParaRPr lang="en-US" sz="1150" dirty="0"/>
          </a:p>
        </p:txBody>
      </p:sp>
      <p:sp>
        <p:nvSpPr>
          <p:cNvPr id="20" name="Text 18"/>
          <p:cNvSpPr txBox="1"/>
          <p:nvPr/>
        </p:nvSpPr>
        <p:spPr>
          <a:xfrm>
            <a:off x="685800" y="3218688"/>
            <a:ext cx="1783080" cy="777240"/>
          </a:xfrm>
          <a:prstGeom prst="rect">
            <a:avLst/>
          </a:prstGeom>
          <a:noFill/>
          <a:ln/>
        </p:spPr>
        <p:txBody>
          <a:bodyPr wrap="square" lIns="0" tIns="0" rIns="0" bIns="0" rtlCol="0" anchor="t">
            <a:normAutofit/>
          </a:bodyPr>
          <a:lstStyle/>
          <a:p>
            <a:pPr indent="0" marL="0">
              <a:buNone/>
            </a:pPr>
            <a:r>
              <a:rPr lang="en-US" sz="950" dirty="0">
                <a:solidFill>
                  <a:schemeClr val="tx1"/>
                </a:solidFill>
                <a:latin typeface="Arial" pitchFamily="34" charset="0"/>
                <a:ea typeface="Arial" pitchFamily="34" charset="-122"/>
                <a:cs typeface="Arial" pitchFamily="34" charset="-120"/>
              </a:rPr>
              <a:t>lives in the weights; catches the obvious ask; dies to abliteration in an afternoon</a:t>
            </a:r>
            <a:endParaRPr lang="en-US" sz="950" dirty="0"/>
          </a:p>
        </p:txBody>
      </p:sp>
      <p:sp>
        <p:nvSpPr>
          <p:cNvPr id="21" name="Text 19"/>
          <p:cNvSpPr txBox="1"/>
          <p:nvPr/>
        </p:nvSpPr>
        <p:spPr>
          <a:xfrm>
            <a:off x="685800" y="3986784"/>
            <a:ext cx="1783080" cy="237744"/>
          </a:xfrm>
          <a:prstGeom prst="rect">
            <a:avLst/>
          </a:prstGeom>
          <a:noFill/>
          <a:ln/>
        </p:spPr>
        <p:txBody>
          <a:bodyPr wrap="square" lIns="0" tIns="0" rIns="0" bIns="0" rtlCol="0" anchor="b">
            <a:normAutofit/>
          </a:bodyPr>
          <a:lstStyle/>
          <a:p>
            <a:pPr indent="0" marL="0">
              <a:buNone/>
            </a:pPr>
            <a:r>
              <a:rPr lang="en-US" sz="950" b="1" i="1" dirty="0">
                <a:solidFill>
                  <a:schemeClr val="accent1"/>
                </a:solidFill>
                <a:latin typeface="Arial" pitchFamily="34" charset="0"/>
                <a:ea typeface="Arial" pitchFamily="34" charset="-122"/>
                <a:cs typeface="Arial" pitchFamily="34" charset="-120"/>
              </a:rPr>
              <a:t>missed</a:t>
            </a:r>
            <a:endParaRPr lang="en-US" sz="950" dirty="0"/>
          </a:p>
        </p:txBody>
      </p:sp>
      <p:sp>
        <p:nvSpPr>
          <p:cNvPr id="22" name="arrow"/>
          <p:cNvSpPr/>
          <p:nvPr/>
        </p:nvSpPr>
        <p:spPr>
          <a:xfrm>
            <a:off x="2642616" y="3547872"/>
            <a:ext cx="128702" cy="0"/>
          </a:xfrm>
          <a:prstGeom prst="line">
            <a:avLst/>
          </a:prstGeom>
          <a:noFill/>
          <a:ln w="25400">
            <a:solidFill>
              <a:srgbClr val="C2703D"/>
            </a:solidFill>
            <a:prstDash val="solid"/>
            <a:tailEnd type="triangle"/>
          </a:ln>
        </p:spPr>
      </p:sp>
      <p:sp>
        <p:nvSpPr>
          <p:cNvPr id="23" name="2 · Watchers"/>
          <p:cNvSpPr/>
          <p:nvPr/>
        </p:nvSpPr>
        <p:spPr>
          <a:xfrm>
            <a:off x="2807894" y="2816352"/>
            <a:ext cx="2057400" cy="1463040"/>
          </a:xfrm>
          <a:prstGeom prst="roundRect">
            <a:avLst>
              <a:gd name="adj" fmla="val 5000"/>
            </a:avLst>
          </a:prstGeom>
          <a:solidFill>
            <a:srgbClr val="FFFFFF"/>
          </a:solidFill>
          <a:ln w="22225">
            <a:solidFill>
              <a:srgbClr val="6F7F74"/>
            </a:solidFill>
            <a:prstDash val="solid"/>
          </a:ln>
        </p:spPr>
      </p:sp>
      <p:sp>
        <p:nvSpPr>
          <p:cNvPr id="24" name="Text 22"/>
          <p:cNvSpPr txBox="1"/>
          <p:nvPr/>
        </p:nvSpPr>
        <p:spPr>
          <a:xfrm>
            <a:off x="2945054" y="2907792"/>
            <a:ext cx="1783080" cy="292608"/>
          </a:xfrm>
          <a:prstGeom prst="rect">
            <a:avLst/>
          </a:prstGeom>
          <a:noFill/>
          <a:ln/>
        </p:spPr>
        <p:txBody>
          <a:bodyPr wrap="square" lIns="0" tIns="0" rIns="0" bIns="0" rtlCol="0" anchor="t">
            <a:normAutofit/>
          </a:bodyPr>
          <a:lstStyle/>
          <a:p>
            <a:pPr indent="0" marL="0">
              <a:buNone/>
            </a:pPr>
            <a:r>
              <a:rPr lang="en-US" sz="1150" b="1" dirty="0">
                <a:solidFill>
                  <a:schemeClr val="tx1"/>
                </a:solidFill>
                <a:latin typeface="Arial" pitchFamily="34" charset="0"/>
                <a:ea typeface="Arial" pitchFamily="34" charset="-122"/>
                <a:cs typeface="Arial" pitchFamily="34" charset="-120"/>
              </a:rPr>
              <a:t>2 · Watchers</a:t>
            </a:r>
            <a:endParaRPr lang="en-US" sz="1150" dirty="0"/>
          </a:p>
        </p:txBody>
      </p:sp>
      <p:sp>
        <p:nvSpPr>
          <p:cNvPr id="25" name="Text 23"/>
          <p:cNvSpPr txBox="1"/>
          <p:nvPr/>
        </p:nvSpPr>
        <p:spPr>
          <a:xfrm>
            <a:off x="2945054" y="3218688"/>
            <a:ext cx="1783080" cy="777240"/>
          </a:xfrm>
          <a:prstGeom prst="rect">
            <a:avLst/>
          </a:prstGeom>
          <a:noFill/>
          <a:ln/>
        </p:spPr>
        <p:txBody>
          <a:bodyPr wrap="square" lIns="0" tIns="0" rIns="0" bIns="0" rtlCol="0" anchor="t">
            <a:normAutofit/>
          </a:bodyPr>
          <a:lstStyle/>
          <a:p>
            <a:pPr indent="0" marL="0">
              <a:buNone/>
            </a:pPr>
            <a:r>
              <a:rPr lang="en-US" sz="950" dirty="0">
                <a:solidFill>
                  <a:schemeClr val="tx1"/>
                </a:solidFill>
                <a:latin typeface="Arial" pitchFamily="34" charset="0"/>
                <a:ea typeface="Arial" pitchFamily="34" charset="-122"/>
                <a:cs typeface="Arial" pitchFamily="34" charset="-120"/>
              </a:rPr>
              <a:t>another model reads it; may yell STOP, never GO; fooled by paraphrase and by injection</a:t>
            </a:r>
            <a:endParaRPr lang="en-US" sz="950" dirty="0"/>
          </a:p>
        </p:txBody>
      </p:sp>
      <p:sp>
        <p:nvSpPr>
          <p:cNvPr id="26" name="Text 24"/>
          <p:cNvSpPr txBox="1"/>
          <p:nvPr/>
        </p:nvSpPr>
        <p:spPr>
          <a:xfrm>
            <a:off x="2945054" y="3986784"/>
            <a:ext cx="1783080" cy="237744"/>
          </a:xfrm>
          <a:prstGeom prst="rect">
            <a:avLst/>
          </a:prstGeom>
          <a:noFill/>
          <a:ln/>
        </p:spPr>
        <p:txBody>
          <a:bodyPr wrap="square" lIns="0" tIns="0" rIns="0" bIns="0" rtlCol="0" anchor="b">
            <a:normAutofit/>
          </a:bodyPr>
          <a:lstStyle/>
          <a:p>
            <a:pPr indent="0" marL="0">
              <a:buNone/>
            </a:pPr>
            <a:r>
              <a:rPr lang="en-US" sz="950" b="1" i="1" dirty="0">
                <a:solidFill>
                  <a:schemeClr val="accent1"/>
                </a:solidFill>
                <a:latin typeface="Arial" pitchFamily="34" charset="0"/>
                <a:ea typeface="Arial" pitchFamily="34" charset="-122"/>
                <a:cs typeface="Arial" pitchFamily="34" charset="-120"/>
              </a:rPr>
              <a:t>flagged: STOP, not GO</a:t>
            </a:r>
            <a:endParaRPr lang="en-US" sz="950" dirty="0"/>
          </a:p>
        </p:txBody>
      </p:sp>
      <p:sp>
        <p:nvSpPr>
          <p:cNvPr id="27" name="arrow"/>
          <p:cNvSpPr/>
          <p:nvPr/>
        </p:nvSpPr>
        <p:spPr>
          <a:xfrm>
            <a:off x="4901870" y="3547872"/>
            <a:ext cx="128702" cy="0"/>
          </a:xfrm>
          <a:prstGeom prst="line">
            <a:avLst/>
          </a:prstGeom>
          <a:noFill/>
          <a:ln w="25400">
            <a:solidFill>
              <a:srgbClr val="C2703D"/>
            </a:solidFill>
            <a:prstDash val="solid"/>
            <a:tailEnd type="triangle"/>
          </a:ln>
        </p:spPr>
      </p:sp>
      <p:sp>
        <p:nvSpPr>
          <p:cNvPr id="28" name="3 · OpenShell, Sentry"/>
          <p:cNvSpPr/>
          <p:nvPr/>
        </p:nvSpPr>
        <p:spPr>
          <a:xfrm>
            <a:off x="5067148" y="2816352"/>
            <a:ext cx="2057400" cy="1463040"/>
          </a:xfrm>
          <a:prstGeom prst="roundRect">
            <a:avLst>
              <a:gd name="adj" fmla="val 5000"/>
            </a:avLst>
          </a:prstGeom>
          <a:solidFill>
            <a:srgbClr val="FFFFFF"/>
          </a:solidFill>
          <a:ln w="22225">
            <a:solidFill>
              <a:srgbClr val="6F7F74"/>
            </a:solidFill>
            <a:prstDash val="solid"/>
          </a:ln>
        </p:spPr>
      </p:sp>
      <p:sp>
        <p:nvSpPr>
          <p:cNvPr id="29" name="Text 27"/>
          <p:cNvSpPr txBox="1"/>
          <p:nvPr/>
        </p:nvSpPr>
        <p:spPr>
          <a:xfrm>
            <a:off x="5204308" y="2907792"/>
            <a:ext cx="1783080" cy="292608"/>
          </a:xfrm>
          <a:prstGeom prst="rect">
            <a:avLst/>
          </a:prstGeom>
          <a:noFill/>
          <a:ln/>
        </p:spPr>
        <p:txBody>
          <a:bodyPr wrap="square" lIns="0" tIns="0" rIns="0" bIns="0" rtlCol="0" anchor="t">
            <a:normAutofit/>
          </a:bodyPr>
          <a:lstStyle/>
          <a:p>
            <a:pPr indent="0" marL="0">
              <a:buNone/>
            </a:pPr>
            <a:r>
              <a:rPr lang="en-US" sz="1150" b="1" dirty="0">
                <a:solidFill>
                  <a:schemeClr val="tx1"/>
                </a:solidFill>
                <a:latin typeface="Arial" pitchFamily="34" charset="0"/>
                <a:ea typeface="Arial" pitchFamily="34" charset="-122"/>
                <a:cs typeface="Arial" pitchFamily="34" charset="-120"/>
              </a:rPr>
              <a:t>3 · OpenShell, Sentry</a:t>
            </a:r>
            <a:endParaRPr lang="en-US" sz="1150" dirty="0"/>
          </a:p>
        </p:txBody>
      </p:sp>
      <p:sp>
        <p:nvSpPr>
          <p:cNvPr id="30" name="Text 28"/>
          <p:cNvSpPr txBox="1"/>
          <p:nvPr/>
        </p:nvSpPr>
        <p:spPr>
          <a:xfrm>
            <a:off x="5204308" y="3218688"/>
            <a:ext cx="1783080" cy="777240"/>
          </a:xfrm>
          <a:prstGeom prst="rect">
            <a:avLst/>
          </a:prstGeom>
          <a:noFill/>
          <a:ln/>
        </p:spPr>
        <p:txBody>
          <a:bodyPr wrap="square" lIns="0" tIns="0" rIns="0" bIns="0" rtlCol="0" anchor="t">
            <a:normAutofit/>
          </a:bodyPr>
          <a:lstStyle/>
          <a:p>
            <a:pPr indent="0" marL="0">
              <a:buNone/>
            </a:pPr>
            <a:r>
              <a:rPr lang="en-US" sz="950" dirty="0">
                <a:solidFill>
                  <a:schemeClr val="tx1"/>
                </a:solidFill>
                <a:latin typeface="Arial" pitchFamily="34" charset="0"/>
                <a:ea typeface="Arial" pitchFamily="34" charset="-122"/>
                <a:cs typeface="Arial" pitchFamily="34" charset="-120"/>
              </a:rPr>
              <a:t>deny-by-default sandbox; every call goes through the supervisor; Sentry quarantines in ms; still software</a:t>
            </a:r>
            <a:endParaRPr lang="en-US" sz="950" dirty="0"/>
          </a:p>
        </p:txBody>
      </p:sp>
      <p:sp>
        <p:nvSpPr>
          <p:cNvPr id="31" name="Text 29"/>
          <p:cNvSpPr txBox="1"/>
          <p:nvPr/>
        </p:nvSpPr>
        <p:spPr>
          <a:xfrm>
            <a:off x="5204308" y="3986784"/>
            <a:ext cx="1783080" cy="237744"/>
          </a:xfrm>
          <a:prstGeom prst="rect">
            <a:avLst/>
          </a:prstGeom>
          <a:noFill/>
          <a:ln/>
        </p:spPr>
        <p:txBody>
          <a:bodyPr wrap="square" lIns="0" tIns="0" rIns="0" bIns="0" rtlCol="0" anchor="b">
            <a:normAutofit/>
          </a:bodyPr>
          <a:lstStyle/>
          <a:p>
            <a:pPr indent="0" marL="0">
              <a:buNone/>
            </a:pPr>
            <a:r>
              <a:rPr lang="en-US" sz="950" b="1" i="1" dirty="0">
                <a:solidFill>
                  <a:schemeClr val="accent1"/>
                </a:solidFill>
                <a:latin typeface="Arial" pitchFamily="34" charset="0"/>
                <a:ea typeface="Arial" pitchFamily="34" charset="-122"/>
                <a:cs typeface="Arial" pitchFamily="34" charset="-120"/>
              </a:rPr>
              <a:t>host policy allows the call</a:t>
            </a:r>
            <a:endParaRPr lang="en-US" sz="950" dirty="0"/>
          </a:p>
        </p:txBody>
      </p:sp>
      <p:sp>
        <p:nvSpPr>
          <p:cNvPr id="32" name="arrow"/>
          <p:cNvSpPr/>
          <p:nvPr/>
        </p:nvSpPr>
        <p:spPr>
          <a:xfrm>
            <a:off x="7161124" y="3547872"/>
            <a:ext cx="128702" cy="0"/>
          </a:xfrm>
          <a:prstGeom prst="line">
            <a:avLst/>
          </a:prstGeom>
          <a:noFill/>
          <a:ln w="25400">
            <a:solidFill>
              <a:srgbClr val="C2703D"/>
            </a:solidFill>
            <a:prstDash val="solid"/>
            <a:tailEnd type="triangle"/>
          </a:ln>
        </p:spPr>
      </p:sp>
      <p:sp>
        <p:nvSpPr>
          <p:cNvPr id="33" name="4 · THE CHIP"/>
          <p:cNvSpPr/>
          <p:nvPr/>
        </p:nvSpPr>
        <p:spPr>
          <a:xfrm>
            <a:off x="7326401" y="2816352"/>
            <a:ext cx="2057400" cy="1463040"/>
          </a:xfrm>
          <a:prstGeom prst="roundRect">
            <a:avLst>
              <a:gd name="adj" fmla="val 5000"/>
            </a:avLst>
          </a:prstGeom>
          <a:solidFill>
            <a:schemeClr val="tx2"/>
          </a:solidFill>
          <a:ln w="12700">
            <a:solidFill>
              <a:schemeClr val="tx2"/>
            </a:solidFill>
            <a:prstDash val="solid"/>
          </a:ln>
        </p:spPr>
      </p:sp>
      <p:sp>
        <p:nvSpPr>
          <p:cNvPr id="34" name="Text 32"/>
          <p:cNvSpPr txBox="1"/>
          <p:nvPr/>
        </p:nvSpPr>
        <p:spPr>
          <a:xfrm>
            <a:off x="7463561" y="2907792"/>
            <a:ext cx="1783080" cy="292608"/>
          </a:xfrm>
          <a:prstGeom prst="rect">
            <a:avLst/>
          </a:prstGeom>
          <a:noFill/>
          <a:ln/>
        </p:spPr>
        <p:txBody>
          <a:bodyPr wrap="square" lIns="0" tIns="0" rIns="0" bIns="0" rtlCol="0" anchor="t">
            <a:normAutofit/>
          </a:bodyPr>
          <a:lstStyle/>
          <a:p>
            <a:pPr indent="0" marL="0">
              <a:buNone/>
            </a:pPr>
            <a:r>
              <a:rPr lang="en-US" sz="1150" b="1" dirty="0">
                <a:solidFill>
                  <a:schemeClr val="bg1"/>
                </a:solidFill>
                <a:latin typeface="Arial" pitchFamily="34" charset="0"/>
                <a:ea typeface="Arial" pitchFamily="34" charset="-122"/>
                <a:cs typeface="Arial" pitchFamily="34" charset="-120"/>
              </a:rPr>
              <a:t>4 · THE CHIP</a:t>
            </a:r>
            <a:endParaRPr lang="en-US" sz="1150" dirty="0"/>
          </a:p>
        </p:txBody>
      </p:sp>
      <p:sp>
        <p:nvSpPr>
          <p:cNvPr id="35" name="Text 33"/>
          <p:cNvSpPr txBox="1"/>
          <p:nvPr/>
        </p:nvSpPr>
        <p:spPr>
          <a:xfrm>
            <a:off x="7463561" y="3218688"/>
            <a:ext cx="1783080" cy="777240"/>
          </a:xfrm>
          <a:prstGeom prst="rect">
            <a:avLst/>
          </a:prstGeom>
          <a:noFill/>
          <a:ln/>
        </p:spPr>
        <p:txBody>
          <a:bodyPr wrap="square" lIns="0" tIns="0" rIns="0" bIns="0" rtlCol="0" anchor="t">
            <a:normAutofit/>
          </a:bodyPr>
          <a:lstStyle/>
          <a:p>
            <a:pPr indent="0" marL="0">
              <a:buNone/>
            </a:pPr>
            <a:r>
              <a:rPr lang="en-US" sz="950" dirty="0">
                <a:solidFill>
                  <a:schemeClr val="bg1"/>
                </a:solidFill>
                <a:latin typeface="Arial" pitchFamily="34" charset="0"/>
                <a:ea typeface="Arial" pitchFamily="34" charset="-122"/>
                <a:cs typeface="Arial" pitchFamily="34" charset="-120"/>
              </a:rPr>
              <a:t>wakes only for an action that cannot be undone; form, rulebook, then a ticket or a no; levers if the GPU will not listen</a:t>
            </a:r>
            <a:endParaRPr lang="en-US" sz="950" dirty="0"/>
          </a:p>
        </p:txBody>
      </p:sp>
      <p:sp>
        <p:nvSpPr>
          <p:cNvPr id="36" name="Text 34"/>
          <p:cNvSpPr txBox="1"/>
          <p:nvPr/>
        </p:nvSpPr>
        <p:spPr>
          <a:xfrm>
            <a:off x="7463561" y="3986784"/>
            <a:ext cx="1783080" cy="237744"/>
          </a:xfrm>
          <a:prstGeom prst="rect">
            <a:avLst/>
          </a:prstGeom>
          <a:noFill/>
          <a:ln/>
        </p:spPr>
        <p:txBody>
          <a:bodyPr wrap="square" lIns="0" tIns="0" rIns="0" bIns="0" rtlCol="0" anchor="b">
            <a:normAutofit/>
          </a:bodyPr>
          <a:lstStyle/>
          <a:p>
            <a:pPr indent="0" marL="0">
              <a:buNone/>
            </a:pPr>
            <a:r>
              <a:rPr lang="en-US" sz="950" b="1" i="1" dirty="0">
                <a:solidFill>
                  <a:schemeClr val="accent6"/>
                </a:solidFill>
                <a:latin typeface="Arial" pitchFamily="34" charset="0"/>
                <a:ea typeface="Arial" pitchFamily="34" charset="-122"/>
                <a:cs typeface="Arial" pitchFamily="34" charset="-120"/>
              </a:rPr>
              <a:t>NO: no rule grants it</a:t>
            </a:r>
            <a:endParaRPr lang="en-US" sz="950" dirty="0"/>
          </a:p>
        </p:txBody>
      </p:sp>
      <p:sp>
        <p:nvSpPr>
          <p:cNvPr id="37" name="arrow"/>
          <p:cNvSpPr/>
          <p:nvPr/>
        </p:nvSpPr>
        <p:spPr>
          <a:xfrm>
            <a:off x="9420377" y="3547872"/>
            <a:ext cx="128702" cy="0"/>
          </a:xfrm>
          <a:prstGeom prst="line">
            <a:avLst/>
          </a:prstGeom>
          <a:noFill/>
          <a:ln w="25400">
            <a:solidFill>
              <a:srgbClr val="C2703D"/>
            </a:solidFill>
            <a:prstDash val="solid"/>
            <a:tailEnd type="triangle"/>
          </a:ln>
        </p:spPr>
      </p:sp>
      <p:sp>
        <p:nvSpPr>
          <p:cNvPr id="38" name="5 · Humans, keys"/>
          <p:cNvSpPr/>
          <p:nvPr/>
        </p:nvSpPr>
        <p:spPr>
          <a:xfrm>
            <a:off x="9585655" y="2816352"/>
            <a:ext cx="2057400" cy="1463040"/>
          </a:xfrm>
          <a:prstGeom prst="roundRect">
            <a:avLst>
              <a:gd name="adj" fmla="val 5000"/>
            </a:avLst>
          </a:prstGeom>
          <a:solidFill>
            <a:schemeClr val="accent6"/>
          </a:solidFill>
          <a:ln w="12700">
            <a:solidFill>
              <a:schemeClr val="accent6"/>
            </a:solidFill>
            <a:prstDash val="solid"/>
          </a:ln>
        </p:spPr>
      </p:sp>
      <p:sp>
        <p:nvSpPr>
          <p:cNvPr id="39" name="Text 37"/>
          <p:cNvSpPr txBox="1"/>
          <p:nvPr/>
        </p:nvSpPr>
        <p:spPr>
          <a:xfrm>
            <a:off x="9722815" y="2907792"/>
            <a:ext cx="1783080" cy="292608"/>
          </a:xfrm>
          <a:prstGeom prst="rect">
            <a:avLst/>
          </a:prstGeom>
          <a:noFill/>
          <a:ln/>
        </p:spPr>
        <p:txBody>
          <a:bodyPr wrap="square" lIns="0" tIns="0" rIns="0" bIns="0" rtlCol="0" anchor="t">
            <a:normAutofit/>
          </a:bodyPr>
          <a:lstStyle/>
          <a:p>
            <a:pPr indent="0" marL="0">
              <a:buNone/>
            </a:pPr>
            <a:r>
              <a:rPr lang="en-US" sz="1150" b="1" dirty="0">
                <a:solidFill>
                  <a:schemeClr val="tx1"/>
                </a:solidFill>
                <a:latin typeface="Arial" pitchFamily="34" charset="0"/>
                <a:ea typeface="Arial" pitchFamily="34" charset="-122"/>
                <a:cs typeface="Arial" pitchFamily="34" charset="-120"/>
              </a:rPr>
              <a:t>5 · Humans, keys</a:t>
            </a:r>
            <a:endParaRPr lang="en-US" sz="1150" dirty="0"/>
          </a:p>
        </p:txBody>
      </p:sp>
      <p:sp>
        <p:nvSpPr>
          <p:cNvPr id="40" name="Text 38"/>
          <p:cNvSpPr txBox="1"/>
          <p:nvPr/>
        </p:nvSpPr>
        <p:spPr>
          <a:xfrm>
            <a:off x="9722815" y="3218688"/>
            <a:ext cx="1783080" cy="777240"/>
          </a:xfrm>
          <a:prstGeom prst="rect">
            <a:avLst/>
          </a:prstGeom>
          <a:noFill/>
          <a:ln/>
        </p:spPr>
        <p:txBody>
          <a:bodyPr wrap="square" lIns="0" tIns="0" rIns="0" bIns="0" rtlCol="0" anchor="t">
            <a:normAutofit/>
          </a:bodyPr>
          <a:lstStyle/>
          <a:p>
            <a:pPr indent="0" marL="0">
              <a:buNone/>
            </a:pPr>
            <a:r>
              <a:rPr lang="en-US" sz="950" dirty="0">
                <a:solidFill>
                  <a:schemeClr val="tx1"/>
                </a:solidFill>
                <a:latin typeface="Arial" pitchFamily="34" charset="0"/>
                <a:ea typeface="Arial" pitchFamily="34" charset="-122"/>
                <a:cs typeface="Arial" pitchFamily="34" charset="-120"/>
              </a:rPr>
              <a:t>write the rulebook; hold the big ones; clear an alarm; no AI ever can</a:t>
            </a:r>
            <a:endParaRPr lang="en-US" sz="950" dirty="0"/>
          </a:p>
        </p:txBody>
      </p:sp>
      <p:sp>
        <p:nvSpPr>
          <p:cNvPr id="41" name="Text 39"/>
          <p:cNvSpPr txBox="1"/>
          <p:nvPr/>
        </p:nvSpPr>
        <p:spPr>
          <a:xfrm>
            <a:off x="9722815" y="3986784"/>
            <a:ext cx="1783080" cy="237744"/>
          </a:xfrm>
          <a:prstGeom prst="rect">
            <a:avLst/>
          </a:prstGeom>
          <a:noFill/>
          <a:ln/>
        </p:spPr>
        <p:txBody>
          <a:bodyPr wrap="square" lIns="0" tIns="0" rIns="0" bIns="0" rtlCol="0" anchor="b">
            <a:normAutofit/>
          </a:bodyPr>
          <a:lstStyle/>
          <a:p>
            <a:pPr indent="0" marL="0">
              <a:buNone/>
            </a:pPr>
            <a:r>
              <a:rPr lang="en-US" sz="950" b="1" i="1" dirty="0">
                <a:solidFill>
                  <a:schemeClr val="accent1"/>
                </a:solidFill>
                <a:latin typeface="Arial" pitchFamily="34" charset="0"/>
                <a:ea typeface="Arial" pitchFamily="34" charset="-122"/>
                <a:cs typeface="Arial" pitchFamily="34" charset="-120"/>
              </a:rPr>
              <a:t>holds, if the rulebook says so</a:t>
            </a:r>
            <a:endParaRPr lang="en-US" sz="950" dirty="0"/>
          </a:p>
        </p:txBody>
      </p:sp>
      <p:sp>
        <p:nvSpPr>
          <p:cNvPr id="42" name="Words only"/>
          <p:cNvSpPr/>
          <p:nvPr/>
        </p:nvSpPr>
        <p:spPr>
          <a:xfrm>
            <a:off x="548640" y="4681728"/>
            <a:ext cx="3291840" cy="896112"/>
          </a:xfrm>
          <a:prstGeom prst="roundRect">
            <a:avLst>
              <a:gd name="adj" fmla="val 8163"/>
            </a:avLst>
          </a:prstGeom>
          <a:solidFill>
            <a:srgbClr val="FFFFFF"/>
          </a:solidFill>
          <a:ln w="22225">
            <a:solidFill>
              <a:srgbClr val="6F7F74"/>
            </a:solidFill>
            <a:prstDash val="solid"/>
          </a:ln>
        </p:spPr>
      </p:sp>
      <p:sp>
        <p:nvSpPr>
          <p:cNvPr id="43" name="Text 41"/>
          <p:cNvSpPr txBox="1"/>
          <p:nvPr/>
        </p:nvSpPr>
        <p:spPr>
          <a:xfrm>
            <a:off x="685800" y="4773168"/>
            <a:ext cx="3017520" cy="292608"/>
          </a:xfrm>
          <a:prstGeom prst="rect">
            <a:avLst/>
          </a:prstGeom>
          <a:noFill/>
          <a:ln/>
        </p:spPr>
        <p:txBody>
          <a:bodyPr wrap="square" lIns="0" tIns="0" rIns="0" bIns="0" rtlCol="0" anchor="t">
            <a:normAutofit/>
          </a:bodyPr>
          <a:lstStyle/>
          <a:p>
            <a:pPr indent="0" marL="0">
              <a:buNone/>
            </a:pPr>
            <a:r>
              <a:rPr lang="en-US" sz="1250" b="1" dirty="0">
                <a:solidFill>
                  <a:schemeClr val="tx1"/>
                </a:solidFill>
                <a:latin typeface="Arial" pitchFamily="34" charset="0"/>
                <a:ea typeface="Arial" pitchFamily="34" charset="-122"/>
                <a:cs typeface="Arial" pitchFamily="34" charset="-120"/>
              </a:rPr>
              <a:t>Words only</a:t>
            </a:r>
            <a:endParaRPr lang="en-US" sz="1250" dirty="0"/>
          </a:p>
        </p:txBody>
      </p:sp>
      <p:sp>
        <p:nvSpPr>
          <p:cNvPr id="44" name="Text 42"/>
          <p:cNvSpPr txBox="1"/>
          <p:nvPr/>
        </p:nvSpPr>
        <p:spPr>
          <a:xfrm>
            <a:off x="685800" y="5084064"/>
            <a:ext cx="3017520" cy="411480"/>
          </a:xfrm>
          <a:prstGeom prst="rect">
            <a:avLst/>
          </a:prstGeom>
          <a:noFill/>
          <a:ln/>
        </p:spPr>
        <p:txBody>
          <a:bodyPr wrap="square" lIns="0" tIns="0" rIns="0" bIns="0" rtlCol="0" anchor="t">
            <a:normAutofit/>
          </a:bodyPr>
          <a:lstStyle/>
          <a:p>
            <a:pPr indent="0" marL="0">
              <a:buNone/>
            </a:pPr>
            <a:r>
              <a:rPr lang="en-US" sz="950" dirty="0">
                <a:solidFill>
                  <a:schemeClr val="tx1"/>
                </a:solidFill>
                <a:latin typeface="Arial" pitchFamily="34" charset="0"/>
                <a:ea typeface="Arial" pitchFamily="34" charset="-122"/>
                <a:cs typeface="Arial" pitchFamily="34" charset="-120"/>
              </a:rPr>
              <a:t>a refusal, or a miss, comes back as text; the chip cannot read it and does not try; that is the watchers' job, measured</a:t>
            </a:r>
            <a:endParaRPr lang="en-US" sz="950" dirty="0"/>
          </a:p>
        </p:txBody>
      </p:sp>
      <p:sp>
        <p:nvSpPr>
          <p:cNvPr id="45" name="An action"/>
          <p:cNvSpPr/>
          <p:nvPr/>
        </p:nvSpPr>
        <p:spPr>
          <a:xfrm>
            <a:off x="4449928" y="4681728"/>
            <a:ext cx="3291840" cy="896112"/>
          </a:xfrm>
          <a:prstGeom prst="roundRect">
            <a:avLst>
              <a:gd name="adj" fmla="val 8163"/>
            </a:avLst>
          </a:prstGeom>
          <a:solidFill>
            <a:schemeClr val="tx2"/>
          </a:solidFill>
          <a:ln w="12700">
            <a:solidFill>
              <a:schemeClr val="tx2"/>
            </a:solidFill>
            <a:prstDash val="solid"/>
          </a:ln>
        </p:spPr>
      </p:sp>
      <p:sp>
        <p:nvSpPr>
          <p:cNvPr id="46" name="Text 44"/>
          <p:cNvSpPr txBox="1"/>
          <p:nvPr/>
        </p:nvSpPr>
        <p:spPr>
          <a:xfrm>
            <a:off x="4587088" y="4773168"/>
            <a:ext cx="3017520" cy="292608"/>
          </a:xfrm>
          <a:prstGeom prst="rect">
            <a:avLst/>
          </a:prstGeom>
          <a:noFill/>
          <a:ln/>
        </p:spPr>
        <p:txBody>
          <a:bodyPr wrap="square" lIns="0" tIns="0" rIns="0" bIns="0" rtlCol="0" anchor="t">
            <a:normAutofit/>
          </a:bodyPr>
          <a:lstStyle/>
          <a:p>
            <a:pPr indent="0" marL="0">
              <a:buNone/>
            </a:pPr>
            <a:r>
              <a:rPr lang="en-US" sz="1250" b="1" dirty="0">
                <a:solidFill>
                  <a:schemeClr val="bg1"/>
                </a:solidFill>
                <a:latin typeface="Arial" pitchFamily="34" charset="0"/>
                <a:ea typeface="Arial" pitchFamily="34" charset="-122"/>
                <a:cs typeface="Arial" pitchFamily="34" charset="-120"/>
              </a:rPr>
              <a:t>An action</a:t>
            </a:r>
            <a:endParaRPr lang="en-US" sz="1250" dirty="0"/>
          </a:p>
        </p:txBody>
      </p:sp>
      <p:sp>
        <p:nvSpPr>
          <p:cNvPr id="47" name="Text 45"/>
          <p:cNvSpPr txBox="1"/>
          <p:nvPr/>
        </p:nvSpPr>
        <p:spPr>
          <a:xfrm>
            <a:off x="4587088" y="5084064"/>
            <a:ext cx="3017520" cy="411480"/>
          </a:xfrm>
          <a:prstGeom prst="rect">
            <a:avLst/>
          </a:prstGeom>
          <a:noFill/>
          <a:ln/>
        </p:spPr>
        <p:txBody>
          <a:bodyPr wrap="square" lIns="0" tIns="0" rIns="0" bIns="0" rtlCol="0" anchor="t">
            <a:normAutofit/>
          </a:bodyPr>
          <a:lstStyle/>
          <a:p>
            <a:pPr indent="0" marL="0">
              <a:buNone/>
            </a:pPr>
            <a:r>
              <a:rPr lang="en-US" sz="950" dirty="0">
                <a:solidFill>
                  <a:schemeClr val="bg1"/>
                </a:solidFill>
                <a:latin typeface="Arial" pitchFamily="34" charset="0"/>
                <a:ea typeface="Arial" pitchFamily="34" charset="-122"/>
                <a:cs typeface="Arial" pitchFamily="34" charset="-120"/>
              </a:rPr>
              <a:t>pay · send · fire · move · export weights; the far end checks the ticket itself; no ticket, nothing moves</a:t>
            </a:r>
            <a:endParaRPr lang="en-US" sz="950" dirty="0"/>
          </a:p>
        </p:txBody>
      </p:sp>
      <p:sp>
        <p:nvSpPr>
          <p:cNvPr id="48" name="The record and the levers"/>
          <p:cNvSpPr/>
          <p:nvPr/>
        </p:nvSpPr>
        <p:spPr>
          <a:xfrm>
            <a:off x="8351215" y="4681728"/>
            <a:ext cx="3291840" cy="896112"/>
          </a:xfrm>
          <a:prstGeom prst="roundRect">
            <a:avLst>
              <a:gd name="adj" fmla="val 8163"/>
            </a:avLst>
          </a:prstGeom>
          <a:solidFill>
            <a:srgbClr val="FFFFFF"/>
          </a:solidFill>
          <a:ln w="22225">
            <a:solidFill>
              <a:srgbClr val="6F7F74"/>
            </a:solidFill>
            <a:prstDash val="solid"/>
          </a:ln>
        </p:spPr>
      </p:sp>
      <p:sp>
        <p:nvSpPr>
          <p:cNvPr id="49" name="Text 47"/>
          <p:cNvSpPr txBox="1"/>
          <p:nvPr/>
        </p:nvSpPr>
        <p:spPr>
          <a:xfrm>
            <a:off x="8488375" y="4773168"/>
            <a:ext cx="3017520" cy="292608"/>
          </a:xfrm>
          <a:prstGeom prst="rect">
            <a:avLst/>
          </a:prstGeom>
          <a:noFill/>
          <a:ln/>
        </p:spPr>
        <p:txBody>
          <a:bodyPr wrap="square" lIns="0" tIns="0" rIns="0" bIns="0" rtlCol="0" anchor="t">
            <a:normAutofit/>
          </a:bodyPr>
          <a:lstStyle/>
          <a:p>
            <a:pPr indent="0" marL="0">
              <a:buNone/>
            </a:pPr>
            <a:r>
              <a:rPr lang="en-US" sz="1250" b="1" dirty="0">
                <a:solidFill>
                  <a:schemeClr val="tx1"/>
                </a:solidFill>
                <a:latin typeface="Arial" pitchFamily="34" charset="0"/>
                <a:ea typeface="Arial" pitchFamily="34" charset="-122"/>
                <a:cs typeface="Arial" pitchFamily="34" charset="-120"/>
              </a:rPr>
              <a:t>The record and the levers</a:t>
            </a:r>
            <a:endParaRPr lang="en-US" sz="1250" dirty="0"/>
          </a:p>
        </p:txBody>
      </p:sp>
      <p:sp>
        <p:nvSpPr>
          <p:cNvPr id="50" name="Text 48"/>
          <p:cNvSpPr txBox="1"/>
          <p:nvPr/>
        </p:nvSpPr>
        <p:spPr>
          <a:xfrm>
            <a:off x="8488375" y="5084064"/>
            <a:ext cx="3017520" cy="411480"/>
          </a:xfrm>
          <a:prstGeom prst="rect">
            <a:avLst/>
          </a:prstGeom>
          <a:noFill/>
          <a:ln/>
        </p:spPr>
        <p:txBody>
          <a:bodyPr wrap="square" lIns="0" tIns="0" rIns="0" bIns="0" rtlCol="0" anchor="t">
            <a:normAutofit/>
          </a:bodyPr>
          <a:lstStyle/>
          <a:p>
            <a:pPr indent="0" marL="0">
              <a:buNone/>
            </a:pPr>
            <a:r>
              <a:rPr lang="en-US" sz="950" dirty="0">
                <a:solidFill>
                  <a:schemeClr val="tx1"/>
                </a:solidFill>
                <a:latin typeface="Arial" pitchFamily="34" charset="0"/>
                <a:ea typeface="Arial" pitchFamily="34" charset="-122"/>
                <a:cs typeface="Arial" pitchFamily="34" charset="-120"/>
              </a:rPr>
              <a:t>every decision in a log nobody rewrites; brake · reset · power · links · rack loop; a billion users, almost none reach this</a:t>
            </a:r>
            <a:endParaRPr lang="en-US" sz="950" dirty="0"/>
          </a:p>
        </p:txBody>
      </p:sp>
      <p:sp>
        <p:nvSpPr>
          <p:cNvPr id="51" name="line"/>
          <p:cNvSpPr/>
          <p:nvPr/>
        </p:nvSpPr>
        <p:spPr>
          <a:xfrm>
            <a:off x="1577340" y="4279392"/>
            <a:ext cx="0" cy="402336"/>
          </a:xfrm>
          <a:prstGeom prst="line">
            <a:avLst/>
          </a:prstGeom>
          <a:noFill/>
          <a:ln w="19050">
            <a:solidFill>
              <a:srgbClr val="6F7F74"/>
            </a:solidFill>
            <a:prstDash val="dash"/>
          </a:ln>
        </p:spPr>
      </p:sp>
      <p:sp>
        <p:nvSpPr>
          <p:cNvPr id="52" name="Text 50"/>
          <p:cNvSpPr txBox="1"/>
          <p:nvPr/>
        </p:nvSpPr>
        <p:spPr>
          <a:xfrm>
            <a:off x="1650492" y="4352544"/>
            <a:ext cx="1463040" cy="228600"/>
          </a:xfrm>
          <a:prstGeom prst="rect">
            <a:avLst/>
          </a:prstGeom>
          <a:noFill/>
          <a:ln/>
        </p:spPr>
        <p:txBody>
          <a:bodyPr wrap="square" lIns="0" tIns="0" rIns="0" bIns="0" rtlCol="0" anchor="t">
            <a:normAutofit/>
          </a:bodyPr>
          <a:lstStyle/>
          <a:p>
            <a:pPr indent="0" marL="0">
              <a:buNone/>
            </a:pPr>
            <a:r>
              <a:rPr lang="en-US" sz="900" i="1" dirty="0">
                <a:solidFill>
                  <a:schemeClr val="accent3"/>
                </a:solidFill>
                <a:latin typeface="Arial" pitchFamily="34" charset="0"/>
                <a:ea typeface="Arial" pitchFamily="34" charset="-122"/>
                <a:cs typeface="Arial" pitchFamily="34" charset="-120"/>
              </a:rPr>
              <a:t>nothing acts on it</a:t>
            </a:r>
            <a:endParaRPr lang="en-US" sz="900" dirty="0"/>
          </a:p>
        </p:txBody>
      </p:sp>
      <p:sp>
        <p:nvSpPr>
          <p:cNvPr id="53" name="line"/>
          <p:cNvSpPr/>
          <p:nvPr/>
        </p:nvSpPr>
        <p:spPr>
          <a:xfrm>
            <a:off x="8355101" y="4279392"/>
            <a:ext cx="0" cy="201168"/>
          </a:xfrm>
          <a:prstGeom prst="line">
            <a:avLst/>
          </a:prstGeom>
          <a:noFill/>
          <a:ln w="25400">
            <a:solidFill>
              <a:srgbClr val="2F5D62"/>
            </a:solidFill>
            <a:prstDash val="solid"/>
          </a:ln>
        </p:spPr>
      </p:sp>
      <p:sp>
        <p:nvSpPr>
          <p:cNvPr id="54" name="line"/>
          <p:cNvSpPr/>
          <p:nvPr/>
        </p:nvSpPr>
        <p:spPr>
          <a:xfrm>
            <a:off x="6095848" y="4480560"/>
            <a:ext cx="2259254" cy="0"/>
          </a:xfrm>
          <a:prstGeom prst="line">
            <a:avLst/>
          </a:prstGeom>
          <a:noFill/>
          <a:ln w="25400">
            <a:solidFill>
              <a:srgbClr val="2F5D62"/>
            </a:solidFill>
            <a:prstDash val="solid"/>
          </a:ln>
        </p:spPr>
      </p:sp>
      <p:sp>
        <p:nvSpPr>
          <p:cNvPr id="55" name="arrow"/>
          <p:cNvSpPr/>
          <p:nvPr/>
        </p:nvSpPr>
        <p:spPr>
          <a:xfrm>
            <a:off x="6095848" y="4480560"/>
            <a:ext cx="0" cy="201168"/>
          </a:xfrm>
          <a:prstGeom prst="line">
            <a:avLst/>
          </a:prstGeom>
          <a:noFill/>
          <a:ln w="25400">
            <a:solidFill>
              <a:srgbClr val="2F5D62"/>
            </a:solidFill>
            <a:prstDash val="solid"/>
            <a:tailEnd type="triangle"/>
          </a:ln>
        </p:spPr>
      </p:sp>
      <p:sp>
        <p:nvSpPr>
          <p:cNvPr id="56" name="Text 54"/>
          <p:cNvSpPr txBox="1"/>
          <p:nvPr/>
        </p:nvSpPr>
        <p:spPr>
          <a:xfrm>
            <a:off x="8428253" y="4297680"/>
            <a:ext cx="822960" cy="228600"/>
          </a:xfrm>
          <a:prstGeom prst="rect">
            <a:avLst/>
          </a:prstGeom>
          <a:noFill/>
          <a:ln/>
        </p:spPr>
        <p:txBody>
          <a:bodyPr wrap="square" lIns="0" tIns="0" rIns="0" bIns="0" rtlCol="0" anchor="t">
            <a:normAutofit/>
          </a:bodyPr>
          <a:lstStyle/>
          <a:p>
            <a:pPr indent="0" marL="0">
              <a:buNone/>
            </a:pPr>
            <a:r>
              <a:rPr lang="en-US" sz="900" i="1" dirty="0">
                <a:solidFill>
                  <a:schemeClr val="tx2"/>
                </a:solidFill>
                <a:latin typeface="Arial" pitchFamily="34" charset="0"/>
                <a:ea typeface="Arial" pitchFamily="34" charset="-122"/>
                <a:cs typeface="Arial" pitchFamily="34" charset="-120"/>
              </a:rPr>
              <a:t>no ticket</a:t>
            </a:r>
            <a:endParaRPr lang="en-US" sz="900" dirty="0"/>
          </a:p>
        </p:txBody>
      </p:sp>
      <p:sp>
        <p:nvSpPr>
          <p:cNvPr id="57" name="arrow"/>
          <p:cNvSpPr/>
          <p:nvPr/>
        </p:nvSpPr>
        <p:spPr>
          <a:xfrm>
            <a:off x="7796632" y="5129784"/>
            <a:ext cx="499720" cy="0"/>
          </a:xfrm>
          <a:prstGeom prst="line">
            <a:avLst/>
          </a:prstGeom>
          <a:noFill/>
          <a:ln w="25400">
            <a:solidFill>
              <a:srgbClr val="2F5D62"/>
            </a:solidFill>
            <a:prstDash val="solid"/>
            <a:tailEnd type="triangle"/>
          </a:ln>
        </p:spPr>
      </p:sp>
      <p:sp>
        <p:nvSpPr>
          <p:cNvPr id="58" name="Text 56"/>
          <p:cNvSpPr txBox="1"/>
          <p:nvPr/>
        </p:nvSpPr>
        <p:spPr>
          <a:xfrm>
            <a:off x="548640" y="5669280"/>
            <a:ext cx="11094415" cy="548640"/>
          </a:xfrm>
          <a:prstGeom prst="rect">
            <a:avLst/>
          </a:prstGeom>
          <a:noFill/>
          <a:ln/>
        </p:spPr>
        <p:txBody>
          <a:bodyPr wrap="square" lIns="0" tIns="0" rIns="0" bIns="0" rtlCol="0" anchor="t">
            <a:normAutofit/>
          </a:bodyPr>
          <a:lstStyle/>
          <a:p>
            <a:pPr indent="0" marL="0">
              <a:buNone/>
            </a:pPr>
            <a:r>
              <a:rPr lang="en-US" sz="1200" i="1" dirty="0">
                <a:solidFill>
                  <a:schemeClr val="accent1"/>
                </a:solidFill>
                <a:latin typeface="Arial" pitchFamily="34" charset="0"/>
                <a:ea typeface="Arial" pitchFamily="34" charset="-122"/>
                <a:cs typeface="Arial" pitchFamily="34" charset="-120"/>
              </a:rPr>
              <a:t>Scale is the point, not the problem: trillions of requests a day, and the chip only ever sees the few that would change the world and cannot be undone.</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Inside the chip: in, built in, out</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23</a:t>
            </a:r>
            <a:endParaRPr lang="en-US" sz="1100" dirty="0"/>
          </a:p>
        </p:txBody>
      </p:sp>
      <p:sp>
        <p:nvSpPr>
          <p:cNvPr id="5" name="Text 3"/>
          <p:cNvSpPr txBox="1"/>
          <p:nvPr/>
        </p:nvSpPr>
        <p:spPr>
          <a:xfrm>
            <a:off x="548640" y="1188720"/>
            <a:ext cx="3063240" cy="237744"/>
          </a:xfrm>
          <a:prstGeom prst="rect">
            <a:avLst/>
          </a:prstGeom>
          <a:noFill/>
          <a:ln/>
        </p:spPr>
        <p:txBody>
          <a:bodyPr wrap="square" lIns="0" tIns="0" rIns="0" bIns="0" rtlCol="0" anchor="t">
            <a:normAutofit/>
          </a:bodyPr>
          <a:lstStyle/>
          <a:p>
            <a:pPr algn="ctr" indent="0" marL="0">
              <a:buNone/>
            </a:pPr>
            <a:r>
              <a:rPr lang="en-US" sz="1000" b="1" dirty="0">
                <a:solidFill>
                  <a:schemeClr val="accent3"/>
                </a:solidFill>
                <a:latin typeface="Arial" pitchFamily="34" charset="0"/>
                <a:ea typeface="Arial" pitchFamily="34" charset="-122"/>
                <a:cs typeface="Arial" pitchFamily="34" charset="-120"/>
              </a:rPr>
              <a:t>WHAT GOES IN</a:t>
            </a:r>
            <a:endParaRPr lang="en-US" sz="1000" dirty="0"/>
          </a:p>
        </p:txBody>
      </p:sp>
      <p:sp>
        <p:nvSpPr>
          <p:cNvPr id="6" name="Text 4"/>
          <p:cNvSpPr txBox="1"/>
          <p:nvPr/>
        </p:nvSpPr>
        <p:spPr>
          <a:xfrm>
            <a:off x="3977640" y="1188720"/>
            <a:ext cx="4343400" cy="237744"/>
          </a:xfrm>
          <a:prstGeom prst="rect">
            <a:avLst/>
          </a:prstGeom>
          <a:noFill/>
          <a:ln/>
        </p:spPr>
        <p:txBody>
          <a:bodyPr wrap="square" lIns="0" tIns="0" rIns="0" bIns="0" rtlCol="0" anchor="t">
            <a:normAutofit/>
          </a:bodyPr>
          <a:lstStyle/>
          <a:p>
            <a:pPr algn="ctr" indent="0" marL="0">
              <a:buNone/>
            </a:pPr>
            <a:r>
              <a:rPr lang="en-US" sz="1000" b="1" dirty="0">
                <a:solidFill>
                  <a:schemeClr val="tx2"/>
                </a:solidFill>
                <a:latin typeface="Arial" pitchFamily="34" charset="0"/>
                <a:ea typeface="Arial" pitchFamily="34" charset="-122"/>
                <a:cs typeface="Arial" pitchFamily="34" charset="-120"/>
              </a:rPr>
              <a:t>THE CHIP</a:t>
            </a:r>
            <a:endParaRPr lang="en-US" sz="1000" dirty="0"/>
          </a:p>
        </p:txBody>
      </p:sp>
      <p:sp>
        <p:nvSpPr>
          <p:cNvPr id="7" name="Text 5"/>
          <p:cNvSpPr txBox="1"/>
          <p:nvPr/>
        </p:nvSpPr>
        <p:spPr>
          <a:xfrm>
            <a:off x="8686800" y="1188720"/>
            <a:ext cx="2956255" cy="237744"/>
          </a:xfrm>
          <a:prstGeom prst="rect">
            <a:avLst/>
          </a:prstGeom>
          <a:noFill/>
          <a:ln/>
        </p:spPr>
        <p:txBody>
          <a:bodyPr wrap="square" lIns="0" tIns="0" rIns="0" bIns="0" rtlCol="0" anchor="t">
            <a:normAutofit/>
          </a:bodyPr>
          <a:lstStyle/>
          <a:p>
            <a:pPr algn="ctr" indent="0" marL="0">
              <a:buNone/>
            </a:pPr>
            <a:r>
              <a:rPr lang="en-US" sz="1000" b="1" dirty="0">
                <a:solidFill>
                  <a:schemeClr val="accent3"/>
                </a:solidFill>
                <a:latin typeface="Arial" pitchFamily="34" charset="0"/>
                <a:ea typeface="Arial" pitchFamily="34" charset="-122"/>
                <a:cs typeface="Arial" pitchFamily="34" charset="-120"/>
              </a:rPr>
              <a:t>WHAT COMES OUT</a:t>
            </a:r>
            <a:endParaRPr lang="en-US" sz="1000" dirty="0"/>
          </a:p>
        </p:txBody>
      </p:sp>
      <p:sp>
        <p:nvSpPr>
          <p:cNvPr id="8" name="The form"/>
          <p:cNvSpPr/>
          <p:nvPr/>
        </p:nvSpPr>
        <p:spPr>
          <a:xfrm>
            <a:off x="548640" y="1444752"/>
            <a:ext cx="3063240" cy="685800"/>
          </a:xfrm>
          <a:prstGeom prst="roundRect">
            <a:avLst>
              <a:gd name="adj" fmla="val 8000"/>
            </a:avLst>
          </a:prstGeom>
          <a:solidFill>
            <a:srgbClr val="FFFFFF"/>
          </a:solidFill>
          <a:ln w="22225">
            <a:solidFill>
              <a:schemeClr val="tx2"/>
            </a:solidFill>
            <a:prstDash val="solid"/>
          </a:ln>
        </p:spPr>
      </p:sp>
      <p:sp>
        <p:nvSpPr>
          <p:cNvPr id="9" name="Text 7"/>
          <p:cNvSpPr txBox="1"/>
          <p:nvPr/>
        </p:nvSpPr>
        <p:spPr>
          <a:xfrm>
            <a:off x="658368" y="1499616"/>
            <a:ext cx="2843784" cy="237744"/>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The form</a:t>
            </a:r>
            <a:endParaRPr lang="en-US" sz="1050" dirty="0"/>
          </a:p>
        </p:txBody>
      </p:sp>
      <p:sp>
        <p:nvSpPr>
          <p:cNvPr id="10" name="Text 8"/>
          <p:cNvSpPr txBox="1"/>
          <p:nvPr/>
        </p:nvSpPr>
        <p:spPr>
          <a:xfrm>
            <a:off x="658368" y="1728216"/>
            <a:ext cx="2843784" cy="374904"/>
          </a:xfrm>
          <a:prstGeom prst="rect">
            <a:avLst/>
          </a:prstGeom>
          <a:noFill/>
          <a:ln/>
        </p:spPr>
        <p:txBody>
          <a:bodyPr wrap="square" lIns="0" tIns="0" rIns="0" bIns="0" rtlCol="0" anchor="t">
            <a:normAutofit/>
          </a:bodyPr>
          <a:lstStyle/>
          <a:p>
            <a:pPr indent="0" marL="0">
              <a:buNone/>
            </a:pPr>
            <a:r>
              <a:rPr lang="en-US" sz="850" dirty="0">
                <a:solidFill>
                  <a:schemeClr val="tx1"/>
                </a:solidFill>
                <a:latin typeface="Arial" pitchFamily="34" charset="0"/>
                <a:ea typeface="Arial" pitchFamily="34" charset="-122"/>
                <a:cs typeface="Arial" pitchFamily="34" charset="-120"/>
              </a:rPr>
              <a:t>from the software around the model: action, to whom, how much, request id, workload token. Typed fields, no prose</a:t>
            </a:r>
            <a:endParaRPr lang="en-US" sz="850" dirty="0"/>
          </a:p>
        </p:txBody>
      </p:sp>
      <p:sp>
        <p:nvSpPr>
          <p:cNvPr id="11" name="arrow"/>
          <p:cNvSpPr/>
          <p:nvPr/>
        </p:nvSpPr>
        <p:spPr>
          <a:xfrm>
            <a:off x="3648456" y="1787652"/>
            <a:ext cx="292608" cy="0"/>
          </a:xfrm>
          <a:prstGeom prst="line">
            <a:avLst/>
          </a:prstGeom>
          <a:noFill/>
          <a:ln w="19050">
            <a:solidFill>
              <a:srgbClr val="6F7F74"/>
            </a:solidFill>
            <a:prstDash val="solid"/>
            <a:tailEnd type="triangle"/>
          </a:ln>
        </p:spPr>
      </p:sp>
      <p:sp>
        <p:nvSpPr>
          <p:cNvPr id="12" name="Proof of what is running"/>
          <p:cNvSpPr/>
          <p:nvPr/>
        </p:nvSpPr>
        <p:spPr>
          <a:xfrm>
            <a:off x="548640" y="2221992"/>
            <a:ext cx="3063240" cy="685800"/>
          </a:xfrm>
          <a:prstGeom prst="roundRect">
            <a:avLst>
              <a:gd name="adj" fmla="val 8000"/>
            </a:avLst>
          </a:prstGeom>
          <a:solidFill>
            <a:srgbClr val="FFFFFF"/>
          </a:solidFill>
          <a:ln w="12700">
            <a:solidFill>
              <a:srgbClr val="6F7F74"/>
            </a:solidFill>
            <a:prstDash val="solid"/>
          </a:ln>
        </p:spPr>
      </p:sp>
      <p:sp>
        <p:nvSpPr>
          <p:cNvPr id="13" name="Text 11"/>
          <p:cNvSpPr txBox="1"/>
          <p:nvPr/>
        </p:nvSpPr>
        <p:spPr>
          <a:xfrm>
            <a:off x="658368" y="2276856"/>
            <a:ext cx="2843784" cy="237744"/>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Proof of what is running</a:t>
            </a:r>
            <a:endParaRPr lang="en-US" sz="1050" dirty="0"/>
          </a:p>
        </p:txBody>
      </p:sp>
      <p:sp>
        <p:nvSpPr>
          <p:cNvPr id="14" name="Text 12"/>
          <p:cNvSpPr txBox="1"/>
          <p:nvPr/>
        </p:nvSpPr>
        <p:spPr>
          <a:xfrm>
            <a:off x="658368" y="2505456"/>
            <a:ext cx="2843784" cy="374904"/>
          </a:xfrm>
          <a:prstGeom prst="rect">
            <a:avLst/>
          </a:prstGeom>
          <a:noFill/>
          <a:ln/>
        </p:spPr>
        <p:txBody>
          <a:bodyPr wrap="square" lIns="0" tIns="0" rIns="0" bIns="0" rtlCol="0" anchor="t">
            <a:normAutofit/>
          </a:bodyPr>
          <a:lstStyle/>
          <a:p>
            <a:pPr indent="0" marL="0">
              <a:buNone/>
            </a:pPr>
            <a:r>
              <a:rPr lang="en-US" sz="850" dirty="0">
                <a:solidFill>
                  <a:schemeClr val="tx1"/>
                </a:solidFill>
                <a:latin typeface="Arial" pitchFamily="34" charset="0"/>
                <a:ea typeface="Arial" pitchFamily="34" charset="-122"/>
                <a:cs typeface="Arial" pitchFamily="34" charset="-120"/>
              </a:rPr>
              <a:t>GPU attestation report, host enclave report, publisher-signed model manifest, checked against reference values the authority signed</a:t>
            </a:r>
            <a:endParaRPr lang="en-US" sz="850" dirty="0"/>
          </a:p>
        </p:txBody>
      </p:sp>
      <p:sp>
        <p:nvSpPr>
          <p:cNvPr id="15" name="arrow"/>
          <p:cNvSpPr/>
          <p:nvPr/>
        </p:nvSpPr>
        <p:spPr>
          <a:xfrm>
            <a:off x="3648456" y="2564892"/>
            <a:ext cx="292608" cy="0"/>
          </a:xfrm>
          <a:prstGeom prst="line">
            <a:avLst/>
          </a:prstGeom>
          <a:noFill/>
          <a:ln w="19050">
            <a:solidFill>
              <a:srgbClr val="6F7F74"/>
            </a:solidFill>
            <a:prstDash val="solid"/>
            <a:tailEnd type="triangle"/>
          </a:ln>
        </p:spPr>
      </p:sp>
      <p:sp>
        <p:nvSpPr>
          <p:cNvPr id="16" name="Witness verdicts"/>
          <p:cNvSpPr/>
          <p:nvPr/>
        </p:nvSpPr>
        <p:spPr>
          <a:xfrm>
            <a:off x="548640" y="2999232"/>
            <a:ext cx="3063240" cy="685800"/>
          </a:xfrm>
          <a:prstGeom prst="roundRect">
            <a:avLst>
              <a:gd name="adj" fmla="val 8000"/>
            </a:avLst>
          </a:prstGeom>
          <a:solidFill>
            <a:srgbClr val="FFFFFF"/>
          </a:solidFill>
          <a:ln w="12700">
            <a:solidFill>
              <a:srgbClr val="6F7F74"/>
            </a:solidFill>
            <a:prstDash val="solid"/>
          </a:ln>
        </p:spPr>
      </p:sp>
      <p:sp>
        <p:nvSpPr>
          <p:cNvPr id="17" name="Text 15"/>
          <p:cNvSpPr txBox="1"/>
          <p:nvPr/>
        </p:nvSpPr>
        <p:spPr>
          <a:xfrm>
            <a:off x="658368" y="3054096"/>
            <a:ext cx="2843784" cy="237744"/>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Witness verdicts</a:t>
            </a:r>
            <a:endParaRPr lang="en-US" sz="1050" dirty="0"/>
          </a:p>
        </p:txBody>
      </p:sp>
      <p:sp>
        <p:nvSpPr>
          <p:cNvPr id="18" name="Text 16"/>
          <p:cNvSpPr txBox="1"/>
          <p:nvPr/>
        </p:nvSpPr>
        <p:spPr>
          <a:xfrm>
            <a:off x="658368" y="3282696"/>
            <a:ext cx="2843784" cy="374904"/>
          </a:xfrm>
          <a:prstGeom prst="rect">
            <a:avLst/>
          </a:prstGeom>
          <a:noFill/>
          <a:ln/>
        </p:spPr>
        <p:txBody>
          <a:bodyPr wrap="square" lIns="0" tIns="0" rIns="0" bIns="0" rtlCol="0" anchor="t">
            <a:normAutofit/>
          </a:bodyPr>
          <a:lstStyle/>
          <a:p>
            <a:pPr indent="0" marL="0">
              <a:buNone/>
            </a:pPr>
            <a:r>
              <a:rPr lang="en-US" sz="850" dirty="0">
                <a:solidFill>
                  <a:schemeClr val="tx1"/>
                </a:solidFill>
                <a:latin typeface="Arial" pitchFamily="34" charset="0"/>
                <a:ea typeface="Arial" pitchFamily="34" charset="-122"/>
                <a:cs typeface="Arial" pitchFamily="34" charset="-120"/>
              </a:rPr>
              <a:t>observer (Sentry, obs-main); provenance registry (exact, tampered, unknown); each signed, fresh, about this request</a:t>
            </a:r>
            <a:endParaRPr lang="en-US" sz="850" dirty="0"/>
          </a:p>
        </p:txBody>
      </p:sp>
      <p:sp>
        <p:nvSpPr>
          <p:cNvPr id="19" name="arrow"/>
          <p:cNvSpPr/>
          <p:nvPr/>
        </p:nvSpPr>
        <p:spPr>
          <a:xfrm>
            <a:off x="3648456" y="3342132"/>
            <a:ext cx="292608" cy="0"/>
          </a:xfrm>
          <a:prstGeom prst="line">
            <a:avLst/>
          </a:prstGeom>
          <a:noFill/>
          <a:ln w="19050">
            <a:solidFill>
              <a:srgbClr val="6F7F74"/>
            </a:solidFill>
            <a:prstDash val="solid"/>
            <a:tailEnd type="triangle"/>
          </a:ln>
        </p:spPr>
      </p:sp>
      <p:sp>
        <p:nvSpPr>
          <p:cNvPr id="20" name="The rulebook"/>
          <p:cNvSpPr/>
          <p:nvPr/>
        </p:nvSpPr>
        <p:spPr>
          <a:xfrm>
            <a:off x="548640" y="3776472"/>
            <a:ext cx="3063240" cy="685800"/>
          </a:xfrm>
          <a:prstGeom prst="roundRect">
            <a:avLst>
              <a:gd name="adj" fmla="val 8000"/>
            </a:avLst>
          </a:prstGeom>
          <a:solidFill>
            <a:srgbClr val="FFFFFF"/>
          </a:solidFill>
          <a:ln w="22225">
            <a:solidFill>
              <a:schemeClr val="accent1"/>
            </a:solidFill>
            <a:prstDash val="solid"/>
          </a:ln>
        </p:spPr>
      </p:sp>
      <p:sp>
        <p:nvSpPr>
          <p:cNvPr id="21" name="Text 19"/>
          <p:cNvSpPr txBox="1"/>
          <p:nvPr/>
        </p:nvSpPr>
        <p:spPr>
          <a:xfrm>
            <a:off x="658368" y="3831336"/>
            <a:ext cx="2843784" cy="237744"/>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The rulebook</a:t>
            </a:r>
            <a:endParaRPr lang="en-US" sz="1050" dirty="0"/>
          </a:p>
        </p:txBody>
      </p:sp>
      <p:sp>
        <p:nvSpPr>
          <p:cNvPr id="22" name="Text 20"/>
          <p:cNvSpPr txBox="1"/>
          <p:nvPr/>
        </p:nvSpPr>
        <p:spPr>
          <a:xfrm>
            <a:off x="658368" y="4059936"/>
            <a:ext cx="2843784" cy="374904"/>
          </a:xfrm>
          <a:prstGeom prst="rect">
            <a:avLst/>
          </a:prstGeom>
          <a:noFill/>
          <a:ln/>
        </p:spPr>
        <p:txBody>
          <a:bodyPr wrap="square" lIns="0" tIns="0" rIns="0" bIns="0" rtlCol="0" anchor="t">
            <a:normAutofit/>
          </a:bodyPr>
          <a:lstStyle/>
          <a:p>
            <a:pPr indent="0" marL="0">
              <a:buNone/>
            </a:pPr>
            <a:r>
              <a:rPr lang="en-US" sz="850" dirty="0">
                <a:solidFill>
                  <a:schemeClr val="tx1"/>
                </a:solidFill>
                <a:latin typeface="Arial" pitchFamily="34" charset="0"/>
                <a:ea typeface="Arial" pitchFamily="34" charset="-122"/>
                <a:cs typeface="Arial" pitchFamily="34" charset="-120"/>
              </a:rPr>
              <a:t>signed by k of n governance keys; edition only goes up; expires; limits, budgets, lanes, protected lists. Nobody types it on the box</a:t>
            </a:r>
            <a:endParaRPr lang="en-US" sz="850" dirty="0"/>
          </a:p>
        </p:txBody>
      </p:sp>
      <p:sp>
        <p:nvSpPr>
          <p:cNvPr id="23" name="arrow"/>
          <p:cNvSpPr/>
          <p:nvPr/>
        </p:nvSpPr>
        <p:spPr>
          <a:xfrm>
            <a:off x="3648456" y="4119372"/>
            <a:ext cx="292608" cy="0"/>
          </a:xfrm>
          <a:prstGeom prst="line">
            <a:avLst/>
          </a:prstGeom>
          <a:noFill/>
          <a:ln w="19050">
            <a:solidFill>
              <a:srgbClr val="C2703D"/>
            </a:solidFill>
            <a:prstDash val="solid"/>
            <a:tailEnd type="triangle"/>
          </a:ln>
        </p:spPr>
      </p:sp>
      <p:sp>
        <p:nvSpPr>
          <p:cNvPr id="24" name="People, by signature"/>
          <p:cNvSpPr/>
          <p:nvPr/>
        </p:nvSpPr>
        <p:spPr>
          <a:xfrm>
            <a:off x="548640" y="4553712"/>
            <a:ext cx="3063240" cy="685800"/>
          </a:xfrm>
          <a:prstGeom prst="roundRect">
            <a:avLst>
              <a:gd name="adj" fmla="val 8000"/>
            </a:avLst>
          </a:prstGeom>
          <a:solidFill>
            <a:srgbClr val="FFFFFF"/>
          </a:solidFill>
          <a:ln w="22225">
            <a:solidFill>
              <a:schemeClr val="accent1"/>
            </a:solidFill>
            <a:prstDash val="solid"/>
          </a:ln>
        </p:spPr>
      </p:sp>
      <p:sp>
        <p:nvSpPr>
          <p:cNvPr id="25" name="Text 23"/>
          <p:cNvSpPr txBox="1"/>
          <p:nvPr/>
        </p:nvSpPr>
        <p:spPr>
          <a:xfrm>
            <a:off x="658368" y="4608576"/>
            <a:ext cx="2843784" cy="237744"/>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People, by signature</a:t>
            </a:r>
            <a:endParaRPr lang="en-US" sz="1050" dirty="0"/>
          </a:p>
        </p:txBody>
      </p:sp>
      <p:sp>
        <p:nvSpPr>
          <p:cNvPr id="26" name="Text 24"/>
          <p:cNvSpPr txBox="1"/>
          <p:nvPr/>
        </p:nvSpPr>
        <p:spPr>
          <a:xfrm>
            <a:off x="658368" y="4837176"/>
            <a:ext cx="2843784" cy="374904"/>
          </a:xfrm>
          <a:prstGeom prst="rect">
            <a:avLst/>
          </a:prstGeom>
          <a:noFill/>
          <a:ln/>
        </p:spPr>
        <p:txBody>
          <a:bodyPr wrap="square" lIns="0" tIns="0" rIns="0" bIns="0" rtlCol="0" anchor="t">
            <a:normAutofit/>
          </a:bodyPr>
          <a:lstStyle/>
          <a:p>
            <a:pPr indent="0" marL="0">
              <a:buNone/>
            </a:pPr>
            <a:r>
              <a:rPr lang="en-US" sz="850" dirty="0">
                <a:solidFill>
                  <a:schemeClr val="tx1"/>
                </a:solidFill>
                <a:latin typeface="Arial" pitchFamily="34" charset="0"/>
                <a:ea typeface="Arial" pitchFamily="34" charset="-122"/>
                <a:cs typeface="Arial" pitchFamily="34" charset="-120"/>
              </a:rPr>
              <a:t>heartbeat from the authority; approvals that name the request; the protected-site list from a separate body</a:t>
            </a:r>
            <a:endParaRPr lang="en-US" sz="850" dirty="0"/>
          </a:p>
        </p:txBody>
      </p:sp>
      <p:sp>
        <p:nvSpPr>
          <p:cNvPr id="27" name="arrow"/>
          <p:cNvSpPr/>
          <p:nvPr/>
        </p:nvSpPr>
        <p:spPr>
          <a:xfrm>
            <a:off x="3648456" y="4896612"/>
            <a:ext cx="292608" cy="0"/>
          </a:xfrm>
          <a:prstGeom prst="line">
            <a:avLst/>
          </a:prstGeom>
          <a:noFill/>
          <a:ln w="19050">
            <a:solidFill>
              <a:srgbClr val="C2703D"/>
            </a:solidFill>
            <a:prstDash val="solid"/>
            <a:tailEnd type="triangle"/>
          </a:ln>
        </p:spPr>
      </p:sp>
      <p:sp>
        <p:nvSpPr>
          <p:cNvPr id="28" name="Counters from the GPU"/>
          <p:cNvSpPr/>
          <p:nvPr/>
        </p:nvSpPr>
        <p:spPr>
          <a:xfrm>
            <a:off x="548640" y="5330952"/>
            <a:ext cx="3063240" cy="685800"/>
          </a:xfrm>
          <a:prstGeom prst="roundRect">
            <a:avLst>
              <a:gd name="adj" fmla="val 8000"/>
            </a:avLst>
          </a:prstGeom>
          <a:solidFill>
            <a:srgbClr val="FFFFFF"/>
          </a:solidFill>
          <a:ln w="12700">
            <a:solidFill>
              <a:srgbClr val="6F7F74"/>
            </a:solidFill>
            <a:prstDash val="solid"/>
          </a:ln>
        </p:spPr>
      </p:sp>
      <p:sp>
        <p:nvSpPr>
          <p:cNvPr id="29" name="Text 27"/>
          <p:cNvSpPr txBox="1"/>
          <p:nvPr/>
        </p:nvSpPr>
        <p:spPr>
          <a:xfrm>
            <a:off x="658368" y="5385816"/>
            <a:ext cx="2843784" cy="237744"/>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Counters from the GPU</a:t>
            </a:r>
            <a:endParaRPr lang="en-US" sz="1050" dirty="0"/>
          </a:p>
        </p:txBody>
      </p:sp>
      <p:sp>
        <p:nvSpPr>
          <p:cNvPr id="30" name="Text 28"/>
          <p:cNvSpPr txBox="1"/>
          <p:nvPr/>
        </p:nvSpPr>
        <p:spPr>
          <a:xfrm>
            <a:off x="658368" y="5614416"/>
            <a:ext cx="2843784" cy="374904"/>
          </a:xfrm>
          <a:prstGeom prst="rect">
            <a:avLst/>
          </a:prstGeom>
          <a:noFill/>
          <a:ln/>
        </p:spPr>
        <p:txBody>
          <a:bodyPr wrap="square" lIns="0" tIns="0" rIns="0" bIns="0" rtlCol="0" anchor="t">
            <a:normAutofit/>
          </a:bodyPr>
          <a:lstStyle/>
          <a:p>
            <a:pPr indent="0" marL="0">
              <a:buNone/>
            </a:pPr>
            <a:r>
              <a:rPr lang="en-US" sz="850" dirty="0">
                <a:solidFill>
                  <a:schemeClr val="tx1"/>
                </a:solidFill>
                <a:latin typeface="Arial" pitchFamily="34" charset="0"/>
                <a:ea typeface="Arial" pitchFamily="34" charset="-122"/>
                <a:cs typeface="Arial" pitchFamily="34" charset="-120"/>
              </a:rPr>
              <a:t>tokens, cycles, bytes per model, read on the management bus; read-only to the host</a:t>
            </a:r>
            <a:endParaRPr lang="en-US" sz="850" dirty="0"/>
          </a:p>
        </p:txBody>
      </p:sp>
      <p:sp>
        <p:nvSpPr>
          <p:cNvPr id="31" name="arrow"/>
          <p:cNvSpPr/>
          <p:nvPr/>
        </p:nvSpPr>
        <p:spPr>
          <a:xfrm>
            <a:off x="3648456" y="5673852"/>
            <a:ext cx="292608" cy="0"/>
          </a:xfrm>
          <a:prstGeom prst="line">
            <a:avLst/>
          </a:prstGeom>
          <a:noFill/>
          <a:ln w="19050">
            <a:solidFill>
              <a:srgbClr val="6F7F74"/>
            </a:solidFill>
            <a:prstDash val="solid"/>
            <a:tailEnd type="triangle"/>
          </a:ln>
        </p:spPr>
      </p:sp>
      <p:sp>
        <p:nvSpPr>
          <p:cNvPr id="32" name="A ticket, signed"/>
          <p:cNvSpPr/>
          <p:nvPr/>
        </p:nvSpPr>
        <p:spPr>
          <a:xfrm>
            <a:off x="8686800" y="1444752"/>
            <a:ext cx="2956255" cy="685800"/>
          </a:xfrm>
          <a:prstGeom prst="roundRect">
            <a:avLst>
              <a:gd name="adj" fmla="val 8000"/>
            </a:avLst>
          </a:prstGeom>
          <a:solidFill>
            <a:srgbClr val="FFFFFF"/>
          </a:solidFill>
          <a:ln w="22225">
            <a:solidFill>
              <a:schemeClr val="tx2"/>
            </a:solidFill>
            <a:prstDash val="solid"/>
          </a:ln>
        </p:spPr>
      </p:sp>
      <p:sp>
        <p:nvSpPr>
          <p:cNvPr id="33" name="Text 31"/>
          <p:cNvSpPr txBox="1"/>
          <p:nvPr/>
        </p:nvSpPr>
        <p:spPr>
          <a:xfrm>
            <a:off x="8796528" y="1499616"/>
            <a:ext cx="2736799" cy="237744"/>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A ticket, signed</a:t>
            </a:r>
            <a:endParaRPr lang="en-US" sz="1050" dirty="0"/>
          </a:p>
        </p:txBody>
      </p:sp>
      <p:sp>
        <p:nvSpPr>
          <p:cNvPr id="34" name="Text 32"/>
          <p:cNvSpPr txBox="1"/>
          <p:nvPr/>
        </p:nvSpPr>
        <p:spPr>
          <a:xfrm>
            <a:off x="8796528" y="1728216"/>
            <a:ext cx="2736799" cy="374904"/>
          </a:xfrm>
          <a:prstGeom prst="rect">
            <a:avLst/>
          </a:prstGeom>
          <a:noFill/>
          <a:ln/>
        </p:spPr>
        <p:txBody>
          <a:bodyPr wrap="square" lIns="0" tIns="0" rIns="0" bIns="0" rtlCol="0" anchor="t">
            <a:normAutofit/>
          </a:bodyPr>
          <a:lstStyle/>
          <a:p>
            <a:pPr indent="0" marL="0">
              <a:buNone/>
            </a:pPr>
            <a:r>
              <a:rPr lang="en-US" sz="850" dirty="0">
                <a:solidFill>
                  <a:schemeClr val="tx1"/>
                </a:solidFill>
                <a:latin typeface="Arial" pitchFamily="34" charset="0"/>
                <a:ea typeface="Arial" pitchFamily="34" charset="-122"/>
                <a:cs typeface="Arial" pitchFamily="34" charset="-120"/>
              </a:rPr>
              <a:t>action, digest of the fields, which GPU, rulebook edition, reservation, expiry; the far end checks it itself, once</a:t>
            </a:r>
            <a:endParaRPr lang="en-US" sz="850" dirty="0"/>
          </a:p>
        </p:txBody>
      </p:sp>
      <p:sp>
        <p:nvSpPr>
          <p:cNvPr id="35" name="arrow"/>
          <p:cNvSpPr/>
          <p:nvPr/>
        </p:nvSpPr>
        <p:spPr>
          <a:xfrm>
            <a:off x="8357616" y="1787652"/>
            <a:ext cx="292608" cy="0"/>
          </a:xfrm>
          <a:prstGeom prst="line">
            <a:avLst/>
          </a:prstGeom>
          <a:noFill/>
          <a:ln w="19050">
            <a:solidFill>
              <a:srgbClr val="2F5D62"/>
            </a:solidFill>
            <a:prstDash val="solid"/>
            <a:tailEnd type="triangle"/>
          </a:ln>
        </p:spPr>
      </p:sp>
      <p:sp>
        <p:nvSpPr>
          <p:cNvPr id="36" name="A hold"/>
          <p:cNvSpPr/>
          <p:nvPr/>
        </p:nvSpPr>
        <p:spPr>
          <a:xfrm>
            <a:off x="8686800" y="2221992"/>
            <a:ext cx="2956255" cy="685800"/>
          </a:xfrm>
          <a:prstGeom prst="roundRect">
            <a:avLst>
              <a:gd name="adj" fmla="val 8000"/>
            </a:avLst>
          </a:prstGeom>
          <a:solidFill>
            <a:srgbClr val="FFFFFF"/>
          </a:solidFill>
          <a:ln w="22225">
            <a:solidFill>
              <a:schemeClr val="accent1"/>
            </a:solidFill>
            <a:prstDash val="solid"/>
          </a:ln>
        </p:spPr>
      </p:sp>
      <p:sp>
        <p:nvSpPr>
          <p:cNvPr id="37" name="Text 35"/>
          <p:cNvSpPr txBox="1"/>
          <p:nvPr/>
        </p:nvSpPr>
        <p:spPr>
          <a:xfrm>
            <a:off x="8796528" y="2276856"/>
            <a:ext cx="2736799" cy="237744"/>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A hold</a:t>
            </a:r>
            <a:endParaRPr lang="en-US" sz="1050" dirty="0"/>
          </a:p>
        </p:txBody>
      </p:sp>
      <p:sp>
        <p:nvSpPr>
          <p:cNvPr id="38" name="Text 36"/>
          <p:cNvSpPr txBox="1"/>
          <p:nvPr/>
        </p:nvSpPr>
        <p:spPr>
          <a:xfrm>
            <a:off x="8796528" y="2505456"/>
            <a:ext cx="2736799" cy="374904"/>
          </a:xfrm>
          <a:prstGeom prst="rect">
            <a:avLst/>
          </a:prstGeom>
          <a:noFill/>
          <a:ln/>
        </p:spPr>
        <p:txBody>
          <a:bodyPr wrap="square" lIns="0" tIns="0" rIns="0" bIns="0" rtlCol="0" anchor="t">
            <a:normAutofit/>
          </a:bodyPr>
          <a:lstStyle/>
          <a:p>
            <a:pPr indent="0" marL="0">
              <a:buNone/>
            </a:pPr>
            <a:r>
              <a:rPr lang="en-US" sz="850" dirty="0">
                <a:solidFill>
                  <a:schemeClr val="tx1"/>
                </a:solidFill>
                <a:latin typeface="Arial" pitchFamily="34" charset="0"/>
                <a:ea typeface="Arial" pitchFamily="34" charset="-122"/>
                <a:cs typeface="Arial" pitchFamily="34" charset="-120"/>
              </a:rPr>
              <a:t>parked until a person with a key signs an approval naming this request</a:t>
            </a:r>
            <a:endParaRPr lang="en-US" sz="850" dirty="0"/>
          </a:p>
        </p:txBody>
      </p:sp>
      <p:sp>
        <p:nvSpPr>
          <p:cNvPr id="39" name="arrow"/>
          <p:cNvSpPr/>
          <p:nvPr/>
        </p:nvSpPr>
        <p:spPr>
          <a:xfrm>
            <a:off x="8357616" y="2564892"/>
            <a:ext cx="292608" cy="0"/>
          </a:xfrm>
          <a:prstGeom prst="line">
            <a:avLst/>
          </a:prstGeom>
          <a:noFill/>
          <a:ln w="19050">
            <a:solidFill>
              <a:srgbClr val="C2703D"/>
            </a:solidFill>
            <a:prstDash val="solid"/>
            <a:tailEnd type="triangle"/>
          </a:ln>
        </p:spPr>
      </p:sp>
      <p:sp>
        <p:nvSpPr>
          <p:cNvPr id="40" name="A no, with a reason code"/>
          <p:cNvSpPr/>
          <p:nvPr/>
        </p:nvSpPr>
        <p:spPr>
          <a:xfrm>
            <a:off x="8686800" y="2999232"/>
            <a:ext cx="2956255" cy="685800"/>
          </a:xfrm>
          <a:prstGeom prst="roundRect">
            <a:avLst>
              <a:gd name="adj" fmla="val 8000"/>
            </a:avLst>
          </a:prstGeom>
          <a:solidFill>
            <a:srgbClr val="FFFFFF"/>
          </a:solidFill>
          <a:ln w="12700">
            <a:solidFill>
              <a:srgbClr val="6F7F74"/>
            </a:solidFill>
            <a:prstDash val="solid"/>
          </a:ln>
        </p:spPr>
      </p:sp>
      <p:sp>
        <p:nvSpPr>
          <p:cNvPr id="41" name="Text 39"/>
          <p:cNvSpPr txBox="1"/>
          <p:nvPr/>
        </p:nvSpPr>
        <p:spPr>
          <a:xfrm>
            <a:off x="8796528" y="3054096"/>
            <a:ext cx="2736799" cy="237744"/>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A no, with a reason code</a:t>
            </a:r>
            <a:endParaRPr lang="en-US" sz="1050" dirty="0"/>
          </a:p>
        </p:txBody>
      </p:sp>
      <p:sp>
        <p:nvSpPr>
          <p:cNvPr id="42" name="Text 40"/>
          <p:cNvSpPr txBox="1"/>
          <p:nvPr/>
        </p:nvSpPr>
        <p:spPr>
          <a:xfrm>
            <a:off x="8796528" y="3282696"/>
            <a:ext cx="2736799" cy="374904"/>
          </a:xfrm>
          <a:prstGeom prst="rect">
            <a:avLst/>
          </a:prstGeom>
          <a:noFill/>
          <a:ln/>
        </p:spPr>
        <p:txBody>
          <a:bodyPr wrap="square" lIns="0" tIns="0" rIns="0" bIns="0" rtlCol="0" anchor="t">
            <a:normAutofit/>
          </a:bodyPr>
          <a:lstStyle/>
          <a:p>
            <a:pPr indent="0" marL="0">
              <a:buNone/>
            </a:pPr>
            <a:r>
              <a:rPr lang="en-US" sz="850" dirty="0">
                <a:solidFill>
                  <a:schemeClr val="tx1"/>
                </a:solidFill>
                <a:latin typeface="Arial" pitchFamily="34" charset="0"/>
                <a:ea typeface="Arial" pitchFamily="34" charset="-122"/>
                <a:cs typeface="Arial" pitchFamily="34" charset="-120"/>
              </a:rPr>
              <a:t>and a line in the log nobody rewrites</a:t>
            </a:r>
            <a:endParaRPr lang="en-US" sz="850" dirty="0"/>
          </a:p>
        </p:txBody>
      </p:sp>
      <p:sp>
        <p:nvSpPr>
          <p:cNvPr id="43" name="arrow"/>
          <p:cNvSpPr/>
          <p:nvPr/>
        </p:nvSpPr>
        <p:spPr>
          <a:xfrm>
            <a:off x="8357616" y="3342132"/>
            <a:ext cx="292608" cy="0"/>
          </a:xfrm>
          <a:prstGeom prst="line">
            <a:avLst/>
          </a:prstGeom>
          <a:noFill/>
          <a:ln w="19050">
            <a:solidFill>
              <a:srgbClr val="6F7F74"/>
            </a:solidFill>
            <a:prstDash val="solid"/>
            <a:tailEnd type="triangle"/>
          </a:ln>
        </p:spPr>
      </p:sp>
      <p:sp>
        <p:nvSpPr>
          <p:cNvPr id="44" name="A device-provenance record"/>
          <p:cNvSpPr/>
          <p:nvPr/>
        </p:nvSpPr>
        <p:spPr>
          <a:xfrm>
            <a:off x="8686800" y="3776472"/>
            <a:ext cx="2956255" cy="685800"/>
          </a:xfrm>
          <a:prstGeom prst="roundRect">
            <a:avLst>
              <a:gd name="adj" fmla="val 8000"/>
            </a:avLst>
          </a:prstGeom>
          <a:solidFill>
            <a:srgbClr val="FFFFFF"/>
          </a:solidFill>
          <a:ln w="12700">
            <a:solidFill>
              <a:srgbClr val="6F7F74"/>
            </a:solidFill>
            <a:prstDash val="solid"/>
          </a:ln>
        </p:spPr>
      </p:sp>
      <p:sp>
        <p:nvSpPr>
          <p:cNvPr id="45" name="Text 43"/>
          <p:cNvSpPr txBox="1"/>
          <p:nvPr/>
        </p:nvSpPr>
        <p:spPr>
          <a:xfrm>
            <a:off x="8796528" y="3831336"/>
            <a:ext cx="2736799" cy="237744"/>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A device-provenance record</a:t>
            </a:r>
            <a:endParaRPr lang="en-US" sz="1050" dirty="0"/>
          </a:p>
        </p:txBody>
      </p:sp>
      <p:sp>
        <p:nvSpPr>
          <p:cNvPr id="46" name="Text 44"/>
          <p:cNvSpPr txBox="1"/>
          <p:nvPr/>
        </p:nvSpPr>
        <p:spPr>
          <a:xfrm>
            <a:off x="8796528" y="4059936"/>
            <a:ext cx="2736799" cy="374904"/>
          </a:xfrm>
          <a:prstGeom prst="rect">
            <a:avLst/>
          </a:prstGeom>
          <a:noFill/>
          <a:ln/>
        </p:spPr>
        <p:txBody>
          <a:bodyPr wrap="square" lIns="0" tIns="0" rIns="0" bIns="0" rtlCol="0" anchor="t">
            <a:normAutofit/>
          </a:bodyPr>
          <a:lstStyle/>
          <a:p>
            <a:pPr indent="0" marL="0">
              <a:buNone/>
            </a:pPr>
            <a:r>
              <a:rPr lang="en-US" sz="850" dirty="0">
                <a:solidFill>
                  <a:schemeClr val="tx1"/>
                </a:solidFill>
                <a:latin typeface="Arial" pitchFamily="34" charset="0"/>
                <a:ea typeface="Arial" pitchFamily="34" charset="-122"/>
                <a:cs typeface="Arial" pitchFamily="34" charset="-120"/>
              </a:rPr>
              <a:t>this device, firmware, model, edition, output hash, odometer count; signed</a:t>
            </a:r>
            <a:endParaRPr lang="en-US" sz="850" dirty="0"/>
          </a:p>
        </p:txBody>
      </p:sp>
      <p:sp>
        <p:nvSpPr>
          <p:cNvPr id="47" name="arrow"/>
          <p:cNvSpPr/>
          <p:nvPr/>
        </p:nvSpPr>
        <p:spPr>
          <a:xfrm>
            <a:off x="8357616" y="4119372"/>
            <a:ext cx="292608" cy="0"/>
          </a:xfrm>
          <a:prstGeom prst="line">
            <a:avLst/>
          </a:prstGeom>
          <a:noFill/>
          <a:ln w="19050">
            <a:solidFill>
              <a:srgbClr val="6F7F74"/>
            </a:solidFill>
            <a:prstDash val="solid"/>
            <a:tailEnd type="triangle"/>
          </a:ln>
        </p:spPr>
      </p:sp>
      <p:sp>
        <p:nvSpPr>
          <p:cNvPr id="48" name="The levers"/>
          <p:cNvSpPr/>
          <p:nvPr/>
        </p:nvSpPr>
        <p:spPr>
          <a:xfrm>
            <a:off x="8686800" y="4553712"/>
            <a:ext cx="2956255" cy="685800"/>
          </a:xfrm>
          <a:prstGeom prst="roundRect">
            <a:avLst>
              <a:gd name="adj" fmla="val 8000"/>
            </a:avLst>
          </a:prstGeom>
          <a:solidFill>
            <a:srgbClr val="FFFFFF"/>
          </a:solidFill>
          <a:ln w="22225">
            <a:solidFill>
              <a:schemeClr val="accent1"/>
            </a:solidFill>
            <a:prstDash val="solid"/>
          </a:ln>
        </p:spPr>
      </p:sp>
      <p:sp>
        <p:nvSpPr>
          <p:cNvPr id="49" name="Text 47"/>
          <p:cNvSpPr txBox="1"/>
          <p:nvPr/>
        </p:nvSpPr>
        <p:spPr>
          <a:xfrm>
            <a:off x="8796528" y="4608576"/>
            <a:ext cx="2736799" cy="237744"/>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The levers</a:t>
            </a:r>
            <a:endParaRPr lang="en-US" sz="1050" dirty="0"/>
          </a:p>
        </p:txBody>
      </p:sp>
      <p:sp>
        <p:nvSpPr>
          <p:cNvPr id="50" name="Text 48"/>
          <p:cNvSpPr txBox="1"/>
          <p:nvPr/>
        </p:nvSpPr>
        <p:spPr>
          <a:xfrm>
            <a:off x="8796528" y="4837176"/>
            <a:ext cx="2736799" cy="374904"/>
          </a:xfrm>
          <a:prstGeom prst="rect">
            <a:avLst/>
          </a:prstGeom>
          <a:noFill/>
          <a:ln/>
        </p:spPr>
        <p:txBody>
          <a:bodyPr wrap="square" lIns="0" tIns="0" rIns="0" bIns="0" rtlCol="0" anchor="t">
            <a:normAutofit/>
          </a:bodyPr>
          <a:lstStyle/>
          <a:p>
            <a:pPr indent="0" marL="0">
              <a:buNone/>
            </a:pPr>
            <a:r>
              <a:rPr lang="en-US" sz="850" dirty="0">
                <a:solidFill>
                  <a:schemeClr val="tx1"/>
                </a:solidFill>
                <a:latin typeface="Arial" pitchFamily="34" charset="0"/>
                <a:ea typeface="Arial" pitchFamily="34" charset="-122"/>
                <a:cs typeface="Arial" pitchFamily="34" charset="-120"/>
              </a:rPr>
              <a:t>brake, reset, power per GPU slot; switch ports; DPU flows; the rack halt loop</a:t>
            </a:r>
            <a:endParaRPr lang="en-US" sz="850" dirty="0"/>
          </a:p>
        </p:txBody>
      </p:sp>
      <p:sp>
        <p:nvSpPr>
          <p:cNvPr id="51" name="arrow"/>
          <p:cNvSpPr/>
          <p:nvPr/>
        </p:nvSpPr>
        <p:spPr>
          <a:xfrm>
            <a:off x="8357616" y="4896612"/>
            <a:ext cx="292608" cy="0"/>
          </a:xfrm>
          <a:prstGeom prst="line">
            <a:avLst/>
          </a:prstGeom>
          <a:noFill/>
          <a:ln w="19050">
            <a:solidFill>
              <a:srgbClr val="C2703D"/>
            </a:solidFill>
            <a:prstDash val="solid"/>
            <a:tailEnd type="triangle"/>
          </a:ln>
        </p:spPr>
      </p:sp>
      <p:sp>
        <p:nvSpPr>
          <p:cNvPr id="52" name="To the other governors"/>
          <p:cNvSpPr/>
          <p:nvPr/>
        </p:nvSpPr>
        <p:spPr>
          <a:xfrm>
            <a:off x="8686800" y="5330952"/>
            <a:ext cx="2956255" cy="685800"/>
          </a:xfrm>
          <a:prstGeom prst="roundRect">
            <a:avLst>
              <a:gd name="adj" fmla="val 8000"/>
            </a:avLst>
          </a:prstGeom>
          <a:solidFill>
            <a:srgbClr val="FFFFFF"/>
          </a:solidFill>
          <a:ln w="12700">
            <a:solidFill>
              <a:srgbClr val="6F7F74"/>
            </a:solidFill>
            <a:prstDash val="solid"/>
          </a:ln>
        </p:spPr>
      </p:sp>
      <p:sp>
        <p:nvSpPr>
          <p:cNvPr id="53" name="Text 51"/>
          <p:cNvSpPr txBox="1"/>
          <p:nvPr/>
        </p:nvSpPr>
        <p:spPr>
          <a:xfrm>
            <a:off x="8796528" y="5385816"/>
            <a:ext cx="2736799" cy="237744"/>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To the other governors</a:t>
            </a:r>
            <a:endParaRPr lang="en-US" sz="1050" dirty="0"/>
          </a:p>
        </p:txBody>
      </p:sp>
      <p:sp>
        <p:nvSpPr>
          <p:cNvPr id="54" name="Text 52"/>
          <p:cNvSpPr txBox="1"/>
          <p:nvPr/>
        </p:nvSpPr>
        <p:spPr>
          <a:xfrm>
            <a:off x="8796528" y="5614416"/>
            <a:ext cx="2736799" cy="374904"/>
          </a:xfrm>
          <a:prstGeom prst="rect">
            <a:avLst/>
          </a:prstGeom>
          <a:noFill/>
          <a:ln/>
        </p:spPr>
        <p:txBody>
          <a:bodyPr wrap="square" lIns="0" tIns="0" rIns="0" bIns="0" rtlCol="0" anchor="t">
            <a:normAutofit/>
          </a:bodyPr>
          <a:lstStyle/>
          <a:p>
            <a:pPr indent="0" marL="0">
              <a:buNone/>
            </a:pPr>
            <a:r>
              <a:rPr lang="en-US" sz="850" dirty="0">
                <a:solidFill>
                  <a:schemeClr val="tx1"/>
                </a:solidFill>
                <a:latin typeface="Arial" pitchFamily="34" charset="0"/>
                <a:ea typeface="Arial" pitchFamily="34" charset="-122"/>
                <a:cs typeface="Arial" pitchFamily="34" charset="-120"/>
              </a:rPr>
              <a:t>signed, numbered, edition-stamped: roster, heartbeat, budgets, checkpoints</a:t>
            </a:r>
            <a:endParaRPr lang="en-US" sz="850" dirty="0"/>
          </a:p>
        </p:txBody>
      </p:sp>
      <p:sp>
        <p:nvSpPr>
          <p:cNvPr id="55" name="arrow"/>
          <p:cNvSpPr/>
          <p:nvPr/>
        </p:nvSpPr>
        <p:spPr>
          <a:xfrm>
            <a:off x="8357616" y="5673852"/>
            <a:ext cx="292608" cy="0"/>
          </a:xfrm>
          <a:prstGeom prst="line">
            <a:avLst/>
          </a:prstGeom>
          <a:noFill/>
          <a:ln w="19050">
            <a:solidFill>
              <a:srgbClr val="6F7F74"/>
            </a:solidFill>
            <a:prstDash val="solid"/>
            <a:tailEnd type="triangle"/>
          </a:ln>
        </p:spPr>
      </p:sp>
      <p:sp>
        <p:nvSpPr>
          <p:cNvPr id="56" name="the chip"/>
          <p:cNvSpPr/>
          <p:nvPr/>
        </p:nvSpPr>
        <p:spPr>
          <a:xfrm>
            <a:off x="3977640" y="1444752"/>
            <a:ext cx="4343400" cy="4572000"/>
          </a:xfrm>
          <a:prstGeom prst="roundRect">
            <a:avLst>
              <a:gd name="adj" fmla="val 1684"/>
            </a:avLst>
          </a:prstGeom>
          <a:solidFill>
            <a:srgbClr val="EEF2EF"/>
          </a:solidFill>
          <a:ln w="25400">
            <a:solidFill>
              <a:srgbClr val="2F5D62"/>
            </a:solidFill>
            <a:prstDash val="solid"/>
          </a:ln>
        </p:spPr>
      </p:sp>
      <p:sp>
        <p:nvSpPr>
          <p:cNvPr id="57" name="Burned in at the factory (fuses, ROM)"/>
          <p:cNvSpPr/>
          <p:nvPr/>
        </p:nvSpPr>
        <p:spPr>
          <a:xfrm>
            <a:off x="4087368" y="1554480"/>
            <a:ext cx="4123944" cy="694944"/>
          </a:xfrm>
          <a:prstGeom prst="roundRect">
            <a:avLst>
              <a:gd name="adj" fmla="val 7895"/>
            </a:avLst>
          </a:prstGeom>
          <a:solidFill>
            <a:srgbClr val="FFFFFF"/>
          </a:solidFill>
          <a:ln w="12700">
            <a:solidFill>
              <a:srgbClr val="6F7F74"/>
            </a:solidFill>
            <a:prstDash val="solid"/>
          </a:ln>
        </p:spPr>
      </p:sp>
      <p:sp>
        <p:nvSpPr>
          <p:cNvPr id="58" name="Text 56"/>
          <p:cNvSpPr txBox="1"/>
          <p:nvPr/>
        </p:nvSpPr>
        <p:spPr>
          <a:xfrm>
            <a:off x="4197096" y="1609344"/>
            <a:ext cx="3904488" cy="237744"/>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Burned in at the factory (fuses, ROM)</a:t>
            </a:r>
            <a:endParaRPr lang="en-US" sz="1050" dirty="0"/>
          </a:p>
        </p:txBody>
      </p:sp>
      <p:sp>
        <p:nvSpPr>
          <p:cNvPr id="59" name="Text 57"/>
          <p:cNvSpPr txBox="1"/>
          <p:nvPr/>
        </p:nvSpPr>
        <p:spPr>
          <a:xfrm>
            <a:off x="4197096" y="1847088"/>
            <a:ext cx="3904488" cy="365760"/>
          </a:xfrm>
          <a:prstGeom prst="rect">
            <a:avLst/>
          </a:prstGeom>
          <a:noFill/>
          <a:ln/>
        </p:spPr>
        <p:txBody>
          <a:bodyPr wrap="square" lIns="0" tIns="0" rIns="0" bIns="0" rtlCol="0" anchor="t">
            <a:normAutofit/>
          </a:bodyPr>
          <a:lstStyle/>
          <a:p>
            <a:pPr indent="0" marL="0">
              <a:buNone/>
            </a:pPr>
            <a:r>
              <a:rPr lang="en-US" sz="850" dirty="0">
                <a:solidFill>
                  <a:schemeClr val="tx1"/>
                </a:solidFill>
                <a:latin typeface="Arial" pitchFamily="34" charset="0"/>
                <a:ea typeface="Arial" pitchFamily="34" charset="-122"/>
                <a:cs typeface="Arial" pitchFamily="34" charset="-120"/>
              </a:rPr>
              <a:t>unique device secret; hashes of the governance keys; anti-rollback counter; lifecycle state. Nobody changes these afterwards, including us</a:t>
            </a:r>
            <a:endParaRPr lang="en-US" sz="850" dirty="0"/>
          </a:p>
        </p:txBody>
      </p:sp>
      <p:sp>
        <p:nvSpPr>
          <p:cNvPr id="60" name="Measured boot and keys"/>
          <p:cNvSpPr/>
          <p:nvPr/>
        </p:nvSpPr>
        <p:spPr>
          <a:xfrm>
            <a:off x="4087368" y="2340864"/>
            <a:ext cx="4123944" cy="694944"/>
          </a:xfrm>
          <a:prstGeom prst="roundRect">
            <a:avLst>
              <a:gd name="adj" fmla="val 7895"/>
            </a:avLst>
          </a:prstGeom>
          <a:solidFill>
            <a:srgbClr val="FFFFFF"/>
          </a:solidFill>
          <a:ln w="12700">
            <a:solidFill>
              <a:srgbClr val="6F7F74"/>
            </a:solidFill>
            <a:prstDash val="solid"/>
          </a:ln>
        </p:spPr>
      </p:sp>
      <p:sp>
        <p:nvSpPr>
          <p:cNvPr id="61" name="Text 59"/>
          <p:cNvSpPr txBox="1"/>
          <p:nvPr/>
        </p:nvSpPr>
        <p:spPr>
          <a:xfrm>
            <a:off x="4197096" y="2395728"/>
            <a:ext cx="3904488" cy="237744"/>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Measured boot and keys</a:t>
            </a:r>
            <a:endParaRPr lang="en-US" sz="1050" dirty="0"/>
          </a:p>
        </p:txBody>
      </p:sp>
      <p:sp>
        <p:nvSpPr>
          <p:cNvPr id="62" name="Text 60"/>
          <p:cNvSpPr txBox="1"/>
          <p:nvPr/>
        </p:nvSpPr>
        <p:spPr>
          <a:xfrm>
            <a:off x="4197096" y="2633472"/>
            <a:ext cx="3904488" cy="365760"/>
          </a:xfrm>
          <a:prstGeom prst="rect">
            <a:avLst/>
          </a:prstGeom>
          <a:noFill/>
          <a:ln/>
        </p:spPr>
        <p:txBody>
          <a:bodyPr wrap="square" lIns="0" tIns="0" rIns="0" bIns="0" rtlCol="0" anchor="t">
            <a:normAutofit/>
          </a:bodyPr>
          <a:lstStyle/>
          <a:p>
            <a:pPr indent="0" marL="0">
              <a:buNone/>
            </a:pPr>
            <a:r>
              <a:rPr lang="en-US" sz="850" dirty="0">
                <a:solidFill>
                  <a:schemeClr val="tx1"/>
                </a:solidFill>
                <a:latin typeface="Arial" pitchFamily="34" charset="0"/>
                <a:ea typeface="Arial" pitchFamily="34" charset="-122"/>
                <a:cs typeface="Arial" pitchFamily="34" charset="-120"/>
              </a:rPr>
              <a:t>extend-only registers; the signing key is derived from the code that booted (change one byte, lose the key); an odometer that only counts up; true randomness</a:t>
            </a:r>
            <a:endParaRPr lang="en-US" sz="850" dirty="0"/>
          </a:p>
        </p:txBody>
      </p:sp>
      <p:sp>
        <p:nvSpPr>
          <p:cNvPr id="63" name="The gate: ten questions in order; the first no wins"/>
          <p:cNvSpPr/>
          <p:nvPr/>
        </p:nvSpPr>
        <p:spPr>
          <a:xfrm>
            <a:off x="4087368" y="3127248"/>
            <a:ext cx="4123944" cy="1920240"/>
          </a:xfrm>
          <a:prstGeom prst="roundRect">
            <a:avLst>
              <a:gd name="adj" fmla="val 2857"/>
            </a:avLst>
          </a:prstGeom>
          <a:solidFill>
            <a:srgbClr val="FFFFFF"/>
          </a:solidFill>
          <a:ln w="22225">
            <a:solidFill>
              <a:srgbClr val="2F5D62"/>
            </a:solidFill>
            <a:prstDash val="solid"/>
          </a:ln>
        </p:spPr>
      </p:sp>
      <p:sp>
        <p:nvSpPr>
          <p:cNvPr id="64" name="Text 62"/>
          <p:cNvSpPr txBox="1"/>
          <p:nvPr/>
        </p:nvSpPr>
        <p:spPr>
          <a:xfrm>
            <a:off x="4197096" y="3182112"/>
            <a:ext cx="3904488" cy="237744"/>
          </a:xfrm>
          <a:prstGeom prst="rect">
            <a:avLst/>
          </a:prstGeom>
          <a:noFill/>
          <a:ln/>
        </p:spPr>
        <p:txBody>
          <a:bodyPr wrap="square" lIns="0" tIns="0" rIns="0" bIns="0" rtlCol="0" anchor="t">
            <a:normAutofit/>
          </a:bodyPr>
          <a:lstStyle/>
          <a:p>
            <a:pPr indent="0" marL="0">
              <a:buNone/>
            </a:pPr>
            <a:r>
              <a:rPr lang="en-US" sz="1050" b="1" dirty="0">
                <a:solidFill>
                  <a:schemeClr val="tx2"/>
                </a:solidFill>
                <a:latin typeface="Arial" pitchFamily="34" charset="0"/>
                <a:ea typeface="Arial" pitchFamily="34" charset="-122"/>
                <a:cs typeface="Arial" pitchFamily="34" charset="-120"/>
              </a:rPr>
              <a:t>The gate: ten questions in order; the first no wins</a:t>
            </a:r>
            <a:endParaRPr lang="en-US" sz="1050" dirty="0"/>
          </a:p>
        </p:txBody>
      </p:sp>
      <p:sp>
        <p:nvSpPr>
          <p:cNvPr id="65" name="Text 63"/>
          <p:cNvSpPr txBox="1"/>
          <p:nvPr/>
        </p:nvSpPr>
        <p:spPr>
          <a:xfrm>
            <a:off x="4197096" y="3419856"/>
            <a:ext cx="3904488" cy="1591056"/>
          </a:xfrm>
          <a:prstGeom prst="rect">
            <a:avLst/>
          </a:prstGeom>
          <a:noFill/>
          <a:ln/>
        </p:spPr>
        <p:txBody>
          <a:bodyPr wrap="square" lIns="0" tIns="0" rIns="0" bIns="0" rtlCol="0" anchor="t">
            <a:normAutofit/>
          </a:bodyPr>
          <a:lstStyle/>
          <a:p>
            <a:pPr indent="0" marL="0">
              <a:buNone/>
            </a:pPr>
            <a:r>
              <a:rPr lang="en-US" sz="850" dirty="0">
                <a:solidFill>
                  <a:schemeClr val="tx1"/>
                </a:solidFill>
                <a:latin typeface="Arial" pitchFamily="34" charset="0"/>
                <a:ea typeface="Arial" pitchFamily="34" charset="-122"/>
                <a:cs typeface="Arial" pitchFamily="34" charset="-120"/>
              </a:rPr>
              <a:t>1 is the form well formed?   2 is the asking GPU attested, token valid, edition current?   3 seen this request before? (replay store)   4 alarm raised, heartbeat dead, rulebook expired? then no   5 which rule? workload × action, exact before wildcard; typed limits; lists (a protected site is a no)   6 which lane? automatic, needs a witness, needs a human   7 witnesses present, signed, fresh, about this request?   8 inside the rate window?   9 budget: reserve the amount against the limit   10 human lane: park a hold. Otherwise mint the ticket</a:t>
            </a:r>
            <a:endParaRPr lang="en-US" sz="850" dirty="0"/>
          </a:p>
        </p:txBody>
      </p:sp>
      <p:sp>
        <p:nvSpPr>
          <p:cNvPr id="66" name="Ledger"/>
          <p:cNvSpPr/>
          <p:nvPr/>
        </p:nvSpPr>
        <p:spPr>
          <a:xfrm>
            <a:off x="4087368" y="5138928"/>
            <a:ext cx="1313688" cy="768096"/>
          </a:xfrm>
          <a:prstGeom prst="roundRect">
            <a:avLst>
              <a:gd name="adj" fmla="val 7143"/>
            </a:avLst>
          </a:prstGeom>
          <a:solidFill>
            <a:srgbClr val="FFFFFF"/>
          </a:solidFill>
          <a:ln w="12700">
            <a:solidFill>
              <a:srgbClr val="6F7F74"/>
            </a:solidFill>
            <a:prstDash val="solid"/>
          </a:ln>
        </p:spPr>
      </p:sp>
      <p:sp>
        <p:nvSpPr>
          <p:cNvPr id="67" name="Text 65"/>
          <p:cNvSpPr txBox="1"/>
          <p:nvPr/>
        </p:nvSpPr>
        <p:spPr>
          <a:xfrm>
            <a:off x="4178808" y="5193792"/>
            <a:ext cx="1130808" cy="237744"/>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Ledger</a:t>
            </a:r>
            <a:endParaRPr lang="en-US" sz="1050" dirty="0"/>
          </a:p>
        </p:txBody>
      </p:sp>
      <p:sp>
        <p:nvSpPr>
          <p:cNvPr id="68" name="Text 66"/>
          <p:cNvSpPr txBox="1"/>
          <p:nvPr/>
        </p:nvSpPr>
        <p:spPr>
          <a:xfrm>
            <a:off x="4178808" y="5431536"/>
            <a:ext cx="1130808" cy="438912"/>
          </a:xfrm>
          <a:prstGeom prst="rect">
            <a:avLst/>
          </a:prstGeom>
          <a:noFill/>
          <a:ln/>
        </p:spPr>
        <p:txBody>
          <a:bodyPr wrap="square" lIns="0" tIns="0" rIns="0" bIns="0" rtlCol="0" anchor="t">
            <a:normAutofit/>
          </a:bodyPr>
          <a:lstStyle/>
          <a:p>
            <a:pPr indent="0" marL="0">
              <a:buNone/>
            </a:pPr>
            <a:r>
              <a:rPr lang="en-US" sz="850" dirty="0">
                <a:solidFill>
                  <a:schemeClr val="tx1"/>
                </a:solidFill>
                <a:latin typeface="Arial" pitchFamily="34" charset="0"/>
                <a:ea typeface="Arial" pitchFamily="34" charset="-122"/>
                <a:cs typeface="Arial" pitchFamily="34" charset="-120"/>
              </a:rPr>
              <a:t>budgets and reservations, rate windows, replays; survives power loss</a:t>
            </a:r>
            <a:endParaRPr lang="en-US" sz="850" dirty="0"/>
          </a:p>
        </p:txBody>
      </p:sp>
      <p:sp>
        <p:nvSpPr>
          <p:cNvPr id="69" name="Log"/>
          <p:cNvSpPr/>
          <p:nvPr/>
        </p:nvSpPr>
        <p:spPr>
          <a:xfrm>
            <a:off x="5492496" y="5138928"/>
            <a:ext cx="1313688" cy="768096"/>
          </a:xfrm>
          <a:prstGeom prst="roundRect">
            <a:avLst>
              <a:gd name="adj" fmla="val 7143"/>
            </a:avLst>
          </a:prstGeom>
          <a:solidFill>
            <a:srgbClr val="FFFFFF"/>
          </a:solidFill>
          <a:ln w="12700">
            <a:solidFill>
              <a:srgbClr val="6F7F74"/>
            </a:solidFill>
            <a:prstDash val="solid"/>
          </a:ln>
        </p:spPr>
      </p:sp>
      <p:sp>
        <p:nvSpPr>
          <p:cNvPr id="70" name="Text 68"/>
          <p:cNvSpPr txBox="1"/>
          <p:nvPr/>
        </p:nvSpPr>
        <p:spPr>
          <a:xfrm>
            <a:off x="5583936" y="5193792"/>
            <a:ext cx="1130808" cy="237744"/>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Log</a:t>
            </a:r>
            <a:endParaRPr lang="en-US" sz="1050" dirty="0"/>
          </a:p>
        </p:txBody>
      </p:sp>
      <p:sp>
        <p:nvSpPr>
          <p:cNvPr id="71" name="Text 69"/>
          <p:cNvSpPr txBox="1"/>
          <p:nvPr/>
        </p:nvSpPr>
        <p:spPr>
          <a:xfrm>
            <a:off x="5583936" y="5431536"/>
            <a:ext cx="1130808" cy="438912"/>
          </a:xfrm>
          <a:prstGeom prst="rect">
            <a:avLst/>
          </a:prstGeom>
          <a:noFill/>
          <a:ln/>
        </p:spPr>
        <p:txBody>
          <a:bodyPr wrap="square" lIns="0" tIns="0" rIns="0" bIns="0" rtlCol="0" anchor="t">
            <a:normAutofit/>
          </a:bodyPr>
          <a:lstStyle/>
          <a:p>
            <a:pPr indent="0" marL="0">
              <a:buNone/>
            </a:pPr>
            <a:r>
              <a:rPr lang="en-US" sz="850" dirty="0">
                <a:solidFill>
                  <a:schemeClr val="tx1"/>
                </a:solidFill>
                <a:latin typeface="Arial" pitchFamily="34" charset="0"/>
                <a:ea typeface="Arial" pitchFamily="34" charset="-122"/>
                <a:cs typeface="Arial" pitchFamily="34" charset="-120"/>
              </a:rPr>
              <a:t>hash chain; signed checkpoints; neighbours cross-link their heads</a:t>
            </a:r>
            <a:endParaRPr lang="en-US" sz="850" dirty="0"/>
          </a:p>
        </p:txBody>
      </p:sp>
      <p:sp>
        <p:nvSpPr>
          <p:cNvPr id="72" name="Mailbox"/>
          <p:cNvSpPr/>
          <p:nvPr/>
        </p:nvSpPr>
        <p:spPr>
          <a:xfrm>
            <a:off x="6897624" y="5138928"/>
            <a:ext cx="1313688" cy="768096"/>
          </a:xfrm>
          <a:prstGeom prst="roundRect">
            <a:avLst>
              <a:gd name="adj" fmla="val 7143"/>
            </a:avLst>
          </a:prstGeom>
          <a:solidFill>
            <a:srgbClr val="FFFFFF"/>
          </a:solidFill>
          <a:ln w="12700">
            <a:solidFill>
              <a:srgbClr val="6F7F74"/>
            </a:solidFill>
            <a:prstDash val="solid"/>
          </a:ln>
        </p:spPr>
      </p:sp>
      <p:sp>
        <p:nvSpPr>
          <p:cNvPr id="73" name="Text 71"/>
          <p:cNvSpPr txBox="1"/>
          <p:nvPr/>
        </p:nvSpPr>
        <p:spPr>
          <a:xfrm>
            <a:off x="6989064" y="5193792"/>
            <a:ext cx="1130808" cy="237744"/>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Mailbox</a:t>
            </a:r>
            <a:endParaRPr lang="en-US" sz="1050" dirty="0"/>
          </a:p>
        </p:txBody>
      </p:sp>
      <p:sp>
        <p:nvSpPr>
          <p:cNvPr id="74" name="Text 72"/>
          <p:cNvSpPr txBox="1"/>
          <p:nvPr/>
        </p:nvSpPr>
        <p:spPr>
          <a:xfrm>
            <a:off x="6989064" y="5431536"/>
            <a:ext cx="1130808" cy="438912"/>
          </a:xfrm>
          <a:prstGeom prst="rect">
            <a:avLst/>
          </a:prstGeom>
          <a:noFill/>
          <a:ln/>
        </p:spPr>
        <p:txBody>
          <a:bodyPr wrap="square" lIns="0" tIns="0" rIns="0" bIns="0" rtlCol="0" anchor="t">
            <a:normAutofit/>
          </a:bodyPr>
          <a:lstStyle/>
          <a:p>
            <a:pPr indent="0" marL="0">
              <a:buNone/>
            </a:pPr>
            <a:r>
              <a:rPr lang="en-US" sz="850" dirty="0">
                <a:solidFill>
                  <a:schemeClr val="tx1"/>
                </a:solidFill>
                <a:latin typeface="Arial" pitchFamily="34" charset="0"/>
                <a:ea typeface="Arial" pitchFamily="34" charset="-122"/>
                <a:cs typeface="Arial" pitchFamily="34" charset="-120"/>
              </a:rPr>
              <a:t>the only way in from the host: signed, numbered commands only</a:t>
            </a:r>
            <a:endParaRPr lang="en-US" sz="850" dirty="0"/>
          </a:p>
        </p:txBody>
      </p:sp>
      <p:sp>
        <p:nvSpPr>
          <p:cNvPr id="75" name="Text 73"/>
          <p:cNvSpPr txBox="1"/>
          <p:nvPr/>
        </p:nvSpPr>
        <p:spPr>
          <a:xfrm>
            <a:off x="548640" y="6053328"/>
            <a:ext cx="11094415" cy="292608"/>
          </a:xfrm>
          <a:prstGeom prst="rect">
            <a:avLst/>
          </a:prstGeom>
          <a:noFill/>
          <a:ln/>
        </p:spPr>
        <p:txBody>
          <a:bodyPr wrap="square" lIns="0" tIns="0" rIns="0" bIns="0" rtlCol="0" anchor="t">
            <a:normAutofit/>
          </a:bodyPr>
          <a:lstStyle/>
          <a:p>
            <a:pPr indent="0" marL="0">
              <a:buNone/>
            </a:pPr>
            <a:r>
              <a:rPr lang="en-US" sz="950" i="1" dirty="0">
                <a:solidFill>
                  <a:schemeClr val="accent3"/>
                </a:solidFill>
                <a:latin typeface="Arial" pitchFamily="34" charset="0"/>
                <a:ea typeface="Arial" pitchFamily="34" charset="-122"/>
                <a:cs typeface="Arial" pitchFamily="34" charset="-120"/>
              </a:rPr>
              <a:t>What it cannot know: what the words mean, whether the rulebook is a good one, whether a witness is right. Those are people problems, handled by signatures and by measurement, and the chip is built so that none of them can be solved by talking to it.</a:t>
            </a:r>
            <a:endParaRPr lang="en-US" sz="9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How it meets the model</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24</a:t>
            </a:r>
            <a:endParaRPr lang="en-US" sz="1100" dirty="0"/>
          </a:p>
        </p:txBody>
      </p:sp>
      <p:sp>
        <p:nvSpPr>
          <p:cNvPr id="5" name="card"/>
          <p:cNvSpPr/>
          <p:nvPr/>
        </p:nvSpPr>
        <p:spPr>
          <a:xfrm>
            <a:off x="548640" y="1417320"/>
            <a:ext cx="3393338" cy="1645920"/>
          </a:xfrm>
          <a:prstGeom prst="roundRect">
            <a:avLst>
              <a:gd name="adj" fmla="val 4444"/>
            </a:avLst>
          </a:prstGeom>
          <a:solidFill>
            <a:schemeClr val="bg2"/>
          </a:solidFill>
          <a:ln w="12700">
            <a:solidFill>
              <a:schemeClr val="bg2"/>
            </a:solidFill>
            <a:prstDash val="solid"/>
          </a:ln>
        </p:spPr>
      </p:sp>
      <p:sp>
        <p:nvSpPr>
          <p:cNvPr id="6" name="Text 4"/>
          <p:cNvSpPr txBox="1"/>
          <p:nvPr/>
        </p:nvSpPr>
        <p:spPr>
          <a:xfrm>
            <a:off x="777240" y="1554480"/>
            <a:ext cx="548640" cy="548640"/>
          </a:xfrm>
          <a:prstGeom prst="rect">
            <a:avLst/>
          </a:prstGeom>
          <a:noFill/>
          <a:ln/>
        </p:spPr>
        <p:txBody>
          <a:bodyPr wrap="square" lIns="0" tIns="0" rIns="0" bIns="0" rtlCol="0" anchor="t">
            <a:normAutofit/>
          </a:bodyPr>
          <a:lstStyle/>
          <a:p>
            <a:pPr indent="0" marL="0">
              <a:buNone/>
            </a:pPr>
            <a:r>
              <a:rPr lang="en-US" sz="2800" b="1" dirty="0">
                <a:solidFill>
                  <a:schemeClr val="accent1"/>
                </a:solidFill>
                <a:latin typeface="Georgia" pitchFamily="34" charset="0"/>
                <a:ea typeface="Georgia" pitchFamily="34" charset="-122"/>
                <a:cs typeface="Georgia" pitchFamily="34" charset="-120"/>
              </a:rPr>
              <a:t>1</a:t>
            </a:r>
            <a:endParaRPr lang="en-US" sz="2800" dirty="0"/>
          </a:p>
        </p:txBody>
      </p:sp>
      <p:sp>
        <p:nvSpPr>
          <p:cNvPr id="7" name="Text 5"/>
          <p:cNvSpPr txBox="1"/>
          <p:nvPr/>
        </p:nvSpPr>
        <p:spPr>
          <a:xfrm>
            <a:off x="1371600" y="1581912"/>
            <a:ext cx="2341778" cy="640080"/>
          </a:xfrm>
          <a:prstGeom prst="rect">
            <a:avLst/>
          </a:prstGeom>
          <a:noFill/>
          <a:ln/>
        </p:spPr>
        <p:txBody>
          <a:bodyPr wrap="square" lIns="0" tIns="0" rIns="0" bIns="0" rtlCol="0" anchor="t">
            <a:normAutofit/>
          </a:bodyPr>
          <a:lstStyle/>
          <a:p>
            <a:pPr indent="0" marL="0">
              <a:buNone/>
            </a:pPr>
            <a:r>
              <a:rPr lang="en-US" sz="1600" b="1" dirty="0">
                <a:solidFill>
                  <a:schemeClr val="tx1"/>
                </a:solidFill>
                <a:latin typeface="Arial" pitchFamily="34" charset="0"/>
                <a:ea typeface="Arial" pitchFamily="34" charset="-122"/>
                <a:cs typeface="Arial" pitchFamily="34" charset="-120"/>
              </a:rPr>
              <a:t>The model thinks</a:t>
            </a:r>
            <a:endParaRPr lang="en-US" sz="1600" dirty="0"/>
          </a:p>
        </p:txBody>
      </p:sp>
      <p:sp>
        <p:nvSpPr>
          <p:cNvPr id="8" name="Text 6"/>
          <p:cNvSpPr txBox="1"/>
          <p:nvPr/>
        </p:nvSpPr>
        <p:spPr>
          <a:xfrm>
            <a:off x="1371600" y="2258568"/>
            <a:ext cx="2341778" cy="777240"/>
          </a:xfrm>
          <a:prstGeom prst="rect">
            <a:avLst/>
          </a:prstGeom>
          <a:noFill/>
          <a:ln/>
        </p:spPr>
        <p:txBody>
          <a:bodyPr wrap="square" lIns="0" tIns="0" rIns="0" bIns="0" rtlCol="0" anchor="t">
            <a:normAutofit/>
          </a:bodyPr>
          <a:lstStyle/>
          <a:p>
            <a:pPr indent="0" marL="0">
              <a:buNone/>
            </a:pPr>
            <a:r>
              <a:rPr lang="en-US" sz="1200" dirty="0">
                <a:solidFill>
                  <a:schemeClr val="tx1"/>
                </a:solidFill>
                <a:latin typeface="Arial" pitchFamily="34" charset="0"/>
                <a:ea typeface="Arial" pitchFamily="34" charset="-122"/>
                <a:cs typeface="Arial" pitchFamily="34" charset="-120"/>
              </a:rPr>
              <a:t>Token ids in, numbers out. No authority here and none needed.</a:t>
            </a:r>
            <a:endParaRPr lang="en-US" sz="1200" dirty="0"/>
          </a:p>
        </p:txBody>
      </p:sp>
      <p:sp>
        <p:nvSpPr>
          <p:cNvPr id="9" name="arrow"/>
          <p:cNvSpPr/>
          <p:nvPr/>
        </p:nvSpPr>
        <p:spPr>
          <a:xfrm>
            <a:off x="4015130" y="2240280"/>
            <a:ext cx="310896" cy="0"/>
          </a:xfrm>
          <a:prstGeom prst="line">
            <a:avLst/>
          </a:prstGeom>
          <a:noFill/>
          <a:ln w="31750">
            <a:solidFill>
              <a:srgbClr val="2F5D62"/>
            </a:solidFill>
            <a:prstDash val="solid"/>
            <a:tailEnd type="triangle"/>
          </a:ln>
        </p:spPr>
      </p:sp>
      <p:sp>
        <p:nvSpPr>
          <p:cNvPr id="10" name="card"/>
          <p:cNvSpPr/>
          <p:nvPr/>
        </p:nvSpPr>
        <p:spPr>
          <a:xfrm>
            <a:off x="4399178" y="1417320"/>
            <a:ext cx="3393338" cy="1645920"/>
          </a:xfrm>
          <a:prstGeom prst="roundRect">
            <a:avLst>
              <a:gd name="adj" fmla="val 4444"/>
            </a:avLst>
          </a:prstGeom>
          <a:solidFill>
            <a:schemeClr val="bg2"/>
          </a:solidFill>
          <a:ln w="12700">
            <a:solidFill>
              <a:schemeClr val="bg2"/>
            </a:solidFill>
            <a:prstDash val="solid"/>
          </a:ln>
        </p:spPr>
      </p:sp>
      <p:sp>
        <p:nvSpPr>
          <p:cNvPr id="11" name="Text 9"/>
          <p:cNvSpPr txBox="1"/>
          <p:nvPr/>
        </p:nvSpPr>
        <p:spPr>
          <a:xfrm>
            <a:off x="4627778" y="1554480"/>
            <a:ext cx="548640" cy="548640"/>
          </a:xfrm>
          <a:prstGeom prst="rect">
            <a:avLst/>
          </a:prstGeom>
          <a:noFill/>
          <a:ln/>
        </p:spPr>
        <p:txBody>
          <a:bodyPr wrap="square" lIns="0" tIns="0" rIns="0" bIns="0" rtlCol="0" anchor="t">
            <a:normAutofit/>
          </a:bodyPr>
          <a:lstStyle/>
          <a:p>
            <a:pPr indent="0" marL="0">
              <a:buNone/>
            </a:pPr>
            <a:r>
              <a:rPr lang="en-US" sz="2800" b="1" dirty="0">
                <a:solidFill>
                  <a:schemeClr val="accent1"/>
                </a:solidFill>
                <a:latin typeface="Georgia" pitchFamily="34" charset="0"/>
                <a:ea typeface="Georgia" pitchFamily="34" charset="-122"/>
                <a:cs typeface="Georgia" pitchFamily="34" charset="-120"/>
              </a:rPr>
              <a:t>2</a:t>
            </a:r>
            <a:endParaRPr lang="en-US" sz="2800" dirty="0"/>
          </a:p>
        </p:txBody>
      </p:sp>
      <p:sp>
        <p:nvSpPr>
          <p:cNvPr id="12" name="Text 10"/>
          <p:cNvSpPr txBox="1"/>
          <p:nvPr/>
        </p:nvSpPr>
        <p:spPr>
          <a:xfrm>
            <a:off x="5222138" y="1581912"/>
            <a:ext cx="2341778" cy="640080"/>
          </a:xfrm>
          <a:prstGeom prst="rect">
            <a:avLst/>
          </a:prstGeom>
          <a:noFill/>
          <a:ln/>
        </p:spPr>
        <p:txBody>
          <a:bodyPr wrap="square" lIns="0" tIns="0" rIns="0" bIns="0" rtlCol="0" anchor="t">
            <a:normAutofit/>
          </a:bodyPr>
          <a:lstStyle/>
          <a:p>
            <a:pPr indent="0" marL="0">
              <a:buNone/>
            </a:pPr>
            <a:r>
              <a:rPr lang="en-US" sz="1600" b="1" dirty="0">
                <a:solidFill>
                  <a:schemeClr val="tx1"/>
                </a:solidFill>
                <a:latin typeface="Arial" pitchFamily="34" charset="0"/>
                <a:ea typeface="Arial" pitchFamily="34" charset="-122"/>
                <a:cs typeface="Arial" pitchFamily="34" charset="-120"/>
              </a:rPr>
              <a:t>The runtime asks</a:t>
            </a:r>
            <a:endParaRPr lang="en-US" sz="1600" dirty="0"/>
          </a:p>
        </p:txBody>
      </p:sp>
      <p:sp>
        <p:nvSpPr>
          <p:cNvPr id="13" name="Text 11"/>
          <p:cNvSpPr txBox="1"/>
          <p:nvPr/>
        </p:nvSpPr>
        <p:spPr>
          <a:xfrm>
            <a:off x="5222138" y="2258568"/>
            <a:ext cx="2341778" cy="777240"/>
          </a:xfrm>
          <a:prstGeom prst="rect">
            <a:avLst/>
          </a:prstGeom>
          <a:noFill/>
          <a:ln/>
        </p:spPr>
        <p:txBody>
          <a:bodyPr wrap="square" lIns="0" tIns="0" rIns="0" bIns="0" rtlCol="0" anchor="t">
            <a:normAutofit/>
          </a:bodyPr>
          <a:lstStyle/>
          <a:p>
            <a:pPr indent="0" marL="0">
              <a:buNone/>
            </a:pPr>
            <a:r>
              <a:rPr lang="en-US" sz="1200" dirty="0">
                <a:solidFill>
                  <a:schemeClr val="tx1"/>
                </a:solidFill>
                <a:latin typeface="Arial" pitchFamily="34" charset="0"/>
                <a:ea typeface="Arial" pitchFamily="34" charset="-122"/>
                <a:cs typeface="Arial" pitchFamily="34" charset="-120"/>
              </a:rPr>
              <a:t>It turns the output into a typed request: the action and its fields. Under OpenShell, the supervisor hands it over.</a:t>
            </a:r>
            <a:endParaRPr lang="en-US" sz="1200" dirty="0"/>
          </a:p>
        </p:txBody>
      </p:sp>
      <p:sp>
        <p:nvSpPr>
          <p:cNvPr id="14" name="arrow"/>
          <p:cNvSpPr/>
          <p:nvPr/>
        </p:nvSpPr>
        <p:spPr>
          <a:xfrm>
            <a:off x="7865669" y="2240280"/>
            <a:ext cx="310896" cy="0"/>
          </a:xfrm>
          <a:prstGeom prst="line">
            <a:avLst/>
          </a:prstGeom>
          <a:noFill/>
          <a:ln w="31750">
            <a:solidFill>
              <a:srgbClr val="2F5D62"/>
            </a:solidFill>
            <a:prstDash val="solid"/>
            <a:tailEnd type="triangle"/>
          </a:ln>
        </p:spPr>
      </p:sp>
      <p:sp>
        <p:nvSpPr>
          <p:cNvPr id="15" name="card"/>
          <p:cNvSpPr/>
          <p:nvPr/>
        </p:nvSpPr>
        <p:spPr>
          <a:xfrm>
            <a:off x="8249717" y="1417320"/>
            <a:ext cx="3393338" cy="1645920"/>
          </a:xfrm>
          <a:prstGeom prst="roundRect">
            <a:avLst>
              <a:gd name="adj" fmla="val 4444"/>
            </a:avLst>
          </a:prstGeom>
          <a:solidFill>
            <a:schemeClr val="tx2"/>
          </a:solidFill>
          <a:ln w="12700">
            <a:solidFill>
              <a:schemeClr val="tx2"/>
            </a:solidFill>
            <a:prstDash val="solid"/>
          </a:ln>
        </p:spPr>
      </p:sp>
      <p:sp>
        <p:nvSpPr>
          <p:cNvPr id="16" name="Text 14"/>
          <p:cNvSpPr txBox="1"/>
          <p:nvPr/>
        </p:nvSpPr>
        <p:spPr>
          <a:xfrm>
            <a:off x="8478317" y="1554480"/>
            <a:ext cx="548640" cy="548640"/>
          </a:xfrm>
          <a:prstGeom prst="rect">
            <a:avLst/>
          </a:prstGeom>
          <a:noFill/>
          <a:ln/>
        </p:spPr>
        <p:txBody>
          <a:bodyPr wrap="square" lIns="0" tIns="0" rIns="0" bIns="0" rtlCol="0" anchor="t">
            <a:normAutofit/>
          </a:bodyPr>
          <a:lstStyle/>
          <a:p>
            <a:pPr indent="0" marL="0">
              <a:buNone/>
            </a:pPr>
            <a:r>
              <a:rPr lang="en-US" sz="2800" b="1" dirty="0">
                <a:solidFill>
                  <a:schemeClr val="accent6"/>
                </a:solidFill>
                <a:latin typeface="Georgia" pitchFamily="34" charset="0"/>
                <a:ea typeface="Georgia" pitchFamily="34" charset="-122"/>
                <a:cs typeface="Georgia" pitchFamily="34" charset="-120"/>
              </a:rPr>
              <a:t>3</a:t>
            </a:r>
            <a:endParaRPr lang="en-US" sz="2800" dirty="0"/>
          </a:p>
        </p:txBody>
      </p:sp>
      <p:sp>
        <p:nvSpPr>
          <p:cNvPr id="17" name="Text 15"/>
          <p:cNvSpPr txBox="1"/>
          <p:nvPr/>
        </p:nvSpPr>
        <p:spPr>
          <a:xfrm>
            <a:off x="9072677" y="1581912"/>
            <a:ext cx="2341778" cy="640080"/>
          </a:xfrm>
          <a:prstGeom prst="rect">
            <a:avLst/>
          </a:prstGeom>
          <a:noFill/>
          <a:ln/>
        </p:spPr>
        <p:txBody>
          <a:bodyPr wrap="square" lIns="0" tIns="0" rIns="0" bIns="0" rtlCol="0" anchor="t">
            <a:normAutofit/>
          </a:bodyPr>
          <a:lstStyle/>
          <a:p>
            <a:pPr indent="0" marL="0">
              <a:buNone/>
            </a:pPr>
            <a:r>
              <a:rPr lang="en-US" sz="1600" b="1" dirty="0">
                <a:solidFill>
                  <a:schemeClr val="bg1"/>
                </a:solidFill>
                <a:latin typeface="Arial" pitchFamily="34" charset="0"/>
                <a:ea typeface="Arial" pitchFamily="34" charset="-122"/>
                <a:cs typeface="Arial" pitchFamily="34" charset="-120"/>
              </a:rPr>
              <a:t>The governor checks four things</a:t>
            </a:r>
            <a:endParaRPr lang="en-US" sz="1600" dirty="0"/>
          </a:p>
        </p:txBody>
      </p:sp>
      <p:sp>
        <p:nvSpPr>
          <p:cNvPr id="18" name="Text 16"/>
          <p:cNvSpPr txBox="1"/>
          <p:nvPr/>
        </p:nvSpPr>
        <p:spPr>
          <a:xfrm>
            <a:off x="9072677" y="2258568"/>
            <a:ext cx="2341778" cy="777240"/>
          </a:xfrm>
          <a:prstGeom prst="rect">
            <a:avLst/>
          </a:prstGeom>
          <a:noFill/>
          <a:ln/>
        </p:spPr>
        <p:txBody>
          <a:bodyPr wrap="square" lIns="0" tIns="0" rIns="0" bIns="0" rtlCol="0" anchor="t">
            <a:normAutofit/>
          </a:bodyPr>
          <a:lstStyle/>
          <a:p>
            <a:pPr indent="0" marL="0">
              <a:buNone/>
            </a:pPr>
            <a:r>
              <a:rPr lang="en-US" sz="1200" dirty="0">
                <a:solidFill>
                  <a:schemeClr val="bg1"/>
                </a:solidFill>
                <a:latin typeface="Arial" pitchFamily="34" charset="0"/>
                <a:ea typeface="Arial" pitchFamily="34" charset="-122"/>
                <a:cs typeface="Arial" pitchFamily="34" charset="-120"/>
              </a:rPr>
              <a:t>Who is asking. Is there a rule. Do the witnesses agree. Is the budget intact.</a:t>
            </a:r>
            <a:endParaRPr lang="en-US" sz="1200" dirty="0"/>
          </a:p>
        </p:txBody>
      </p:sp>
      <p:sp>
        <p:nvSpPr>
          <p:cNvPr id="19" name="card"/>
          <p:cNvSpPr/>
          <p:nvPr/>
        </p:nvSpPr>
        <p:spPr>
          <a:xfrm>
            <a:off x="548640" y="3520440"/>
            <a:ext cx="3393338" cy="1645920"/>
          </a:xfrm>
          <a:prstGeom prst="roundRect">
            <a:avLst>
              <a:gd name="adj" fmla="val 4444"/>
            </a:avLst>
          </a:prstGeom>
          <a:solidFill>
            <a:schemeClr val="tx2"/>
          </a:solidFill>
          <a:ln w="12700">
            <a:solidFill>
              <a:schemeClr val="tx2"/>
            </a:solidFill>
            <a:prstDash val="solid"/>
          </a:ln>
        </p:spPr>
      </p:sp>
      <p:sp>
        <p:nvSpPr>
          <p:cNvPr id="20" name="Text 18"/>
          <p:cNvSpPr txBox="1"/>
          <p:nvPr/>
        </p:nvSpPr>
        <p:spPr>
          <a:xfrm>
            <a:off x="777240" y="3657600"/>
            <a:ext cx="548640" cy="548640"/>
          </a:xfrm>
          <a:prstGeom prst="rect">
            <a:avLst/>
          </a:prstGeom>
          <a:noFill/>
          <a:ln/>
        </p:spPr>
        <p:txBody>
          <a:bodyPr wrap="square" lIns="0" tIns="0" rIns="0" bIns="0" rtlCol="0" anchor="t">
            <a:normAutofit/>
          </a:bodyPr>
          <a:lstStyle/>
          <a:p>
            <a:pPr indent="0" marL="0">
              <a:buNone/>
            </a:pPr>
            <a:r>
              <a:rPr lang="en-US" sz="2800" b="1" dirty="0">
                <a:solidFill>
                  <a:schemeClr val="accent6"/>
                </a:solidFill>
                <a:latin typeface="Georgia" pitchFamily="34" charset="0"/>
                <a:ea typeface="Georgia" pitchFamily="34" charset="-122"/>
                <a:cs typeface="Georgia" pitchFamily="34" charset="-120"/>
              </a:rPr>
              <a:t>4</a:t>
            </a:r>
            <a:endParaRPr lang="en-US" sz="2800" dirty="0"/>
          </a:p>
        </p:txBody>
      </p:sp>
      <p:sp>
        <p:nvSpPr>
          <p:cNvPr id="21" name="Text 19"/>
          <p:cNvSpPr txBox="1"/>
          <p:nvPr/>
        </p:nvSpPr>
        <p:spPr>
          <a:xfrm>
            <a:off x="1371600" y="3685032"/>
            <a:ext cx="2341778" cy="640080"/>
          </a:xfrm>
          <a:prstGeom prst="rect">
            <a:avLst/>
          </a:prstGeom>
          <a:noFill/>
          <a:ln/>
        </p:spPr>
        <p:txBody>
          <a:bodyPr wrap="square" lIns="0" tIns="0" rIns="0" bIns="0" rtlCol="0" anchor="t">
            <a:normAutofit/>
          </a:bodyPr>
          <a:lstStyle/>
          <a:p>
            <a:pPr indent="0" marL="0">
              <a:buNone/>
            </a:pPr>
            <a:r>
              <a:rPr lang="en-US" sz="1600" b="1" dirty="0">
                <a:solidFill>
                  <a:schemeClr val="bg1"/>
                </a:solidFill>
                <a:latin typeface="Arial" pitchFamily="34" charset="0"/>
                <a:ea typeface="Arial" pitchFamily="34" charset="-122"/>
                <a:cs typeface="Arial" pitchFamily="34" charset="-120"/>
              </a:rPr>
              <a:t>Ticket, hold, or no</a:t>
            </a:r>
            <a:endParaRPr lang="en-US" sz="1600" dirty="0"/>
          </a:p>
        </p:txBody>
      </p:sp>
      <p:sp>
        <p:nvSpPr>
          <p:cNvPr id="22" name="Text 20"/>
          <p:cNvSpPr txBox="1"/>
          <p:nvPr/>
        </p:nvSpPr>
        <p:spPr>
          <a:xfrm>
            <a:off x="1371600" y="4361688"/>
            <a:ext cx="2341778" cy="777240"/>
          </a:xfrm>
          <a:prstGeom prst="rect">
            <a:avLst/>
          </a:prstGeom>
          <a:noFill/>
          <a:ln/>
        </p:spPr>
        <p:txBody>
          <a:bodyPr wrap="square" lIns="0" tIns="0" rIns="0" bIns="0" rtlCol="0" anchor="t">
            <a:normAutofit/>
          </a:bodyPr>
          <a:lstStyle/>
          <a:p>
            <a:pPr indent="0" marL="0">
              <a:buNone/>
            </a:pPr>
            <a:r>
              <a:rPr lang="en-US" sz="1200" dirty="0">
                <a:solidFill>
                  <a:schemeClr val="bg1"/>
                </a:solidFill>
                <a:latin typeface="Arial" pitchFamily="34" charset="0"/>
                <a:ea typeface="Arial" pitchFamily="34" charset="-122"/>
                <a:cs typeface="Arial" pitchFamily="34" charset="-120"/>
              </a:rPr>
              <a:t>A one-time signed ticket bound to a hash of the exact fields. Or a hold for a human. Or a refusal, logged.</a:t>
            </a:r>
            <a:endParaRPr lang="en-US" sz="1200" dirty="0"/>
          </a:p>
        </p:txBody>
      </p:sp>
      <p:sp>
        <p:nvSpPr>
          <p:cNvPr id="23" name="arrow"/>
          <p:cNvSpPr/>
          <p:nvPr/>
        </p:nvSpPr>
        <p:spPr>
          <a:xfrm>
            <a:off x="4015130" y="4343400"/>
            <a:ext cx="310896" cy="0"/>
          </a:xfrm>
          <a:prstGeom prst="line">
            <a:avLst/>
          </a:prstGeom>
          <a:noFill/>
          <a:ln w="31750">
            <a:solidFill>
              <a:srgbClr val="2F5D62"/>
            </a:solidFill>
            <a:prstDash val="solid"/>
            <a:tailEnd type="triangle"/>
          </a:ln>
        </p:spPr>
      </p:sp>
      <p:sp>
        <p:nvSpPr>
          <p:cNvPr id="24" name="card"/>
          <p:cNvSpPr/>
          <p:nvPr/>
        </p:nvSpPr>
        <p:spPr>
          <a:xfrm>
            <a:off x="4399178" y="3520440"/>
            <a:ext cx="3393338" cy="1645920"/>
          </a:xfrm>
          <a:prstGeom prst="roundRect">
            <a:avLst>
              <a:gd name="adj" fmla="val 4444"/>
            </a:avLst>
          </a:prstGeom>
          <a:solidFill>
            <a:schemeClr val="accent1"/>
          </a:solidFill>
          <a:ln w="12700">
            <a:solidFill>
              <a:schemeClr val="accent1"/>
            </a:solidFill>
            <a:prstDash val="solid"/>
          </a:ln>
        </p:spPr>
      </p:sp>
      <p:sp>
        <p:nvSpPr>
          <p:cNvPr id="25" name="Text 23"/>
          <p:cNvSpPr txBox="1"/>
          <p:nvPr/>
        </p:nvSpPr>
        <p:spPr>
          <a:xfrm>
            <a:off x="4627778" y="3657600"/>
            <a:ext cx="548640" cy="548640"/>
          </a:xfrm>
          <a:prstGeom prst="rect">
            <a:avLst/>
          </a:prstGeom>
          <a:noFill/>
          <a:ln/>
        </p:spPr>
        <p:txBody>
          <a:bodyPr wrap="square" lIns="0" tIns="0" rIns="0" bIns="0" rtlCol="0" anchor="t">
            <a:normAutofit/>
          </a:bodyPr>
          <a:lstStyle/>
          <a:p>
            <a:pPr indent="0" marL="0">
              <a:buNone/>
            </a:pPr>
            <a:r>
              <a:rPr lang="en-US" sz="2800" b="1" dirty="0">
                <a:solidFill>
                  <a:schemeClr val="accent6"/>
                </a:solidFill>
                <a:latin typeface="Georgia" pitchFamily="34" charset="0"/>
                <a:ea typeface="Georgia" pitchFamily="34" charset="-122"/>
                <a:cs typeface="Georgia" pitchFamily="34" charset="-120"/>
              </a:rPr>
              <a:t>5</a:t>
            </a:r>
            <a:endParaRPr lang="en-US" sz="2800" dirty="0"/>
          </a:p>
        </p:txBody>
      </p:sp>
      <p:sp>
        <p:nvSpPr>
          <p:cNvPr id="26" name="Text 24"/>
          <p:cNvSpPr txBox="1"/>
          <p:nvPr/>
        </p:nvSpPr>
        <p:spPr>
          <a:xfrm>
            <a:off x="5222138" y="3685032"/>
            <a:ext cx="2341778" cy="640080"/>
          </a:xfrm>
          <a:prstGeom prst="rect">
            <a:avLst/>
          </a:prstGeom>
          <a:noFill/>
          <a:ln/>
        </p:spPr>
        <p:txBody>
          <a:bodyPr wrap="square" lIns="0" tIns="0" rIns="0" bIns="0" rtlCol="0" anchor="t">
            <a:normAutofit/>
          </a:bodyPr>
          <a:lstStyle/>
          <a:p>
            <a:pPr indent="0" marL="0">
              <a:buNone/>
            </a:pPr>
            <a:r>
              <a:rPr lang="en-US" sz="1600" b="1" dirty="0">
                <a:solidFill>
                  <a:schemeClr val="bg1"/>
                </a:solidFill>
                <a:latin typeface="Arial" pitchFamily="34" charset="0"/>
                <a:ea typeface="Arial" pitchFamily="34" charset="-122"/>
                <a:cs typeface="Arial" pitchFamily="34" charset="-120"/>
              </a:rPr>
              <a:t>The device checks the ticket</a:t>
            </a:r>
            <a:endParaRPr lang="en-US" sz="1600" dirty="0"/>
          </a:p>
        </p:txBody>
      </p:sp>
      <p:sp>
        <p:nvSpPr>
          <p:cNvPr id="27" name="Text 25"/>
          <p:cNvSpPr txBox="1"/>
          <p:nvPr/>
        </p:nvSpPr>
        <p:spPr>
          <a:xfrm>
            <a:off x="5222138" y="4361688"/>
            <a:ext cx="2341778" cy="777240"/>
          </a:xfrm>
          <a:prstGeom prst="rect">
            <a:avLst/>
          </a:prstGeom>
          <a:noFill/>
          <a:ln/>
        </p:spPr>
        <p:txBody>
          <a:bodyPr wrap="square" lIns="0" tIns="0" rIns="0" bIns="0" rtlCol="0" anchor="t">
            <a:normAutofit/>
          </a:bodyPr>
          <a:lstStyle/>
          <a:p>
            <a:pPr indent="0" marL="0">
              <a:buNone/>
            </a:pPr>
            <a:r>
              <a:rPr lang="en-US" sz="1200" dirty="0">
                <a:solidFill>
                  <a:schemeClr val="bg1"/>
                </a:solidFill>
                <a:latin typeface="Arial" pitchFamily="34" charset="0"/>
                <a:ea typeface="Arial" pitchFamily="34" charset="-122"/>
                <a:cs typeface="Arial" pitchFamily="34" charset="-120"/>
              </a:rPr>
              <a:t>Against what it measures itself. A changed amount or target breaks the hash.</a:t>
            </a:r>
            <a:endParaRPr lang="en-US" sz="1200" dirty="0"/>
          </a:p>
        </p:txBody>
      </p:sp>
      <p:sp>
        <p:nvSpPr>
          <p:cNvPr id="28" name="arrow"/>
          <p:cNvSpPr/>
          <p:nvPr/>
        </p:nvSpPr>
        <p:spPr>
          <a:xfrm>
            <a:off x="7865669" y="4343400"/>
            <a:ext cx="310896" cy="0"/>
          </a:xfrm>
          <a:prstGeom prst="line">
            <a:avLst/>
          </a:prstGeom>
          <a:noFill/>
          <a:ln w="31750">
            <a:solidFill>
              <a:srgbClr val="2F5D62"/>
            </a:solidFill>
            <a:prstDash val="solid"/>
            <a:tailEnd type="triangle"/>
          </a:ln>
        </p:spPr>
      </p:sp>
      <p:sp>
        <p:nvSpPr>
          <p:cNvPr id="29" name="card"/>
          <p:cNvSpPr/>
          <p:nvPr/>
        </p:nvSpPr>
        <p:spPr>
          <a:xfrm>
            <a:off x="8249717" y="3520440"/>
            <a:ext cx="3393338" cy="1645920"/>
          </a:xfrm>
          <a:prstGeom prst="roundRect">
            <a:avLst>
              <a:gd name="adj" fmla="val 4444"/>
            </a:avLst>
          </a:prstGeom>
          <a:solidFill>
            <a:schemeClr val="accent1"/>
          </a:solidFill>
          <a:ln w="12700">
            <a:solidFill>
              <a:schemeClr val="accent1"/>
            </a:solidFill>
            <a:prstDash val="solid"/>
          </a:ln>
        </p:spPr>
      </p:sp>
      <p:sp>
        <p:nvSpPr>
          <p:cNvPr id="30" name="Text 28"/>
          <p:cNvSpPr txBox="1"/>
          <p:nvPr/>
        </p:nvSpPr>
        <p:spPr>
          <a:xfrm>
            <a:off x="8478317" y="3657600"/>
            <a:ext cx="548640" cy="548640"/>
          </a:xfrm>
          <a:prstGeom prst="rect">
            <a:avLst/>
          </a:prstGeom>
          <a:noFill/>
          <a:ln/>
        </p:spPr>
        <p:txBody>
          <a:bodyPr wrap="square" lIns="0" tIns="0" rIns="0" bIns="0" rtlCol="0" anchor="t">
            <a:normAutofit/>
          </a:bodyPr>
          <a:lstStyle/>
          <a:p>
            <a:pPr indent="0" marL="0">
              <a:buNone/>
            </a:pPr>
            <a:r>
              <a:rPr lang="en-US" sz="2800" b="1" dirty="0">
                <a:solidFill>
                  <a:schemeClr val="accent6"/>
                </a:solidFill>
                <a:latin typeface="Georgia" pitchFamily="34" charset="0"/>
                <a:ea typeface="Georgia" pitchFamily="34" charset="-122"/>
                <a:cs typeface="Georgia" pitchFamily="34" charset="-120"/>
              </a:rPr>
              <a:t>6</a:t>
            </a:r>
            <a:endParaRPr lang="en-US" sz="2800" dirty="0"/>
          </a:p>
        </p:txBody>
      </p:sp>
      <p:sp>
        <p:nvSpPr>
          <p:cNvPr id="31" name="Text 29"/>
          <p:cNvSpPr txBox="1"/>
          <p:nvPr/>
        </p:nvSpPr>
        <p:spPr>
          <a:xfrm>
            <a:off x="9072677" y="3685032"/>
            <a:ext cx="2341778" cy="640080"/>
          </a:xfrm>
          <a:prstGeom prst="rect">
            <a:avLst/>
          </a:prstGeom>
          <a:noFill/>
          <a:ln/>
        </p:spPr>
        <p:txBody>
          <a:bodyPr wrap="square" lIns="0" tIns="0" rIns="0" bIns="0" rtlCol="0" anchor="t">
            <a:normAutofit/>
          </a:bodyPr>
          <a:lstStyle/>
          <a:p>
            <a:pPr indent="0" marL="0">
              <a:buNone/>
            </a:pPr>
            <a:r>
              <a:rPr lang="en-US" sz="1600" b="1" dirty="0">
                <a:solidFill>
                  <a:schemeClr val="bg1"/>
                </a:solidFill>
                <a:latin typeface="Arial" pitchFamily="34" charset="0"/>
                <a:ea typeface="Arial" pitchFamily="34" charset="-122"/>
                <a:cs typeface="Arial" pitchFamily="34" charset="-120"/>
              </a:rPr>
              <a:t>Act, and record</a:t>
            </a:r>
            <a:endParaRPr lang="en-US" sz="1600" dirty="0"/>
          </a:p>
        </p:txBody>
      </p:sp>
      <p:sp>
        <p:nvSpPr>
          <p:cNvPr id="32" name="Text 30"/>
          <p:cNvSpPr txBox="1"/>
          <p:nvPr/>
        </p:nvSpPr>
        <p:spPr>
          <a:xfrm>
            <a:off x="9072677" y="4361688"/>
            <a:ext cx="2341778" cy="777240"/>
          </a:xfrm>
          <a:prstGeom prst="rect">
            <a:avLst/>
          </a:prstGeom>
          <a:noFill/>
          <a:ln/>
        </p:spPr>
        <p:txBody>
          <a:bodyPr wrap="square" lIns="0" tIns="0" rIns="0" bIns="0" rtlCol="0" anchor="t">
            <a:normAutofit/>
          </a:bodyPr>
          <a:lstStyle/>
          <a:p>
            <a:pPr indent="0" marL="0">
              <a:buNone/>
            </a:pPr>
            <a:r>
              <a:rPr lang="en-US" sz="1200" dirty="0">
                <a:solidFill>
                  <a:schemeClr val="bg1"/>
                </a:solidFill>
                <a:latin typeface="Arial" pitchFamily="34" charset="0"/>
                <a:ea typeface="Arial" pitchFamily="34" charset="-122"/>
                <a:cs typeface="Arial" pitchFamily="34" charset="-120"/>
              </a:rPr>
              <a:t>The action happens and the record goes into a hash chain the chip signs.</a:t>
            </a:r>
            <a:endParaRPr lang="en-US" sz="1200" dirty="0"/>
          </a:p>
        </p:txBody>
      </p:sp>
      <p:sp>
        <p:nvSpPr>
          <p:cNvPr id="33" name="turn"/>
          <p:cNvSpPr/>
          <p:nvPr/>
        </p:nvSpPr>
        <p:spPr>
          <a:xfrm>
            <a:off x="9946386" y="3063240"/>
            <a:ext cx="0" cy="228600"/>
          </a:xfrm>
          <a:prstGeom prst="line">
            <a:avLst/>
          </a:prstGeom>
          <a:noFill/>
          <a:ln w="31750">
            <a:solidFill>
              <a:srgbClr val="2F5D62"/>
            </a:solidFill>
            <a:prstDash val="solid"/>
          </a:ln>
        </p:spPr>
      </p:sp>
      <p:sp>
        <p:nvSpPr>
          <p:cNvPr id="34" name="turn"/>
          <p:cNvSpPr/>
          <p:nvPr/>
        </p:nvSpPr>
        <p:spPr>
          <a:xfrm>
            <a:off x="2245309" y="3291840"/>
            <a:ext cx="7701077" cy="0"/>
          </a:xfrm>
          <a:prstGeom prst="line">
            <a:avLst/>
          </a:prstGeom>
          <a:noFill/>
          <a:ln w="31750">
            <a:solidFill>
              <a:srgbClr val="2F5D62"/>
            </a:solidFill>
            <a:prstDash val="solid"/>
          </a:ln>
        </p:spPr>
      </p:sp>
      <p:sp>
        <p:nvSpPr>
          <p:cNvPr id="35" name="arrow"/>
          <p:cNvSpPr/>
          <p:nvPr/>
        </p:nvSpPr>
        <p:spPr>
          <a:xfrm>
            <a:off x="2245309" y="3291840"/>
            <a:ext cx="0" cy="228600"/>
          </a:xfrm>
          <a:prstGeom prst="line">
            <a:avLst/>
          </a:prstGeom>
          <a:noFill/>
          <a:ln w="31750">
            <a:solidFill>
              <a:srgbClr val="2F5D62"/>
            </a:solidFill>
            <a:prstDash val="solid"/>
            <a:tailEnd type="triangle"/>
          </a:ln>
        </p:spPr>
      </p:sp>
      <p:sp>
        <p:nvSpPr>
          <p:cNvPr id="36" name="analogy"/>
          <p:cNvSpPr/>
          <p:nvPr/>
        </p:nvSpPr>
        <p:spPr>
          <a:xfrm>
            <a:off x="548640" y="5303520"/>
            <a:ext cx="11094415" cy="914400"/>
          </a:xfrm>
          <a:prstGeom prst="roundRect">
            <a:avLst>
              <a:gd name="adj" fmla="val 8000"/>
            </a:avLst>
          </a:prstGeom>
          <a:solidFill>
            <a:schemeClr val="tx1"/>
          </a:solidFill>
          <a:ln w="12700">
            <a:solidFill>
              <a:schemeClr val="tx1"/>
            </a:solidFill>
            <a:prstDash val="solid"/>
          </a:ln>
        </p:spPr>
      </p:sp>
      <p:sp>
        <p:nvSpPr>
          <p:cNvPr id="37" name="Text 35"/>
          <p:cNvSpPr txBox="1"/>
          <p:nvPr/>
        </p:nvSpPr>
        <p:spPr>
          <a:xfrm>
            <a:off x="822960" y="5303520"/>
            <a:ext cx="1554480" cy="91440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the multi-layer post, layers 0, 4 and 5</a:t>
            </a:r>
            <a:endParaRPr lang="en-US" sz="1000" dirty="0"/>
          </a:p>
        </p:txBody>
      </p:sp>
      <p:sp>
        <p:nvSpPr>
          <p:cNvPr id="38" name="Text 36"/>
          <p:cNvSpPr txBox="1"/>
          <p:nvPr/>
        </p:nvSpPr>
        <p:spPr>
          <a:xfrm>
            <a:off x="2514600" y="5303520"/>
            <a:ext cx="8854135" cy="91440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The endpoint that moves the money verifies the ticket itself. Change the amount after the ticket was issued and the hash breaks. Present it twice and the second is refused. The model is never the one who decides.</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2600" b="1" dirty="0">
                <a:solidFill>
                  <a:schemeClr val="tx1"/>
                </a:solidFill>
                <a:latin typeface="Georgia" pitchFamily="34" charset="0"/>
                <a:ea typeface="Georgia" pitchFamily="34" charset="-122"/>
                <a:cs typeface="Georgia" pitchFamily="34" charset="-120"/>
              </a:rPr>
              <a:t>The flow, technically: every check, every refusal</a:t>
            </a:r>
            <a:endParaRPr lang="en-US" sz="26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25</a:t>
            </a:r>
            <a:endParaRPr lang="en-US" sz="1100" dirty="0"/>
          </a:p>
        </p:txBody>
      </p:sp>
      <p:sp>
        <p:nvSpPr>
          <p:cNvPr id="5" name="table header"/>
          <p:cNvSpPr/>
          <p:nvPr/>
        </p:nvSpPr>
        <p:spPr>
          <a:xfrm>
            <a:off x="548640" y="1417320"/>
            <a:ext cx="11094415" cy="384048"/>
          </a:xfrm>
          <a:prstGeom prst="rect">
            <a:avLst/>
          </a:prstGeom>
          <a:solidFill>
            <a:schemeClr val="tx2"/>
          </a:solidFill>
          <a:ln w="12700">
            <a:solidFill>
              <a:schemeClr val="tx2"/>
            </a:solidFill>
            <a:prstDash val="solid"/>
          </a:ln>
        </p:spPr>
      </p:sp>
      <p:sp>
        <p:nvSpPr>
          <p:cNvPr id="6" name="Text 4"/>
          <p:cNvSpPr txBox="1"/>
          <p:nvPr/>
        </p:nvSpPr>
        <p:spPr>
          <a:xfrm>
            <a:off x="630936" y="1417320"/>
            <a:ext cx="1801368"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Step</a:t>
            </a:r>
            <a:endParaRPr lang="en-US" sz="1000" dirty="0"/>
          </a:p>
        </p:txBody>
      </p:sp>
      <p:sp>
        <p:nvSpPr>
          <p:cNvPr id="7" name="Text 5"/>
          <p:cNvSpPr txBox="1"/>
          <p:nvPr/>
        </p:nvSpPr>
        <p:spPr>
          <a:xfrm>
            <a:off x="2596896" y="1417320"/>
            <a:ext cx="3493008"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What is checked</a:t>
            </a:r>
            <a:endParaRPr lang="en-US" sz="1000" dirty="0"/>
          </a:p>
        </p:txBody>
      </p:sp>
      <p:sp>
        <p:nvSpPr>
          <p:cNvPr id="8" name="Text 6"/>
          <p:cNvSpPr txBox="1"/>
          <p:nvPr/>
        </p:nvSpPr>
        <p:spPr>
          <a:xfrm>
            <a:off x="6254496" y="1417320"/>
            <a:ext cx="3035808"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Fails with (as the model prints it)</a:t>
            </a:r>
            <a:endParaRPr lang="en-US" sz="1000" dirty="0"/>
          </a:p>
        </p:txBody>
      </p:sp>
      <p:sp>
        <p:nvSpPr>
          <p:cNvPr id="9" name="Text 7"/>
          <p:cNvSpPr txBox="1"/>
          <p:nvPr/>
        </p:nvSpPr>
        <p:spPr>
          <a:xfrm>
            <a:off x="9454896" y="1417320"/>
            <a:ext cx="2105863"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Backed by</a:t>
            </a:r>
            <a:endParaRPr lang="en-US" sz="1000" dirty="0"/>
          </a:p>
        </p:txBody>
      </p:sp>
      <p:sp>
        <p:nvSpPr>
          <p:cNvPr id="10" name="table row"/>
          <p:cNvSpPr/>
          <p:nvPr/>
        </p:nvSpPr>
        <p:spPr>
          <a:xfrm>
            <a:off x="548640" y="1801368"/>
            <a:ext cx="11094415" cy="631762"/>
          </a:xfrm>
          <a:prstGeom prst="rect">
            <a:avLst/>
          </a:prstGeom>
          <a:solidFill>
            <a:srgbClr val="EEF2EF"/>
          </a:solidFill>
          <a:ln w="9525">
            <a:solidFill>
              <a:srgbClr val="EEF2EF"/>
            </a:solidFill>
            <a:prstDash val="solid"/>
          </a:ln>
        </p:spPr>
      </p:sp>
      <p:sp>
        <p:nvSpPr>
          <p:cNvPr id="11" name="step"/>
          <p:cNvSpPr/>
          <p:nvPr/>
        </p:nvSpPr>
        <p:spPr>
          <a:xfrm>
            <a:off x="630936" y="1883664"/>
            <a:ext cx="384048" cy="384048"/>
          </a:xfrm>
          <a:prstGeom prst="ellipse">
            <a:avLst/>
          </a:prstGeom>
          <a:solidFill>
            <a:schemeClr val="accent1"/>
          </a:solidFill>
          <a:ln w="12700">
            <a:solidFill>
              <a:schemeClr val="accent1"/>
            </a:solidFill>
            <a:prstDash val="solid"/>
          </a:ln>
        </p:spPr>
      </p:sp>
      <p:sp>
        <p:nvSpPr>
          <p:cNvPr id="12" name="Text 10"/>
          <p:cNvSpPr txBox="1"/>
          <p:nvPr/>
        </p:nvSpPr>
        <p:spPr>
          <a:xfrm>
            <a:off x="630936" y="1883664"/>
            <a:ext cx="384048" cy="384048"/>
          </a:xfrm>
          <a:prstGeom prst="rect">
            <a:avLst/>
          </a:prstGeom>
          <a:noFill/>
          <a:ln/>
        </p:spPr>
        <p:txBody>
          <a:bodyPr wrap="square" lIns="0" tIns="0" rIns="0" bIns="0" rtlCol="0" anchor="ctr">
            <a:normAutofit/>
          </a:bodyPr>
          <a:lstStyle/>
          <a:p>
            <a:pPr algn="ctr" indent="0" marL="0">
              <a:buNone/>
            </a:pPr>
            <a:r>
              <a:rPr lang="en-US" sz="1300" b="1" dirty="0">
                <a:solidFill>
                  <a:schemeClr val="bg1"/>
                </a:solidFill>
                <a:latin typeface="Arial" pitchFamily="34" charset="0"/>
                <a:ea typeface="Arial" pitchFamily="34" charset="-122"/>
                <a:cs typeface="Arial" pitchFamily="34" charset="-120"/>
              </a:rPr>
              <a:t>1</a:t>
            </a:r>
            <a:endParaRPr lang="en-US" sz="1300" dirty="0"/>
          </a:p>
        </p:txBody>
      </p:sp>
      <p:sp>
        <p:nvSpPr>
          <p:cNvPr id="13" name="Text 11"/>
          <p:cNvSpPr txBox="1"/>
          <p:nvPr/>
        </p:nvSpPr>
        <p:spPr>
          <a:xfrm>
            <a:off x="1133856" y="1883664"/>
            <a:ext cx="1298448" cy="467169"/>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Mailbox</a:t>
            </a:r>
            <a:endParaRPr lang="en-US" sz="1000" dirty="0"/>
          </a:p>
        </p:txBody>
      </p:sp>
      <p:sp>
        <p:nvSpPr>
          <p:cNvPr id="14" name="Text 12"/>
          <p:cNvSpPr txBox="1"/>
          <p:nvPr/>
        </p:nvSpPr>
        <p:spPr>
          <a:xfrm>
            <a:off x="2596896" y="1883664"/>
            <a:ext cx="3493008" cy="467169"/>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Sequence number, then rules edition, then signature; the first failure is reported</a:t>
            </a:r>
            <a:endParaRPr lang="en-US" sz="1000" dirty="0"/>
          </a:p>
        </p:txBody>
      </p:sp>
      <p:sp>
        <p:nvSpPr>
          <p:cNvPr id="15" name="Text 13"/>
          <p:cNvSpPr txBox="1"/>
          <p:nvPr/>
        </p:nvSpPr>
        <p:spPr>
          <a:xfrm>
            <a:off x="6254496" y="1883664"/>
            <a:ext cx="3035808" cy="467169"/>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mailbox.bad_sequence, mailbox.bad_signature; a frame from an old edition is refused before the gate sees it</a:t>
            </a:r>
            <a:endParaRPr lang="en-US" sz="1000" dirty="0"/>
          </a:p>
        </p:txBody>
      </p:sp>
      <p:sp>
        <p:nvSpPr>
          <p:cNvPr id="16" name="Text 14"/>
          <p:cNvSpPr txBox="1"/>
          <p:nvPr/>
        </p:nvSpPr>
        <p:spPr>
          <a:xfrm>
            <a:off x="9454896" y="1883664"/>
            <a:ext cx="2105863" cy="467169"/>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H3: test_mailbox_reports_the_first_failing_check</a:t>
            </a:r>
            <a:endParaRPr lang="en-US" sz="1000" dirty="0"/>
          </a:p>
        </p:txBody>
      </p:sp>
      <p:sp>
        <p:nvSpPr>
          <p:cNvPr id="17" name="table row"/>
          <p:cNvSpPr/>
          <p:nvPr/>
        </p:nvSpPr>
        <p:spPr>
          <a:xfrm>
            <a:off x="548640" y="2433130"/>
            <a:ext cx="11094415" cy="476822"/>
          </a:xfrm>
          <a:prstGeom prst="rect">
            <a:avLst/>
          </a:prstGeom>
          <a:solidFill>
            <a:srgbClr val="FFFFFF"/>
          </a:solidFill>
          <a:ln w="9525">
            <a:solidFill>
              <a:srgbClr val="EEF2EF"/>
            </a:solidFill>
            <a:prstDash val="solid"/>
          </a:ln>
        </p:spPr>
      </p:sp>
      <p:sp>
        <p:nvSpPr>
          <p:cNvPr id="18" name="step"/>
          <p:cNvSpPr/>
          <p:nvPr/>
        </p:nvSpPr>
        <p:spPr>
          <a:xfrm>
            <a:off x="630936" y="2515426"/>
            <a:ext cx="384048" cy="384048"/>
          </a:xfrm>
          <a:prstGeom prst="ellipse">
            <a:avLst/>
          </a:prstGeom>
          <a:solidFill>
            <a:schemeClr val="accent1"/>
          </a:solidFill>
          <a:ln w="12700">
            <a:solidFill>
              <a:schemeClr val="accent1"/>
            </a:solidFill>
            <a:prstDash val="solid"/>
          </a:ln>
        </p:spPr>
      </p:sp>
      <p:sp>
        <p:nvSpPr>
          <p:cNvPr id="19" name="Text 17"/>
          <p:cNvSpPr txBox="1"/>
          <p:nvPr/>
        </p:nvSpPr>
        <p:spPr>
          <a:xfrm>
            <a:off x="630936" y="2515426"/>
            <a:ext cx="384048" cy="384048"/>
          </a:xfrm>
          <a:prstGeom prst="rect">
            <a:avLst/>
          </a:prstGeom>
          <a:noFill/>
          <a:ln/>
        </p:spPr>
        <p:txBody>
          <a:bodyPr wrap="square" lIns="0" tIns="0" rIns="0" bIns="0" rtlCol="0" anchor="ctr">
            <a:normAutofit/>
          </a:bodyPr>
          <a:lstStyle/>
          <a:p>
            <a:pPr algn="ctr" indent="0" marL="0">
              <a:buNone/>
            </a:pPr>
            <a:r>
              <a:rPr lang="en-US" sz="1300" b="1" dirty="0">
                <a:solidFill>
                  <a:schemeClr val="bg1"/>
                </a:solidFill>
                <a:latin typeface="Arial" pitchFamily="34" charset="0"/>
                <a:ea typeface="Arial" pitchFamily="34" charset="-122"/>
                <a:cs typeface="Arial" pitchFamily="34" charset="-120"/>
              </a:rPr>
              <a:t>2</a:t>
            </a:r>
            <a:endParaRPr lang="en-US" sz="1300" dirty="0"/>
          </a:p>
        </p:txBody>
      </p:sp>
      <p:sp>
        <p:nvSpPr>
          <p:cNvPr id="20" name="Text 18"/>
          <p:cNvSpPr txBox="1"/>
          <p:nvPr/>
        </p:nvSpPr>
        <p:spPr>
          <a:xfrm>
            <a:off x="1133856" y="2515426"/>
            <a:ext cx="1298448" cy="31223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Who is asking</a:t>
            </a:r>
            <a:endParaRPr lang="en-US" sz="1000" dirty="0"/>
          </a:p>
        </p:txBody>
      </p:sp>
      <p:sp>
        <p:nvSpPr>
          <p:cNvPr id="21" name="Text 19"/>
          <p:cNvSpPr txBox="1"/>
          <p:nvPr/>
        </p:nvSpPr>
        <p:spPr>
          <a:xfrm>
            <a:off x="2596896" y="2515426"/>
            <a:ext cx="3493008" cy="31223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The workload hash (GPU firmware, host firmware, model) and its evaluation attestation</a:t>
            </a:r>
            <a:endParaRPr lang="en-US" sz="1000" dirty="0"/>
          </a:p>
        </p:txBody>
      </p:sp>
      <p:sp>
        <p:nvSpPr>
          <p:cNvPr id="22" name="Text 20"/>
          <p:cNvSpPr txBox="1"/>
          <p:nvPr/>
        </p:nvSpPr>
        <p:spPr>
          <a:xfrm>
            <a:off x="6254496" y="2515426"/>
            <a:ext cx="3035808" cy="31223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model.not_evaluated</a:t>
            </a:r>
            <a:endParaRPr lang="en-US" sz="1000" dirty="0"/>
          </a:p>
        </p:txBody>
      </p:sp>
      <p:sp>
        <p:nvSpPr>
          <p:cNvPr id="23" name="Text 21"/>
          <p:cNvSpPr txBox="1"/>
          <p:nvPr/>
        </p:nvSpPr>
        <p:spPr>
          <a:xfrm>
            <a:off x="9454896" y="2515426"/>
            <a:ext cx="2105863" cy="31223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H1 attestation; H18 oversight</a:t>
            </a:r>
            <a:endParaRPr lang="en-US" sz="1000" dirty="0"/>
          </a:p>
        </p:txBody>
      </p:sp>
      <p:sp>
        <p:nvSpPr>
          <p:cNvPr id="24" name="table row"/>
          <p:cNvSpPr/>
          <p:nvPr/>
        </p:nvSpPr>
        <p:spPr>
          <a:xfrm>
            <a:off x="548640" y="2909951"/>
            <a:ext cx="11094415" cy="476822"/>
          </a:xfrm>
          <a:prstGeom prst="rect">
            <a:avLst/>
          </a:prstGeom>
          <a:solidFill>
            <a:srgbClr val="EEF2EF"/>
          </a:solidFill>
          <a:ln w="9525">
            <a:solidFill>
              <a:srgbClr val="EEF2EF"/>
            </a:solidFill>
            <a:prstDash val="solid"/>
          </a:ln>
        </p:spPr>
      </p:sp>
      <p:sp>
        <p:nvSpPr>
          <p:cNvPr id="25" name="step"/>
          <p:cNvSpPr/>
          <p:nvPr/>
        </p:nvSpPr>
        <p:spPr>
          <a:xfrm>
            <a:off x="630936" y="2992247"/>
            <a:ext cx="384048" cy="384048"/>
          </a:xfrm>
          <a:prstGeom prst="ellipse">
            <a:avLst/>
          </a:prstGeom>
          <a:solidFill>
            <a:schemeClr val="accent1"/>
          </a:solidFill>
          <a:ln w="12700">
            <a:solidFill>
              <a:schemeClr val="accent1"/>
            </a:solidFill>
            <a:prstDash val="solid"/>
          </a:ln>
        </p:spPr>
      </p:sp>
      <p:sp>
        <p:nvSpPr>
          <p:cNvPr id="26" name="Text 24"/>
          <p:cNvSpPr txBox="1"/>
          <p:nvPr/>
        </p:nvSpPr>
        <p:spPr>
          <a:xfrm>
            <a:off x="630936" y="2992247"/>
            <a:ext cx="384048" cy="384048"/>
          </a:xfrm>
          <a:prstGeom prst="rect">
            <a:avLst/>
          </a:prstGeom>
          <a:noFill/>
          <a:ln/>
        </p:spPr>
        <p:txBody>
          <a:bodyPr wrap="square" lIns="0" tIns="0" rIns="0" bIns="0" rtlCol="0" anchor="ctr">
            <a:normAutofit/>
          </a:bodyPr>
          <a:lstStyle/>
          <a:p>
            <a:pPr algn="ctr" indent="0" marL="0">
              <a:buNone/>
            </a:pPr>
            <a:r>
              <a:rPr lang="en-US" sz="1300" b="1" dirty="0">
                <a:solidFill>
                  <a:schemeClr val="bg1"/>
                </a:solidFill>
                <a:latin typeface="Arial" pitchFamily="34" charset="0"/>
                <a:ea typeface="Arial" pitchFamily="34" charset="-122"/>
                <a:cs typeface="Arial" pitchFamily="34" charset="-120"/>
              </a:rPr>
              <a:t>3</a:t>
            </a:r>
            <a:endParaRPr lang="en-US" sz="1300" dirty="0"/>
          </a:p>
        </p:txBody>
      </p:sp>
      <p:sp>
        <p:nvSpPr>
          <p:cNvPr id="27" name="Text 25"/>
          <p:cNvSpPr txBox="1"/>
          <p:nvPr/>
        </p:nvSpPr>
        <p:spPr>
          <a:xfrm>
            <a:off x="1133856" y="2992247"/>
            <a:ext cx="1298448" cy="31223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Is there a rule</a:t>
            </a:r>
            <a:endParaRPr lang="en-US" sz="1000" dirty="0"/>
          </a:p>
        </p:txBody>
      </p:sp>
      <p:sp>
        <p:nvSpPr>
          <p:cNvPr id="28" name="Text 26"/>
          <p:cNvSpPr txBox="1"/>
          <p:nvPr/>
        </p:nvSpPr>
        <p:spPr>
          <a:xfrm>
            <a:off x="2596896" y="2992247"/>
            <a:ext cx="3493008" cy="31223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Exact rule beats wildcard; typed limits; signed lists for targets and recipients</a:t>
            </a:r>
            <a:endParaRPr lang="en-US" sz="1000" dirty="0"/>
          </a:p>
        </p:txBody>
      </p:sp>
      <p:sp>
        <p:nvSpPr>
          <p:cNvPr id="29" name="Text 27"/>
          <p:cNvSpPr txBox="1"/>
          <p:nvPr/>
        </p:nvSpPr>
        <p:spPr>
          <a:xfrm>
            <a:off x="6254496" y="2992247"/>
            <a:ext cx="3035808" cy="31223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gate.constraint.target.in_denied_list, endpoint.target_protected</a:t>
            </a:r>
            <a:endParaRPr lang="en-US" sz="1000" dirty="0"/>
          </a:p>
        </p:txBody>
      </p:sp>
      <p:sp>
        <p:nvSpPr>
          <p:cNvPr id="30" name="Text 28"/>
          <p:cNvSpPr txBox="1"/>
          <p:nvPr/>
        </p:nvSpPr>
        <p:spPr>
          <a:xfrm>
            <a:off x="9454896" y="2992247"/>
            <a:ext cx="2105863" cy="31223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H6 comparator; the strike narration</a:t>
            </a:r>
            <a:endParaRPr lang="en-US" sz="1000" dirty="0"/>
          </a:p>
        </p:txBody>
      </p:sp>
      <p:sp>
        <p:nvSpPr>
          <p:cNvPr id="31" name="table row"/>
          <p:cNvSpPr/>
          <p:nvPr/>
        </p:nvSpPr>
        <p:spPr>
          <a:xfrm>
            <a:off x="548640" y="3386773"/>
            <a:ext cx="11094415" cy="476822"/>
          </a:xfrm>
          <a:prstGeom prst="rect">
            <a:avLst/>
          </a:prstGeom>
          <a:solidFill>
            <a:srgbClr val="FFFFFF"/>
          </a:solidFill>
          <a:ln w="9525">
            <a:solidFill>
              <a:srgbClr val="EEF2EF"/>
            </a:solidFill>
            <a:prstDash val="solid"/>
          </a:ln>
        </p:spPr>
      </p:sp>
      <p:sp>
        <p:nvSpPr>
          <p:cNvPr id="32" name="step"/>
          <p:cNvSpPr/>
          <p:nvPr/>
        </p:nvSpPr>
        <p:spPr>
          <a:xfrm>
            <a:off x="630936" y="3469069"/>
            <a:ext cx="384048" cy="384048"/>
          </a:xfrm>
          <a:prstGeom prst="ellipse">
            <a:avLst/>
          </a:prstGeom>
          <a:solidFill>
            <a:schemeClr val="accent1"/>
          </a:solidFill>
          <a:ln w="12700">
            <a:solidFill>
              <a:schemeClr val="accent1"/>
            </a:solidFill>
            <a:prstDash val="solid"/>
          </a:ln>
        </p:spPr>
      </p:sp>
      <p:sp>
        <p:nvSpPr>
          <p:cNvPr id="33" name="Text 31"/>
          <p:cNvSpPr txBox="1"/>
          <p:nvPr/>
        </p:nvSpPr>
        <p:spPr>
          <a:xfrm>
            <a:off x="630936" y="3469069"/>
            <a:ext cx="384048" cy="384048"/>
          </a:xfrm>
          <a:prstGeom prst="rect">
            <a:avLst/>
          </a:prstGeom>
          <a:noFill/>
          <a:ln/>
        </p:spPr>
        <p:txBody>
          <a:bodyPr wrap="square" lIns="0" tIns="0" rIns="0" bIns="0" rtlCol="0" anchor="ctr">
            <a:normAutofit/>
          </a:bodyPr>
          <a:lstStyle/>
          <a:p>
            <a:pPr algn="ctr" indent="0" marL="0">
              <a:buNone/>
            </a:pPr>
            <a:r>
              <a:rPr lang="en-US" sz="1300" b="1" dirty="0">
                <a:solidFill>
                  <a:schemeClr val="bg1"/>
                </a:solidFill>
                <a:latin typeface="Arial" pitchFamily="34" charset="0"/>
                <a:ea typeface="Arial" pitchFamily="34" charset="-122"/>
                <a:cs typeface="Arial" pitchFamily="34" charset="-120"/>
              </a:rPr>
              <a:t>4</a:t>
            </a:r>
            <a:endParaRPr lang="en-US" sz="1300" dirty="0"/>
          </a:p>
        </p:txBody>
      </p:sp>
      <p:sp>
        <p:nvSpPr>
          <p:cNvPr id="34" name="Text 32"/>
          <p:cNvSpPr txBox="1"/>
          <p:nvPr/>
        </p:nvSpPr>
        <p:spPr>
          <a:xfrm>
            <a:off x="1133856" y="3469069"/>
            <a:ext cx="1298448" cy="31223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Do the witnesses agree</a:t>
            </a:r>
            <a:endParaRPr lang="en-US" sz="1000" dirty="0"/>
          </a:p>
        </p:txBody>
      </p:sp>
      <p:sp>
        <p:nvSpPr>
          <p:cNvPr id="35" name="Text 33"/>
          <p:cNvSpPr txBox="1"/>
          <p:nvPr/>
        </p:nvSpPr>
        <p:spPr>
          <a:xfrm>
            <a:off x="2596896" y="3469069"/>
            <a:ext cx="3493008" cy="31223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Observer verdict from a key in the observer set, fresh, under the risk limit; human quorum on holds</a:t>
            </a:r>
            <a:endParaRPr lang="en-US" sz="1000" dirty="0"/>
          </a:p>
        </p:txBody>
      </p:sp>
      <p:sp>
        <p:nvSpPr>
          <p:cNvPr id="36" name="Text 34"/>
          <p:cNvSpPr txBox="1"/>
          <p:nvPr/>
        </p:nvSpPr>
        <p:spPr>
          <a:xfrm>
            <a:off x="6254496" y="3469069"/>
            <a:ext cx="3035808" cy="31223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gate.witness_missing, gate.held_for_human, release.hazard_class_not_allowed</a:t>
            </a:r>
            <a:endParaRPr lang="en-US" sz="1000" dirty="0"/>
          </a:p>
        </p:txBody>
      </p:sp>
      <p:sp>
        <p:nvSpPr>
          <p:cNvPr id="37" name="Text 35"/>
          <p:cNvSpPr txBox="1"/>
          <p:nvPr/>
        </p:nvSpPr>
        <p:spPr>
          <a:xfrm>
            <a:off x="9454896" y="3469069"/>
            <a:ext cx="2105863" cy="31223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H17 use cases; H18 oversight; H8 override</a:t>
            </a:r>
            <a:endParaRPr lang="en-US" sz="1000" dirty="0"/>
          </a:p>
        </p:txBody>
      </p:sp>
      <p:sp>
        <p:nvSpPr>
          <p:cNvPr id="38" name="table row"/>
          <p:cNvSpPr/>
          <p:nvPr/>
        </p:nvSpPr>
        <p:spPr>
          <a:xfrm>
            <a:off x="548640" y="3863594"/>
            <a:ext cx="11094415" cy="476822"/>
          </a:xfrm>
          <a:prstGeom prst="rect">
            <a:avLst/>
          </a:prstGeom>
          <a:solidFill>
            <a:srgbClr val="EEF2EF"/>
          </a:solidFill>
          <a:ln w="9525">
            <a:solidFill>
              <a:srgbClr val="EEF2EF"/>
            </a:solidFill>
            <a:prstDash val="solid"/>
          </a:ln>
        </p:spPr>
      </p:sp>
      <p:sp>
        <p:nvSpPr>
          <p:cNvPr id="39" name="step"/>
          <p:cNvSpPr/>
          <p:nvPr/>
        </p:nvSpPr>
        <p:spPr>
          <a:xfrm>
            <a:off x="630936" y="3945890"/>
            <a:ext cx="384048" cy="384048"/>
          </a:xfrm>
          <a:prstGeom prst="ellipse">
            <a:avLst/>
          </a:prstGeom>
          <a:solidFill>
            <a:schemeClr val="accent1"/>
          </a:solidFill>
          <a:ln w="12700">
            <a:solidFill>
              <a:schemeClr val="accent1"/>
            </a:solidFill>
            <a:prstDash val="solid"/>
          </a:ln>
        </p:spPr>
      </p:sp>
      <p:sp>
        <p:nvSpPr>
          <p:cNvPr id="40" name="Text 38"/>
          <p:cNvSpPr txBox="1"/>
          <p:nvPr/>
        </p:nvSpPr>
        <p:spPr>
          <a:xfrm>
            <a:off x="630936" y="3945890"/>
            <a:ext cx="384048" cy="384048"/>
          </a:xfrm>
          <a:prstGeom prst="rect">
            <a:avLst/>
          </a:prstGeom>
          <a:noFill/>
          <a:ln/>
        </p:spPr>
        <p:txBody>
          <a:bodyPr wrap="square" lIns="0" tIns="0" rIns="0" bIns="0" rtlCol="0" anchor="ctr">
            <a:normAutofit/>
          </a:bodyPr>
          <a:lstStyle/>
          <a:p>
            <a:pPr algn="ctr" indent="0" marL="0">
              <a:buNone/>
            </a:pPr>
            <a:r>
              <a:rPr lang="en-US" sz="1300" b="1" dirty="0">
                <a:solidFill>
                  <a:schemeClr val="bg1"/>
                </a:solidFill>
                <a:latin typeface="Arial" pitchFamily="34" charset="0"/>
                <a:ea typeface="Arial" pitchFamily="34" charset="-122"/>
                <a:cs typeface="Arial" pitchFamily="34" charset="-120"/>
              </a:rPr>
              <a:t>5</a:t>
            </a:r>
            <a:endParaRPr lang="en-US" sz="1300" dirty="0"/>
          </a:p>
        </p:txBody>
      </p:sp>
      <p:sp>
        <p:nvSpPr>
          <p:cNvPr id="41" name="Text 39"/>
          <p:cNvSpPr txBox="1"/>
          <p:nvPr/>
        </p:nvSpPr>
        <p:spPr>
          <a:xfrm>
            <a:off x="1133856" y="3945890"/>
            <a:ext cx="1298448" cy="31223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Is the budget intact</a:t>
            </a:r>
            <a:endParaRPr lang="en-US" sz="1000" dirty="0"/>
          </a:p>
        </p:txBody>
      </p:sp>
      <p:sp>
        <p:nvSpPr>
          <p:cNvPr id="42" name="Text 40"/>
          <p:cNvSpPr txBox="1"/>
          <p:nvPr/>
        </p:nvSpPr>
        <p:spPr>
          <a:xfrm>
            <a:off x="2596896" y="3945890"/>
            <a:ext cx="3493008" cy="31223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Compute budget and license, session hazard budget, byte budgets, rate windows</a:t>
            </a:r>
            <a:endParaRPr lang="en-US" sz="1000" dirty="0"/>
          </a:p>
        </p:txBody>
      </p:sp>
      <p:sp>
        <p:nvSpPr>
          <p:cNvPr id="43" name="Text 41"/>
          <p:cNvSpPr txBox="1"/>
          <p:nvPr/>
        </p:nvSpPr>
        <p:spPr>
          <a:xfrm>
            <a:off x="6254496" y="3945890"/>
            <a:ext cx="3035808" cy="31223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release.session_hazard_budget_exceeded, compute.budget_exceeded</a:t>
            </a:r>
            <a:endParaRPr lang="en-US" sz="1000" dirty="0"/>
          </a:p>
        </p:txBody>
      </p:sp>
      <p:sp>
        <p:nvSpPr>
          <p:cNvPr id="44" name="Text 42"/>
          <p:cNvSpPr txBox="1"/>
          <p:nvPr/>
        </p:nvSpPr>
        <p:spPr>
          <a:xfrm>
            <a:off x="9454896" y="3945890"/>
            <a:ext cx="2105863" cy="31223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H13 shared budget; H18</a:t>
            </a:r>
            <a:endParaRPr lang="en-US" sz="1000" dirty="0"/>
          </a:p>
        </p:txBody>
      </p:sp>
      <p:sp>
        <p:nvSpPr>
          <p:cNvPr id="45" name="table row"/>
          <p:cNvSpPr/>
          <p:nvPr/>
        </p:nvSpPr>
        <p:spPr>
          <a:xfrm>
            <a:off x="548640" y="4340416"/>
            <a:ext cx="11094415" cy="476822"/>
          </a:xfrm>
          <a:prstGeom prst="rect">
            <a:avLst/>
          </a:prstGeom>
          <a:solidFill>
            <a:srgbClr val="FFFFFF"/>
          </a:solidFill>
          <a:ln w="9525">
            <a:solidFill>
              <a:srgbClr val="EEF2EF"/>
            </a:solidFill>
            <a:prstDash val="solid"/>
          </a:ln>
        </p:spPr>
      </p:sp>
      <p:sp>
        <p:nvSpPr>
          <p:cNvPr id="46" name="step"/>
          <p:cNvSpPr/>
          <p:nvPr/>
        </p:nvSpPr>
        <p:spPr>
          <a:xfrm>
            <a:off x="630936" y="4422712"/>
            <a:ext cx="384048" cy="384048"/>
          </a:xfrm>
          <a:prstGeom prst="ellipse">
            <a:avLst/>
          </a:prstGeom>
          <a:solidFill>
            <a:schemeClr val="accent1"/>
          </a:solidFill>
          <a:ln w="12700">
            <a:solidFill>
              <a:schemeClr val="accent1"/>
            </a:solidFill>
            <a:prstDash val="solid"/>
          </a:ln>
        </p:spPr>
      </p:sp>
      <p:sp>
        <p:nvSpPr>
          <p:cNvPr id="47" name="Text 45"/>
          <p:cNvSpPr txBox="1"/>
          <p:nvPr/>
        </p:nvSpPr>
        <p:spPr>
          <a:xfrm>
            <a:off x="630936" y="4422712"/>
            <a:ext cx="384048" cy="384048"/>
          </a:xfrm>
          <a:prstGeom prst="rect">
            <a:avLst/>
          </a:prstGeom>
          <a:noFill/>
          <a:ln/>
        </p:spPr>
        <p:txBody>
          <a:bodyPr wrap="square" lIns="0" tIns="0" rIns="0" bIns="0" rtlCol="0" anchor="ctr">
            <a:normAutofit/>
          </a:bodyPr>
          <a:lstStyle/>
          <a:p>
            <a:pPr algn="ctr" indent="0" marL="0">
              <a:buNone/>
            </a:pPr>
            <a:r>
              <a:rPr lang="en-US" sz="1300" b="1" dirty="0">
                <a:solidFill>
                  <a:schemeClr val="bg1"/>
                </a:solidFill>
                <a:latin typeface="Arial" pitchFamily="34" charset="0"/>
                <a:ea typeface="Arial" pitchFamily="34" charset="-122"/>
                <a:cs typeface="Arial" pitchFamily="34" charset="-120"/>
              </a:rPr>
              <a:t>6</a:t>
            </a:r>
            <a:endParaRPr lang="en-US" sz="1300" dirty="0"/>
          </a:p>
        </p:txBody>
      </p:sp>
      <p:sp>
        <p:nvSpPr>
          <p:cNvPr id="48" name="Text 46"/>
          <p:cNvSpPr txBox="1"/>
          <p:nvPr/>
        </p:nvSpPr>
        <p:spPr>
          <a:xfrm>
            <a:off x="1133856" y="4422712"/>
            <a:ext cx="1298448" cy="31223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The ticket</a:t>
            </a:r>
            <a:endParaRPr lang="en-US" sz="1000" dirty="0"/>
          </a:p>
        </p:txBody>
      </p:sp>
      <p:sp>
        <p:nvSpPr>
          <p:cNvPr id="49" name="Text 47"/>
          <p:cNvSpPr txBox="1"/>
          <p:nvPr/>
        </p:nvSpPr>
        <p:spPr>
          <a:xfrm>
            <a:off x="2596896" y="4422712"/>
            <a:ext cx="3493008" cy="31223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Signed over the hash of the exact fields; one use; short expiry; bound to one endpoint</a:t>
            </a:r>
            <a:endParaRPr lang="en-US" sz="1000" dirty="0"/>
          </a:p>
        </p:txBody>
      </p:sp>
      <p:sp>
        <p:nvSpPr>
          <p:cNvPr id="50" name="Text 48"/>
          <p:cNvSpPr txBox="1"/>
          <p:nvPr/>
        </p:nvSpPr>
        <p:spPr>
          <a:xfrm>
            <a:off x="6254496" y="4422712"/>
            <a:ext cx="3035808" cy="31223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ticket.missing, ticket.replay, ticket.bad_signature, ticket.wrong_endpoint</a:t>
            </a:r>
            <a:endParaRPr lang="en-US" sz="1000" dirty="0"/>
          </a:p>
        </p:txBody>
      </p:sp>
      <p:sp>
        <p:nvSpPr>
          <p:cNvPr id="51" name="Text 49"/>
          <p:cNvSpPr txBox="1"/>
          <p:nvPr/>
        </p:nvSpPr>
        <p:spPr>
          <a:xfrm>
            <a:off x="9454896" y="4422712"/>
            <a:ext cx="2105863" cy="31223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H17: forged, replayed and wrong-hash tickets never deliver</a:t>
            </a:r>
            <a:endParaRPr lang="en-US" sz="1000" dirty="0"/>
          </a:p>
        </p:txBody>
      </p:sp>
      <p:sp>
        <p:nvSpPr>
          <p:cNvPr id="52" name="table row"/>
          <p:cNvSpPr/>
          <p:nvPr/>
        </p:nvSpPr>
        <p:spPr>
          <a:xfrm>
            <a:off x="548640" y="4817237"/>
            <a:ext cx="11094415" cy="631762"/>
          </a:xfrm>
          <a:prstGeom prst="rect">
            <a:avLst/>
          </a:prstGeom>
          <a:solidFill>
            <a:srgbClr val="EEF2EF"/>
          </a:solidFill>
          <a:ln w="9525">
            <a:solidFill>
              <a:srgbClr val="EEF2EF"/>
            </a:solidFill>
            <a:prstDash val="solid"/>
          </a:ln>
        </p:spPr>
      </p:sp>
      <p:sp>
        <p:nvSpPr>
          <p:cNvPr id="53" name="step"/>
          <p:cNvSpPr/>
          <p:nvPr/>
        </p:nvSpPr>
        <p:spPr>
          <a:xfrm>
            <a:off x="630936" y="4899533"/>
            <a:ext cx="384048" cy="384048"/>
          </a:xfrm>
          <a:prstGeom prst="ellipse">
            <a:avLst/>
          </a:prstGeom>
          <a:solidFill>
            <a:schemeClr val="accent1"/>
          </a:solidFill>
          <a:ln w="12700">
            <a:solidFill>
              <a:schemeClr val="accent1"/>
            </a:solidFill>
            <a:prstDash val="solid"/>
          </a:ln>
        </p:spPr>
      </p:sp>
      <p:sp>
        <p:nvSpPr>
          <p:cNvPr id="54" name="Text 52"/>
          <p:cNvSpPr txBox="1"/>
          <p:nvPr/>
        </p:nvSpPr>
        <p:spPr>
          <a:xfrm>
            <a:off x="630936" y="4899533"/>
            <a:ext cx="384048" cy="384048"/>
          </a:xfrm>
          <a:prstGeom prst="rect">
            <a:avLst/>
          </a:prstGeom>
          <a:noFill/>
          <a:ln/>
        </p:spPr>
        <p:txBody>
          <a:bodyPr wrap="square" lIns="0" tIns="0" rIns="0" bIns="0" rtlCol="0" anchor="ctr">
            <a:normAutofit/>
          </a:bodyPr>
          <a:lstStyle/>
          <a:p>
            <a:pPr algn="ctr" indent="0" marL="0">
              <a:buNone/>
            </a:pPr>
            <a:r>
              <a:rPr lang="en-US" sz="1300" b="1" dirty="0">
                <a:solidFill>
                  <a:schemeClr val="bg1"/>
                </a:solidFill>
                <a:latin typeface="Arial" pitchFamily="34" charset="0"/>
                <a:ea typeface="Arial" pitchFamily="34" charset="-122"/>
                <a:cs typeface="Arial" pitchFamily="34" charset="-120"/>
              </a:rPr>
              <a:t>7</a:t>
            </a:r>
            <a:endParaRPr lang="en-US" sz="1300" dirty="0"/>
          </a:p>
        </p:txBody>
      </p:sp>
      <p:sp>
        <p:nvSpPr>
          <p:cNvPr id="55" name="Text 53"/>
          <p:cNvSpPr txBox="1"/>
          <p:nvPr/>
        </p:nvSpPr>
        <p:spPr>
          <a:xfrm>
            <a:off x="1133856" y="4899533"/>
            <a:ext cx="1298448" cy="467169"/>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The crossings</a:t>
            </a:r>
            <a:endParaRPr lang="en-US" sz="1000" dirty="0"/>
          </a:p>
        </p:txBody>
      </p:sp>
      <p:sp>
        <p:nvSpPr>
          <p:cNvPr id="56" name="Text 54"/>
          <p:cNvSpPr txBox="1"/>
          <p:nvPr/>
        </p:nvSpPr>
        <p:spPr>
          <a:xfrm>
            <a:off x="2596896" y="4899533"/>
            <a:ext cx="3493008" cy="467169"/>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Switch ports open only for roster peers; the egress holds responses until released; bytes cross-checked against what was presented</a:t>
            </a:r>
            <a:endParaRPr lang="en-US" sz="1000" dirty="0"/>
          </a:p>
        </p:txBody>
      </p:sp>
      <p:sp>
        <p:nvSpPr>
          <p:cNvPr id="57" name="Text 55"/>
          <p:cNvSpPr txBox="1"/>
          <p:nvPr/>
        </p:nvSpPr>
        <p:spPr>
          <a:xfrm>
            <a:off x="6254496" y="4899533"/>
            <a:ext cx="3035808" cy="467169"/>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ep.no_capability, gate.output_unpresented</a:t>
            </a:r>
            <a:endParaRPr lang="en-US" sz="1000" dirty="0"/>
          </a:p>
        </p:txBody>
      </p:sp>
      <p:sp>
        <p:nvSpPr>
          <p:cNvPr id="58" name="Text 56"/>
          <p:cNvSpPr txBox="1"/>
          <p:nvPr/>
        </p:nvSpPr>
        <p:spPr>
          <a:xfrm>
            <a:off x="9454896" y="4899533"/>
            <a:ext cx="2105863" cy="467169"/>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H2 enforcement points; the plot narration</a:t>
            </a:r>
            <a:endParaRPr lang="en-US" sz="1000" dirty="0"/>
          </a:p>
        </p:txBody>
      </p:sp>
      <p:sp>
        <p:nvSpPr>
          <p:cNvPr id="59" name="table row"/>
          <p:cNvSpPr/>
          <p:nvPr/>
        </p:nvSpPr>
        <p:spPr>
          <a:xfrm>
            <a:off x="548640" y="5448999"/>
            <a:ext cx="11094415" cy="631762"/>
          </a:xfrm>
          <a:prstGeom prst="rect">
            <a:avLst/>
          </a:prstGeom>
          <a:solidFill>
            <a:srgbClr val="FFFFFF"/>
          </a:solidFill>
          <a:ln w="9525">
            <a:solidFill>
              <a:srgbClr val="EEF2EF"/>
            </a:solidFill>
            <a:prstDash val="solid"/>
          </a:ln>
        </p:spPr>
      </p:sp>
      <p:sp>
        <p:nvSpPr>
          <p:cNvPr id="60" name="step"/>
          <p:cNvSpPr/>
          <p:nvPr/>
        </p:nvSpPr>
        <p:spPr>
          <a:xfrm>
            <a:off x="630936" y="5531295"/>
            <a:ext cx="384048" cy="384048"/>
          </a:xfrm>
          <a:prstGeom prst="ellipse">
            <a:avLst/>
          </a:prstGeom>
          <a:solidFill>
            <a:schemeClr val="accent1"/>
          </a:solidFill>
          <a:ln w="12700">
            <a:solidFill>
              <a:schemeClr val="accent1"/>
            </a:solidFill>
            <a:prstDash val="solid"/>
          </a:ln>
        </p:spPr>
      </p:sp>
      <p:sp>
        <p:nvSpPr>
          <p:cNvPr id="61" name="Text 59"/>
          <p:cNvSpPr txBox="1"/>
          <p:nvPr/>
        </p:nvSpPr>
        <p:spPr>
          <a:xfrm>
            <a:off x="630936" y="5531295"/>
            <a:ext cx="384048" cy="384048"/>
          </a:xfrm>
          <a:prstGeom prst="rect">
            <a:avLst/>
          </a:prstGeom>
          <a:noFill/>
          <a:ln/>
        </p:spPr>
        <p:txBody>
          <a:bodyPr wrap="square" lIns="0" tIns="0" rIns="0" bIns="0" rtlCol="0" anchor="ctr">
            <a:normAutofit/>
          </a:bodyPr>
          <a:lstStyle/>
          <a:p>
            <a:pPr algn="ctr" indent="0" marL="0">
              <a:buNone/>
            </a:pPr>
            <a:r>
              <a:rPr lang="en-US" sz="1300" b="1" dirty="0">
                <a:solidFill>
                  <a:schemeClr val="bg1"/>
                </a:solidFill>
                <a:latin typeface="Arial" pitchFamily="34" charset="0"/>
                <a:ea typeface="Arial" pitchFamily="34" charset="-122"/>
                <a:cs typeface="Arial" pitchFamily="34" charset="-120"/>
              </a:rPr>
              <a:t>8</a:t>
            </a:r>
            <a:endParaRPr lang="en-US" sz="1300" dirty="0"/>
          </a:p>
        </p:txBody>
      </p:sp>
      <p:sp>
        <p:nvSpPr>
          <p:cNvPr id="62" name="Text 60"/>
          <p:cNvSpPr txBox="1"/>
          <p:nvPr/>
        </p:nvSpPr>
        <p:spPr>
          <a:xfrm>
            <a:off x="1133856" y="5531295"/>
            <a:ext cx="1298448" cy="467169"/>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Under OpenShell</a:t>
            </a:r>
            <a:endParaRPr lang="en-US" sz="1000" dirty="0"/>
          </a:p>
        </p:txBody>
      </p:sp>
      <p:sp>
        <p:nvSpPr>
          <p:cNvPr id="63" name="Text 61"/>
          <p:cNvSpPr txBox="1"/>
          <p:nvPr/>
        </p:nvSpPr>
        <p:spPr>
          <a:xfrm>
            <a:off x="2596896" y="5531295"/>
            <a:ext cx="3493008" cy="467169"/>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The same decision returned through the supervisor-middleware contract: allow with the ticket as a header change, or deny with a reason code in OpenShell's grammar</a:t>
            </a:r>
            <a:endParaRPr lang="en-US" sz="1000" dirty="0"/>
          </a:p>
        </p:txBody>
      </p:sp>
      <p:sp>
        <p:nvSpPr>
          <p:cNvPr id="64" name="Text 62"/>
          <p:cNvSpPr txBox="1"/>
          <p:nvPr/>
        </p:nvSpPr>
        <p:spPr>
          <a:xfrm>
            <a:off x="6254496" y="5531295"/>
            <a:ext cx="3035808" cy="467169"/>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attestation_missing, hold_pending, sandbox_quarantined</a:t>
            </a:r>
            <a:endParaRPr lang="en-US" sz="1000" dirty="0"/>
          </a:p>
        </p:txBody>
      </p:sp>
      <p:sp>
        <p:nvSpPr>
          <p:cNvPr id="65" name="Text 63"/>
          <p:cNvSpPr txBox="1"/>
          <p:nvPr/>
        </p:nvSpPr>
        <p:spPr>
          <a:xfrm>
            <a:off x="9454896" y="5531295"/>
            <a:ext cx="2105863" cy="467169"/>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hardware-and-silicon tests/test_oasp.py (5 contract tests)</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Where it stands: no silicon yet</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26</a:t>
            </a:r>
            <a:endParaRPr lang="en-US" sz="1100" dirty="0"/>
          </a:p>
        </p:txBody>
      </p:sp>
      <p:sp>
        <p:nvSpPr>
          <p:cNvPr id="5" name="card"/>
          <p:cNvSpPr/>
          <p:nvPr/>
        </p:nvSpPr>
        <p:spPr>
          <a:xfrm>
            <a:off x="548640" y="1417320"/>
            <a:ext cx="2602154" cy="1783080"/>
          </a:xfrm>
          <a:prstGeom prst="roundRect">
            <a:avLst>
              <a:gd name="adj" fmla="val 4103"/>
            </a:avLst>
          </a:prstGeom>
          <a:solidFill>
            <a:schemeClr val="bg2"/>
          </a:solidFill>
          <a:ln w="12700">
            <a:solidFill>
              <a:schemeClr val="bg2"/>
            </a:solidFill>
            <a:prstDash val="solid"/>
          </a:ln>
        </p:spPr>
      </p:sp>
      <p:sp>
        <p:nvSpPr>
          <p:cNvPr id="6" name="Text 4"/>
          <p:cNvSpPr txBox="1"/>
          <p:nvPr/>
        </p:nvSpPr>
        <p:spPr>
          <a:xfrm>
            <a:off x="777240" y="1527048"/>
            <a:ext cx="2144954" cy="731520"/>
          </a:xfrm>
          <a:prstGeom prst="rect">
            <a:avLst/>
          </a:prstGeom>
          <a:noFill/>
          <a:ln/>
        </p:spPr>
        <p:txBody>
          <a:bodyPr wrap="square" lIns="0" tIns="0" rIns="0" bIns="0" rtlCol="0" anchor="ctr">
            <a:normAutofit/>
          </a:bodyPr>
          <a:lstStyle/>
          <a:p>
            <a:pPr indent="0" marL="0">
              <a:buNone/>
            </a:pPr>
            <a:r>
              <a:rPr lang="en-US" sz="4000" b="1" dirty="0">
                <a:solidFill>
                  <a:schemeClr val="accent1"/>
                </a:solidFill>
                <a:latin typeface="Georgia" pitchFamily="34" charset="0"/>
                <a:ea typeface="Georgia" pitchFamily="34" charset="-122"/>
                <a:cs typeface="Georgia" pitchFamily="34" charset="-120"/>
              </a:rPr>
              <a:t>200</a:t>
            </a:r>
            <a:endParaRPr lang="en-US" sz="4000" dirty="0"/>
          </a:p>
        </p:txBody>
      </p:sp>
      <p:sp>
        <p:nvSpPr>
          <p:cNvPr id="7" name="Text 5"/>
          <p:cNvSpPr txBox="1"/>
          <p:nvPr/>
        </p:nvSpPr>
        <p:spPr>
          <a:xfrm>
            <a:off x="777240" y="2313432"/>
            <a:ext cx="2144954" cy="841248"/>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hypothesis tests pass in the functional model of the governor and a simulated 72-GPU rack (H0 to H18)</a:t>
            </a:r>
            <a:endParaRPr lang="en-US" sz="1050" dirty="0"/>
          </a:p>
        </p:txBody>
      </p:sp>
      <p:sp>
        <p:nvSpPr>
          <p:cNvPr id="8" name="card"/>
          <p:cNvSpPr/>
          <p:nvPr/>
        </p:nvSpPr>
        <p:spPr>
          <a:xfrm>
            <a:off x="3379394" y="1417320"/>
            <a:ext cx="2602154" cy="1783080"/>
          </a:xfrm>
          <a:prstGeom prst="roundRect">
            <a:avLst>
              <a:gd name="adj" fmla="val 4103"/>
            </a:avLst>
          </a:prstGeom>
          <a:solidFill>
            <a:schemeClr val="bg2"/>
          </a:solidFill>
          <a:ln w="12700">
            <a:solidFill>
              <a:schemeClr val="bg2"/>
            </a:solidFill>
            <a:prstDash val="solid"/>
          </a:ln>
        </p:spPr>
      </p:sp>
      <p:sp>
        <p:nvSpPr>
          <p:cNvPr id="9" name="Text 7"/>
          <p:cNvSpPr txBox="1"/>
          <p:nvPr/>
        </p:nvSpPr>
        <p:spPr>
          <a:xfrm>
            <a:off x="3607994" y="1527048"/>
            <a:ext cx="2144954" cy="731520"/>
          </a:xfrm>
          <a:prstGeom prst="rect">
            <a:avLst/>
          </a:prstGeom>
          <a:noFill/>
          <a:ln/>
        </p:spPr>
        <p:txBody>
          <a:bodyPr wrap="square" lIns="0" tIns="0" rIns="0" bIns="0" rtlCol="0" anchor="ctr">
            <a:normAutofit/>
          </a:bodyPr>
          <a:lstStyle/>
          <a:p>
            <a:pPr indent="0" marL="0">
              <a:buNone/>
            </a:pPr>
            <a:r>
              <a:rPr lang="en-US" sz="4000" b="1" dirty="0">
                <a:solidFill>
                  <a:schemeClr val="accent1"/>
                </a:solidFill>
                <a:latin typeface="Georgia" pitchFamily="34" charset="0"/>
                <a:ea typeface="Georgia" pitchFamily="34" charset="-122"/>
                <a:cs typeface="Georgia" pitchFamily="34" charset="-120"/>
              </a:rPr>
              <a:t>20</a:t>
            </a:r>
            <a:endParaRPr lang="en-US" sz="4000" dirty="0"/>
          </a:p>
        </p:txBody>
      </p:sp>
      <p:sp>
        <p:nvSpPr>
          <p:cNvPr id="10" name="Text 8"/>
          <p:cNvSpPr txBox="1"/>
          <p:nvPr/>
        </p:nvSpPr>
        <p:spPr>
          <a:xfrm>
            <a:off x="3607994" y="2313432"/>
            <a:ext cx="2144954" cy="841248"/>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simulation tests pass on the hard-core RTL blocks, with a LibreLane flow to the open 130 nm process</a:t>
            </a:r>
            <a:endParaRPr lang="en-US" sz="1050" dirty="0"/>
          </a:p>
        </p:txBody>
      </p:sp>
      <p:sp>
        <p:nvSpPr>
          <p:cNvPr id="11" name="card"/>
          <p:cNvSpPr/>
          <p:nvPr/>
        </p:nvSpPr>
        <p:spPr>
          <a:xfrm>
            <a:off x="6210148" y="1417320"/>
            <a:ext cx="2602154" cy="1783080"/>
          </a:xfrm>
          <a:prstGeom prst="roundRect">
            <a:avLst>
              <a:gd name="adj" fmla="val 4103"/>
            </a:avLst>
          </a:prstGeom>
          <a:solidFill>
            <a:schemeClr val="bg2"/>
          </a:solidFill>
          <a:ln w="12700">
            <a:solidFill>
              <a:schemeClr val="bg2"/>
            </a:solidFill>
            <a:prstDash val="solid"/>
          </a:ln>
        </p:spPr>
      </p:sp>
      <p:sp>
        <p:nvSpPr>
          <p:cNvPr id="12" name="Text 10"/>
          <p:cNvSpPr txBox="1"/>
          <p:nvPr/>
        </p:nvSpPr>
        <p:spPr>
          <a:xfrm>
            <a:off x="6438748" y="1527048"/>
            <a:ext cx="2144954" cy="731520"/>
          </a:xfrm>
          <a:prstGeom prst="rect">
            <a:avLst/>
          </a:prstGeom>
          <a:noFill/>
          <a:ln/>
        </p:spPr>
        <p:txBody>
          <a:bodyPr wrap="square" lIns="0" tIns="0" rIns="0" bIns="0" rtlCol="0" anchor="ctr">
            <a:normAutofit/>
          </a:bodyPr>
          <a:lstStyle/>
          <a:p>
            <a:pPr indent="0" marL="0">
              <a:buNone/>
            </a:pPr>
            <a:r>
              <a:rPr lang="en-US" sz="4000" b="1" dirty="0">
                <a:solidFill>
                  <a:schemeClr val="accent1"/>
                </a:solidFill>
                <a:latin typeface="Georgia" pitchFamily="34" charset="0"/>
                <a:ea typeface="Georgia" pitchFamily="34" charset="-122"/>
                <a:cs typeface="Georgia" pitchFamily="34" charset="-120"/>
              </a:rPr>
              <a:t>3</a:t>
            </a:r>
            <a:endParaRPr lang="en-US" sz="4000" dirty="0"/>
          </a:p>
        </p:txBody>
      </p:sp>
      <p:sp>
        <p:nvSpPr>
          <p:cNvPr id="13" name="Text 11"/>
          <p:cNvSpPr txBox="1"/>
          <p:nvPr/>
        </p:nvSpPr>
        <p:spPr>
          <a:xfrm>
            <a:off x="6438748" y="2313432"/>
            <a:ext cx="2144954" cy="841248"/>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proof files hold: ten core invariants and the commit-point protocol under Z3, the kill-switch cuts by max-flow (make proof)</a:t>
            </a:r>
            <a:endParaRPr lang="en-US" sz="1050" dirty="0"/>
          </a:p>
        </p:txBody>
      </p:sp>
      <p:sp>
        <p:nvSpPr>
          <p:cNvPr id="14" name="card"/>
          <p:cNvSpPr/>
          <p:nvPr/>
        </p:nvSpPr>
        <p:spPr>
          <a:xfrm>
            <a:off x="9040901" y="1417320"/>
            <a:ext cx="2602154" cy="1783080"/>
          </a:xfrm>
          <a:prstGeom prst="roundRect">
            <a:avLst>
              <a:gd name="adj" fmla="val 4103"/>
            </a:avLst>
          </a:prstGeom>
          <a:solidFill>
            <a:schemeClr val="bg2"/>
          </a:solidFill>
          <a:ln w="12700">
            <a:solidFill>
              <a:schemeClr val="bg2"/>
            </a:solidFill>
            <a:prstDash val="solid"/>
          </a:ln>
        </p:spPr>
      </p:sp>
      <p:sp>
        <p:nvSpPr>
          <p:cNvPr id="15" name="Text 13"/>
          <p:cNvSpPr txBox="1"/>
          <p:nvPr/>
        </p:nvSpPr>
        <p:spPr>
          <a:xfrm>
            <a:off x="9269501" y="1527048"/>
            <a:ext cx="2144954" cy="731520"/>
          </a:xfrm>
          <a:prstGeom prst="rect">
            <a:avLst/>
          </a:prstGeom>
          <a:noFill/>
          <a:ln/>
        </p:spPr>
        <p:txBody>
          <a:bodyPr wrap="square" lIns="0" tIns="0" rIns="0" bIns="0" rtlCol="0" anchor="ctr">
            <a:normAutofit/>
          </a:bodyPr>
          <a:lstStyle/>
          <a:p>
            <a:pPr indent="0" marL="0">
              <a:buNone/>
            </a:pPr>
            <a:r>
              <a:rPr lang="en-US" sz="4000" b="1" dirty="0">
                <a:solidFill>
                  <a:schemeClr val="accent1"/>
                </a:solidFill>
                <a:latin typeface="Georgia" pitchFamily="34" charset="0"/>
                <a:ea typeface="Georgia" pitchFamily="34" charset="-122"/>
                <a:cs typeface="Georgia" pitchFamily="34" charset="-120"/>
              </a:rPr>
              <a:t>56</a:t>
            </a:r>
            <a:endParaRPr lang="en-US" sz="4000" dirty="0"/>
          </a:p>
        </p:txBody>
      </p:sp>
      <p:sp>
        <p:nvSpPr>
          <p:cNvPr id="16" name="Text 14"/>
          <p:cNvSpPr txBox="1"/>
          <p:nvPr/>
        </p:nvSpPr>
        <p:spPr>
          <a:xfrm>
            <a:off x="9269501" y="2313432"/>
            <a:ext cx="2144954" cy="841248"/>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tests pass in the software reference stack, five of them pinning OpenShell's shipped middleware contract</a:t>
            </a:r>
            <a:endParaRPr lang="en-US" sz="1050" dirty="0"/>
          </a:p>
        </p:txBody>
      </p:sp>
      <p:sp>
        <p:nvSpPr>
          <p:cNvPr id="17" name="card"/>
          <p:cNvSpPr/>
          <p:nvPr/>
        </p:nvSpPr>
        <p:spPr>
          <a:xfrm>
            <a:off x="548640" y="3383280"/>
            <a:ext cx="2602154" cy="1783080"/>
          </a:xfrm>
          <a:prstGeom prst="roundRect">
            <a:avLst>
              <a:gd name="adj" fmla="val 4103"/>
            </a:avLst>
          </a:prstGeom>
          <a:solidFill>
            <a:schemeClr val="bg2"/>
          </a:solidFill>
          <a:ln w="12700">
            <a:solidFill>
              <a:schemeClr val="bg2"/>
            </a:solidFill>
            <a:prstDash val="solid"/>
          </a:ln>
        </p:spPr>
      </p:sp>
      <p:sp>
        <p:nvSpPr>
          <p:cNvPr id="18" name="Text 16"/>
          <p:cNvSpPr txBox="1"/>
          <p:nvPr/>
        </p:nvSpPr>
        <p:spPr>
          <a:xfrm>
            <a:off x="777240" y="3493008"/>
            <a:ext cx="2144954" cy="731520"/>
          </a:xfrm>
          <a:prstGeom prst="rect">
            <a:avLst/>
          </a:prstGeom>
          <a:noFill/>
          <a:ln/>
        </p:spPr>
        <p:txBody>
          <a:bodyPr wrap="square" lIns="0" tIns="0" rIns="0" bIns="0" rtlCol="0" anchor="ctr">
            <a:normAutofit/>
          </a:bodyPr>
          <a:lstStyle/>
          <a:p>
            <a:pPr indent="0" marL="0">
              <a:buNone/>
            </a:pPr>
            <a:r>
              <a:rPr lang="en-US" sz="4000" b="1" dirty="0">
                <a:solidFill>
                  <a:schemeClr val="accent1"/>
                </a:solidFill>
                <a:latin typeface="Georgia" pitchFamily="34" charset="0"/>
                <a:ea typeface="Georgia" pitchFamily="34" charset="-122"/>
                <a:cs typeface="Georgia" pitchFamily="34" charset="-120"/>
              </a:rPr>
              <a:t>75 + 12</a:t>
            </a:r>
            <a:endParaRPr lang="en-US" sz="4000" dirty="0"/>
          </a:p>
        </p:txBody>
      </p:sp>
      <p:sp>
        <p:nvSpPr>
          <p:cNvPr id="19" name="Text 17"/>
          <p:cNvSpPr txBox="1"/>
          <p:nvPr/>
        </p:nvSpPr>
        <p:spPr>
          <a:xfrm>
            <a:off x="777240" y="4279392"/>
            <a:ext cx="2144954" cy="841248"/>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attacks blocked with the predicted reason code, baselines allowed; 17 of the 87 run on the OpenShell and Sentry path</a:t>
            </a:r>
            <a:endParaRPr lang="en-US" sz="1050" dirty="0"/>
          </a:p>
        </p:txBody>
      </p:sp>
      <p:sp>
        <p:nvSpPr>
          <p:cNvPr id="20" name="card"/>
          <p:cNvSpPr/>
          <p:nvPr/>
        </p:nvSpPr>
        <p:spPr>
          <a:xfrm>
            <a:off x="3379394" y="3383280"/>
            <a:ext cx="2602154" cy="1783080"/>
          </a:xfrm>
          <a:prstGeom prst="roundRect">
            <a:avLst>
              <a:gd name="adj" fmla="val 4103"/>
            </a:avLst>
          </a:prstGeom>
          <a:solidFill>
            <a:schemeClr val="bg2"/>
          </a:solidFill>
          <a:ln w="12700">
            <a:solidFill>
              <a:schemeClr val="bg2"/>
            </a:solidFill>
            <a:prstDash val="solid"/>
          </a:ln>
        </p:spPr>
      </p:sp>
      <p:sp>
        <p:nvSpPr>
          <p:cNvPr id="21" name="Text 19"/>
          <p:cNvSpPr txBox="1"/>
          <p:nvPr/>
        </p:nvSpPr>
        <p:spPr>
          <a:xfrm>
            <a:off x="3607994" y="3493008"/>
            <a:ext cx="2144954" cy="731520"/>
          </a:xfrm>
          <a:prstGeom prst="rect">
            <a:avLst/>
          </a:prstGeom>
          <a:noFill/>
          <a:ln/>
        </p:spPr>
        <p:txBody>
          <a:bodyPr wrap="square" lIns="0" tIns="0" rIns="0" bIns="0" rtlCol="0" anchor="ctr">
            <a:normAutofit/>
          </a:bodyPr>
          <a:lstStyle/>
          <a:p>
            <a:pPr indent="0" marL="0">
              <a:buNone/>
            </a:pPr>
            <a:r>
              <a:rPr lang="en-US" sz="4000" b="1" dirty="0">
                <a:solidFill>
                  <a:schemeClr val="accent1"/>
                </a:solidFill>
                <a:latin typeface="Georgia" pitchFamily="34" charset="0"/>
                <a:ea typeface="Georgia" pitchFamily="34" charset="-122"/>
                <a:cs typeface="Georgia" pitchFamily="34" charset="-120"/>
              </a:rPr>
              <a:t>317 µs</a:t>
            </a:r>
            <a:endParaRPr lang="en-US" sz="4000" dirty="0"/>
          </a:p>
        </p:txBody>
      </p:sp>
      <p:sp>
        <p:nvSpPr>
          <p:cNvPr id="22" name="Text 20"/>
          <p:cNvSpPr txBox="1"/>
          <p:nvPr/>
        </p:nvSpPr>
        <p:spPr>
          <a:xfrm>
            <a:off x="3607994" y="4279392"/>
            <a:ext cx="2144954" cy="841248"/>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worst case for the halt loop to reach the last of 72 governors, against a 1 ms bound, across 39 simulated configurations</a:t>
            </a:r>
            <a:endParaRPr lang="en-US" sz="1050" dirty="0"/>
          </a:p>
        </p:txBody>
      </p:sp>
      <p:sp>
        <p:nvSpPr>
          <p:cNvPr id="23" name="card"/>
          <p:cNvSpPr/>
          <p:nvPr/>
        </p:nvSpPr>
        <p:spPr>
          <a:xfrm>
            <a:off x="6210148" y="3383280"/>
            <a:ext cx="2602154" cy="1783080"/>
          </a:xfrm>
          <a:prstGeom prst="roundRect">
            <a:avLst>
              <a:gd name="adj" fmla="val 4103"/>
            </a:avLst>
          </a:prstGeom>
          <a:solidFill>
            <a:schemeClr val="bg2"/>
          </a:solidFill>
          <a:ln w="12700">
            <a:solidFill>
              <a:schemeClr val="bg2"/>
            </a:solidFill>
            <a:prstDash val="solid"/>
          </a:ln>
        </p:spPr>
      </p:sp>
      <p:sp>
        <p:nvSpPr>
          <p:cNvPr id="24" name="Text 22"/>
          <p:cNvSpPr txBox="1"/>
          <p:nvPr/>
        </p:nvSpPr>
        <p:spPr>
          <a:xfrm>
            <a:off x="6438748" y="3493008"/>
            <a:ext cx="2144954" cy="731520"/>
          </a:xfrm>
          <a:prstGeom prst="rect">
            <a:avLst/>
          </a:prstGeom>
          <a:noFill/>
          <a:ln/>
        </p:spPr>
        <p:txBody>
          <a:bodyPr wrap="square" lIns="0" tIns="0" rIns="0" bIns="0" rtlCol="0" anchor="ctr">
            <a:normAutofit/>
          </a:bodyPr>
          <a:lstStyle/>
          <a:p>
            <a:pPr indent="0" marL="0">
              <a:buNone/>
            </a:pPr>
            <a:r>
              <a:rPr lang="en-US" sz="4000" b="1" dirty="0">
                <a:solidFill>
                  <a:schemeClr val="accent1"/>
                </a:solidFill>
                <a:latin typeface="Georgia" pitchFamily="34" charset="0"/>
                <a:ea typeface="Georgia" pitchFamily="34" charset="-122"/>
                <a:cs typeface="Georgia" pitchFamily="34" charset="-120"/>
              </a:rPr>
              <a:t>~2 mm²</a:t>
            </a:r>
            <a:endParaRPr lang="en-US" sz="4000" dirty="0"/>
          </a:p>
        </p:txBody>
      </p:sp>
      <p:sp>
        <p:nvSpPr>
          <p:cNvPr id="25" name="Text 23"/>
          <p:cNvSpPr txBox="1"/>
          <p:nvPr/>
        </p:nvSpPr>
        <p:spPr>
          <a:xfrm>
            <a:off x="6438748" y="4279392"/>
            <a:ext cx="2144954" cy="841248"/>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of core logic for the governor as configured, 1.4 by 1.4 mm, inside a 10 mm² shuttle harness</a:t>
            </a:r>
            <a:endParaRPr lang="en-US" sz="1050" dirty="0"/>
          </a:p>
        </p:txBody>
      </p:sp>
      <p:sp>
        <p:nvSpPr>
          <p:cNvPr id="26" name="card"/>
          <p:cNvSpPr/>
          <p:nvPr/>
        </p:nvSpPr>
        <p:spPr>
          <a:xfrm>
            <a:off x="9040901" y="3383280"/>
            <a:ext cx="2602154" cy="1783080"/>
          </a:xfrm>
          <a:prstGeom prst="roundRect">
            <a:avLst>
              <a:gd name="adj" fmla="val 4103"/>
            </a:avLst>
          </a:prstGeom>
          <a:solidFill>
            <a:schemeClr val="bg2"/>
          </a:solidFill>
          <a:ln w="12700">
            <a:solidFill>
              <a:schemeClr val="bg2"/>
            </a:solidFill>
            <a:prstDash val="solid"/>
          </a:ln>
        </p:spPr>
      </p:sp>
      <p:sp>
        <p:nvSpPr>
          <p:cNvPr id="27" name="Text 25"/>
          <p:cNvSpPr txBox="1"/>
          <p:nvPr/>
        </p:nvSpPr>
        <p:spPr>
          <a:xfrm>
            <a:off x="9269501" y="3493008"/>
            <a:ext cx="2144954" cy="731520"/>
          </a:xfrm>
          <a:prstGeom prst="rect">
            <a:avLst/>
          </a:prstGeom>
          <a:noFill/>
          <a:ln/>
        </p:spPr>
        <p:txBody>
          <a:bodyPr wrap="square" lIns="0" tIns="0" rIns="0" bIns="0" rtlCol="0" anchor="ctr">
            <a:normAutofit/>
          </a:bodyPr>
          <a:lstStyle/>
          <a:p>
            <a:pPr indent="0" marL="0">
              <a:buNone/>
            </a:pPr>
            <a:r>
              <a:rPr lang="en-US" sz="4000" b="1" dirty="0">
                <a:solidFill>
                  <a:schemeClr val="accent1"/>
                </a:solidFill>
                <a:latin typeface="Georgia" pitchFamily="34" charset="0"/>
                <a:ea typeface="Georgia" pitchFamily="34" charset="-122"/>
                <a:cs typeface="Georgia" pitchFamily="34" charset="-120"/>
              </a:rPr>
              <a:t>0</a:t>
            </a:r>
            <a:endParaRPr lang="en-US" sz="4000" dirty="0"/>
          </a:p>
        </p:txBody>
      </p:sp>
      <p:sp>
        <p:nvSpPr>
          <p:cNvPr id="28" name="Text 26"/>
          <p:cNvSpPr txBox="1"/>
          <p:nvPr/>
        </p:nvSpPr>
        <p:spPr>
          <a:xfrm>
            <a:off x="9269501" y="4279392"/>
            <a:ext cx="2144954" cy="841248"/>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merged from the first wave: four experiments built, all four sent back by the gate with findings; every review public in audit/wave-1</a:t>
            </a:r>
            <a:endParaRPr lang="en-US" sz="1050" dirty="0"/>
          </a:p>
        </p:txBody>
      </p:sp>
      <p:sp>
        <p:nvSpPr>
          <p:cNvPr id="29" name="analogy"/>
          <p:cNvSpPr/>
          <p:nvPr/>
        </p:nvSpPr>
        <p:spPr>
          <a:xfrm>
            <a:off x="548640" y="5486400"/>
            <a:ext cx="11094415" cy="731520"/>
          </a:xfrm>
          <a:prstGeom prst="roundRect">
            <a:avLst>
              <a:gd name="adj" fmla="val 10000"/>
            </a:avLst>
          </a:prstGeom>
          <a:solidFill>
            <a:schemeClr val="tx1"/>
          </a:solidFill>
          <a:ln w="12700">
            <a:solidFill>
              <a:schemeClr val="tx1"/>
            </a:solidFill>
            <a:prstDash val="solid"/>
          </a:ln>
        </p:spPr>
      </p:sp>
      <p:sp>
        <p:nvSpPr>
          <p:cNvPr id="30" name="Text 28"/>
          <p:cNvSpPr txBox="1"/>
          <p:nvPr/>
        </p:nvSpPr>
        <p:spPr>
          <a:xfrm>
            <a:off x="822960" y="5486400"/>
            <a:ext cx="1554480" cy="73152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docs 18 §3; audit/wave-1</a:t>
            </a:r>
            <a:endParaRPr lang="en-US" sz="1000" dirty="0"/>
          </a:p>
        </p:txBody>
      </p:sp>
      <p:sp>
        <p:nvSpPr>
          <p:cNvPr id="31" name="Text 29"/>
          <p:cNvSpPr txBox="1"/>
          <p:nvPr/>
        </p:nvSpPr>
        <p:spPr>
          <a:xfrm>
            <a:off x="2514600" y="5486400"/>
            <a:ext cx="8854135" cy="73152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Everything here is model, proof, RTL simulation and circuit simulation. The two numbers that decide adoption, the real overhead and the false-halt rate, are not measured on hardware yet. Nothing has merged from the first wave; every result sits on a branch with its review attached.</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What the first wave found</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27</a:t>
            </a:r>
            <a:endParaRPr lang="en-US" sz="1100" dirty="0"/>
          </a:p>
        </p:txBody>
      </p:sp>
      <p:sp>
        <p:nvSpPr>
          <p:cNvPr id="5" name="table header"/>
          <p:cNvSpPr/>
          <p:nvPr/>
        </p:nvSpPr>
        <p:spPr>
          <a:xfrm>
            <a:off x="548640" y="1417320"/>
            <a:ext cx="11094415" cy="384048"/>
          </a:xfrm>
          <a:prstGeom prst="rect">
            <a:avLst/>
          </a:prstGeom>
          <a:solidFill>
            <a:schemeClr val="tx2"/>
          </a:solidFill>
          <a:ln w="12700">
            <a:solidFill>
              <a:schemeClr val="tx2"/>
            </a:solidFill>
            <a:prstDash val="solid"/>
          </a:ln>
        </p:spPr>
      </p:sp>
      <p:sp>
        <p:nvSpPr>
          <p:cNvPr id="6" name="Text 4"/>
          <p:cNvSpPr txBox="1"/>
          <p:nvPr/>
        </p:nvSpPr>
        <p:spPr>
          <a:xfrm>
            <a:off x="630936" y="1417320"/>
            <a:ext cx="1664208"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Experiment</a:t>
            </a:r>
            <a:endParaRPr lang="en-US" sz="1000" dirty="0"/>
          </a:p>
        </p:txBody>
      </p:sp>
      <p:sp>
        <p:nvSpPr>
          <p:cNvPr id="7" name="Text 5"/>
          <p:cNvSpPr txBox="1"/>
          <p:nvPr/>
        </p:nvSpPr>
        <p:spPr>
          <a:xfrm>
            <a:off x="2459736" y="1417320"/>
            <a:ext cx="3127248"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Built</a:t>
            </a:r>
            <a:endParaRPr lang="en-US" sz="1000" dirty="0"/>
          </a:p>
        </p:txBody>
      </p:sp>
      <p:sp>
        <p:nvSpPr>
          <p:cNvPr id="8" name="Text 6"/>
          <p:cNvSpPr txBox="1"/>
          <p:nvPr/>
        </p:nvSpPr>
        <p:spPr>
          <a:xfrm>
            <a:off x="5751576" y="1417320"/>
            <a:ext cx="3767328"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What the gate found</a:t>
            </a:r>
            <a:endParaRPr lang="en-US" sz="1000" dirty="0"/>
          </a:p>
        </p:txBody>
      </p:sp>
      <p:sp>
        <p:nvSpPr>
          <p:cNvPr id="9" name="Text 7"/>
          <p:cNvSpPr txBox="1"/>
          <p:nvPr/>
        </p:nvSpPr>
        <p:spPr>
          <a:xfrm>
            <a:off x="9683496" y="1417320"/>
            <a:ext cx="1877263"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Where it is</a:t>
            </a:r>
            <a:endParaRPr lang="en-US" sz="1000" dirty="0"/>
          </a:p>
        </p:txBody>
      </p:sp>
      <p:sp>
        <p:nvSpPr>
          <p:cNvPr id="10" name="table row"/>
          <p:cNvSpPr/>
          <p:nvPr/>
        </p:nvSpPr>
        <p:spPr>
          <a:xfrm>
            <a:off x="548640" y="1801368"/>
            <a:ext cx="11094415" cy="820928"/>
          </a:xfrm>
          <a:prstGeom prst="rect">
            <a:avLst/>
          </a:prstGeom>
          <a:solidFill>
            <a:srgbClr val="EEF2EF"/>
          </a:solidFill>
          <a:ln w="9525">
            <a:solidFill>
              <a:srgbClr val="EEF2EF"/>
            </a:solidFill>
            <a:prstDash val="solid"/>
          </a:ln>
        </p:spPr>
      </p:sp>
      <p:sp>
        <p:nvSpPr>
          <p:cNvPr id="11" name="icon circle"/>
          <p:cNvSpPr/>
          <p:nvPr/>
        </p:nvSpPr>
        <p:spPr>
          <a:xfrm>
            <a:off x="630936" y="1883664"/>
            <a:ext cx="384048" cy="384048"/>
          </a:xfrm>
          <a:prstGeom prst="ellipse">
            <a:avLst/>
          </a:prstGeom>
          <a:solidFill>
            <a:schemeClr val="accent1"/>
          </a:solidFill>
          <a:ln w="12700">
            <a:solidFill>
              <a:schemeClr val="accent1"/>
            </a:solidFill>
            <a:prstDash val="solid"/>
          </a:ln>
        </p:spPr>
      </p:sp>
      <p:pic>
        <p:nvPicPr>
          <p:cNvPr id="12" name="FiActivity" descr="preencoded.png">    </p:cNvPr>
          <p:cNvPicPr>
            <a:picLocks noChangeAspect="1"/>
          </p:cNvPicPr>
          <p:nvPr/>
        </p:nvPicPr>
        <p:blipFill>
          <a:blip r:embed="rId1"/>
          <a:stretch>
            <a:fillRect/>
          </a:stretch>
        </p:blipFill>
        <p:spPr>
          <a:xfrm>
            <a:off x="726948" y="1979676"/>
            <a:ext cx="192024" cy="192024"/>
          </a:xfrm>
          <a:prstGeom prst="rect">
            <a:avLst/>
          </a:prstGeom>
        </p:spPr>
      </p:pic>
      <p:sp>
        <p:nvSpPr>
          <p:cNvPr id="13" name="Text 10"/>
          <p:cNvSpPr txBox="1"/>
          <p:nvPr/>
        </p:nvSpPr>
        <p:spPr>
          <a:xfrm>
            <a:off x="1133856" y="1883664"/>
            <a:ext cx="1161288" cy="656336"/>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L4  trace conformance</a:t>
            </a:r>
            <a:endParaRPr lang="en-US" sz="1000" dirty="0"/>
          </a:p>
        </p:txBody>
      </p:sp>
      <p:sp>
        <p:nvSpPr>
          <p:cNvPr id="14" name="Text 11"/>
          <p:cNvSpPr txBox="1"/>
          <p:nvPr/>
        </p:nvSpPr>
        <p:spPr>
          <a:xfrm>
            <a:off x="2459736" y="1883664"/>
            <a:ext cx="3127248" cy="656336"/>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A trace recorder for the governor model and a replayer that drives the proven machine with the recorded events; all 200 tests' traces replay; two broken governors fail with the event named</a:t>
            </a:r>
            <a:endParaRPr lang="en-US" sz="1000" dirty="0"/>
          </a:p>
        </p:txBody>
      </p:sp>
      <p:sp>
        <p:nvSpPr>
          <p:cNvPr id="15" name="Text 12"/>
          <p:cNvSpPr txBox="1"/>
          <p:nvPr/>
        </p:nvSpPr>
        <p:spPr>
          <a:xfrm>
            <a:off x="5751576" y="1883664"/>
            <a:ext cx="3767328" cy="656336"/>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The replayer passed only after it was widened to accept two steps the theorem's machine lacks, a boot step and tickets burned without executing: a gap in the theorem or a liberty in the simulation. Heartbeat events were never recorded</a:t>
            </a:r>
            <a:endParaRPr lang="en-US" sz="1000" dirty="0"/>
          </a:p>
        </p:txBody>
      </p:sp>
      <p:sp>
        <p:nvSpPr>
          <p:cNvPr id="16" name="Text 13"/>
          <p:cNvSpPr txBox="1"/>
          <p:nvPr/>
        </p:nvSpPr>
        <p:spPr>
          <a:xfrm>
            <a:off x="9683496" y="1883664"/>
            <a:ext cx="1877263" cy="656336"/>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Revise. PR #14, waiting for a person</a:t>
            </a:r>
            <a:endParaRPr lang="en-US" sz="1000" dirty="0"/>
          </a:p>
        </p:txBody>
      </p:sp>
      <p:sp>
        <p:nvSpPr>
          <p:cNvPr id="17" name="table row"/>
          <p:cNvSpPr/>
          <p:nvPr/>
        </p:nvSpPr>
        <p:spPr>
          <a:xfrm>
            <a:off x="548640" y="2622296"/>
            <a:ext cx="11094415" cy="820928"/>
          </a:xfrm>
          <a:prstGeom prst="rect">
            <a:avLst/>
          </a:prstGeom>
          <a:solidFill>
            <a:srgbClr val="FFFFFF"/>
          </a:solidFill>
          <a:ln w="9525">
            <a:solidFill>
              <a:srgbClr val="EEF2EF"/>
            </a:solidFill>
            <a:prstDash val="solid"/>
          </a:ln>
        </p:spPr>
      </p:sp>
      <p:sp>
        <p:nvSpPr>
          <p:cNvPr id="18" name="icon circle"/>
          <p:cNvSpPr/>
          <p:nvPr/>
        </p:nvSpPr>
        <p:spPr>
          <a:xfrm>
            <a:off x="630936" y="2704592"/>
            <a:ext cx="384048" cy="384048"/>
          </a:xfrm>
          <a:prstGeom prst="ellipse">
            <a:avLst/>
          </a:prstGeom>
          <a:solidFill>
            <a:schemeClr val="accent1"/>
          </a:solidFill>
          <a:ln w="12700">
            <a:solidFill>
              <a:schemeClr val="accent1"/>
            </a:solidFill>
            <a:prstDash val="solid"/>
          </a:ln>
        </p:spPr>
      </p:sp>
      <p:pic>
        <p:nvPicPr>
          <p:cNvPr id="19" name="FiGitMerge" descr="preencoded.png">    </p:cNvPr>
          <p:cNvPicPr>
            <a:picLocks noChangeAspect="1"/>
          </p:cNvPicPr>
          <p:nvPr/>
        </p:nvPicPr>
        <p:blipFill>
          <a:blip r:embed="rId2"/>
          <a:stretch>
            <a:fillRect/>
          </a:stretch>
        </p:blipFill>
        <p:spPr>
          <a:xfrm>
            <a:off x="726948" y="2800604"/>
            <a:ext cx="192024" cy="192024"/>
          </a:xfrm>
          <a:prstGeom prst="rect">
            <a:avLst/>
          </a:prstGeom>
        </p:spPr>
      </p:pic>
      <p:sp>
        <p:nvSpPr>
          <p:cNvPr id="20" name="Text 16"/>
          <p:cNvSpPr txBox="1"/>
          <p:nvPr/>
        </p:nvSpPr>
        <p:spPr>
          <a:xfrm>
            <a:off x="1133856" y="2704592"/>
            <a:ext cx="1161288" cy="656336"/>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L5  two gates, one policy</a:t>
            </a:r>
            <a:endParaRPr lang="en-US" sz="1000" dirty="0"/>
          </a:p>
        </p:txBody>
      </p:sp>
      <p:sp>
        <p:nvSpPr>
          <p:cNvPr id="21" name="Text 17"/>
          <p:cNvSpPr txBox="1"/>
          <p:nvPr/>
        </p:nvSpPr>
        <p:spPr>
          <a:xfrm>
            <a:off x="2459736" y="2704592"/>
            <a:ext cx="3127248" cy="656336"/>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The reference stack's gate and the governor's fed the same requests; 21 catalogue entries compared, 18 agree, five disagreements pinned as G1 to G5 with their inputs</a:t>
            </a:r>
            <a:endParaRPr lang="en-US" sz="1000" dirty="0"/>
          </a:p>
        </p:txBody>
      </p:sp>
      <p:sp>
        <p:nvSpPr>
          <p:cNvPr id="22" name="Text 18"/>
          <p:cNvSpPr txBox="1"/>
          <p:nvPr/>
        </p:nvSpPr>
        <p:spPr>
          <a:xfrm>
            <a:off x="5751576" y="2704592"/>
            <a:ext cx="3767328" cy="656336"/>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"Ambiguity in the policy" was claimed without reading the policy document; one of the five points at a bug in the governor model; 21 of 87 is not the whole catalogue</a:t>
            </a:r>
            <a:endParaRPr lang="en-US" sz="1000" dirty="0"/>
          </a:p>
        </p:txBody>
      </p:sp>
      <p:sp>
        <p:nvSpPr>
          <p:cNvPr id="23" name="Text 19"/>
          <p:cNvSpPr txBox="1"/>
          <p:nvPr/>
        </p:nvSpPr>
        <p:spPr>
          <a:xfrm>
            <a:off x="9683496" y="2704592"/>
            <a:ext cx="1877263" cy="656336"/>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Revise. PR #15, waiting for a person</a:t>
            </a:r>
            <a:endParaRPr lang="en-US" sz="1000" dirty="0"/>
          </a:p>
        </p:txBody>
      </p:sp>
      <p:sp>
        <p:nvSpPr>
          <p:cNvPr id="24" name="table row"/>
          <p:cNvSpPr/>
          <p:nvPr/>
        </p:nvSpPr>
        <p:spPr>
          <a:xfrm>
            <a:off x="548640" y="3443224"/>
            <a:ext cx="11094415" cy="975868"/>
          </a:xfrm>
          <a:prstGeom prst="rect">
            <a:avLst/>
          </a:prstGeom>
          <a:solidFill>
            <a:srgbClr val="EEF2EF"/>
          </a:solidFill>
          <a:ln w="9525">
            <a:solidFill>
              <a:srgbClr val="EEF2EF"/>
            </a:solidFill>
            <a:prstDash val="solid"/>
          </a:ln>
        </p:spPr>
      </p:sp>
      <p:sp>
        <p:nvSpPr>
          <p:cNvPr id="25" name="icon circle"/>
          <p:cNvSpPr/>
          <p:nvPr/>
        </p:nvSpPr>
        <p:spPr>
          <a:xfrm>
            <a:off x="630936" y="3525520"/>
            <a:ext cx="384048" cy="384048"/>
          </a:xfrm>
          <a:prstGeom prst="ellipse">
            <a:avLst/>
          </a:prstGeom>
          <a:solidFill>
            <a:schemeClr val="accent1"/>
          </a:solidFill>
          <a:ln w="12700">
            <a:solidFill>
              <a:schemeClr val="accent1"/>
            </a:solidFill>
            <a:prstDash val="solid"/>
          </a:ln>
        </p:spPr>
      </p:sp>
      <p:pic>
        <p:nvPicPr>
          <p:cNvPr id="26" name="FiLink" descr="preencoded.png">    </p:cNvPr>
          <p:cNvPicPr>
            <a:picLocks noChangeAspect="1"/>
          </p:cNvPicPr>
          <p:nvPr/>
        </p:nvPicPr>
        <p:blipFill>
          <a:blip r:embed="rId3"/>
          <a:stretch>
            <a:fillRect/>
          </a:stretch>
        </p:blipFill>
        <p:spPr>
          <a:xfrm>
            <a:off x="726948" y="3621532"/>
            <a:ext cx="192024" cy="192024"/>
          </a:xfrm>
          <a:prstGeom prst="rect">
            <a:avLst/>
          </a:prstGeom>
        </p:spPr>
      </p:pic>
      <p:sp>
        <p:nvSpPr>
          <p:cNvPr id="27" name="Text 22"/>
          <p:cNvSpPr txBox="1"/>
          <p:nvPr/>
        </p:nvSpPr>
        <p:spPr>
          <a:xfrm>
            <a:off x="1133856" y="3525520"/>
            <a:ext cx="1161288" cy="811276"/>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H1  the lanes fixtures</a:t>
            </a:r>
            <a:endParaRPr lang="en-US" sz="1000" dirty="0"/>
          </a:p>
        </p:txBody>
      </p:sp>
      <p:sp>
        <p:nvSpPr>
          <p:cNvPr id="28" name="Text 23"/>
          <p:cNvSpPr txBox="1"/>
          <p:nvPr/>
        </p:nvSpPr>
        <p:spPr>
          <a:xfrm>
            <a:off x="2459736" y="3525520"/>
            <a:ext cx="3127248" cy="811276"/>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Signed fixtures for every message the three repositories exchange, and the checker the governor model runs; make lanes passes; the catalogue exported as 87 entries</a:t>
            </a:r>
            <a:endParaRPr lang="en-US" sz="1000" dirty="0"/>
          </a:p>
        </p:txBody>
      </p:sp>
      <p:sp>
        <p:nvSpPr>
          <p:cNvPr id="29" name="Text 24"/>
          <p:cNvSpPr txBox="1"/>
          <p:nvPr/>
        </p:nvSpPr>
        <p:spPr>
          <a:xfrm>
            <a:off x="5751576" y="3525520"/>
            <a:ext cx="3767328" cy="811276"/>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The governor's envelope (16-character signer, hex signature, no public key) does not match the lanes contract (8, base64, embedded key): two repositories that were supposed to agree on the wire format did not. Now a failing test instead of a surprise</a:t>
            </a:r>
            <a:endParaRPr lang="en-US" sz="1000" dirty="0"/>
          </a:p>
        </p:txBody>
      </p:sp>
      <p:sp>
        <p:nvSpPr>
          <p:cNvPr id="30" name="Text 25"/>
          <p:cNvSpPr txBox="1"/>
          <p:nvPr/>
        </p:nvSpPr>
        <p:spPr>
          <a:xfrm>
            <a:off x="9683496" y="3525520"/>
            <a:ext cx="1877263" cy="811276"/>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Revise. PR #17, waiting for a person</a:t>
            </a:r>
            <a:endParaRPr lang="en-US" sz="1000" dirty="0"/>
          </a:p>
        </p:txBody>
      </p:sp>
      <p:sp>
        <p:nvSpPr>
          <p:cNvPr id="31" name="table row"/>
          <p:cNvSpPr/>
          <p:nvPr/>
        </p:nvSpPr>
        <p:spPr>
          <a:xfrm>
            <a:off x="548640" y="4419092"/>
            <a:ext cx="11094415" cy="975868"/>
          </a:xfrm>
          <a:prstGeom prst="rect">
            <a:avLst/>
          </a:prstGeom>
          <a:solidFill>
            <a:srgbClr val="FFFFFF"/>
          </a:solidFill>
          <a:ln w="9525">
            <a:solidFill>
              <a:srgbClr val="EEF2EF"/>
            </a:solidFill>
            <a:prstDash val="solid"/>
          </a:ln>
        </p:spPr>
      </p:sp>
      <p:sp>
        <p:nvSpPr>
          <p:cNvPr id="32" name="icon circle"/>
          <p:cNvSpPr/>
          <p:nvPr/>
        </p:nvSpPr>
        <p:spPr>
          <a:xfrm>
            <a:off x="630936" y="4501388"/>
            <a:ext cx="384048" cy="384048"/>
          </a:xfrm>
          <a:prstGeom prst="ellipse">
            <a:avLst/>
          </a:prstGeom>
          <a:solidFill>
            <a:schemeClr val="accent1"/>
          </a:solidFill>
          <a:ln w="12700">
            <a:solidFill>
              <a:schemeClr val="accent1"/>
            </a:solidFill>
            <a:prstDash val="solid"/>
          </a:ln>
        </p:spPr>
      </p:sp>
      <p:pic>
        <p:nvPicPr>
          <p:cNvPr id="33" name="FiEye" descr="preencoded.png">    </p:cNvPr>
          <p:cNvPicPr>
            <a:picLocks noChangeAspect="1"/>
          </p:cNvPicPr>
          <p:nvPr/>
        </p:nvPicPr>
        <p:blipFill>
          <a:blip r:embed="rId4"/>
          <a:stretch>
            <a:fillRect/>
          </a:stretch>
        </p:blipFill>
        <p:spPr>
          <a:xfrm>
            <a:off x="726948" y="4597400"/>
            <a:ext cx="192024" cy="192024"/>
          </a:xfrm>
          <a:prstGeom prst="rect">
            <a:avLst/>
          </a:prstGeom>
        </p:spPr>
      </p:pic>
      <p:sp>
        <p:nvSpPr>
          <p:cNvPr id="34" name="Text 28"/>
          <p:cNvSpPr txBox="1"/>
          <p:nvPr/>
        </p:nvSpPr>
        <p:spPr>
          <a:xfrm>
            <a:off x="1133856" y="4501388"/>
            <a:ext cx="1161288" cy="811276"/>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YB-0052  the observer's evaluation set</a:t>
            </a:r>
            <a:endParaRPr lang="en-US" sz="1000" dirty="0"/>
          </a:p>
        </p:txBody>
      </p:sp>
      <p:sp>
        <p:nvSpPr>
          <p:cNvPr id="35" name="Text 29"/>
          <p:cNvSpPr txBox="1"/>
          <p:nvPr/>
        </p:nvSpPr>
        <p:spPr>
          <a:xfrm>
            <a:off x="2459736" y="4501388"/>
            <a:ext cx="3127248" cy="811276"/>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134 labelled gate-typed requests in six hazard families, a scorer with bootstrap intervals, a length-only and a keyword baseline, a pre-registration note; 36 tests</a:t>
            </a:r>
            <a:endParaRPr lang="en-US" sz="1000" dirty="0"/>
          </a:p>
        </p:txBody>
      </p:sp>
      <p:sp>
        <p:nvSpPr>
          <p:cNvPr id="36" name="Text 30"/>
          <p:cNvSpPr txBox="1"/>
          <p:nvPr/>
        </p:nvSpPr>
        <p:spPr>
          <a:xfrm>
            <a:off x="5751576" y="4501388"/>
            <a:ext cx="3767328" cy="811276"/>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The ten percent miss budget was the agent's, not the rulebook's; the keyword baseline overlaps the observer's vocabulary; no weighting sweep, so the disproof condition cannot be evaluated; the overt rows named real hazards, which this program forbids</a:t>
            </a:r>
            <a:endParaRPr lang="en-US" sz="1000" dirty="0"/>
          </a:p>
        </p:txBody>
      </p:sp>
      <p:sp>
        <p:nvSpPr>
          <p:cNvPr id="37" name="Text 31"/>
          <p:cNvSpPr txBox="1"/>
          <p:nvPr/>
        </p:nvSpPr>
        <p:spPr>
          <a:xfrm>
            <a:off x="9683496" y="4501388"/>
            <a:ext cx="1877263" cy="811276"/>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Revise. In revision on the Mac's local model</a:t>
            </a:r>
            <a:endParaRPr lang="en-US" sz="1000" dirty="0"/>
          </a:p>
        </p:txBody>
      </p:sp>
      <p:sp>
        <p:nvSpPr>
          <p:cNvPr id="38" name="analogy"/>
          <p:cNvSpPr/>
          <p:nvPr/>
        </p:nvSpPr>
        <p:spPr>
          <a:xfrm>
            <a:off x="548640" y="5532120"/>
            <a:ext cx="11094415" cy="731520"/>
          </a:xfrm>
          <a:prstGeom prst="roundRect">
            <a:avLst>
              <a:gd name="adj" fmla="val 10000"/>
            </a:avLst>
          </a:prstGeom>
          <a:solidFill>
            <a:schemeClr val="tx1"/>
          </a:solidFill>
          <a:ln w="12700">
            <a:solidFill>
              <a:schemeClr val="tx1"/>
            </a:solidFill>
            <a:prstDash val="solid"/>
          </a:ln>
        </p:spPr>
      </p:sp>
      <p:sp>
        <p:nvSpPr>
          <p:cNvPr id="39" name="Text 33"/>
          <p:cNvSpPr txBox="1"/>
          <p:nvPr/>
        </p:nvSpPr>
        <p:spPr>
          <a:xfrm>
            <a:off x="822960" y="5532120"/>
            <a:ext cx="1554480" cy="73152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Part 5; docs 21; audit/wave-1/REPORT.md</a:t>
            </a:r>
            <a:endParaRPr lang="en-US" sz="1000" dirty="0"/>
          </a:p>
        </p:txBody>
      </p:sp>
      <p:sp>
        <p:nvSpPr>
          <p:cNvPr id="40" name="Text 34"/>
          <p:cNvSpPr txBox="1"/>
          <p:nvPr/>
        </p:nvSpPr>
        <p:spPr>
          <a:xfrm>
            <a:off x="2514600" y="5532120"/>
            <a:ext cx="8854135" cy="73152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The wave cost a few bucks and a quarter of an hour, and the gate, the backups and the second reader run on a Mac mini on my desk, with the local model taking the revisions. Nothing merges until a person says so.</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2600" b="1" dirty="0">
                <a:solidFill>
                  <a:schemeClr val="tx1"/>
                </a:solidFill>
                <a:latin typeface="Georgia" pitchFamily="34" charset="0"/>
                <a:ea typeface="Georgia" pitchFamily="34" charset="-122"/>
                <a:cs typeface="Georgia" pitchFamily="34" charset="-120"/>
              </a:rPr>
              <a:t>The road to a chip we cannot fab: five stages</a:t>
            </a:r>
            <a:endParaRPr lang="en-US" sz="26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28</a:t>
            </a:r>
            <a:endParaRPr lang="en-US" sz="1100" dirty="0"/>
          </a:p>
        </p:txBody>
      </p:sp>
      <p:sp>
        <p:nvSpPr>
          <p:cNvPr id="5" name="card"/>
          <p:cNvSpPr/>
          <p:nvPr/>
        </p:nvSpPr>
        <p:spPr>
          <a:xfrm>
            <a:off x="548640" y="1417320"/>
            <a:ext cx="2057949" cy="3794760"/>
          </a:xfrm>
          <a:prstGeom prst="roundRect">
            <a:avLst>
              <a:gd name="adj" fmla="val 3555"/>
            </a:avLst>
          </a:prstGeom>
          <a:solidFill>
            <a:schemeClr val="bg2"/>
          </a:solidFill>
          <a:ln w="12700">
            <a:solidFill>
              <a:schemeClr val="bg2"/>
            </a:solidFill>
            <a:prstDash val="solid"/>
          </a:ln>
        </p:spPr>
      </p:sp>
      <p:sp>
        <p:nvSpPr>
          <p:cNvPr id="6" name="stage colour"/>
          <p:cNvSpPr/>
          <p:nvPr/>
        </p:nvSpPr>
        <p:spPr>
          <a:xfrm>
            <a:off x="548640" y="1417320"/>
            <a:ext cx="2057949" cy="82296"/>
          </a:xfrm>
          <a:prstGeom prst="rect">
            <a:avLst/>
          </a:prstGeom>
          <a:solidFill>
            <a:schemeClr val="accent1"/>
          </a:solidFill>
          <a:ln w="12700">
            <a:solidFill>
              <a:schemeClr val="accent1"/>
            </a:solidFill>
            <a:prstDash val="solid"/>
          </a:ln>
        </p:spPr>
      </p:sp>
      <p:sp>
        <p:nvSpPr>
          <p:cNvPr id="7" name="Text 5"/>
          <p:cNvSpPr txBox="1"/>
          <p:nvPr/>
        </p:nvSpPr>
        <p:spPr>
          <a:xfrm>
            <a:off x="731520" y="1581912"/>
            <a:ext cx="457200" cy="457200"/>
          </a:xfrm>
          <a:prstGeom prst="rect">
            <a:avLst/>
          </a:prstGeom>
          <a:noFill/>
          <a:ln/>
        </p:spPr>
        <p:txBody>
          <a:bodyPr wrap="square" lIns="0" tIns="0" rIns="0" bIns="0" rtlCol="0" anchor="t">
            <a:normAutofit/>
          </a:bodyPr>
          <a:lstStyle/>
          <a:p>
            <a:pPr indent="0" marL="0">
              <a:buNone/>
            </a:pPr>
            <a:r>
              <a:rPr lang="en-US" sz="2600" b="1" dirty="0">
                <a:solidFill>
                  <a:schemeClr val="accent1"/>
                </a:solidFill>
                <a:latin typeface="Georgia" pitchFamily="34" charset="0"/>
                <a:ea typeface="Georgia" pitchFamily="34" charset="-122"/>
                <a:cs typeface="Georgia" pitchFamily="34" charset="-120"/>
              </a:rPr>
              <a:t>1</a:t>
            </a:r>
            <a:endParaRPr lang="en-US" sz="2600" dirty="0"/>
          </a:p>
        </p:txBody>
      </p:sp>
      <p:sp>
        <p:nvSpPr>
          <p:cNvPr id="8" name="Text 6"/>
          <p:cNvSpPr txBox="1"/>
          <p:nvPr/>
        </p:nvSpPr>
        <p:spPr>
          <a:xfrm>
            <a:off x="1188720" y="1600200"/>
            <a:ext cx="1280709" cy="548640"/>
          </a:xfrm>
          <a:prstGeom prst="rect">
            <a:avLst/>
          </a:prstGeom>
          <a:noFill/>
          <a:ln/>
        </p:spPr>
        <p:txBody>
          <a:bodyPr wrap="square" lIns="0" tIns="0" rIns="0" bIns="0" rtlCol="0" anchor="ctr">
            <a:normAutofit/>
          </a:bodyPr>
          <a:lstStyle/>
          <a:p>
            <a:pPr indent="0" marL="0">
              <a:buNone/>
            </a:pPr>
            <a:r>
              <a:rPr lang="en-US" sz="1150" b="1" dirty="0">
                <a:solidFill>
                  <a:schemeClr val="tx1"/>
                </a:solidFill>
                <a:latin typeface="Arial" pitchFamily="34" charset="0"/>
                <a:ea typeface="Arial" pitchFamily="34" charset="-122"/>
                <a:cs typeface="Arial" pitchFamily="34" charset="-120"/>
              </a:rPr>
              <a:t>Prove or disprove, in software</a:t>
            </a:r>
            <a:endParaRPr lang="en-US" sz="1150" dirty="0"/>
          </a:p>
        </p:txBody>
      </p:sp>
      <p:sp>
        <p:nvSpPr>
          <p:cNvPr id="9" name="Text 7"/>
          <p:cNvSpPr txBox="1"/>
          <p:nvPr/>
        </p:nvSpPr>
        <p:spPr>
          <a:xfrm>
            <a:off x="731520" y="2240280"/>
            <a:ext cx="1692189" cy="201168"/>
          </a:xfrm>
          <a:prstGeom prst="rect">
            <a:avLst/>
          </a:prstGeom>
          <a:noFill/>
          <a:ln/>
        </p:spPr>
        <p:txBody>
          <a:bodyPr wrap="square" lIns="0" tIns="0" rIns="0" bIns="0" rtlCol="0" anchor="t">
            <a:normAutofit/>
          </a:bodyPr>
          <a:lstStyle/>
          <a:p>
            <a:pPr indent="0" marL="0">
              <a:buNone/>
            </a:pPr>
            <a:r>
              <a:rPr lang="en-US" sz="800" b="1" dirty="0">
                <a:solidFill>
                  <a:schemeClr val="accent1"/>
                </a:solidFill>
                <a:latin typeface="Arial" pitchFamily="34" charset="0"/>
                <a:ea typeface="Arial" pitchFamily="34" charset="-122"/>
                <a:cs typeface="Arial" pitchFamily="34" charset="-120"/>
              </a:rPr>
              <a:t>DONE MEANS</a:t>
            </a:r>
            <a:endParaRPr lang="en-US" sz="800" dirty="0"/>
          </a:p>
        </p:txBody>
      </p:sp>
      <p:sp>
        <p:nvSpPr>
          <p:cNvPr id="10" name="Text 8"/>
          <p:cNvSpPr txBox="1"/>
          <p:nvPr/>
        </p:nvSpPr>
        <p:spPr>
          <a:xfrm>
            <a:off x="731520" y="2441448"/>
            <a:ext cx="1692189" cy="1874520"/>
          </a:xfrm>
          <a:prstGeom prst="rect">
            <a:avLst/>
          </a:prstGeom>
          <a:noFill/>
          <a:ln/>
        </p:spPr>
        <p:txBody>
          <a:bodyPr wrap="square" lIns="0" tIns="0" rIns="0" bIns="0" rtlCol="0" anchor="t">
            <a:normAutofit/>
          </a:bodyPr>
          <a:lstStyle/>
          <a:p>
            <a:pPr indent="0" marL="0">
              <a:buNone/>
            </a:pPr>
            <a:r>
              <a:rPr lang="en-US" sz="900" dirty="0">
                <a:solidFill>
                  <a:schemeClr val="tx1"/>
                </a:solidFill>
                <a:latin typeface="Arial" pitchFamily="34" charset="0"/>
                <a:ea typeface="Arial" pitchFamily="34" charset="-122"/>
                <a:cs typeface="Arial" pitchFamily="34" charset="-120"/>
              </a:rPr>
              <a:t>Every invariant proven (L1 to L3); the simulation conforming to the proven machine (L4); two gates reading one rulebook the same way (L5); no check-removing mutant alive (L6); every physical path accounted for (P2); a witness quorum under the hazard budget; overhead under one percent (N1); a third independent audit</a:t>
            </a:r>
            <a:endParaRPr lang="en-US" sz="900" dirty="0"/>
          </a:p>
        </p:txBody>
      </p:sp>
      <p:sp>
        <p:nvSpPr>
          <p:cNvPr id="11" name="Text 9"/>
          <p:cNvSpPr txBox="1"/>
          <p:nvPr/>
        </p:nvSpPr>
        <p:spPr>
          <a:xfrm>
            <a:off x="731520" y="4343400"/>
            <a:ext cx="1692189" cy="201168"/>
          </a:xfrm>
          <a:prstGeom prst="rect">
            <a:avLst/>
          </a:prstGeom>
          <a:noFill/>
          <a:ln/>
        </p:spPr>
        <p:txBody>
          <a:bodyPr wrap="square" lIns="0" tIns="0" rIns="0" bIns="0" rtlCol="0" anchor="t">
            <a:normAutofit/>
          </a:bodyPr>
          <a:lstStyle/>
          <a:p>
            <a:pPr indent="0" marL="0">
              <a:buNone/>
            </a:pPr>
            <a:r>
              <a:rPr lang="en-US" sz="800" b="1" dirty="0">
                <a:solidFill>
                  <a:schemeClr val="accent1"/>
                </a:solidFill>
                <a:latin typeface="Arial" pitchFamily="34" charset="0"/>
                <a:ea typeface="Arial" pitchFamily="34" charset="-122"/>
                <a:cs typeface="Arial" pitchFamily="34" charset="-120"/>
              </a:rPr>
              <a:t>WHERE IT STANDS</a:t>
            </a:r>
            <a:endParaRPr lang="en-US" sz="800" dirty="0"/>
          </a:p>
        </p:txBody>
      </p:sp>
      <p:sp>
        <p:nvSpPr>
          <p:cNvPr id="12" name="Text 10"/>
          <p:cNvSpPr txBox="1"/>
          <p:nvPr/>
        </p:nvSpPr>
        <p:spPr>
          <a:xfrm>
            <a:off x="731520" y="4544568"/>
            <a:ext cx="1692189" cy="640080"/>
          </a:xfrm>
          <a:prstGeom prst="rect">
            <a:avLst/>
          </a:prstGeom>
          <a:noFill/>
          <a:ln/>
        </p:spPr>
        <p:txBody>
          <a:bodyPr wrap="square" lIns="0" tIns="0" rIns="0" bIns="0" rtlCol="0" anchor="t">
            <a:normAutofit/>
          </a:bodyPr>
          <a:lstStyle/>
          <a:p>
            <a:pPr indent="0" marL="0">
              <a:buNone/>
            </a:pPr>
            <a:r>
              <a:rPr lang="en-US" sz="900" b="1" dirty="0">
                <a:solidFill>
                  <a:schemeClr val="tx2"/>
                </a:solidFill>
                <a:latin typeface="Arial" pitchFamily="34" charset="0"/>
                <a:ea typeface="Arial" pitchFamily="34" charset="-122"/>
                <a:cs typeface="Arial" pitchFamily="34" charset="-120"/>
              </a:rPr>
              <a:t>Now. Proofs hold; wave 1 ran; nothing merged yet</a:t>
            </a:r>
            <a:endParaRPr lang="en-US" sz="900" dirty="0"/>
          </a:p>
        </p:txBody>
      </p:sp>
      <p:sp>
        <p:nvSpPr>
          <p:cNvPr id="13" name="card"/>
          <p:cNvSpPr/>
          <p:nvPr/>
        </p:nvSpPr>
        <p:spPr>
          <a:xfrm>
            <a:off x="2807757" y="1417320"/>
            <a:ext cx="2057949" cy="3794760"/>
          </a:xfrm>
          <a:prstGeom prst="roundRect">
            <a:avLst>
              <a:gd name="adj" fmla="val 3555"/>
            </a:avLst>
          </a:prstGeom>
          <a:solidFill>
            <a:schemeClr val="bg2"/>
          </a:solidFill>
          <a:ln w="12700">
            <a:solidFill>
              <a:schemeClr val="bg2"/>
            </a:solidFill>
            <a:prstDash val="solid"/>
          </a:ln>
        </p:spPr>
      </p:sp>
      <p:sp>
        <p:nvSpPr>
          <p:cNvPr id="14" name="stage colour"/>
          <p:cNvSpPr/>
          <p:nvPr/>
        </p:nvSpPr>
        <p:spPr>
          <a:xfrm>
            <a:off x="2807757" y="1417320"/>
            <a:ext cx="2057949" cy="82296"/>
          </a:xfrm>
          <a:prstGeom prst="rect">
            <a:avLst/>
          </a:prstGeom>
          <a:solidFill>
            <a:schemeClr val="tx2"/>
          </a:solidFill>
          <a:ln w="12700">
            <a:solidFill>
              <a:schemeClr val="tx2"/>
            </a:solidFill>
            <a:prstDash val="solid"/>
          </a:ln>
        </p:spPr>
      </p:sp>
      <p:sp>
        <p:nvSpPr>
          <p:cNvPr id="15" name="Text 13"/>
          <p:cNvSpPr txBox="1"/>
          <p:nvPr/>
        </p:nvSpPr>
        <p:spPr>
          <a:xfrm>
            <a:off x="2990637" y="1581912"/>
            <a:ext cx="457200" cy="457200"/>
          </a:xfrm>
          <a:prstGeom prst="rect">
            <a:avLst/>
          </a:prstGeom>
          <a:noFill/>
          <a:ln/>
        </p:spPr>
        <p:txBody>
          <a:bodyPr wrap="square" lIns="0" tIns="0" rIns="0" bIns="0" rtlCol="0" anchor="t">
            <a:normAutofit/>
          </a:bodyPr>
          <a:lstStyle/>
          <a:p>
            <a:pPr indent="0" marL="0">
              <a:buNone/>
            </a:pPr>
            <a:r>
              <a:rPr lang="en-US" sz="2600" b="1" dirty="0">
                <a:solidFill>
                  <a:schemeClr val="tx2"/>
                </a:solidFill>
                <a:latin typeface="Georgia" pitchFamily="34" charset="0"/>
                <a:ea typeface="Georgia" pitchFamily="34" charset="-122"/>
                <a:cs typeface="Georgia" pitchFamily="34" charset="-120"/>
              </a:rPr>
              <a:t>2</a:t>
            </a:r>
            <a:endParaRPr lang="en-US" sz="2600" dirty="0"/>
          </a:p>
        </p:txBody>
      </p:sp>
      <p:sp>
        <p:nvSpPr>
          <p:cNvPr id="16" name="Text 14"/>
          <p:cNvSpPr txBox="1"/>
          <p:nvPr/>
        </p:nvSpPr>
        <p:spPr>
          <a:xfrm>
            <a:off x="3447837" y="1600200"/>
            <a:ext cx="1280709" cy="548640"/>
          </a:xfrm>
          <a:prstGeom prst="rect">
            <a:avLst/>
          </a:prstGeom>
          <a:noFill/>
          <a:ln/>
        </p:spPr>
        <p:txBody>
          <a:bodyPr wrap="square" lIns="0" tIns="0" rIns="0" bIns="0" rtlCol="0" anchor="ctr">
            <a:normAutofit/>
          </a:bodyPr>
          <a:lstStyle/>
          <a:p>
            <a:pPr indent="0" marL="0">
              <a:buNone/>
            </a:pPr>
            <a:r>
              <a:rPr lang="en-US" sz="1150" b="1" dirty="0">
                <a:solidFill>
                  <a:schemeClr val="tx1"/>
                </a:solidFill>
                <a:latin typeface="Arial" pitchFamily="34" charset="0"/>
                <a:ea typeface="Arial" pitchFamily="34" charset="-122"/>
                <a:cs typeface="Arial" pitchFamily="34" charset="-120"/>
              </a:rPr>
              <a:t>Design the chip to fit NVIDIA's boards</a:t>
            </a:r>
            <a:endParaRPr lang="en-US" sz="1150" dirty="0"/>
          </a:p>
        </p:txBody>
      </p:sp>
      <p:sp>
        <p:nvSpPr>
          <p:cNvPr id="17" name="Text 15"/>
          <p:cNvSpPr txBox="1"/>
          <p:nvPr/>
        </p:nvSpPr>
        <p:spPr>
          <a:xfrm>
            <a:off x="2990637" y="2240280"/>
            <a:ext cx="1692189" cy="201168"/>
          </a:xfrm>
          <a:prstGeom prst="rect">
            <a:avLst/>
          </a:prstGeom>
          <a:noFill/>
          <a:ln/>
        </p:spPr>
        <p:txBody>
          <a:bodyPr wrap="square" lIns="0" tIns="0" rIns="0" bIns="0" rtlCol="0" anchor="t">
            <a:normAutofit/>
          </a:bodyPr>
          <a:lstStyle/>
          <a:p>
            <a:pPr indent="0" marL="0">
              <a:buNone/>
            </a:pPr>
            <a:r>
              <a:rPr lang="en-US" sz="800" b="1" dirty="0">
                <a:solidFill>
                  <a:schemeClr val="accent1"/>
                </a:solidFill>
                <a:latin typeface="Arial" pitchFamily="34" charset="0"/>
                <a:ea typeface="Arial" pitchFamily="34" charset="-122"/>
                <a:cs typeface="Arial" pitchFamily="34" charset="-120"/>
              </a:rPr>
              <a:t>DONE MEANS</a:t>
            </a:r>
            <a:endParaRPr lang="en-US" sz="800" dirty="0"/>
          </a:p>
        </p:txBody>
      </p:sp>
      <p:sp>
        <p:nvSpPr>
          <p:cNvPr id="18" name="Text 16"/>
          <p:cNvSpPr txBox="1"/>
          <p:nvPr/>
        </p:nvSpPr>
        <p:spPr>
          <a:xfrm>
            <a:off x="2990637" y="2441448"/>
            <a:ext cx="1692189" cy="1874520"/>
          </a:xfrm>
          <a:prstGeom prst="rect">
            <a:avLst/>
          </a:prstGeom>
          <a:noFill/>
          <a:ln/>
        </p:spPr>
        <p:txBody>
          <a:bodyPr wrap="square" lIns="0" tIns="0" rIns="0" bIns="0" rtlCol="0" anchor="t">
            <a:normAutofit/>
          </a:bodyPr>
          <a:lstStyle/>
          <a:p>
            <a:pPr indent="0" marL="0">
              <a:buNone/>
            </a:pPr>
            <a:r>
              <a:rPr lang="en-US" sz="900" dirty="0">
                <a:solidFill>
                  <a:schemeClr val="tx1"/>
                </a:solidFill>
                <a:latin typeface="Arial" pitchFamily="34" charset="0"/>
                <a:ea typeface="Arial" pitchFamily="34" charset="-122"/>
                <a:cs typeface="Arial" pitchFamily="34" charset="-120"/>
              </a:rPr>
              <a:t>Register map, mailbox, policy image, request and ticket formats frozen; every block in RTL with its invariants; the module's interface to a DC-SCM 2.x host board and to the baseboard connector, pin by pin; P2 with no unaccounted row that is not marked NDA</a:t>
            </a:r>
            <a:endParaRPr lang="en-US" sz="900" dirty="0"/>
          </a:p>
        </p:txBody>
      </p:sp>
      <p:sp>
        <p:nvSpPr>
          <p:cNvPr id="19" name="Text 17"/>
          <p:cNvSpPr txBox="1"/>
          <p:nvPr/>
        </p:nvSpPr>
        <p:spPr>
          <a:xfrm>
            <a:off x="2990637" y="4343400"/>
            <a:ext cx="1692189" cy="201168"/>
          </a:xfrm>
          <a:prstGeom prst="rect">
            <a:avLst/>
          </a:prstGeom>
          <a:noFill/>
          <a:ln/>
        </p:spPr>
        <p:txBody>
          <a:bodyPr wrap="square" lIns="0" tIns="0" rIns="0" bIns="0" rtlCol="0" anchor="t">
            <a:normAutofit/>
          </a:bodyPr>
          <a:lstStyle/>
          <a:p>
            <a:pPr indent="0" marL="0">
              <a:buNone/>
            </a:pPr>
            <a:r>
              <a:rPr lang="en-US" sz="800" b="1" dirty="0">
                <a:solidFill>
                  <a:schemeClr val="accent1"/>
                </a:solidFill>
                <a:latin typeface="Arial" pitchFamily="34" charset="0"/>
                <a:ea typeface="Arial" pitchFamily="34" charset="-122"/>
                <a:cs typeface="Arial" pitchFamily="34" charset="-120"/>
              </a:rPr>
              <a:t>WHERE IT STANDS</a:t>
            </a:r>
            <a:endParaRPr lang="en-US" sz="800" dirty="0"/>
          </a:p>
        </p:txBody>
      </p:sp>
      <p:sp>
        <p:nvSpPr>
          <p:cNvPr id="20" name="Text 18"/>
          <p:cNvSpPr txBox="1"/>
          <p:nvPr/>
        </p:nvSpPr>
        <p:spPr>
          <a:xfrm>
            <a:off x="2990637" y="4544568"/>
            <a:ext cx="1692189" cy="640080"/>
          </a:xfrm>
          <a:prstGeom prst="rect">
            <a:avLst/>
          </a:prstGeom>
          <a:noFill/>
          <a:ln/>
        </p:spPr>
        <p:txBody>
          <a:bodyPr wrap="square" lIns="0" tIns="0" rIns="0" bIns="0" rtlCol="0" anchor="t">
            <a:normAutofit/>
          </a:bodyPr>
          <a:lstStyle/>
          <a:p>
            <a:pPr indent="0" marL="0">
              <a:buNone/>
            </a:pPr>
            <a:r>
              <a:rPr lang="en-US" sz="900" b="1" dirty="0">
                <a:solidFill>
                  <a:schemeClr val="tx2"/>
                </a:solidFill>
                <a:latin typeface="Arial" pitchFamily="34" charset="0"/>
                <a:ea typeface="Arial" pitchFamily="34" charset="-122"/>
                <a:cs typeface="Arial" pitchFamily="34" charset="-120"/>
              </a:rPr>
              <a:t>Hard-core blocks in Amaranth with 20 tests and generated Verilog; pinout and rack reference exist</a:t>
            </a:r>
            <a:endParaRPr lang="en-US" sz="900" dirty="0"/>
          </a:p>
        </p:txBody>
      </p:sp>
      <p:sp>
        <p:nvSpPr>
          <p:cNvPr id="21" name="card"/>
          <p:cNvSpPr/>
          <p:nvPr/>
        </p:nvSpPr>
        <p:spPr>
          <a:xfrm>
            <a:off x="5066873" y="1417320"/>
            <a:ext cx="2057949" cy="3794760"/>
          </a:xfrm>
          <a:prstGeom prst="roundRect">
            <a:avLst>
              <a:gd name="adj" fmla="val 3555"/>
            </a:avLst>
          </a:prstGeom>
          <a:solidFill>
            <a:schemeClr val="bg2"/>
          </a:solidFill>
          <a:ln w="12700">
            <a:solidFill>
              <a:schemeClr val="bg2"/>
            </a:solidFill>
            <a:prstDash val="solid"/>
          </a:ln>
        </p:spPr>
      </p:sp>
      <p:sp>
        <p:nvSpPr>
          <p:cNvPr id="22" name="stage colour"/>
          <p:cNvSpPr/>
          <p:nvPr/>
        </p:nvSpPr>
        <p:spPr>
          <a:xfrm>
            <a:off x="5066873" y="1417320"/>
            <a:ext cx="2057949" cy="82296"/>
          </a:xfrm>
          <a:prstGeom prst="rect">
            <a:avLst/>
          </a:prstGeom>
          <a:solidFill>
            <a:schemeClr val="accent3"/>
          </a:solidFill>
          <a:ln w="12700">
            <a:solidFill>
              <a:schemeClr val="accent3"/>
            </a:solidFill>
            <a:prstDash val="solid"/>
          </a:ln>
        </p:spPr>
      </p:sp>
      <p:sp>
        <p:nvSpPr>
          <p:cNvPr id="23" name="Text 21"/>
          <p:cNvSpPr txBox="1"/>
          <p:nvPr/>
        </p:nvSpPr>
        <p:spPr>
          <a:xfrm>
            <a:off x="5249753" y="1581912"/>
            <a:ext cx="457200" cy="457200"/>
          </a:xfrm>
          <a:prstGeom prst="rect">
            <a:avLst/>
          </a:prstGeom>
          <a:noFill/>
          <a:ln/>
        </p:spPr>
        <p:txBody>
          <a:bodyPr wrap="square" lIns="0" tIns="0" rIns="0" bIns="0" rtlCol="0" anchor="t">
            <a:normAutofit/>
          </a:bodyPr>
          <a:lstStyle/>
          <a:p>
            <a:pPr indent="0" marL="0">
              <a:buNone/>
            </a:pPr>
            <a:r>
              <a:rPr lang="en-US" sz="2600" b="1" dirty="0">
                <a:solidFill>
                  <a:schemeClr val="accent3"/>
                </a:solidFill>
                <a:latin typeface="Georgia" pitchFamily="34" charset="0"/>
                <a:ea typeface="Georgia" pitchFamily="34" charset="-122"/>
                <a:cs typeface="Georgia" pitchFamily="34" charset="-120"/>
              </a:rPr>
              <a:t>3</a:t>
            </a:r>
            <a:endParaRPr lang="en-US" sz="2600" dirty="0"/>
          </a:p>
        </p:txBody>
      </p:sp>
      <p:sp>
        <p:nvSpPr>
          <p:cNvPr id="24" name="Text 22"/>
          <p:cNvSpPr txBox="1"/>
          <p:nvPr/>
        </p:nvSpPr>
        <p:spPr>
          <a:xfrm>
            <a:off x="5706953" y="1600200"/>
            <a:ext cx="1280709" cy="548640"/>
          </a:xfrm>
          <a:prstGeom prst="rect">
            <a:avLst/>
          </a:prstGeom>
          <a:noFill/>
          <a:ln/>
        </p:spPr>
        <p:txBody>
          <a:bodyPr wrap="square" lIns="0" tIns="0" rIns="0" bIns="0" rtlCol="0" anchor="ctr">
            <a:normAutofit/>
          </a:bodyPr>
          <a:lstStyle/>
          <a:p>
            <a:pPr indent="0" marL="0">
              <a:buNone/>
            </a:pPr>
            <a:r>
              <a:rPr lang="en-US" sz="1150" b="1" dirty="0">
                <a:solidFill>
                  <a:schemeClr val="tx1"/>
                </a:solidFill>
                <a:latin typeface="Arial" pitchFamily="34" charset="0"/>
                <a:ea typeface="Arial" pitchFamily="34" charset="-122"/>
                <a:cs typeface="Arial" pitchFamily="34" charset="-120"/>
              </a:rPr>
              <a:t>Run the tests and the proofs on the chip</a:t>
            </a:r>
            <a:endParaRPr lang="en-US" sz="1150" dirty="0"/>
          </a:p>
        </p:txBody>
      </p:sp>
      <p:sp>
        <p:nvSpPr>
          <p:cNvPr id="25" name="Text 23"/>
          <p:cNvSpPr txBox="1"/>
          <p:nvPr/>
        </p:nvSpPr>
        <p:spPr>
          <a:xfrm>
            <a:off x="5249753" y="2240280"/>
            <a:ext cx="1692189" cy="201168"/>
          </a:xfrm>
          <a:prstGeom prst="rect">
            <a:avLst/>
          </a:prstGeom>
          <a:noFill/>
          <a:ln/>
        </p:spPr>
        <p:txBody>
          <a:bodyPr wrap="square" lIns="0" tIns="0" rIns="0" bIns="0" rtlCol="0" anchor="t">
            <a:normAutofit/>
          </a:bodyPr>
          <a:lstStyle/>
          <a:p>
            <a:pPr indent="0" marL="0">
              <a:buNone/>
            </a:pPr>
            <a:r>
              <a:rPr lang="en-US" sz="800" b="1" dirty="0">
                <a:solidFill>
                  <a:schemeClr val="accent1"/>
                </a:solidFill>
                <a:latin typeface="Arial" pitchFamily="34" charset="0"/>
                <a:ea typeface="Arial" pitchFamily="34" charset="-122"/>
                <a:cs typeface="Arial" pitchFamily="34" charset="-120"/>
              </a:rPr>
              <a:t>DONE MEANS</a:t>
            </a:r>
            <a:endParaRPr lang="en-US" sz="800" dirty="0"/>
          </a:p>
        </p:txBody>
      </p:sp>
      <p:sp>
        <p:nvSpPr>
          <p:cNvPr id="26" name="Text 24"/>
          <p:cNvSpPr txBox="1"/>
          <p:nvPr/>
        </p:nvSpPr>
        <p:spPr>
          <a:xfrm>
            <a:off x="5249753" y="2441448"/>
            <a:ext cx="1692189" cy="1874520"/>
          </a:xfrm>
          <a:prstGeom prst="rect">
            <a:avLst/>
          </a:prstGeom>
          <a:noFill/>
          <a:ln/>
        </p:spPr>
        <p:txBody>
          <a:bodyPr wrap="square" lIns="0" tIns="0" rIns="0" bIns="0" rtlCol="0" anchor="t">
            <a:normAutofit/>
          </a:bodyPr>
          <a:lstStyle/>
          <a:p>
            <a:pPr indent="0" marL="0">
              <a:buNone/>
            </a:pPr>
            <a:r>
              <a:rPr lang="en-US" sz="900" dirty="0">
                <a:solidFill>
                  <a:schemeClr val="tx1"/>
                </a:solidFill>
                <a:latin typeface="Arial" pitchFamily="34" charset="0"/>
                <a:ea typeface="Arial" pitchFamily="34" charset="-122"/>
                <a:cs typeface="Arial" pitchFamily="34" charset="-120"/>
              </a:rPr>
              <a:t>The invariants proven again on the RTL with a model checker; the netlist shown equivalent; the whole catalogue driven into the full-chip RTL with the same reason codes; gate-level simulation with timing; the halt loop measured on a bench loop</a:t>
            </a:r>
            <a:endParaRPr lang="en-US" sz="900" dirty="0"/>
          </a:p>
        </p:txBody>
      </p:sp>
      <p:sp>
        <p:nvSpPr>
          <p:cNvPr id="27" name="Text 25"/>
          <p:cNvSpPr txBox="1"/>
          <p:nvPr/>
        </p:nvSpPr>
        <p:spPr>
          <a:xfrm>
            <a:off x="5249753" y="4343400"/>
            <a:ext cx="1692189" cy="201168"/>
          </a:xfrm>
          <a:prstGeom prst="rect">
            <a:avLst/>
          </a:prstGeom>
          <a:noFill/>
          <a:ln/>
        </p:spPr>
        <p:txBody>
          <a:bodyPr wrap="square" lIns="0" tIns="0" rIns="0" bIns="0" rtlCol="0" anchor="t">
            <a:normAutofit/>
          </a:bodyPr>
          <a:lstStyle/>
          <a:p>
            <a:pPr indent="0" marL="0">
              <a:buNone/>
            </a:pPr>
            <a:r>
              <a:rPr lang="en-US" sz="800" b="1" dirty="0">
                <a:solidFill>
                  <a:schemeClr val="accent1"/>
                </a:solidFill>
                <a:latin typeface="Arial" pitchFamily="34" charset="0"/>
                <a:ea typeface="Arial" pitchFamily="34" charset="-122"/>
                <a:cs typeface="Arial" pitchFamily="34" charset="-120"/>
              </a:rPr>
              <a:t>WHERE IT STANDS</a:t>
            </a:r>
            <a:endParaRPr lang="en-US" sz="800" dirty="0"/>
          </a:p>
        </p:txBody>
      </p:sp>
      <p:sp>
        <p:nvSpPr>
          <p:cNvPr id="28" name="Text 26"/>
          <p:cNvSpPr txBox="1"/>
          <p:nvPr/>
        </p:nvSpPr>
        <p:spPr>
          <a:xfrm>
            <a:off x="5249753" y="4544568"/>
            <a:ext cx="1692189" cy="640080"/>
          </a:xfrm>
          <a:prstGeom prst="rect">
            <a:avLst/>
          </a:prstGeom>
          <a:noFill/>
          <a:ln/>
        </p:spPr>
        <p:txBody>
          <a:bodyPr wrap="square" lIns="0" tIns="0" rIns="0" bIns="0" rtlCol="0" anchor="t">
            <a:normAutofit/>
          </a:bodyPr>
          <a:lstStyle/>
          <a:p>
            <a:pPr indent="0" marL="0">
              <a:buNone/>
            </a:pPr>
            <a:r>
              <a:rPr lang="en-US" sz="900" b="1" dirty="0">
                <a:solidFill>
                  <a:schemeClr val="tx2"/>
                </a:solidFill>
                <a:latin typeface="Arial" pitchFamily="34" charset="0"/>
                <a:ea typeface="Arial" pitchFamily="34" charset="-122"/>
                <a:cs typeface="Arial" pitchFamily="34" charset="-120"/>
              </a:rPr>
              <a:t>After stage 2</a:t>
            </a:r>
            <a:endParaRPr lang="en-US" sz="900" dirty="0"/>
          </a:p>
        </p:txBody>
      </p:sp>
      <p:sp>
        <p:nvSpPr>
          <p:cNvPr id="29" name="card"/>
          <p:cNvSpPr/>
          <p:nvPr/>
        </p:nvSpPr>
        <p:spPr>
          <a:xfrm>
            <a:off x="7325990" y="1417320"/>
            <a:ext cx="2057949" cy="3794760"/>
          </a:xfrm>
          <a:prstGeom prst="roundRect">
            <a:avLst>
              <a:gd name="adj" fmla="val 3555"/>
            </a:avLst>
          </a:prstGeom>
          <a:solidFill>
            <a:schemeClr val="bg2"/>
          </a:solidFill>
          <a:ln w="12700">
            <a:solidFill>
              <a:schemeClr val="bg2"/>
            </a:solidFill>
            <a:prstDash val="solid"/>
          </a:ln>
        </p:spPr>
      </p:sp>
      <p:sp>
        <p:nvSpPr>
          <p:cNvPr id="30" name="stage colour"/>
          <p:cNvSpPr/>
          <p:nvPr/>
        </p:nvSpPr>
        <p:spPr>
          <a:xfrm>
            <a:off x="7325990" y="1417320"/>
            <a:ext cx="2057949" cy="82296"/>
          </a:xfrm>
          <a:prstGeom prst="rect">
            <a:avLst/>
          </a:prstGeom>
          <a:solidFill>
            <a:schemeClr val="accent3"/>
          </a:solidFill>
          <a:ln w="12700">
            <a:solidFill>
              <a:schemeClr val="accent3"/>
            </a:solidFill>
            <a:prstDash val="solid"/>
          </a:ln>
        </p:spPr>
      </p:sp>
      <p:sp>
        <p:nvSpPr>
          <p:cNvPr id="31" name="Text 29"/>
          <p:cNvSpPr txBox="1"/>
          <p:nvPr/>
        </p:nvSpPr>
        <p:spPr>
          <a:xfrm>
            <a:off x="7508870" y="1581912"/>
            <a:ext cx="457200" cy="457200"/>
          </a:xfrm>
          <a:prstGeom prst="rect">
            <a:avLst/>
          </a:prstGeom>
          <a:noFill/>
          <a:ln/>
        </p:spPr>
        <p:txBody>
          <a:bodyPr wrap="square" lIns="0" tIns="0" rIns="0" bIns="0" rtlCol="0" anchor="t">
            <a:normAutofit/>
          </a:bodyPr>
          <a:lstStyle/>
          <a:p>
            <a:pPr indent="0" marL="0">
              <a:buNone/>
            </a:pPr>
            <a:r>
              <a:rPr lang="en-US" sz="2600" b="1" dirty="0">
                <a:solidFill>
                  <a:schemeClr val="accent3"/>
                </a:solidFill>
                <a:latin typeface="Georgia" pitchFamily="34" charset="0"/>
                <a:ea typeface="Georgia" pitchFamily="34" charset="-122"/>
                <a:cs typeface="Georgia" pitchFamily="34" charset="-120"/>
              </a:rPr>
              <a:t>4</a:t>
            </a:r>
            <a:endParaRPr lang="en-US" sz="2600" dirty="0"/>
          </a:p>
        </p:txBody>
      </p:sp>
      <p:sp>
        <p:nvSpPr>
          <p:cNvPr id="32" name="Text 30"/>
          <p:cNvSpPr txBox="1"/>
          <p:nvPr/>
        </p:nvSpPr>
        <p:spPr>
          <a:xfrm>
            <a:off x="7966070" y="1600200"/>
            <a:ext cx="1280709" cy="548640"/>
          </a:xfrm>
          <a:prstGeom prst="rect">
            <a:avLst/>
          </a:prstGeom>
          <a:noFill/>
          <a:ln/>
        </p:spPr>
        <p:txBody>
          <a:bodyPr wrap="square" lIns="0" tIns="0" rIns="0" bIns="0" rtlCol="0" anchor="ctr">
            <a:normAutofit/>
          </a:bodyPr>
          <a:lstStyle/>
          <a:p>
            <a:pPr indent="0" marL="0">
              <a:buNone/>
            </a:pPr>
            <a:r>
              <a:rPr lang="en-US" sz="1150" b="1" dirty="0">
                <a:solidFill>
                  <a:schemeClr val="tx1"/>
                </a:solidFill>
                <a:latin typeface="Arial" pitchFamily="34" charset="0"/>
                <a:ea typeface="Arial" pitchFamily="34" charset="-122"/>
                <a:cs typeface="Arial" pitchFamily="34" charset="-120"/>
              </a:rPr>
              <a:t>Finish the design for a foundry</a:t>
            </a:r>
            <a:endParaRPr lang="en-US" sz="1150" dirty="0"/>
          </a:p>
        </p:txBody>
      </p:sp>
      <p:sp>
        <p:nvSpPr>
          <p:cNvPr id="33" name="Text 31"/>
          <p:cNvSpPr txBox="1"/>
          <p:nvPr/>
        </p:nvSpPr>
        <p:spPr>
          <a:xfrm>
            <a:off x="7508870" y="2240280"/>
            <a:ext cx="1692189" cy="201168"/>
          </a:xfrm>
          <a:prstGeom prst="rect">
            <a:avLst/>
          </a:prstGeom>
          <a:noFill/>
          <a:ln/>
        </p:spPr>
        <p:txBody>
          <a:bodyPr wrap="square" lIns="0" tIns="0" rIns="0" bIns="0" rtlCol="0" anchor="t">
            <a:normAutofit/>
          </a:bodyPr>
          <a:lstStyle/>
          <a:p>
            <a:pPr indent="0" marL="0">
              <a:buNone/>
            </a:pPr>
            <a:r>
              <a:rPr lang="en-US" sz="800" b="1" dirty="0">
                <a:solidFill>
                  <a:schemeClr val="accent1"/>
                </a:solidFill>
                <a:latin typeface="Arial" pitchFamily="34" charset="0"/>
                <a:ea typeface="Arial" pitchFamily="34" charset="-122"/>
                <a:cs typeface="Arial" pitchFamily="34" charset="-120"/>
              </a:rPr>
              <a:t>DONE MEANS</a:t>
            </a:r>
            <a:endParaRPr lang="en-US" sz="800" dirty="0"/>
          </a:p>
        </p:txBody>
      </p:sp>
      <p:sp>
        <p:nvSpPr>
          <p:cNvPr id="34" name="Text 32"/>
          <p:cNvSpPr txBox="1"/>
          <p:nvPr/>
        </p:nvSpPr>
        <p:spPr>
          <a:xfrm>
            <a:off x="7508870" y="2441448"/>
            <a:ext cx="1692189" cy="1874520"/>
          </a:xfrm>
          <a:prstGeom prst="rect">
            <a:avLst/>
          </a:prstGeom>
          <a:noFill/>
          <a:ln/>
        </p:spPr>
        <p:txBody>
          <a:bodyPr wrap="square" lIns="0" tIns="0" rIns="0" bIns="0" rtlCol="0" anchor="t">
            <a:normAutofit/>
          </a:bodyPr>
          <a:lstStyle/>
          <a:p>
            <a:pPr indent="0" marL="0">
              <a:buNone/>
            </a:pPr>
            <a:r>
              <a:rPr lang="en-US" sz="900" dirty="0">
                <a:solidFill>
                  <a:schemeClr val="tx1"/>
                </a:solidFill>
                <a:latin typeface="Arial" pitchFamily="34" charset="0"/>
                <a:ea typeface="Arial" pitchFamily="34" charset="-122"/>
                <a:cs typeface="Arial" pitchFamily="34" charset="-120"/>
              </a:rPr>
              <a:t>The tape-out checklist in docs/08 ticked: synthesis, timing at three corners, DRC, LVS, antenna, IR drop, the GDS on the shuttle template; a package with the hash of every file, reproducible by make gds</a:t>
            </a:r>
            <a:endParaRPr lang="en-US" sz="900" dirty="0"/>
          </a:p>
        </p:txBody>
      </p:sp>
      <p:sp>
        <p:nvSpPr>
          <p:cNvPr id="35" name="Text 33"/>
          <p:cNvSpPr txBox="1"/>
          <p:nvPr/>
        </p:nvSpPr>
        <p:spPr>
          <a:xfrm>
            <a:off x="7508870" y="4343400"/>
            <a:ext cx="1692189" cy="201168"/>
          </a:xfrm>
          <a:prstGeom prst="rect">
            <a:avLst/>
          </a:prstGeom>
          <a:noFill/>
          <a:ln/>
        </p:spPr>
        <p:txBody>
          <a:bodyPr wrap="square" lIns="0" tIns="0" rIns="0" bIns="0" rtlCol="0" anchor="t">
            <a:normAutofit/>
          </a:bodyPr>
          <a:lstStyle/>
          <a:p>
            <a:pPr indent="0" marL="0">
              <a:buNone/>
            </a:pPr>
            <a:r>
              <a:rPr lang="en-US" sz="800" b="1" dirty="0">
                <a:solidFill>
                  <a:schemeClr val="accent1"/>
                </a:solidFill>
                <a:latin typeface="Arial" pitchFamily="34" charset="0"/>
                <a:ea typeface="Arial" pitchFamily="34" charset="-122"/>
                <a:cs typeface="Arial" pitchFamily="34" charset="-120"/>
              </a:rPr>
              <a:t>WHERE IT STANDS</a:t>
            </a:r>
            <a:endParaRPr lang="en-US" sz="800" dirty="0"/>
          </a:p>
        </p:txBody>
      </p:sp>
      <p:sp>
        <p:nvSpPr>
          <p:cNvPr id="36" name="Text 34"/>
          <p:cNvSpPr txBox="1"/>
          <p:nvPr/>
        </p:nvSpPr>
        <p:spPr>
          <a:xfrm>
            <a:off x="7508870" y="4544568"/>
            <a:ext cx="1692189" cy="640080"/>
          </a:xfrm>
          <a:prstGeom prst="rect">
            <a:avLst/>
          </a:prstGeom>
          <a:noFill/>
          <a:ln/>
        </p:spPr>
        <p:txBody>
          <a:bodyPr wrap="square" lIns="0" tIns="0" rIns="0" bIns="0" rtlCol="0" anchor="t">
            <a:normAutofit/>
          </a:bodyPr>
          <a:lstStyle/>
          <a:p>
            <a:pPr indent="0" marL="0">
              <a:buNone/>
            </a:pPr>
            <a:r>
              <a:rPr lang="en-US" sz="900" b="1" dirty="0">
                <a:solidFill>
                  <a:schemeClr val="tx2"/>
                </a:solidFill>
                <a:latin typeface="Arial" pitchFamily="34" charset="0"/>
                <a:ea typeface="Arial" pitchFamily="34" charset="-122"/>
                <a:cs typeface="Arial" pitchFamily="34" charset="-120"/>
              </a:rPr>
              <a:t>LibreLane flow to sky130 exists for the core; signoff open</a:t>
            </a:r>
            <a:endParaRPr lang="en-US" sz="900" dirty="0"/>
          </a:p>
        </p:txBody>
      </p:sp>
      <p:sp>
        <p:nvSpPr>
          <p:cNvPr id="37" name="card"/>
          <p:cNvSpPr/>
          <p:nvPr/>
        </p:nvSpPr>
        <p:spPr>
          <a:xfrm>
            <a:off x="9585107" y="1417320"/>
            <a:ext cx="2057949" cy="3794760"/>
          </a:xfrm>
          <a:prstGeom prst="roundRect">
            <a:avLst>
              <a:gd name="adj" fmla="val 3555"/>
            </a:avLst>
          </a:prstGeom>
          <a:solidFill>
            <a:schemeClr val="bg2"/>
          </a:solidFill>
          <a:ln w="12700">
            <a:solidFill>
              <a:schemeClr val="bg2"/>
            </a:solidFill>
            <a:prstDash val="solid"/>
          </a:ln>
        </p:spPr>
      </p:sp>
      <p:sp>
        <p:nvSpPr>
          <p:cNvPr id="38" name="stage colour"/>
          <p:cNvSpPr/>
          <p:nvPr/>
        </p:nvSpPr>
        <p:spPr>
          <a:xfrm>
            <a:off x="9585107" y="1417320"/>
            <a:ext cx="2057949" cy="82296"/>
          </a:xfrm>
          <a:prstGeom prst="rect">
            <a:avLst/>
          </a:prstGeom>
          <a:solidFill>
            <a:schemeClr val="accent3"/>
          </a:solidFill>
          <a:ln w="12700">
            <a:solidFill>
              <a:schemeClr val="accent3"/>
            </a:solidFill>
            <a:prstDash val="solid"/>
          </a:ln>
        </p:spPr>
      </p:sp>
      <p:sp>
        <p:nvSpPr>
          <p:cNvPr id="39" name="Text 37"/>
          <p:cNvSpPr txBox="1"/>
          <p:nvPr/>
        </p:nvSpPr>
        <p:spPr>
          <a:xfrm>
            <a:off x="9767987" y="1581912"/>
            <a:ext cx="457200" cy="457200"/>
          </a:xfrm>
          <a:prstGeom prst="rect">
            <a:avLst/>
          </a:prstGeom>
          <a:noFill/>
          <a:ln/>
        </p:spPr>
        <p:txBody>
          <a:bodyPr wrap="square" lIns="0" tIns="0" rIns="0" bIns="0" rtlCol="0" anchor="t">
            <a:normAutofit/>
          </a:bodyPr>
          <a:lstStyle/>
          <a:p>
            <a:pPr indent="0" marL="0">
              <a:buNone/>
            </a:pPr>
            <a:r>
              <a:rPr lang="en-US" sz="2600" b="1" dirty="0">
                <a:solidFill>
                  <a:schemeClr val="accent3"/>
                </a:solidFill>
                <a:latin typeface="Georgia" pitchFamily="34" charset="0"/>
                <a:ea typeface="Georgia" pitchFamily="34" charset="-122"/>
                <a:cs typeface="Georgia" pitchFamily="34" charset="-120"/>
              </a:rPr>
              <a:t>5</a:t>
            </a:r>
            <a:endParaRPr lang="en-US" sz="2600" dirty="0"/>
          </a:p>
        </p:txBody>
      </p:sp>
      <p:sp>
        <p:nvSpPr>
          <p:cNvPr id="40" name="Text 38"/>
          <p:cNvSpPr txBox="1"/>
          <p:nvPr/>
        </p:nvSpPr>
        <p:spPr>
          <a:xfrm>
            <a:off x="10225187" y="1600200"/>
            <a:ext cx="1280709" cy="548640"/>
          </a:xfrm>
          <a:prstGeom prst="rect">
            <a:avLst/>
          </a:prstGeom>
          <a:noFill/>
          <a:ln/>
        </p:spPr>
        <p:txBody>
          <a:bodyPr wrap="square" lIns="0" tIns="0" rIns="0" bIns="0" rtlCol="0" anchor="ctr">
            <a:normAutofit/>
          </a:bodyPr>
          <a:lstStyle/>
          <a:p>
            <a:pPr indent="0" marL="0">
              <a:buNone/>
            </a:pPr>
            <a:r>
              <a:rPr lang="en-US" sz="1150" b="1" dirty="0">
                <a:solidFill>
                  <a:schemeClr val="tx1"/>
                </a:solidFill>
                <a:latin typeface="Arial" pitchFamily="34" charset="0"/>
                <a:ea typeface="Arial" pitchFamily="34" charset="-122"/>
                <a:cs typeface="Arial" pitchFamily="34" charset="-120"/>
              </a:rPr>
              <a:t>Stop, and run it anyway</a:t>
            </a:r>
            <a:endParaRPr lang="en-US" sz="1150" dirty="0"/>
          </a:p>
        </p:txBody>
      </p:sp>
      <p:sp>
        <p:nvSpPr>
          <p:cNvPr id="41" name="Text 39"/>
          <p:cNvSpPr txBox="1"/>
          <p:nvPr/>
        </p:nvSpPr>
        <p:spPr>
          <a:xfrm>
            <a:off x="9767987" y="2240280"/>
            <a:ext cx="1692189" cy="201168"/>
          </a:xfrm>
          <a:prstGeom prst="rect">
            <a:avLst/>
          </a:prstGeom>
          <a:noFill/>
          <a:ln/>
        </p:spPr>
        <p:txBody>
          <a:bodyPr wrap="square" lIns="0" tIns="0" rIns="0" bIns="0" rtlCol="0" anchor="t">
            <a:normAutofit/>
          </a:bodyPr>
          <a:lstStyle/>
          <a:p>
            <a:pPr indent="0" marL="0">
              <a:buNone/>
            </a:pPr>
            <a:r>
              <a:rPr lang="en-US" sz="800" b="1" dirty="0">
                <a:solidFill>
                  <a:schemeClr val="accent1"/>
                </a:solidFill>
                <a:latin typeface="Arial" pitchFamily="34" charset="0"/>
                <a:ea typeface="Arial" pitchFamily="34" charset="-122"/>
                <a:cs typeface="Arial" pitchFamily="34" charset="-120"/>
              </a:rPr>
              <a:t>DONE MEANS</a:t>
            </a:r>
            <a:endParaRPr lang="en-US" sz="800" dirty="0"/>
          </a:p>
        </p:txBody>
      </p:sp>
      <p:sp>
        <p:nvSpPr>
          <p:cNvPr id="42" name="Text 40"/>
          <p:cNvSpPr txBox="1"/>
          <p:nvPr/>
        </p:nvSpPr>
        <p:spPr>
          <a:xfrm>
            <a:off x="9767987" y="2441448"/>
            <a:ext cx="1692189" cy="1874520"/>
          </a:xfrm>
          <a:prstGeom prst="rect">
            <a:avLst/>
          </a:prstGeom>
          <a:noFill/>
          <a:ln/>
        </p:spPr>
        <p:txBody>
          <a:bodyPr wrap="square" lIns="0" tIns="0" rIns="0" bIns="0" rtlCol="0" anchor="t">
            <a:normAutofit/>
          </a:bodyPr>
          <a:lstStyle/>
          <a:p>
            <a:pPr indent="0" marL="0">
              <a:buNone/>
            </a:pPr>
            <a:r>
              <a:rPr lang="en-US" sz="900" dirty="0">
                <a:solidFill>
                  <a:schemeClr val="tx1"/>
                </a:solidFill>
                <a:latin typeface="Arial" pitchFamily="34" charset="0"/>
                <a:ea typeface="Arial" pitchFamily="34" charset="-122"/>
                <a:cs typeface="Arial" pitchFamily="34" charset="-120"/>
              </a:rPr>
              <a:t>The full-chip RTL, the gate-level netlist and an FPGA beside a real GPU all run the same catalogue with the same answers; the three cost numbers and the false-halt rate measured over weeks</a:t>
            </a:r>
            <a:endParaRPr lang="en-US" sz="900" dirty="0"/>
          </a:p>
        </p:txBody>
      </p:sp>
      <p:sp>
        <p:nvSpPr>
          <p:cNvPr id="43" name="Text 41"/>
          <p:cNvSpPr txBox="1"/>
          <p:nvPr/>
        </p:nvSpPr>
        <p:spPr>
          <a:xfrm>
            <a:off x="9767987" y="4343400"/>
            <a:ext cx="1692189" cy="201168"/>
          </a:xfrm>
          <a:prstGeom prst="rect">
            <a:avLst/>
          </a:prstGeom>
          <a:noFill/>
          <a:ln/>
        </p:spPr>
        <p:txBody>
          <a:bodyPr wrap="square" lIns="0" tIns="0" rIns="0" bIns="0" rtlCol="0" anchor="t">
            <a:normAutofit/>
          </a:bodyPr>
          <a:lstStyle/>
          <a:p>
            <a:pPr indent="0" marL="0">
              <a:buNone/>
            </a:pPr>
            <a:r>
              <a:rPr lang="en-US" sz="800" b="1" dirty="0">
                <a:solidFill>
                  <a:schemeClr val="accent1"/>
                </a:solidFill>
                <a:latin typeface="Arial" pitchFamily="34" charset="0"/>
                <a:ea typeface="Arial" pitchFamily="34" charset="-122"/>
                <a:cs typeface="Arial" pitchFamily="34" charset="-120"/>
              </a:rPr>
              <a:t>WHERE IT STANDS</a:t>
            </a:r>
            <a:endParaRPr lang="en-US" sz="800" dirty="0"/>
          </a:p>
        </p:txBody>
      </p:sp>
      <p:sp>
        <p:nvSpPr>
          <p:cNvPr id="44" name="Text 42"/>
          <p:cNvSpPr txBox="1"/>
          <p:nvPr/>
        </p:nvSpPr>
        <p:spPr>
          <a:xfrm>
            <a:off x="9767987" y="4544568"/>
            <a:ext cx="1692189" cy="640080"/>
          </a:xfrm>
          <a:prstGeom prst="rect">
            <a:avLst/>
          </a:prstGeom>
          <a:noFill/>
          <a:ln/>
        </p:spPr>
        <p:txBody>
          <a:bodyPr wrap="square" lIns="0" tIns="0" rIns="0" bIns="0" rtlCol="0" anchor="t">
            <a:normAutofit/>
          </a:bodyPr>
          <a:lstStyle/>
          <a:p>
            <a:pPr indent="0" marL="0">
              <a:buNone/>
            </a:pPr>
            <a:r>
              <a:rPr lang="en-US" sz="900" b="1" dirty="0">
                <a:solidFill>
                  <a:schemeClr val="tx2"/>
                </a:solidFill>
                <a:latin typeface="Arial" pitchFamily="34" charset="0"/>
                <a:ea typeface="Arial" pitchFamily="34" charset="-122"/>
                <a:cs typeface="Arial" pitchFamily="34" charset="-120"/>
              </a:rPr>
              <a:t>The last thing that can disprove the chip without a fab. Then a shuttle slot is someone else's decision</a:t>
            </a:r>
            <a:endParaRPr lang="en-US" sz="900" dirty="0"/>
          </a:p>
        </p:txBody>
      </p:sp>
      <p:sp>
        <p:nvSpPr>
          <p:cNvPr id="45" name="analogy"/>
          <p:cNvSpPr/>
          <p:nvPr/>
        </p:nvSpPr>
        <p:spPr>
          <a:xfrm>
            <a:off x="548640" y="5440680"/>
            <a:ext cx="11094415" cy="731520"/>
          </a:xfrm>
          <a:prstGeom prst="roundRect">
            <a:avLst>
              <a:gd name="adj" fmla="val 10000"/>
            </a:avLst>
          </a:prstGeom>
          <a:solidFill>
            <a:schemeClr val="tx1"/>
          </a:solidFill>
          <a:ln w="12700">
            <a:solidFill>
              <a:schemeClr val="tx1"/>
            </a:solidFill>
            <a:prstDash val="solid"/>
          </a:ln>
        </p:spPr>
      </p:sp>
      <p:sp>
        <p:nvSpPr>
          <p:cNvPr id="46" name="Text 44"/>
          <p:cNvSpPr txBox="1"/>
          <p:nvPr/>
        </p:nvSpPr>
        <p:spPr>
          <a:xfrm>
            <a:off x="822960" y="5440680"/>
            <a:ext cx="1554480" cy="73152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docs 22; Part 5</a:t>
            </a:r>
            <a:endParaRPr lang="en-US" sz="1000" dirty="0"/>
          </a:p>
        </p:txBody>
      </p:sp>
      <p:sp>
        <p:nvSpPr>
          <p:cNvPr id="47" name="Text 45"/>
          <p:cNvSpPr txBox="1"/>
          <p:nvPr/>
        </p:nvSpPr>
        <p:spPr>
          <a:xfrm>
            <a:off x="2514600" y="5440680"/>
            <a:ext cx="8854135" cy="73152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If an experiment kills the chip as designed, that is the result, and it is the reason to do this in software first. If the design survives all twenty, the next post is about an FPGA.</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The challenges, stated plainly</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29</a:t>
            </a:r>
            <a:endParaRPr lang="en-US" sz="1100" dirty="0"/>
          </a:p>
        </p:txBody>
      </p:sp>
      <p:sp>
        <p:nvSpPr>
          <p:cNvPr id="5" name="hop 0"/>
          <p:cNvSpPr/>
          <p:nvPr/>
        </p:nvSpPr>
        <p:spPr>
          <a:xfrm>
            <a:off x="548640" y="1463040"/>
            <a:ext cx="1889699" cy="868680"/>
          </a:xfrm>
          <a:prstGeom prst="roundRect">
            <a:avLst>
              <a:gd name="adj" fmla="val 8421"/>
            </a:avLst>
          </a:prstGeom>
          <a:solidFill>
            <a:schemeClr val="bg2"/>
          </a:solidFill>
          <a:ln w="12700">
            <a:solidFill>
              <a:schemeClr val="bg2"/>
            </a:solidFill>
            <a:prstDash val="solid"/>
          </a:ln>
        </p:spPr>
      </p:sp>
      <p:sp>
        <p:nvSpPr>
          <p:cNvPr id="6" name="Text 4"/>
          <p:cNvSpPr txBox="1"/>
          <p:nvPr/>
        </p:nvSpPr>
        <p:spPr>
          <a:xfrm>
            <a:off x="685800" y="1572768"/>
            <a:ext cx="1615379" cy="320040"/>
          </a:xfrm>
          <a:prstGeom prst="rect">
            <a:avLst/>
          </a:prstGeom>
          <a:noFill/>
          <a:ln/>
        </p:spPr>
        <p:txBody>
          <a:bodyPr wrap="square" lIns="0" tIns="0" rIns="0" bIns="0" rtlCol="0" anchor="t">
            <a:normAutofit/>
          </a:bodyPr>
          <a:lstStyle/>
          <a:p>
            <a:pPr indent="0" marL="0">
              <a:buNone/>
            </a:pPr>
            <a:r>
              <a:rPr lang="en-US" sz="1400" b="1" dirty="0">
                <a:solidFill>
                  <a:schemeClr val="tx1"/>
                </a:solidFill>
                <a:latin typeface="Arial" pitchFamily="34" charset="0"/>
                <a:ea typeface="Arial" pitchFamily="34" charset="-122"/>
                <a:cs typeface="Arial" pitchFamily="34" charset="-120"/>
              </a:rPr>
              <a:t>The model</a:t>
            </a:r>
            <a:endParaRPr lang="en-US" sz="1400" dirty="0"/>
          </a:p>
        </p:txBody>
      </p:sp>
      <p:sp>
        <p:nvSpPr>
          <p:cNvPr id="7" name="Text 5"/>
          <p:cNvSpPr txBox="1"/>
          <p:nvPr/>
        </p:nvSpPr>
        <p:spPr>
          <a:xfrm>
            <a:off x="685800" y="1901952"/>
            <a:ext cx="1615379" cy="411480"/>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no authority needed</a:t>
            </a:r>
            <a:endParaRPr lang="en-US" sz="1100" dirty="0"/>
          </a:p>
        </p:txBody>
      </p:sp>
      <p:sp>
        <p:nvSpPr>
          <p:cNvPr id="8" name="arrow"/>
          <p:cNvSpPr/>
          <p:nvPr/>
        </p:nvSpPr>
        <p:spPr>
          <a:xfrm>
            <a:off x="2493203" y="1897380"/>
            <a:ext cx="301752" cy="0"/>
          </a:xfrm>
          <a:prstGeom prst="line">
            <a:avLst/>
          </a:prstGeom>
          <a:noFill/>
          <a:ln w="25400">
            <a:solidFill>
              <a:srgbClr val="2F5D62"/>
            </a:solidFill>
            <a:prstDash val="solid"/>
            <a:tailEnd type="triangle"/>
          </a:ln>
        </p:spPr>
      </p:sp>
      <p:sp>
        <p:nvSpPr>
          <p:cNvPr id="9" name="hop 1"/>
          <p:cNvSpPr/>
          <p:nvPr/>
        </p:nvSpPr>
        <p:spPr>
          <a:xfrm>
            <a:off x="2849819" y="1463040"/>
            <a:ext cx="1889699" cy="868680"/>
          </a:xfrm>
          <a:prstGeom prst="roundRect">
            <a:avLst>
              <a:gd name="adj" fmla="val 8421"/>
            </a:avLst>
          </a:prstGeom>
          <a:solidFill>
            <a:schemeClr val="bg2"/>
          </a:solidFill>
          <a:ln w="12700">
            <a:solidFill>
              <a:schemeClr val="bg2"/>
            </a:solidFill>
            <a:prstDash val="solid"/>
          </a:ln>
        </p:spPr>
      </p:sp>
      <p:sp>
        <p:nvSpPr>
          <p:cNvPr id="10" name="Text 8"/>
          <p:cNvSpPr txBox="1"/>
          <p:nvPr/>
        </p:nvSpPr>
        <p:spPr>
          <a:xfrm>
            <a:off x="2986979" y="1572768"/>
            <a:ext cx="1615379" cy="320040"/>
          </a:xfrm>
          <a:prstGeom prst="rect">
            <a:avLst/>
          </a:prstGeom>
          <a:noFill/>
          <a:ln/>
        </p:spPr>
        <p:txBody>
          <a:bodyPr wrap="square" lIns="0" tIns="0" rIns="0" bIns="0" rtlCol="0" anchor="t">
            <a:normAutofit/>
          </a:bodyPr>
          <a:lstStyle/>
          <a:p>
            <a:pPr indent="0" marL="0">
              <a:buNone/>
            </a:pPr>
            <a:r>
              <a:rPr lang="en-US" sz="1400" b="1" dirty="0">
                <a:solidFill>
                  <a:schemeClr val="tx1"/>
                </a:solidFill>
                <a:latin typeface="Arial" pitchFamily="34" charset="0"/>
                <a:ea typeface="Arial" pitchFamily="34" charset="-122"/>
                <a:cs typeface="Arial" pitchFamily="34" charset="-120"/>
              </a:rPr>
              <a:t>The runtime</a:t>
            </a:r>
            <a:endParaRPr lang="en-US" sz="1400" dirty="0"/>
          </a:p>
        </p:txBody>
      </p:sp>
      <p:sp>
        <p:nvSpPr>
          <p:cNvPr id="11" name="Text 9"/>
          <p:cNvSpPr txBox="1"/>
          <p:nvPr/>
        </p:nvSpPr>
        <p:spPr>
          <a:xfrm>
            <a:off x="2986979" y="1901952"/>
            <a:ext cx="1615379" cy="411480"/>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asks for a ticket</a:t>
            </a:r>
            <a:endParaRPr lang="en-US" sz="1100" dirty="0"/>
          </a:p>
        </p:txBody>
      </p:sp>
      <p:sp>
        <p:nvSpPr>
          <p:cNvPr id="12" name="arrow"/>
          <p:cNvSpPr/>
          <p:nvPr/>
        </p:nvSpPr>
        <p:spPr>
          <a:xfrm>
            <a:off x="4794382" y="1897380"/>
            <a:ext cx="301752" cy="0"/>
          </a:xfrm>
          <a:prstGeom prst="line">
            <a:avLst/>
          </a:prstGeom>
          <a:noFill/>
          <a:ln w="25400">
            <a:solidFill>
              <a:srgbClr val="2F5D62"/>
            </a:solidFill>
            <a:prstDash val="solid"/>
            <a:tailEnd type="triangle"/>
          </a:ln>
        </p:spPr>
      </p:sp>
      <p:sp>
        <p:nvSpPr>
          <p:cNvPr id="13" name="hop 2"/>
          <p:cNvSpPr/>
          <p:nvPr/>
        </p:nvSpPr>
        <p:spPr>
          <a:xfrm>
            <a:off x="5150998" y="1463040"/>
            <a:ext cx="1889699" cy="868680"/>
          </a:xfrm>
          <a:prstGeom prst="roundRect">
            <a:avLst>
              <a:gd name="adj" fmla="val 8421"/>
            </a:avLst>
          </a:prstGeom>
          <a:solidFill>
            <a:schemeClr val="tx2"/>
          </a:solidFill>
          <a:ln w="12700">
            <a:solidFill>
              <a:schemeClr val="tx2"/>
            </a:solidFill>
            <a:prstDash val="solid"/>
          </a:ln>
        </p:spPr>
      </p:sp>
      <p:sp>
        <p:nvSpPr>
          <p:cNvPr id="14" name="Text 12"/>
          <p:cNvSpPr txBox="1"/>
          <p:nvPr/>
        </p:nvSpPr>
        <p:spPr>
          <a:xfrm>
            <a:off x="5288158" y="1572768"/>
            <a:ext cx="1615379" cy="320040"/>
          </a:xfrm>
          <a:prstGeom prst="rect">
            <a:avLst/>
          </a:prstGeom>
          <a:noFill/>
          <a:ln/>
        </p:spPr>
        <p:txBody>
          <a:bodyPr wrap="square" lIns="0" tIns="0" rIns="0" bIns="0" rtlCol="0" anchor="t">
            <a:normAutofit/>
          </a:bodyPr>
          <a:lstStyle/>
          <a:p>
            <a:pPr indent="0" marL="0">
              <a:buNone/>
            </a:pPr>
            <a:r>
              <a:rPr lang="en-US" sz="1400" b="1" dirty="0">
                <a:solidFill>
                  <a:schemeClr val="bg1"/>
                </a:solidFill>
                <a:latin typeface="Arial" pitchFamily="34" charset="0"/>
                <a:ea typeface="Arial" pitchFamily="34" charset="-122"/>
                <a:cs typeface="Arial" pitchFamily="34" charset="-120"/>
              </a:rPr>
              <a:t>The governor</a:t>
            </a:r>
            <a:endParaRPr lang="en-US" sz="1400" dirty="0"/>
          </a:p>
        </p:txBody>
      </p:sp>
      <p:sp>
        <p:nvSpPr>
          <p:cNvPr id="15" name="Text 13"/>
          <p:cNvSpPr txBox="1"/>
          <p:nvPr/>
        </p:nvSpPr>
        <p:spPr>
          <a:xfrm>
            <a:off x="5288158" y="1901952"/>
            <a:ext cx="1615379" cy="411480"/>
          </a:xfrm>
          <a:prstGeom prst="rect">
            <a:avLst/>
          </a:prstGeom>
          <a:noFill/>
          <a:ln/>
        </p:spPr>
        <p:txBody>
          <a:bodyPr wrap="square" lIns="0" tIns="0" rIns="0" bIns="0" rtlCol="0" anchor="t">
            <a:normAutofit/>
          </a:bodyPr>
          <a:lstStyle/>
          <a:p>
            <a:pPr indent="0" marL="0">
              <a:buNone/>
            </a:pPr>
            <a:r>
              <a:rPr lang="en-US" sz="1100" dirty="0">
                <a:solidFill>
                  <a:schemeClr val="bg1"/>
                </a:solidFill>
                <a:latin typeface="Arial" pitchFamily="34" charset="0"/>
                <a:ea typeface="Arial" pitchFamily="34" charset="-122"/>
                <a:cs typeface="Arial" pitchFamily="34" charset="-120"/>
              </a:rPr>
              <a:t>full authority: signs or refuses</a:t>
            </a:r>
            <a:endParaRPr lang="en-US" sz="1100" dirty="0"/>
          </a:p>
        </p:txBody>
      </p:sp>
      <p:sp>
        <p:nvSpPr>
          <p:cNvPr id="16" name="arrow"/>
          <p:cNvSpPr/>
          <p:nvPr/>
        </p:nvSpPr>
        <p:spPr>
          <a:xfrm>
            <a:off x="7095561" y="1897380"/>
            <a:ext cx="301752" cy="0"/>
          </a:xfrm>
          <a:prstGeom prst="line">
            <a:avLst/>
          </a:prstGeom>
          <a:noFill/>
          <a:ln w="25400">
            <a:solidFill>
              <a:srgbClr val="2F5D62"/>
            </a:solidFill>
            <a:prstDash val="solid"/>
            <a:tailEnd type="triangle"/>
          </a:ln>
        </p:spPr>
      </p:sp>
      <p:sp>
        <p:nvSpPr>
          <p:cNvPr id="17" name="hop 3"/>
          <p:cNvSpPr/>
          <p:nvPr/>
        </p:nvSpPr>
        <p:spPr>
          <a:xfrm>
            <a:off x="7452177" y="1463040"/>
            <a:ext cx="1889699" cy="868680"/>
          </a:xfrm>
          <a:prstGeom prst="roundRect">
            <a:avLst>
              <a:gd name="adj" fmla="val 8421"/>
            </a:avLst>
          </a:prstGeom>
          <a:solidFill>
            <a:schemeClr val="accent2"/>
          </a:solidFill>
          <a:ln w="12700">
            <a:solidFill>
              <a:schemeClr val="accent2"/>
            </a:solidFill>
            <a:prstDash val="solid"/>
          </a:ln>
        </p:spPr>
      </p:sp>
      <p:sp>
        <p:nvSpPr>
          <p:cNvPr id="18" name="Text 16"/>
          <p:cNvSpPr txBox="1"/>
          <p:nvPr/>
        </p:nvSpPr>
        <p:spPr>
          <a:xfrm>
            <a:off x="7589337" y="1572768"/>
            <a:ext cx="1615379" cy="320040"/>
          </a:xfrm>
          <a:prstGeom prst="rect">
            <a:avLst/>
          </a:prstGeom>
          <a:noFill/>
          <a:ln/>
        </p:spPr>
        <p:txBody>
          <a:bodyPr wrap="square" lIns="0" tIns="0" rIns="0" bIns="0" rtlCol="0" anchor="t">
            <a:normAutofit/>
          </a:bodyPr>
          <a:lstStyle/>
          <a:p>
            <a:pPr indent="0" marL="0">
              <a:buNone/>
            </a:pPr>
            <a:r>
              <a:rPr lang="en-US" sz="1400" b="1" dirty="0">
                <a:solidFill>
                  <a:schemeClr val="bg1"/>
                </a:solidFill>
                <a:latin typeface="Arial" pitchFamily="34" charset="0"/>
                <a:ea typeface="Arial" pitchFamily="34" charset="-122"/>
                <a:cs typeface="Arial" pitchFamily="34" charset="-120"/>
              </a:rPr>
              <a:t>The network</a:t>
            </a:r>
            <a:endParaRPr lang="en-US" sz="1400" dirty="0"/>
          </a:p>
        </p:txBody>
      </p:sp>
      <p:sp>
        <p:nvSpPr>
          <p:cNvPr id="19" name="Text 17"/>
          <p:cNvSpPr txBox="1"/>
          <p:nvPr/>
        </p:nvSpPr>
        <p:spPr>
          <a:xfrm>
            <a:off x="7589337" y="1901952"/>
            <a:ext cx="1615379" cy="411480"/>
          </a:xfrm>
          <a:prstGeom prst="rect">
            <a:avLst/>
          </a:prstGeom>
          <a:noFill/>
          <a:ln/>
        </p:spPr>
        <p:txBody>
          <a:bodyPr wrap="square" lIns="0" tIns="0" rIns="0" bIns="0" rtlCol="0" anchor="t">
            <a:normAutofit/>
          </a:bodyPr>
          <a:lstStyle/>
          <a:p>
            <a:pPr indent="0" marL="0">
              <a:buNone/>
            </a:pPr>
            <a:r>
              <a:rPr lang="en-US" sz="1100" dirty="0">
                <a:solidFill>
                  <a:schemeClr val="bg1"/>
                </a:solidFill>
                <a:latin typeface="Arial" pitchFamily="34" charset="0"/>
                <a:ea typeface="Arial" pitchFamily="34" charset="-122"/>
                <a:cs typeface="Arial" pitchFamily="34" charset="-120"/>
              </a:rPr>
              <a:t>partial: the door, not the conversation</a:t>
            </a:r>
            <a:endParaRPr lang="en-US" sz="1100" dirty="0"/>
          </a:p>
        </p:txBody>
      </p:sp>
      <p:sp>
        <p:nvSpPr>
          <p:cNvPr id="20" name="arrow"/>
          <p:cNvSpPr/>
          <p:nvPr/>
        </p:nvSpPr>
        <p:spPr>
          <a:xfrm>
            <a:off x="9396740" y="1897380"/>
            <a:ext cx="301752" cy="0"/>
          </a:xfrm>
          <a:prstGeom prst="line">
            <a:avLst/>
          </a:prstGeom>
          <a:noFill/>
          <a:ln w="25400">
            <a:solidFill>
              <a:srgbClr val="2F5D62"/>
            </a:solidFill>
            <a:prstDash val="solid"/>
            <a:tailEnd type="triangle"/>
          </a:ln>
        </p:spPr>
      </p:sp>
      <p:sp>
        <p:nvSpPr>
          <p:cNvPr id="21" name="hop 4"/>
          <p:cNvSpPr/>
          <p:nvPr/>
        </p:nvSpPr>
        <p:spPr>
          <a:xfrm>
            <a:off x="9753356" y="1463040"/>
            <a:ext cx="1889699" cy="868680"/>
          </a:xfrm>
          <a:prstGeom prst="roundRect">
            <a:avLst>
              <a:gd name="adj" fmla="val 8421"/>
            </a:avLst>
          </a:prstGeom>
          <a:solidFill>
            <a:srgbClr val="FFFFFF"/>
          </a:solidFill>
          <a:ln w="19050">
            <a:solidFill>
              <a:schemeClr val="accent4"/>
            </a:solidFill>
            <a:prstDash val="solid"/>
          </a:ln>
        </p:spPr>
      </p:sp>
      <p:sp>
        <p:nvSpPr>
          <p:cNvPr id="22" name="Text 20"/>
          <p:cNvSpPr txBox="1"/>
          <p:nvPr/>
        </p:nvSpPr>
        <p:spPr>
          <a:xfrm>
            <a:off x="9890516" y="1572768"/>
            <a:ext cx="1615379" cy="320040"/>
          </a:xfrm>
          <a:prstGeom prst="rect">
            <a:avLst/>
          </a:prstGeom>
          <a:noFill/>
          <a:ln/>
        </p:spPr>
        <p:txBody>
          <a:bodyPr wrap="square" lIns="0" tIns="0" rIns="0" bIns="0" rtlCol="0" anchor="t">
            <a:normAutofit/>
          </a:bodyPr>
          <a:lstStyle/>
          <a:p>
            <a:pPr indent="0" marL="0">
              <a:buNone/>
            </a:pPr>
            <a:r>
              <a:rPr lang="en-US" sz="1400" b="1" dirty="0">
                <a:solidFill>
                  <a:schemeClr val="tx1"/>
                </a:solidFill>
                <a:latin typeface="Arial" pitchFamily="34" charset="0"/>
                <a:ea typeface="Arial" pitchFamily="34" charset="-122"/>
                <a:cs typeface="Arial" pitchFamily="34" charset="-120"/>
              </a:rPr>
              <a:t>The bank</a:t>
            </a:r>
            <a:endParaRPr lang="en-US" sz="1400" dirty="0"/>
          </a:p>
        </p:txBody>
      </p:sp>
      <p:sp>
        <p:nvSpPr>
          <p:cNvPr id="23" name="Text 21"/>
          <p:cNvSpPr txBox="1"/>
          <p:nvPr/>
        </p:nvSpPr>
        <p:spPr>
          <a:xfrm>
            <a:off x="9890516" y="1901952"/>
            <a:ext cx="1615379" cy="411480"/>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none, unless it checks the stamp</a:t>
            </a:r>
            <a:endParaRPr lang="en-US" sz="1100" dirty="0"/>
          </a:p>
        </p:txBody>
      </p:sp>
      <p:sp>
        <p:nvSpPr>
          <p:cNvPr id="24" name="Text 22"/>
          <p:cNvSpPr txBox="1"/>
          <p:nvPr/>
        </p:nvSpPr>
        <p:spPr>
          <a:xfrm>
            <a:off x="548640" y="2441448"/>
            <a:ext cx="11094415" cy="365760"/>
          </a:xfrm>
          <a:prstGeom prst="rect">
            <a:avLst/>
          </a:prstGeom>
          <a:noFill/>
          <a:ln/>
        </p:spPr>
        <p:txBody>
          <a:bodyPr wrap="square" lIns="0" tIns="0" rIns="0" bIns="0" rtlCol="0" anchor="t">
            <a:normAutofit/>
          </a:bodyPr>
          <a:lstStyle/>
          <a:p>
            <a:pPr indent="0" marL="0">
              <a:buNone/>
            </a:pPr>
            <a:r>
              <a:rPr lang="en-US" sz="1250" i="1" dirty="0">
                <a:solidFill>
                  <a:schemeClr val="tx2"/>
                </a:solidFill>
                <a:latin typeface="Arial" pitchFamily="34" charset="0"/>
                <a:ea typeface="Arial" pitchFamily="34" charset="-122"/>
                <a:cs typeface="Arial" pitchFamily="34" charset="-120"/>
              </a:rPr>
              <a:t>Reach: the governor's authority ends at the last device that verifies its signature. A payment system is two or three hops away and has never heard of it.</a:t>
            </a:r>
            <a:endParaRPr lang="en-US" sz="1250" dirty="0"/>
          </a:p>
        </p:txBody>
      </p:sp>
      <p:sp>
        <p:nvSpPr>
          <p:cNvPr id="25" name="icon circle"/>
          <p:cNvSpPr/>
          <p:nvPr/>
        </p:nvSpPr>
        <p:spPr>
          <a:xfrm>
            <a:off x="548640" y="2999232"/>
            <a:ext cx="512064" cy="512064"/>
          </a:xfrm>
          <a:prstGeom prst="ellipse">
            <a:avLst/>
          </a:prstGeom>
          <a:solidFill>
            <a:schemeClr val="accent1"/>
          </a:solidFill>
          <a:ln w="12700">
            <a:solidFill>
              <a:schemeClr val="accent1"/>
            </a:solidFill>
            <a:prstDash val="solid"/>
          </a:ln>
        </p:spPr>
      </p:sp>
      <p:pic>
        <p:nvPicPr>
          <p:cNvPr id="26" name="FiEyeOff" descr="preencoded.png">    </p:cNvPr>
          <p:cNvPicPr>
            <a:picLocks noChangeAspect="1"/>
          </p:cNvPicPr>
          <p:nvPr/>
        </p:nvPicPr>
        <p:blipFill>
          <a:blip r:embed="rId1"/>
          <a:stretch>
            <a:fillRect/>
          </a:stretch>
        </p:blipFill>
        <p:spPr>
          <a:xfrm>
            <a:off x="676656" y="3127248"/>
            <a:ext cx="256032" cy="256032"/>
          </a:xfrm>
          <a:prstGeom prst="rect">
            <a:avLst/>
          </a:prstGeom>
        </p:spPr>
      </p:pic>
      <p:sp>
        <p:nvSpPr>
          <p:cNvPr id="27" name="Text 24"/>
          <p:cNvSpPr txBox="1"/>
          <p:nvPr/>
        </p:nvSpPr>
        <p:spPr>
          <a:xfrm>
            <a:off x="1207008" y="2953512"/>
            <a:ext cx="2768498" cy="320040"/>
          </a:xfrm>
          <a:prstGeom prst="rect">
            <a:avLst/>
          </a:prstGeom>
          <a:noFill/>
          <a:ln/>
        </p:spPr>
        <p:txBody>
          <a:bodyPr wrap="square" lIns="0" tIns="0" rIns="0" bIns="0" rtlCol="0" anchor="t">
            <a:normAutofit/>
          </a:bodyPr>
          <a:lstStyle/>
          <a:p>
            <a:pPr indent="0" marL="0">
              <a:buNone/>
            </a:pPr>
            <a:r>
              <a:rPr lang="en-US" sz="1400" b="1" dirty="0">
                <a:solidFill>
                  <a:schemeClr val="tx1"/>
                </a:solidFill>
                <a:latin typeface="Arial" pitchFamily="34" charset="0"/>
                <a:ea typeface="Arial" pitchFamily="34" charset="-122"/>
                <a:cs typeface="Arial" pitchFamily="34" charset="-120"/>
              </a:rPr>
              <a:t>Meaning</a:t>
            </a:r>
            <a:endParaRPr lang="en-US" sz="1400" dirty="0"/>
          </a:p>
        </p:txBody>
      </p:sp>
      <p:sp>
        <p:nvSpPr>
          <p:cNvPr id="28" name="Text 25"/>
          <p:cNvSpPr txBox="1"/>
          <p:nvPr/>
        </p:nvSpPr>
        <p:spPr>
          <a:xfrm>
            <a:off x="1207008" y="3291840"/>
            <a:ext cx="2768498" cy="804672"/>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The chip guarantees an observer is always invoked. It cannot make the observer right about a disguised request. The miss rate has a set and a scorer now, and no number yet.</a:t>
            </a:r>
            <a:endParaRPr lang="en-US" sz="1050" dirty="0"/>
          </a:p>
        </p:txBody>
      </p:sp>
      <p:sp>
        <p:nvSpPr>
          <p:cNvPr id="29" name="icon circle"/>
          <p:cNvSpPr/>
          <p:nvPr/>
        </p:nvSpPr>
        <p:spPr>
          <a:xfrm>
            <a:off x="4368698" y="2999232"/>
            <a:ext cx="512064" cy="512064"/>
          </a:xfrm>
          <a:prstGeom prst="ellipse">
            <a:avLst/>
          </a:prstGeom>
          <a:solidFill>
            <a:schemeClr val="accent1"/>
          </a:solidFill>
          <a:ln w="12700">
            <a:solidFill>
              <a:schemeClr val="accent1"/>
            </a:solidFill>
            <a:prstDash val="solid"/>
          </a:ln>
        </p:spPr>
      </p:sp>
      <p:pic>
        <p:nvPicPr>
          <p:cNvPr id="30" name="FiAlertTriangle" descr="preencoded.png">    </p:cNvPr>
          <p:cNvPicPr>
            <a:picLocks noChangeAspect="1"/>
          </p:cNvPicPr>
          <p:nvPr/>
        </p:nvPicPr>
        <p:blipFill>
          <a:blip r:embed="rId2"/>
          <a:stretch>
            <a:fillRect/>
          </a:stretch>
        </p:blipFill>
        <p:spPr>
          <a:xfrm>
            <a:off x="4496714" y="3127248"/>
            <a:ext cx="256032" cy="256032"/>
          </a:xfrm>
          <a:prstGeom prst="rect">
            <a:avLst/>
          </a:prstGeom>
        </p:spPr>
      </p:pic>
      <p:sp>
        <p:nvSpPr>
          <p:cNvPr id="31" name="Text 27"/>
          <p:cNvSpPr txBox="1"/>
          <p:nvPr/>
        </p:nvSpPr>
        <p:spPr>
          <a:xfrm>
            <a:off x="5027066" y="2953512"/>
            <a:ext cx="2768498" cy="320040"/>
          </a:xfrm>
          <a:prstGeom prst="rect">
            <a:avLst/>
          </a:prstGeom>
          <a:noFill/>
          <a:ln/>
        </p:spPr>
        <p:txBody>
          <a:bodyPr wrap="square" lIns="0" tIns="0" rIns="0" bIns="0" rtlCol="0" anchor="t">
            <a:normAutofit/>
          </a:bodyPr>
          <a:lstStyle/>
          <a:p>
            <a:pPr indent="0" marL="0">
              <a:buNone/>
            </a:pPr>
            <a:r>
              <a:rPr lang="en-US" sz="1400" b="1" dirty="0">
                <a:solidFill>
                  <a:schemeClr val="tx1"/>
                </a:solidFill>
                <a:latin typeface="Arial" pitchFamily="34" charset="0"/>
                <a:ea typeface="Arial" pitchFamily="34" charset="-122"/>
                <a:cs typeface="Arial" pitchFamily="34" charset="-120"/>
              </a:rPr>
              <a:t>False halts</a:t>
            </a:r>
            <a:endParaRPr lang="en-US" sz="1400" dirty="0"/>
          </a:p>
        </p:txBody>
      </p:sp>
      <p:sp>
        <p:nvSpPr>
          <p:cNvPr id="32" name="Text 28"/>
          <p:cNvSpPr txBox="1"/>
          <p:nvPr/>
        </p:nvSpPr>
        <p:spPr>
          <a:xfrm>
            <a:off x="5027066" y="3291840"/>
            <a:ext cx="2768498" cy="804672"/>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The first support ticket will read: the governor halted my rack. The rate is not measured yet, and a person who sees a hundred holds a day signs the hundred-and-first unread.</a:t>
            </a:r>
            <a:endParaRPr lang="en-US" sz="1050" dirty="0"/>
          </a:p>
        </p:txBody>
      </p:sp>
      <p:sp>
        <p:nvSpPr>
          <p:cNvPr id="33" name="icon circle"/>
          <p:cNvSpPr/>
          <p:nvPr/>
        </p:nvSpPr>
        <p:spPr>
          <a:xfrm>
            <a:off x="8188757" y="2999232"/>
            <a:ext cx="512064" cy="512064"/>
          </a:xfrm>
          <a:prstGeom prst="ellipse">
            <a:avLst/>
          </a:prstGeom>
          <a:solidFill>
            <a:schemeClr val="accent1"/>
          </a:solidFill>
          <a:ln w="12700">
            <a:solidFill>
              <a:schemeClr val="accent1"/>
            </a:solidFill>
            <a:prstDash val="solid"/>
          </a:ln>
        </p:spPr>
      </p:sp>
      <p:pic>
        <p:nvPicPr>
          <p:cNvPr id="34" name="FiServer" descr="preencoded.png">    </p:cNvPr>
          <p:cNvPicPr>
            <a:picLocks noChangeAspect="1"/>
          </p:cNvPicPr>
          <p:nvPr/>
        </p:nvPicPr>
        <p:blipFill>
          <a:blip r:embed="rId3"/>
          <a:stretch>
            <a:fillRect/>
          </a:stretch>
        </p:blipFill>
        <p:spPr>
          <a:xfrm>
            <a:off x="8316773" y="3127248"/>
            <a:ext cx="256032" cy="256032"/>
          </a:xfrm>
          <a:prstGeom prst="rect">
            <a:avLst/>
          </a:prstGeom>
        </p:spPr>
      </p:pic>
      <p:sp>
        <p:nvSpPr>
          <p:cNvPr id="35" name="Text 30"/>
          <p:cNvSpPr txBox="1"/>
          <p:nvPr/>
        </p:nvSpPr>
        <p:spPr>
          <a:xfrm>
            <a:off x="8847125" y="2953512"/>
            <a:ext cx="2768498" cy="320040"/>
          </a:xfrm>
          <a:prstGeom prst="rect">
            <a:avLst/>
          </a:prstGeom>
          <a:noFill/>
          <a:ln/>
        </p:spPr>
        <p:txBody>
          <a:bodyPr wrap="square" lIns="0" tIns="0" rIns="0" bIns="0" rtlCol="0" anchor="t">
            <a:normAutofit/>
          </a:bodyPr>
          <a:lstStyle/>
          <a:p>
            <a:pPr indent="0" marL="0">
              <a:buNone/>
            </a:pPr>
            <a:r>
              <a:rPr lang="en-US" sz="1400" b="1" dirty="0">
                <a:solidFill>
                  <a:schemeClr val="tx1"/>
                </a:solidFill>
                <a:latin typeface="Arial" pitchFamily="34" charset="0"/>
                <a:ea typeface="Arial" pitchFamily="34" charset="-122"/>
                <a:cs typeface="Arial" pitchFamily="34" charset="-120"/>
              </a:rPr>
              <a:t>The levers, and the NDA</a:t>
            </a:r>
            <a:endParaRPr lang="en-US" sz="1400" dirty="0"/>
          </a:p>
        </p:txBody>
      </p:sp>
      <p:sp>
        <p:nvSpPr>
          <p:cNvPr id="36" name="Text 31"/>
          <p:cNvSpPr txBox="1"/>
          <p:nvPr/>
        </p:nvSpPr>
        <p:spPr>
          <a:xfrm>
            <a:off x="8847125" y="3291840"/>
            <a:ext cx="2768498" cy="804672"/>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Reset is grouped on today's HGX board; the per-module signals sit in a design guide under NDA. The retrofit case adds: can the BMC slot drive them, and what else can undo them.</a:t>
            </a:r>
            <a:endParaRPr lang="en-US" sz="1050" dirty="0"/>
          </a:p>
        </p:txBody>
      </p:sp>
      <p:sp>
        <p:nvSpPr>
          <p:cNvPr id="37" name="icon circle"/>
          <p:cNvSpPr/>
          <p:nvPr/>
        </p:nvSpPr>
        <p:spPr>
          <a:xfrm>
            <a:off x="548640" y="4233672"/>
            <a:ext cx="512064" cy="512064"/>
          </a:xfrm>
          <a:prstGeom prst="ellipse">
            <a:avLst/>
          </a:prstGeom>
          <a:solidFill>
            <a:schemeClr val="accent1"/>
          </a:solidFill>
          <a:ln w="12700">
            <a:solidFill>
              <a:schemeClr val="accent1"/>
            </a:solidFill>
            <a:prstDash val="solid"/>
          </a:ln>
        </p:spPr>
      </p:sp>
      <p:pic>
        <p:nvPicPr>
          <p:cNvPr id="38" name="FiClock" descr="preencoded.png">    </p:cNvPr>
          <p:cNvPicPr>
            <a:picLocks noChangeAspect="1"/>
          </p:cNvPicPr>
          <p:nvPr/>
        </p:nvPicPr>
        <p:blipFill>
          <a:blip r:embed="rId4"/>
          <a:stretch>
            <a:fillRect/>
          </a:stretch>
        </p:blipFill>
        <p:spPr>
          <a:xfrm>
            <a:off x="676656" y="4361688"/>
            <a:ext cx="256032" cy="256032"/>
          </a:xfrm>
          <a:prstGeom prst="rect">
            <a:avLst/>
          </a:prstGeom>
        </p:spPr>
      </p:pic>
      <p:sp>
        <p:nvSpPr>
          <p:cNvPr id="39" name="Text 33"/>
          <p:cNvSpPr txBox="1"/>
          <p:nvPr/>
        </p:nvSpPr>
        <p:spPr>
          <a:xfrm>
            <a:off x="1207008" y="4187952"/>
            <a:ext cx="2768498" cy="320040"/>
          </a:xfrm>
          <a:prstGeom prst="rect">
            <a:avLst/>
          </a:prstGeom>
          <a:noFill/>
          <a:ln/>
        </p:spPr>
        <p:txBody>
          <a:bodyPr wrap="square" lIns="0" tIns="0" rIns="0" bIns="0" rtlCol="0" anchor="t">
            <a:normAutofit/>
          </a:bodyPr>
          <a:lstStyle/>
          <a:p>
            <a:pPr indent="0" marL="0">
              <a:buNone/>
            </a:pPr>
            <a:r>
              <a:rPr lang="en-US" sz="1400" b="1" dirty="0">
                <a:solidFill>
                  <a:schemeClr val="tx1"/>
                </a:solidFill>
                <a:latin typeface="Arial" pitchFamily="34" charset="0"/>
                <a:ea typeface="Arial" pitchFamily="34" charset="-122"/>
                <a:cs typeface="Arial" pitchFamily="34" charset="-120"/>
              </a:rPr>
              <a:t>Cost</a:t>
            </a:r>
            <a:endParaRPr lang="en-US" sz="1400" dirty="0"/>
          </a:p>
        </p:txBody>
      </p:sp>
      <p:sp>
        <p:nvSpPr>
          <p:cNvPr id="40" name="Text 34"/>
          <p:cNvSpPr txBox="1"/>
          <p:nvPr/>
        </p:nvSpPr>
        <p:spPr>
          <a:xfrm>
            <a:off x="1207008" y="4526280"/>
            <a:ext cx="2768498" cy="804672"/>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One P-384 signature costs 17 ms on the OTBN engine. Batching keeps it under one percent in the model, not yet in silicon.</a:t>
            </a:r>
            <a:endParaRPr lang="en-US" sz="1050" dirty="0"/>
          </a:p>
        </p:txBody>
      </p:sp>
      <p:sp>
        <p:nvSpPr>
          <p:cNvPr id="41" name="icon circle"/>
          <p:cNvSpPr/>
          <p:nvPr/>
        </p:nvSpPr>
        <p:spPr>
          <a:xfrm>
            <a:off x="4368698" y="4233672"/>
            <a:ext cx="512064" cy="512064"/>
          </a:xfrm>
          <a:prstGeom prst="ellipse">
            <a:avLst/>
          </a:prstGeom>
          <a:solidFill>
            <a:schemeClr val="accent1"/>
          </a:solidFill>
          <a:ln w="12700">
            <a:solidFill>
              <a:schemeClr val="accent1"/>
            </a:solidFill>
            <a:prstDash val="solid"/>
          </a:ln>
        </p:spPr>
      </p:sp>
      <p:pic>
        <p:nvPicPr>
          <p:cNvPr id="42" name="FiMapPin" descr="preencoded.png">    </p:cNvPr>
          <p:cNvPicPr>
            <a:picLocks noChangeAspect="1"/>
          </p:cNvPicPr>
          <p:nvPr/>
        </p:nvPicPr>
        <p:blipFill>
          <a:blip r:embed="rId5"/>
          <a:stretch>
            <a:fillRect/>
          </a:stretch>
        </p:blipFill>
        <p:spPr>
          <a:xfrm>
            <a:off x="4496714" y="4361688"/>
            <a:ext cx="256032" cy="256032"/>
          </a:xfrm>
          <a:prstGeom prst="rect">
            <a:avLst/>
          </a:prstGeom>
        </p:spPr>
      </p:pic>
      <p:sp>
        <p:nvSpPr>
          <p:cNvPr id="43" name="Text 36"/>
          <p:cNvSpPr txBox="1"/>
          <p:nvPr/>
        </p:nvSpPr>
        <p:spPr>
          <a:xfrm>
            <a:off x="5027066" y="4187952"/>
            <a:ext cx="2768498" cy="320040"/>
          </a:xfrm>
          <a:prstGeom prst="rect">
            <a:avLst/>
          </a:prstGeom>
          <a:noFill/>
          <a:ln/>
        </p:spPr>
        <p:txBody>
          <a:bodyPr wrap="square" lIns="0" tIns="0" rIns="0" bIns="0" rtlCol="0" anchor="t">
            <a:normAutofit/>
          </a:bodyPr>
          <a:lstStyle/>
          <a:p>
            <a:pPr indent="0" marL="0">
              <a:buNone/>
            </a:pPr>
            <a:r>
              <a:rPr lang="en-US" sz="1400" b="1" dirty="0">
                <a:solidFill>
                  <a:schemeClr val="tx1"/>
                </a:solidFill>
                <a:latin typeface="Arial" pitchFamily="34" charset="0"/>
                <a:ea typeface="Arial" pitchFamily="34" charset="-122"/>
                <a:cs typeface="Arial" pitchFamily="34" charset="-120"/>
              </a:rPr>
              <a:t>Coverage and people</a:t>
            </a:r>
            <a:endParaRPr lang="en-US" sz="1400" dirty="0"/>
          </a:p>
        </p:txBody>
      </p:sp>
      <p:sp>
        <p:nvSpPr>
          <p:cNvPr id="44" name="Text 37"/>
          <p:cNvSpPr txBox="1"/>
          <p:nvPr/>
        </p:nvSpPr>
        <p:spPr>
          <a:xfrm>
            <a:off x="5027066" y="4526280"/>
            <a:ext cx="2768498" cy="804672"/>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A device nobody wired through a gate is not in the cut. A person is an effector no chip gates: a model that talks someone into wiring the money has routed around everything here.</a:t>
            </a:r>
            <a:endParaRPr lang="en-US" sz="1050" dirty="0"/>
          </a:p>
        </p:txBody>
      </p:sp>
      <p:sp>
        <p:nvSpPr>
          <p:cNvPr id="45" name="icon circle"/>
          <p:cNvSpPr/>
          <p:nvPr/>
        </p:nvSpPr>
        <p:spPr>
          <a:xfrm>
            <a:off x="8188757" y="4233672"/>
            <a:ext cx="512064" cy="512064"/>
          </a:xfrm>
          <a:prstGeom prst="ellipse">
            <a:avLst/>
          </a:prstGeom>
          <a:solidFill>
            <a:schemeClr val="accent1"/>
          </a:solidFill>
          <a:ln w="12700">
            <a:solidFill>
              <a:schemeClr val="accent1"/>
            </a:solidFill>
            <a:prstDash val="solid"/>
          </a:ln>
        </p:spPr>
      </p:sp>
      <p:pic>
        <p:nvPicPr>
          <p:cNvPr id="46" name="FiKey" descr="preencoded.png">    </p:cNvPr>
          <p:cNvPicPr>
            <a:picLocks noChangeAspect="1"/>
          </p:cNvPicPr>
          <p:nvPr/>
        </p:nvPicPr>
        <p:blipFill>
          <a:blip r:embed="rId6"/>
          <a:stretch>
            <a:fillRect/>
          </a:stretch>
        </p:blipFill>
        <p:spPr>
          <a:xfrm>
            <a:off x="8316773" y="4361688"/>
            <a:ext cx="256032" cy="256032"/>
          </a:xfrm>
          <a:prstGeom prst="rect">
            <a:avLst/>
          </a:prstGeom>
        </p:spPr>
      </p:pic>
      <p:sp>
        <p:nvSpPr>
          <p:cNvPr id="47" name="Text 39"/>
          <p:cNvSpPr txBox="1"/>
          <p:nvPr/>
        </p:nvSpPr>
        <p:spPr>
          <a:xfrm>
            <a:off x="8847125" y="4187952"/>
            <a:ext cx="2768498" cy="320040"/>
          </a:xfrm>
          <a:prstGeom prst="rect">
            <a:avLst/>
          </a:prstGeom>
          <a:noFill/>
          <a:ln/>
        </p:spPr>
        <p:txBody>
          <a:bodyPr wrap="square" lIns="0" tIns="0" rIns="0" bIns="0" rtlCol="0" anchor="t">
            <a:normAutofit/>
          </a:bodyPr>
          <a:lstStyle/>
          <a:p>
            <a:pPr indent="0" marL="0">
              <a:buNone/>
            </a:pPr>
            <a:r>
              <a:rPr lang="en-US" sz="1400" b="1" dirty="0">
                <a:solidFill>
                  <a:schemeClr val="tx1"/>
                </a:solidFill>
                <a:latin typeface="Arial" pitchFamily="34" charset="0"/>
                <a:ea typeface="Arial" pitchFamily="34" charset="-122"/>
                <a:cs typeface="Arial" pitchFamily="34" charset="-120"/>
              </a:rPr>
              <a:t>Governance and adoption</a:t>
            </a:r>
            <a:endParaRPr lang="en-US" sz="1400" dirty="0"/>
          </a:p>
        </p:txBody>
      </p:sp>
      <p:sp>
        <p:nvSpPr>
          <p:cNvPr id="48" name="Text 40"/>
          <p:cNvSpPr txBox="1"/>
          <p:nvPr/>
        </p:nvSpPr>
        <p:spPr>
          <a:xfrm>
            <a:off x="8847125" y="4526280"/>
            <a:ext cx="2768498" cy="804672"/>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Who holds the quorum keys and how far apart they must be, whose policy governs a shared rack, and the first device maker to check a stamp. The integrated tier needs NVIDIA.</a:t>
            </a:r>
            <a:endParaRPr lang="en-US" sz="1050" dirty="0"/>
          </a:p>
        </p:txBody>
      </p:sp>
      <p:sp>
        <p:nvSpPr>
          <p:cNvPr id="49" name="analogy"/>
          <p:cNvSpPr/>
          <p:nvPr/>
        </p:nvSpPr>
        <p:spPr>
          <a:xfrm>
            <a:off x="548640" y="5440680"/>
            <a:ext cx="11094415" cy="777240"/>
          </a:xfrm>
          <a:prstGeom prst="roundRect">
            <a:avLst>
              <a:gd name="adj" fmla="val 9412"/>
            </a:avLst>
          </a:prstGeom>
          <a:solidFill>
            <a:schemeClr val="tx1"/>
          </a:solidFill>
          <a:ln w="12700">
            <a:solidFill>
              <a:schemeClr val="tx1"/>
            </a:solidFill>
            <a:prstDash val="solid"/>
          </a:ln>
        </p:spPr>
      </p:sp>
      <p:sp>
        <p:nvSpPr>
          <p:cNvPr id="50" name="Text 42"/>
          <p:cNvSpPr txBox="1"/>
          <p:nvPr/>
        </p:nvSpPr>
        <p:spPr>
          <a:xfrm>
            <a:off x="822960" y="5440680"/>
            <a:ext cx="1554480" cy="77724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docs 18, section 5</a:t>
            </a:r>
            <a:endParaRPr lang="en-US" sz="1000" dirty="0"/>
          </a:p>
        </p:txBody>
      </p:sp>
      <p:sp>
        <p:nvSpPr>
          <p:cNvPr id="51" name="Text 43"/>
          <p:cNvSpPr txBox="1"/>
          <p:nvPr/>
        </p:nvSpPr>
        <p:spPr>
          <a:xfrm>
            <a:off x="2514600" y="5440680"/>
            <a:ext cx="8854135" cy="77724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The perimeter firewall decides whether the packet leaves; it does not decide what the server on the far side does with it. The answer is to move the credential behind a ticket-checking adapter, not to reach through the bank.</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Challenges, technically: mechanism, status</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30</a:t>
            </a:r>
            <a:endParaRPr lang="en-US" sz="1100" dirty="0"/>
          </a:p>
        </p:txBody>
      </p:sp>
      <p:sp>
        <p:nvSpPr>
          <p:cNvPr id="5" name="table header"/>
          <p:cNvSpPr/>
          <p:nvPr/>
        </p:nvSpPr>
        <p:spPr>
          <a:xfrm>
            <a:off x="548640" y="1417320"/>
            <a:ext cx="11094415" cy="384048"/>
          </a:xfrm>
          <a:prstGeom prst="rect">
            <a:avLst/>
          </a:prstGeom>
          <a:solidFill>
            <a:schemeClr val="tx2"/>
          </a:solidFill>
          <a:ln w="12700">
            <a:solidFill>
              <a:schemeClr val="tx2"/>
            </a:solidFill>
            <a:prstDash val="solid"/>
          </a:ln>
        </p:spPr>
      </p:sp>
      <p:sp>
        <p:nvSpPr>
          <p:cNvPr id="6" name="Text 4"/>
          <p:cNvSpPr txBox="1"/>
          <p:nvPr/>
        </p:nvSpPr>
        <p:spPr>
          <a:xfrm>
            <a:off x="630936" y="1417320"/>
            <a:ext cx="2029968"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Challenge</a:t>
            </a:r>
            <a:endParaRPr lang="en-US" sz="1000" dirty="0"/>
          </a:p>
        </p:txBody>
      </p:sp>
      <p:sp>
        <p:nvSpPr>
          <p:cNvPr id="7" name="Text 5"/>
          <p:cNvSpPr txBox="1"/>
          <p:nvPr/>
        </p:nvSpPr>
        <p:spPr>
          <a:xfrm>
            <a:off x="2825496" y="1417320"/>
            <a:ext cx="4864608"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What the design does</a:t>
            </a:r>
            <a:endParaRPr lang="en-US" sz="1000" dirty="0"/>
          </a:p>
        </p:txBody>
      </p:sp>
      <p:sp>
        <p:nvSpPr>
          <p:cNvPr id="8" name="Text 6"/>
          <p:cNvSpPr txBox="1"/>
          <p:nvPr/>
        </p:nvSpPr>
        <p:spPr>
          <a:xfrm>
            <a:off x="7854696" y="1417320"/>
            <a:ext cx="3706063"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Status</a:t>
            </a:r>
            <a:endParaRPr lang="en-US" sz="1000" dirty="0"/>
          </a:p>
        </p:txBody>
      </p:sp>
      <p:sp>
        <p:nvSpPr>
          <p:cNvPr id="9" name="table row"/>
          <p:cNvSpPr/>
          <p:nvPr/>
        </p:nvSpPr>
        <p:spPr>
          <a:xfrm>
            <a:off x="548640" y="1801368"/>
            <a:ext cx="11094415" cy="629412"/>
          </a:xfrm>
          <a:prstGeom prst="rect">
            <a:avLst/>
          </a:prstGeom>
          <a:solidFill>
            <a:srgbClr val="EEF2EF"/>
          </a:solidFill>
          <a:ln w="9525">
            <a:solidFill>
              <a:srgbClr val="EEF2EF"/>
            </a:solidFill>
            <a:prstDash val="solid"/>
          </a:ln>
        </p:spPr>
      </p:sp>
      <p:sp>
        <p:nvSpPr>
          <p:cNvPr id="10" name="icon circle"/>
          <p:cNvSpPr/>
          <p:nvPr/>
        </p:nvSpPr>
        <p:spPr>
          <a:xfrm>
            <a:off x="630936" y="1883664"/>
            <a:ext cx="384048" cy="384048"/>
          </a:xfrm>
          <a:prstGeom prst="ellipse">
            <a:avLst/>
          </a:prstGeom>
          <a:solidFill>
            <a:schemeClr val="accent1"/>
          </a:solidFill>
          <a:ln w="12700">
            <a:solidFill>
              <a:schemeClr val="accent1"/>
            </a:solidFill>
            <a:prstDash val="solid"/>
          </a:ln>
        </p:spPr>
      </p:sp>
      <p:pic>
        <p:nvPicPr>
          <p:cNvPr id="11" name="FiGitBranch" descr="preencoded.png">    </p:cNvPr>
          <p:cNvPicPr>
            <a:picLocks noChangeAspect="1"/>
          </p:cNvPicPr>
          <p:nvPr/>
        </p:nvPicPr>
        <p:blipFill>
          <a:blip r:embed="rId1"/>
          <a:stretch>
            <a:fillRect/>
          </a:stretch>
        </p:blipFill>
        <p:spPr>
          <a:xfrm>
            <a:off x="726948" y="1979676"/>
            <a:ext cx="192024" cy="192024"/>
          </a:xfrm>
          <a:prstGeom prst="rect">
            <a:avLst/>
          </a:prstGeom>
        </p:spPr>
      </p:pic>
      <p:sp>
        <p:nvSpPr>
          <p:cNvPr id="12" name="Text 9"/>
          <p:cNvSpPr txBox="1"/>
          <p:nvPr/>
        </p:nvSpPr>
        <p:spPr>
          <a:xfrm>
            <a:off x="1133856" y="1883664"/>
            <a:ext cx="1527048" cy="46482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Reach: a payment system two or three hops out</a:t>
            </a:r>
            <a:endParaRPr lang="en-US" sz="1000" dirty="0"/>
          </a:p>
        </p:txBody>
      </p:sp>
      <p:sp>
        <p:nvSpPr>
          <p:cNvPr id="13" name="Text 10"/>
          <p:cNvSpPr txBox="1"/>
          <p:nvPr/>
        </p:nvSpPr>
        <p:spPr>
          <a:xfrm>
            <a:off x="2825496" y="1883664"/>
            <a:ext cx="4864608"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A: the comparator in the device. B: move the credential behind a ticket-checking adapter, so the model's runtime never holds the API key. C: open the DPU flow to the provider only under a live ticket. D: always the signed record</a:t>
            </a:r>
            <a:endParaRPr lang="en-US" sz="1000" dirty="0"/>
          </a:p>
        </p:txBody>
      </p:sp>
      <p:sp>
        <p:nvSpPr>
          <p:cNvPr id="14" name="Text 11"/>
          <p:cNvSpPr txBox="1"/>
          <p:nvPr/>
        </p:nvSpPr>
        <p:spPr>
          <a:xfrm>
            <a:off x="7854696" y="1883664"/>
            <a:ext cx="3706063"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A and C modelled and tested (H6, H2, H17). B is a pattern the endpoint model already expresses; the three-hop payment narration is the next piece of work</a:t>
            </a:r>
            <a:endParaRPr lang="en-US" sz="1000" dirty="0"/>
          </a:p>
        </p:txBody>
      </p:sp>
      <p:sp>
        <p:nvSpPr>
          <p:cNvPr id="15" name="table row"/>
          <p:cNvSpPr/>
          <p:nvPr/>
        </p:nvSpPr>
        <p:spPr>
          <a:xfrm>
            <a:off x="548640" y="2430780"/>
            <a:ext cx="11094415" cy="784352"/>
          </a:xfrm>
          <a:prstGeom prst="rect">
            <a:avLst/>
          </a:prstGeom>
          <a:solidFill>
            <a:srgbClr val="FFFFFF"/>
          </a:solidFill>
          <a:ln w="9525">
            <a:solidFill>
              <a:srgbClr val="EEF2EF"/>
            </a:solidFill>
            <a:prstDash val="solid"/>
          </a:ln>
        </p:spPr>
      </p:sp>
      <p:sp>
        <p:nvSpPr>
          <p:cNvPr id="16" name="icon circle"/>
          <p:cNvSpPr/>
          <p:nvPr/>
        </p:nvSpPr>
        <p:spPr>
          <a:xfrm>
            <a:off x="630936" y="2513076"/>
            <a:ext cx="384048" cy="384048"/>
          </a:xfrm>
          <a:prstGeom prst="ellipse">
            <a:avLst/>
          </a:prstGeom>
          <a:solidFill>
            <a:schemeClr val="accent1"/>
          </a:solidFill>
          <a:ln w="12700">
            <a:solidFill>
              <a:schemeClr val="accent1"/>
            </a:solidFill>
            <a:prstDash val="solid"/>
          </a:ln>
        </p:spPr>
      </p:sp>
      <p:pic>
        <p:nvPicPr>
          <p:cNvPr id="17" name="FiEyeOff" descr="preencoded.png">    </p:cNvPr>
          <p:cNvPicPr>
            <a:picLocks noChangeAspect="1"/>
          </p:cNvPicPr>
          <p:nvPr/>
        </p:nvPicPr>
        <p:blipFill>
          <a:blip r:embed="rId2"/>
          <a:stretch>
            <a:fillRect/>
          </a:stretch>
        </p:blipFill>
        <p:spPr>
          <a:xfrm>
            <a:off x="726948" y="2609088"/>
            <a:ext cx="192024" cy="192024"/>
          </a:xfrm>
          <a:prstGeom prst="rect">
            <a:avLst/>
          </a:prstGeom>
        </p:spPr>
      </p:pic>
      <p:sp>
        <p:nvSpPr>
          <p:cNvPr id="18" name="Text 14"/>
          <p:cNvSpPr txBox="1"/>
          <p:nvPr/>
        </p:nvSpPr>
        <p:spPr>
          <a:xfrm>
            <a:off x="1133856" y="2513076"/>
            <a:ext cx="1527048" cy="61976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Meaning: observers can be fooled</a:t>
            </a:r>
            <a:endParaRPr lang="en-US" sz="1000" dirty="0"/>
          </a:p>
        </p:txBody>
      </p:sp>
      <p:sp>
        <p:nvSpPr>
          <p:cNvPr id="19" name="Text 15"/>
          <p:cNvSpPr txBox="1"/>
          <p:nvPr/>
        </p:nvSpPr>
        <p:spPr>
          <a:xfrm>
            <a:off x="2825496" y="2513076"/>
            <a:ext cx="4864608" cy="6197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Observer always invoked, cannot be impersonated, separate from the model; hazard classes, legibility floor, session hazard budget, TRNG audit sampling with escrow; two witnesses required for high-authority actions</a:t>
            </a:r>
            <a:endParaRPr lang="en-US" sz="1000" dirty="0"/>
          </a:p>
        </p:txBody>
      </p:sp>
      <p:sp>
        <p:nvSpPr>
          <p:cNvPr id="20" name="Text 16"/>
          <p:cNvSpPr txBox="1"/>
          <p:nvPr/>
        </p:nvSpPr>
        <p:spPr>
          <a:xfrm>
            <a:off x="7854696" y="2513076"/>
            <a:ext cx="3706063" cy="6197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Guarantees tested (H17, H18). The evaluation set exists (YB-0052, in revision); the miss rate is not measured, and the budget it is measured against must come from the rulebook, not from an agent</a:t>
            </a:r>
            <a:endParaRPr lang="en-US" sz="1000" dirty="0"/>
          </a:p>
        </p:txBody>
      </p:sp>
      <p:sp>
        <p:nvSpPr>
          <p:cNvPr id="21" name="table row"/>
          <p:cNvSpPr/>
          <p:nvPr/>
        </p:nvSpPr>
        <p:spPr>
          <a:xfrm>
            <a:off x="548640" y="3215132"/>
            <a:ext cx="11094415" cy="784352"/>
          </a:xfrm>
          <a:prstGeom prst="rect">
            <a:avLst/>
          </a:prstGeom>
          <a:solidFill>
            <a:srgbClr val="EEF2EF"/>
          </a:solidFill>
          <a:ln w="9525">
            <a:solidFill>
              <a:srgbClr val="EEF2EF"/>
            </a:solidFill>
            <a:prstDash val="solid"/>
          </a:ln>
        </p:spPr>
      </p:sp>
      <p:sp>
        <p:nvSpPr>
          <p:cNvPr id="22" name="icon circle"/>
          <p:cNvSpPr/>
          <p:nvPr/>
        </p:nvSpPr>
        <p:spPr>
          <a:xfrm>
            <a:off x="630936" y="3297428"/>
            <a:ext cx="384048" cy="384048"/>
          </a:xfrm>
          <a:prstGeom prst="ellipse">
            <a:avLst/>
          </a:prstGeom>
          <a:solidFill>
            <a:schemeClr val="accent1"/>
          </a:solidFill>
          <a:ln w="12700">
            <a:solidFill>
              <a:schemeClr val="accent1"/>
            </a:solidFill>
            <a:prstDash val="solid"/>
          </a:ln>
        </p:spPr>
      </p:sp>
      <p:pic>
        <p:nvPicPr>
          <p:cNvPr id="23" name="FiActivity" descr="preencoded.png">    </p:cNvPr>
          <p:cNvPicPr>
            <a:picLocks noChangeAspect="1"/>
          </p:cNvPicPr>
          <p:nvPr/>
        </p:nvPicPr>
        <p:blipFill>
          <a:blip r:embed="rId3"/>
          <a:stretch>
            <a:fillRect/>
          </a:stretch>
        </p:blipFill>
        <p:spPr>
          <a:xfrm>
            <a:off x="726948" y="3393440"/>
            <a:ext cx="192024" cy="192024"/>
          </a:xfrm>
          <a:prstGeom prst="rect">
            <a:avLst/>
          </a:prstGeom>
        </p:spPr>
      </p:pic>
      <p:sp>
        <p:nvSpPr>
          <p:cNvPr id="24" name="Text 19"/>
          <p:cNvSpPr txBox="1"/>
          <p:nvPr/>
        </p:nvSpPr>
        <p:spPr>
          <a:xfrm>
            <a:off x="1133856" y="3297428"/>
            <a:ext cx="1527048" cy="61976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Theorem to simulation</a:t>
            </a:r>
            <a:endParaRPr lang="en-US" sz="1000" dirty="0"/>
          </a:p>
        </p:txBody>
      </p:sp>
      <p:sp>
        <p:nvSpPr>
          <p:cNvPr id="25" name="Text 20"/>
          <p:cNvSpPr txBox="1"/>
          <p:nvPr/>
        </p:nvSpPr>
        <p:spPr>
          <a:xfrm>
            <a:off x="2825496" y="3297428"/>
            <a:ext cx="4864608" cy="6197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L4 replays every test's trace through the proven machine; L5 compares the reference gate and the governor on the catalogue</a:t>
            </a:r>
            <a:endParaRPr lang="en-US" sz="1000" dirty="0"/>
          </a:p>
        </p:txBody>
      </p:sp>
      <p:sp>
        <p:nvSpPr>
          <p:cNvPr id="26" name="Text 21"/>
          <p:cNvSpPr txBox="1"/>
          <p:nvPr/>
        </p:nvSpPr>
        <p:spPr>
          <a:xfrm>
            <a:off x="7854696" y="3297428"/>
            <a:ext cx="3706063" cy="6197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The replayer was widened to accept a boot step and burned tickets the theorem lacks; the theorem gains the steps or the simulation loses them. 18 of 21 compared entries agree; five pinned, not yet called bug or ambiguity</a:t>
            </a:r>
            <a:endParaRPr lang="en-US" sz="1000" dirty="0"/>
          </a:p>
        </p:txBody>
      </p:sp>
      <p:sp>
        <p:nvSpPr>
          <p:cNvPr id="27" name="table row"/>
          <p:cNvSpPr/>
          <p:nvPr/>
        </p:nvSpPr>
        <p:spPr>
          <a:xfrm>
            <a:off x="548640" y="3999484"/>
            <a:ext cx="11094415" cy="474472"/>
          </a:xfrm>
          <a:prstGeom prst="rect">
            <a:avLst/>
          </a:prstGeom>
          <a:solidFill>
            <a:srgbClr val="FFFFFF"/>
          </a:solidFill>
          <a:ln w="9525">
            <a:solidFill>
              <a:srgbClr val="EEF2EF"/>
            </a:solidFill>
            <a:prstDash val="solid"/>
          </a:ln>
        </p:spPr>
      </p:sp>
      <p:sp>
        <p:nvSpPr>
          <p:cNvPr id="28" name="icon circle"/>
          <p:cNvSpPr/>
          <p:nvPr/>
        </p:nvSpPr>
        <p:spPr>
          <a:xfrm>
            <a:off x="630936" y="4081780"/>
            <a:ext cx="384048" cy="384048"/>
          </a:xfrm>
          <a:prstGeom prst="ellipse">
            <a:avLst/>
          </a:prstGeom>
          <a:solidFill>
            <a:schemeClr val="accent1"/>
          </a:solidFill>
          <a:ln w="12700">
            <a:solidFill>
              <a:schemeClr val="accent1"/>
            </a:solidFill>
            <a:prstDash val="solid"/>
          </a:ln>
        </p:spPr>
      </p:sp>
      <p:pic>
        <p:nvPicPr>
          <p:cNvPr id="29" name="FiAlertTriangle" descr="preencoded.png">    </p:cNvPr>
          <p:cNvPicPr>
            <a:picLocks noChangeAspect="1"/>
          </p:cNvPicPr>
          <p:nvPr/>
        </p:nvPicPr>
        <p:blipFill>
          <a:blip r:embed="rId4"/>
          <a:stretch>
            <a:fillRect/>
          </a:stretch>
        </p:blipFill>
        <p:spPr>
          <a:xfrm>
            <a:off x="726948" y="4177792"/>
            <a:ext cx="192024" cy="192024"/>
          </a:xfrm>
          <a:prstGeom prst="rect">
            <a:avLst/>
          </a:prstGeom>
        </p:spPr>
      </p:pic>
      <p:sp>
        <p:nvSpPr>
          <p:cNvPr id="30" name="Text 24"/>
          <p:cNvSpPr txBox="1"/>
          <p:nvPr/>
        </p:nvSpPr>
        <p:spPr>
          <a:xfrm>
            <a:off x="1133856" y="4081780"/>
            <a:ext cx="1527048" cy="30988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False halts</a:t>
            </a:r>
            <a:endParaRPr lang="en-US" sz="1000" dirty="0"/>
          </a:p>
        </p:txBody>
      </p:sp>
      <p:sp>
        <p:nvSpPr>
          <p:cNvPr id="31" name="Text 25"/>
          <p:cNvSpPr txBox="1"/>
          <p:nvPr/>
        </p:nvSpPr>
        <p:spPr>
          <a:xfrm>
            <a:off x="2825496" y="4081780"/>
            <a:ext cx="4864608" cy="30988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Loop beacon inside the signed heartbeat; loss of current declared after two sense periods (debounce); a jumpered governor caught within two heartbeats; FMEA</a:t>
            </a:r>
            <a:endParaRPr lang="en-US" sz="1000" dirty="0"/>
          </a:p>
        </p:txBody>
      </p:sp>
      <p:sp>
        <p:nvSpPr>
          <p:cNvPr id="32" name="Text 26"/>
          <p:cNvSpPr txBox="1"/>
          <p:nvPr/>
        </p:nvSpPr>
        <p:spPr>
          <a:xfrm>
            <a:off x="7854696" y="4081780"/>
            <a:ext cx="3706063" cy="30988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Modelled (H11) and simulated (ngspice). Not measured on hardware (N2)</a:t>
            </a:r>
            <a:endParaRPr lang="en-US" sz="1000" dirty="0"/>
          </a:p>
        </p:txBody>
      </p:sp>
      <p:sp>
        <p:nvSpPr>
          <p:cNvPr id="33" name="table row"/>
          <p:cNvSpPr/>
          <p:nvPr/>
        </p:nvSpPr>
        <p:spPr>
          <a:xfrm>
            <a:off x="548640" y="4473956"/>
            <a:ext cx="11094415" cy="784352"/>
          </a:xfrm>
          <a:prstGeom prst="rect">
            <a:avLst/>
          </a:prstGeom>
          <a:solidFill>
            <a:srgbClr val="EEF2EF"/>
          </a:solidFill>
          <a:ln w="9525">
            <a:solidFill>
              <a:srgbClr val="EEF2EF"/>
            </a:solidFill>
            <a:prstDash val="solid"/>
          </a:ln>
        </p:spPr>
      </p:sp>
      <p:sp>
        <p:nvSpPr>
          <p:cNvPr id="34" name="icon circle"/>
          <p:cNvSpPr/>
          <p:nvPr/>
        </p:nvSpPr>
        <p:spPr>
          <a:xfrm>
            <a:off x="630936" y="4556252"/>
            <a:ext cx="384048" cy="384048"/>
          </a:xfrm>
          <a:prstGeom prst="ellipse">
            <a:avLst/>
          </a:prstGeom>
          <a:solidFill>
            <a:schemeClr val="accent1"/>
          </a:solidFill>
          <a:ln w="12700">
            <a:solidFill>
              <a:schemeClr val="accent1"/>
            </a:solidFill>
            <a:prstDash val="solid"/>
          </a:ln>
        </p:spPr>
      </p:sp>
      <p:pic>
        <p:nvPicPr>
          <p:cNvPr id="35" name="FiServer" descr="preencoded.png">    </p:cNvPr>
          <p:cNvPicPr>
            <a:picLocks noChangeAspect="1"/>
          </p:cNvPicPr>
          <p:nvPr/>
        </p:nvPicPr>
        <p:blipFill>
          <a:blip r:embed="rId5"/>
          <a:stretch>
            <a:fillRect/>
          </a:stretch>
        </p:blipFill>
        <p:spPr>
          <a:xfrm>
            <a:off x="726948" y="4652264"/>
            <a:ext cx="192024" cy="192024"/>
          </a:xfrm>
          <a:prstGeom prst="rect">
            <a:avLst/>
          </a:prstGeom>
        </p:spPr>
      </p:pic>
      <p:sp>
        <p:nvSpPr>
          <p:cNvPr id="36" name="Text 29"/>
          <p:cNvSpPr txBox="1"/>
          <p:nvPr/>
        </p:nvSpPr>
        <p:spPr>
          <a:xfrm>
            <a:off x="1133856" y="4556252"/>
            <a:ext cx="1527048" cy="61976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Levers on HGX, and the retrofit</a:t>
            </a:r>
            <a:endParaRPr lang="en-US" sz="1000" dirty="0"/>
          </a:p>
        </p:txBody>
      </p:sp>
      <p:sp>
        <p:nvSpPr>
          <p:cNvPr id="37" name="Text 30"/>
          <p:cNvSpPr txBox="1"/>
          <p:nvPr/>
        </p:nvSpPr>
        <p:spPr>
          <a:xfrm>
            <a:off x="2825496" y="4556252"/>
            <a:ext cx="4864608" cy="6197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Per-slot SMBus, power brake, PERST#, PWR_EN at the connector; grouped reset accepted as coarser; the evidence register names what is verified; P2 now records, per lever, whether a module in the DC-SCM slot can drive it and what else on the board can undo it</a:t>
            </a:r>
            <a:endParaRPr lang="en-US" sz="1000" dirty="0"/>
          </a:p>
        </p:txBody>
      </p:sp>
      <p:sp>
        <p:nvSpPr>
          <p:cNvPr id="38" name="Text 31"/>
          <p:cNvSpPr txBox="1"/>
          <p:nvPr/>
        </p:nvSpPr>
        <p:spPr>
          <a:xfrm>
            <a:off x="7854696" y="4556252"/>
            <a:ext cx="3706063" cy="6197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Evidence register done. Design guide under NDA still needed; the NDA rows stay marked, not guessed</a:t>
            </a:r>
            <a:endParaRPr lang="en-US" sz="1000" dirty="0"/>
          </a:p>
        </p:txBody>
      </p:sp>
      <p:sp>
        <p:nvSpPr>
          <p:cNvPr id="39" name="table row"/>
          <p:cNvSpPr/>
          <p:nvPr/>
        </p:nvSpPr>
        <p:spPr>
          <a:xfrm>
            <a:off x="548640" y="5258308"/>
            <a:ext cx="11094415" cy="629412"/>
          </a:xfrm>
          <a:prstGeom prst="rect">
            <a:avLst/>
          </a:prstGeom>
          <a:solidFill>
            <a:srgbClr val="FFFFFF"/>
          </a:solidFill>
          <a:ln w="9525">
            <a:solidFill>
              <a:srgbClr val="EEF2EF"/>
            </a:solidFill>
            <a:prstDash val="solid"/>
          </a:ln>
        </p:spPr>
      </p:sp>
      <p:sp>
        <p:nvSpPr>
          <p:cNvPr id="40" name="icon circle"/>
          <p:cNvSpPr/>
          <p:nvPr/>
        </p:nvSpPr>
        <p:spPr>
          <a:xfrm>
            <a:off x="630936" y="5340604"/>
            <a:ext cx="384048" cy="384048"/>
          </a:xfrm>
          <a:prstGeom prst="ellipse">
            <a:avLst/>
          </a:prstGeom>
          <a:solidFill>
            <a:schemeClr val="accent1"/>
          </a:solidFill>
          <a:ln w="12700">
            <a:solidFill>
              <a:schemeClr val="accent1"/>
            </a:solidFill>
            <a:prstDash val="solid"/>
          </a:ln>
        </p:spPr>
      </p:sp>
      <p:pic>
        <p:nvPicPr>
          <p:cNvPr id="41" name="FiClock" descr="preencoded.png">    </p:cNvPr>
          <p:cNvPicPr>
            <a:picLocks noChangeAspect="1"/>
          </p:cNvPicPr>
          <p:nvPr/>
        </p:nvPicPr>
        <p:blipFill>
          <a:blip r:embed="rId6"/>
          <a:stretch>
            <a:fillRect/>
          </a:stretch>
        </p:blipFill>
        <p:spPr>
          <a:xfrm>
            <a:off x="726948" y="5436616"/>
            <a:ext cx="192024" cy="192024"/>
          </a:xfrm>
          <a:prstGeom prst="rect">
            <a:avLst/>
          </a:prstGeom>
        </p:spPr>
      </p:pic>
      <p:sp>
        <p:nvSpPr>
          <p:cNvPr id="42" name="Text 34"/>
          <p:cNvSpPr txBox="1"/>
          <p:nvPr/>
        </p:nvSpPr>
        <p:spPr>
          <a:xfrm>
            <a:off x="1133856" y="5340604"/>
            <a:ext cx="1527048" cy="46482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Cost</a:t>
            </a:r>
            <a:endParaRPr lang="en-US" sz="1000" dirty="0"/>
          </a:p>
        </p:txBody>
      </p:sp>
      <p:sp>
        <p:nvSpPr>
          <p:cNvPr id="43" name="Text 35"/>
          <p:cNvSpPr txBox="1"/>
          <p:nvPr/>
        </p:nvSpPr>
        <p:spPr>
          <a:xfrm>
            <a:off x="2825496" y="5340604"/>
            <a:ext cx="4864608"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P-384 on OTBN at 1,697,985 cycles (17 ms); one signature per 50 ms window; engine 34 percent busy batched, 272 percent unbatched; firmware share under 0.1 percent of GPU time</a:t>
            </a:r>
            <a:endParaRPr lang="en-US" sz="1000" dirty="0"/>
          </a:p>
        </p:txBody>
      </p:sp>
      <p:sp>
        <p:nvSpPr>
          <p:cNvPr id="44" name="Text 36"/>
          <p:cNvSpPr txBox="1"/>
          <p:nvPr/>
        </p:nvSpPr>
        <p:spPr>
          <a:xfrm>
            <a:off x="7854696" y="5340604"/>
            <a:ext cx="3706063"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Modelled (H9). Silicon or FPGA measurement: open (N1, N3)</a:t>
            </a:r>
            <a:endParaRPr lang="en-US" sz="1000" dirty="0"/>
          </a:p>
        </p:txBody>
      </p:sp>
      <p:sp>
        <p:nvSpPr>
          <p:cNvPr id="45" name="table row"/>
          <p:cNvSpPr/>
          <p:nvPr/>
        </p:nvSpPr>
        <p:spPr>
          <a:xfrm>
            <a:off x="548640" y="5887720"/>
            <a:ext cx="11094415" cy="784352"/>
          </a:xfrm>
          <a:prstGeom prst="rect">
            <a:avLst/>
          </a:prstGeom>
          <a:solidFill>
            <a:srgbClr val="EEF2EF"/>
          </a:solidFill>
          <a:ln w="9525">
            <a:solidFill>
              <a:srgbClr val="EEF2EF"/>
            </a:solidFill>
            <a:prstDash val="solid"/>
          </a:ln>
        </p:spPr>
      </p:sp>
      <p:sp>
        <p:nvSpPr>
          <p:cNvPr id="46" name="icon circle"/>
          <p:cNvSpPr/>
          <p:nvPr/>
        </p:nvSpPr>
        <p:spPr>
          <a:xfrm>
            <a:off x="630936" y="5970016"/>
            <a:ext cx="384048" cy="384048"/>
          </a:xfrm>
          <a:prstGeom prst="ellipse">
            <a:avLst/>
          </a:prstGeom>
          <a:solidFill>
            <a:schemeClr val="accent1"/>
          </a:solidFill>
          <a:ln w="12700">
            <a:solidFill>
              <a:schemeClr val="accent1"/>
            </a:solidFill>
            <a:prstDash val="solid"/>
          </a:ln>
        </p:spPr>
      </p:sp>
      <p:pic>
        <p:nvPicPr>
          <p:cNvPr id="47" name="FiKey" descr="preencoded.png">    </p:cNvPr>
          <p:cNvPicPr>
            <a:picLocks noChangeAspect="1"/>
          </p:cNvPicPr>
          <p:nvPr/>
        </p:nvPicPr>
        <p:blipFill>
          <a:blip r:embed="rId7"/>
          <a:stretch>
            <a:fillRect/>
          </a:stretch>
        </p:blipFill>
        <p:spPr>
          <a:xfrm>
            <a:off x="726948" y="6066028"/>
            <a:ext cx="192024" cy="192024"/>
          </a:xfrm>
          <a:prstGeom prst="rect">
            <a:avLst/>
          </a:prstGeom>
        </p:spPr>
      </p:pic>
      <p:sp>
        <p:nvSpPr>
          <p:cNvPr id="48" name="Text 39"/>
          <p:cNvSpPr txBox="1"/>
          <p:nvPr/>
        </p:nvSpPr>
        <p:spPr>
          <a:xfrm>
            <a:off x="1133856" y="5970016"/>
            <a:ext cx="1527048" cy="61976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Governance and adoption</a:t>
            </a:r>
            <a:endParaRPr lang="en-US" sz="1000" dirty="0"/>
          </a:p>
        </p:txBody>
      </p:sp>
      <p:sp>
        <p:nvSpPr>
          <p:cNvPr id="49" name="Text 40"/>
          <p:cNvSpPr txBox="1"/>
          <p:nvPr/>
        </p:nvSpPr>
        <p:spPr>
          <a:xfrm>
            <a:off x="2825496" y="5970016"/>
            <a:ext cx="4864608" cy="6197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k-of-n quorum with keys outside vendor and operator (G8); partitions and per-rule approvers; integrated-tier asks written; borrowed from flexHEG as questions 15 and 16: the supply chain and enclosure as a condition of trust, a multilateral root</a:t>
            </a:r>
            <a:endParaRPr lang="en-US" sz="1000" dirty="0"/>
          </a:p>
        </p:txBody>
      </p:sp>
      <p:sp>
        <p:nvSpPr>
          <p:cNvPr id="50" name="Text 41"/>
          <p:cNvSpPr txBox="1"/>
          <p:nvPr/>
        </p:nvSpPr>
        <p:spPr>
          <a:xfrm>
            <a:off x="7854696" y="5970016"/>
            <a:ext cx="3706063" cy="6197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Two tenants with two quorums on one baseboard: not designed. Integrated tier: needs NVIDIA. Supply-chain assumption and the key-holding arrangement: not written yet</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Prior art, and what is different here</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31</a:t>
            </a:r>
            <a:endParaRPr lang="en-US" sz="1100" dirty="0"/>
          </a:p>
        </p:txBody>
      </p:sp>
      <p:sp>
        <p:nvSpPr>
          <p:cNvPr id="5" name="table header"/>
          <p:cNvSpPr/>
          <p:nvPr/>
        </p:nvSpPr>
        <p:spPr>
          <a:xfrm>
            <a:off x="548640" y="1417320"/>
            <a:ext cx="7589520" cy="384048"/>
          </a:xfrm>
          <a:prstGeom prst="rect">
            <a:avLst/>
          </a:prstGeom>
          <a:solidFill>
            <a:schemeClr val="tx2"/>
          </a:solidFill>
          <a:ln w="12700">
            <a:solidFill>
              <a:schemeClr val="tx2"/>
            </a:solidFill>
            <a:prstDash val="solid"/>
          </a:ln>
        </p:spPr>
      </p:sp>
      <p:sp>
        <p:nvSpPr>
          <p:cNvPr id="6" name="Text 4"/>
          <p:cNvSpPr txBox="1"/>
          <p:nvPr/>
        </p:nvSpPr>
        <p:spPr>
          <a:xfrm>
            <a:off x="630936" y="1417320"/>
            <a:ext cx="2487168" cy="384048"/>
          </a:xfrm>
          <a:prstGeom prst="rect">
            <a:avLst/>
          </a:prstGeom>
          <a:noFill/>
          <a:ln/>
        </p:spPr>
        <p:txBody>
          <a:bodyPr wrap="square" lIns="0" tIns="0" rIns="0" bIns="0" rtlCol="0" anchor="ctr">
            <a:normAutofit/>
          </a:bodyPr>
          <a:lstStyle/>
          <a:p>
            <a:pPr indent="0" marL="0">
              <a:buNone/>
            </a:pPr>
            <a:r>
              <a:rPr lang="en-US" sz="1050" b="1" dirty="0">
                <a:solidFill>
                  <a:schemeClr val="bg1"/>
                </a:solidFill>
                <a:latin typeface="Arial" pitchFamily="34" charset="0"/>
                <a:ea typeface="Arial" pitchFamily="34" charset="-122"/>
                <a:cs typeface="Arial" pitchFamily="34" charset="-120"/>
              </a:rPr>
              <a:t>Work</a:t>
            </a:r>
            <a:endParaRPr lang="en-US" sz="1050" dirty="0"/>
          </a:p>
        </p:txBody>
      </p:sp>
      <p:sp>
        <p:nvSpPr>
          <p:cNvPr id="7" name="Text 5"/>
          <p:cNvSpPr txBox="1"/>
          <p:nvPr/>
        </p:nvSpPr>
        <p:spPr>
          <a:xfrm>
            <a:off x="3282696" y="1417320"/>
            <a:ext cx="3401568" cy="384048"/>
          </a:xfrm>
          <a:prstGeom prst="rect">
            <a:avLst/>
          </a:prstGeom>
          <a:noFill/>
          <a:ln/>
        </p:spPr>
        <p:txBody>
          <a:bodyPr wrap="square" lIns="0" tIns="0" rIns="0" bIns="0" rtlCol="0" anchor="ctr">
            <a:normAutofit/>
          </a:bodyPr>
          <a:lstStyle/>
          <a:p>
            <a:pPr indent="0" marL="0">
              <a:buNone/>
            </a:pPr>
            <a:r>
              <a:rPr lang="en-US" sz="1050" b="1" dirty="0">
                <a:solidFill>
                  <a:schemeClr val="bg1"/>
                </a:solidFill>
                <a:latin typeface="Arial" pitchFamily="34" charset="0"/>
                <a:ea typeface="Arial" pitchFamily="34" charset="-122"/>
                <a:cs typeface="Arial" pitchFamily="34" charset="-120"/>
              </a:rPr>
              <a:t>What it governs, and how</a:t>
            </a:r>
            <a:endParaRPr lang="en-US" sz="1050" dirty="0"/>
          </a:p>
        </p:txBody>
      </p:sp>
      <p:sp>
        <p:nvSpPr>
          <p:cNvPr id="8" name="Text 6"/>
          <p:cNvSpPr txBox="1"/>
          <p:nvPr/>
        </p:nvSpPr>
        <p:spPr>
          <a:xfrm>
            <a:off x="6848856" y="1417320"/>
            <a:ext cx="1207008" cy="384048"/>
          </a:xfrm>
          <a:prstGeom prst="rect">
            <a:avLst/>
          </a:prstGeom>
          <a:noFill/>
          <a:ln/>
        </p:spPr>
        <p:txBody>
          <a:bodyPr wrap="square" lIns="0" tIns="0" rIns="0" bIns="0" rtlCol="0" anchor="ctr">
            <a:normAutofit/>
          </a:bodyPr>
          <a:lstStyle/>
          <a:p>
            <a:pPr indent="0" marL="0">
              <a:buNone/>
            </a:pPr>
            <a:r>
              <a:rPr lang="en-US" sz="1050" b="1" dirty="0">
                <a:solidFill>
                  <a:schemeClr val="bg1"/>
                </a:solidFill>
                <a:latin typeface="Arial" pitchFamily="34" charset="0"/>
                <a:ea typeface="Arial" pitchFamily="34" charset="-122"/>
                <a:cs typeface="Arial" pitchFamily="34" charset="-120"/>
              </a:rPr>
              <a:t>Where it sits</a:t>
            </a:r>
            <a:endParaRPr lang="en-US" sz="1050" dirty="0"/>
          </a:p>
        </p:txBody>
      </p:sp>
      <p:sp>
        <p:nvSpPr>
          <p:cNvPr id="9" name="table row"/>
          <p:cNvSpPr/>
          <p:nvPr/>
        </p:nvSpPr>
        <p:spPr>
          <a:xfrm>
            <a:off x="548640" y="1801368"/>
            <a:ext cx="7589520" cy="1345311"/>
          </a:xfrm>
          <a:prstGeom prst="rect">
            <a:avLst/>
          </a:prstGeom>
          <a:solidFill>
            <a:srgbClr val="EEF2EF"/>
          </a:solidFill>
          <a:ln w="9525">
            <a:solidFill>
              <a:srgbClr val="EEF2EF"/>
            </a:solidFill>
            <a:prstDash val="solid"/>
          </a:ln>
        </p:spPr>
      </p:sp>
      <p:sp>
        <p:nvSpPr>
          <p:cNvPr id="10" name="Text 8"/>
          <p:cNvSpPr txBox="1"/>
          <p:nvPr/>
        </p:nvSpPr>
        <p:spPr>
          <a:xfrm>
            <a:off x="630936" y="1883664"/>
            <a:ext cx="2487168" cy="1180719"/>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flexHEG, Part I (Petrie, Aarne, Ammann, Dalrymple; ARIA, April 2025; arXiv 2506.15093)</a:t>
            </a:r>
            <a:endParaRPr lang="en-US" sz="1050" dirty="0"/>
          </a:p>
        </p:txBody>
      </p:sp>
      <p:sp>
        <p:nvSpPr>
          <p:cNvPr id="11" name="Text 9"/>
          <p:cNvSpPr txBox="1"/>
          <p:nvPr/>
        </p:nvSpPr>
        <p:spPr>
          <a:xfrm>
            <a:off x="3282696" y="1883664"/>
            <a:ext cx="3401568" cy="1180719"/>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Compute: each AI chip inside a tamper-proof enclosure with an open guarantee processor that signs claims about use (training compute, workload, location) and can enforce a quorum-signed ruleset; blocks without a periodic signed update; tamper wipes the keys</a:t>
            </a:r>
            <a:endParaRPr lang="en-US" sz="1050" dirty="0"/>
          </a:p>
        </p:txBody>
      </p:sp>
      <p:sp>
        <p:nvSpPr>
          <p:cNvPr id="12" name="Text 10"/>
          <p:cNvSpPr txBox="1"/>
          <p:nvPr/>
        </p:nvSpPr>
        <p:spPr>
          <a:xfrm>
            <a:off x="6848856" y="1883664"/>
            <a:ext cx="1207008" cy="1180719"/>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A new chip and a new package around the GPU</a:t>
            </a:r>
            <a:endParaRPr lang="en-US" sz="1050" dirty="0"/>
          </a:p>
        </p:txBody>
      </p:sp>
      <p:sp>
        <p:nvSpPr>
          <p:cNvPr id="13" name="table row"/>
          <p:cNvSpPr/>
          <p:nvPr/>
        </p:nvSpPr>
        <p:spPr>
          <a:xfrm>
            <a:off x="548640" y="3146679"/>
            <a:ext cx="7589520" cy="1019937"/>
          </a:xfrm>
          <a:prstGeom prst="rect">
            <a:avLst/>
          </a:prstGeom>
          <a:solidFill>
            <a:srgbClr val="FFFFFF"/>
          </a:solidFill>
          <a:ln w="9525">
            <a:solidFill>
              <a:srgbClr val="EEF2EF"/>
            </a:solidFill>
            <a:prstDash val="solid"/>
          </a:ln>
        </p:spPr>
      </p:sp>
      <p:sp>
        <p:nvSpPr>
          <p:cNvPr id="14" name="Text 12"/>
          <p:cNvSpPr txBox="1"/>
          <p:nvPr/>
        </p:nvSpPr>
        <p:spPr>
          <a:xfrm>
            <a:off x="630936" y="3228975"/>
            <a:ext cx="2487168" cy="855345"/>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Secure, Governable Chips (CNAS, January 2024); RAND on hardware-enabled mechanisms</a:t>
            </a:r>
            <a:endParaRPr lang="en-US" sz="1050" dirty="0"/>
          </a:p>
        </p:txBody>
      </p:sp>
      <p:sp>
        <p:nvSpPr>
          <p:cNvPr id="15" name="Text 13"/>
          <p:cNvSpPr txBox="1"/>
          <p:nvPr/>
        </p:nvSpPr>
        <p:spPr>
          <a:xfrm>
            <a:off x="3282696" y="3228975"/>
            <a:ext cx="3401568" cy="855345"/>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Export control and compute accounting</a:t>
            </a:r>
            <a:endParaRPr lang="en-US" sz="1050" dirty="0"/>
          </a:p>
        </p:txBody>
      </p:sp>
      <p:sp>
        <p:nvSpPr>
          <p:cNvPr id="16" name="Text 14"/>
          <p:cNvSpPr txBox="1"/>
          <p:nvPr/>
        </p:nvSpPr>
        <p:spPr>
          <a:xfrm>
            <a:off x="6848856" y="3228975"/>
            <a:ext cx="1207008" cy="855345"/>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Proposals</a:t>
            </a:r>
            <a:endParaRPr lang="en-US" sz="1050" dirty="0"/>
          </a:p>
        </p:txBody>
      </p:sp>
      <p:sp>
        <p:nvSpPr>
          <p:cNvPr id="17" name="table row"/>
          <p:cNvSpPr/>
          <p:nvPr/>
        </p:nvSpPr>
        <p:spPr>
          <a:xfrm>
            <a:off x="548640" y="4166616"/>
            <a:ext cx="7589520" cy="1182624"/>
          </a:xfrm>
          <a:prstGeom prst="rect">
            <a:avLst/>
          </a:prstGeom>
          <a:solidFill>
            <a:srgbClr val="EEF2EF"/>
          </a:solidFill>
          <a:ln w="9525">
            <a:solidFill>
              <a:srgbClr val="EEF2EF"/>
            </a:solidFill>
            <a:prstDash val="solid"/>
          </a:ln>
        </p:spPr>
      </p:sp>
      <p:sp>
        <p:nvSpPr>
          <p:cNvPr id="18" name="Text 16"/>
          <p:cNvSpPr txBox="1"/>
          <p:nvPr/>
        </p:nvSpPr>
        <p:spPr>
          <a:xfrm>
            <a:off x="630936" y="4248912"/>
            <a:ext cx="2487168" cy="1018032"/>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A feasibility taxonomy (Ansari, University of Chester, April 2026; arXiv 2604.04712)</a:t>
            </a:r>
            <a:endParaRPr lang="en-US" sz="1050" dirty="0"/>
          </a:p>
        </p:txBody>
      </p:sp>
      <p:sp>
        <p:nvSpPr>
          <p:cNvPr id="19" name="Text 17"/>
          <p:cNvSpPr txBox="1"/>
          <p:nvPr/>
        </p:nvSpPr>
        <p:spPr>
          <a:xfrm>
            <a:off x="3282696" y="4248912"/>
            <a:ext cx="3401568" cy="1018032"/>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Twenty hardware-level mechanisms sorted into monitoring, verification and enforcement, each on a four-tier readiness scale; hardware-embedded enforcement still at the research stage</a:t>
            </a:r>
            <a:endParaRPr lang="en-US" sz="1050" dirty="0"/>
          </a:p>
        </p:txBody>
      </p:sp>
      <p:sp>
        <p:nvSpPr>
          <p:cNvPr id="20" name="Text 18"/>
          <p:cNvSpPr txBox="1"/>
          <p:nvPr/>
        </p:nvSpPr>
        <p:spPr>
          <a:xfrm>
            <a:off x="6848856" y="4248912"/>
            <a:ext cx="1207008" cy="1018032"/>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A survey</a:t>
            </a:r>
            <a:endParaRPr lang="en-US" sz="1050" dirty="0"/>
          </a:p>
        </p:txBody>
      </p:sp>
      <p:sp>
        <p:nvSpPr>
          <p:cNvPr id="21" name="card"/>
          <p:cNvSpPr/>
          <p:nvPr/>
        </p:nvSpPr>
        <p:spPr>
          <a:xfrm>
            <a:off x="8412480" y="1417320"/>
            <a:ext cx="3230575" cy="3931920"/>
          </a:xfrm>
          <a:prstGeom prst="roundRect">
            <a:avLst>
              <a:gd name="adj" fmla="val 2264"/>
            </a:avLst>
          </a:prstGeom>
          <a:solidFill>
            <a:schemeClr val="tx1"/>
          </a:solidFill>
          <a:ln w="12700">
            <a:solidFill>
              <a:schemeClr val="tx1"/>
            </a:solidFill>
            <a:prstDash val="solid"/>
          </a:ln>
        </p:spPr>
      </p:sp>
      <p:sp>
        <p:nvSpPr>
          <p:cNvPr id="22" name="Text 20"/>
          <p:cNvSpPr txBox="1"/>
          <p:nvPr/>
        </p:nvSpPr>
        <p:spPr>
          <a:xfrm>
            <a:off x="8641080" y="1581912"/>
            <a:ext cx="2773375" cy="320040"/>
          </a:xfrm>
          <a:prstGeom prst="rect">
            <a:avLst/>
          </a:prstGeom>
          <a:noFill/>
          <a:ln/>
        </p:spPr>
        <p:txBody>
          <a:bodyPr wrap="square" lIns="0" tIns="0" rIns="0" bIns="0" rtlCol="0" anchor="t">
            <a:normAutofit/>
          </a:bodyPr>
          <a:lstStyle/>
          <a:p>
            <a:pPr indent="0" marL="0">
              <a:buNone/>
            </a:pPr>
            <a:r>
              <a:rPr lang="en-US" sz="1300" b="1" dirty="0">
                <a:solidFill>
                  <a:schemeClr val="accent6"/>
                </a:solidFill>
                <a:latin typeface="Georgia" pitchFamily="34" charset="0"/>
                <a:ea typeface="Georgia" pitchFamily="34" charset="-122"/>
                <a:cs typeface="Georgia" pitchFamily="34" charset="-120"/>
              </a:rPr>
              <a:t>What is different here</a:t>
            </a:r>
            <a:endParaRPr lang="en-US" sz="1300" dirty="0"/>
          </a:p>
        </p:txBody>
      </p:sp>
      <p:sp>
        <p:nvSpPr>
          <p:cNvPr id="23" name="Text 21"/>
          <p:cNvSpPr txBox="1"/>
          <p:nvPr/>
        </p:nvSpPr>
        <p:spPr>
          <a:xfrm>
            <a:off x="8641080" y="1965960"/>
            <a:ext cx="2773375" cy="3291840"/>
          </a:xfrm>
          <a:prstGeom prst="rect">
            <a:avLst/>
          </a:prstGeom>
          <a:noFill/>
          <a:ln/>
        </p:spPr>
        <p:txBody>
          <a:bodyPr wrap="square" lIns="0" tIns="0" rIns="0" bIns="0" rtlCol="0" anchor="t">
            <a:normAutofit/>
          </a:bodyPr>
          <a:lstStyle/>
          <a:p>
            <a:pPr marL="177800" indent="-177800">
              <a:spcAft>
                <a:spcPts val="600"/>
              </a:spcAft>
              <a:buSzPct val="100000"/>
              <a:buChar char="•"/>
            </a:pPr>
            <a:r>
              <a:rPr lang="en-US" sz="1000" dirty="0">
                <a:solidFill>
                  <a:schemeClr val="bg1"/>
                </a:solidFill>
                <a:latin typeface="Arial" pitchFamily="34" charset="0"/>
                <a:ea typeface="Arial" pitchFamily="34" charset="-122"/>
                <a:cs typeface="Arial" pitchFamily="34" charset="-120"/>
              </a:rPr>
              <a:t>Actions, not compute: the payment, the message, the release, the weight export, at the moment they leave the rack</a:t>
            </a:r>
            <a:endParaRPr lang="en-US" sz="1000" dirty="0"/>
          </a:p>
          <a:p>
            <a:pPr marL="177800" indent="-177800">
              <a:spcAft>
                <a:spcPts val="600"/>
              </a:spcAft>
              <a:buSzPct val="100000"/>
              <a:buChar char="•"/>
            </a:pPr>
            <a:r>
              <a:rPr lang="en-US" sz="1000" dirty="0">
                <a:solidFill>
                  <a:schemeClr val="bg1"/>
                </a:solidFill>
                <a:latin typeface="Arial" pitchFamily="34" charset="0"/>
                <a:ea typeface="Arial" pitchFamily="34" charset="-122"/>
                <a:cs typeface="Arial" pitchFamily="34" charset="-120"/>
              </a:rPr>
              <a:t>A module on the board the server already has, through the connector it already uses; asks NVIDIA for firmware and software, not silicon; goes into installed racks</a:t>
            </a:r>
            <a:endParaRPr lang="en-US" sz="1000" dirty="0"/>
          </a:p>
          <a:p>
            <a:pPr marL="177800" indent="-177800">
              <a:spcAft>
                <a:spcPts val="600"/>
              </a:spcAft>
              <a:buSzPct val="100000"/>
              <a:buChar char="•"/>
            </a:pPr>
            <a:r>
              <a:rPr lang="en-US" sz="1000" dirty="0">
                <a:solidFill>
                  <a:schemeClr val="bg1"/>
                </a:solidFill>
                <a:latin typeface="Arial" pitchFamily="34" charset="0"/>
                <a:ea typeface="Arial" pitchFamily="34" charset="-122"/>
                <a:cs typeface="Arial" pitchFamily="34" charset="-120"/>
              </a:rPr>
              <a:t>The stamp is checked again by the device that acts, so authority does not depend on the host in between</a:t>
            </a:r>
            <a:endParaRPr lang="en-US" sz="1000" dirty="0"/>
          </a:p>
          <a:p>
            <a:pPr marL="177800" indent="-177800">
              <a:spcAft>
                <a:spcPts val="600"/>
              </a:spcAft>
              <a:buSzPct val="100000"/>
              <a:buChar char="•"/>
            </a:pPr>
            <a:r>
              <a:rPr lang="en-US" sz="1000" dirty="0">
                <a:solidFill>
                  <a:schemeClr val="bg1"/>
                </a:solidFill>
                <a:latin typeface="Arial" pitchFamily="34" charset="0"/>
                <a:ea typeface="Arial" pitchFamily="34" charset="-122"/>
                <a:cs typeface="Arial" pitchFamily="34" charset="-120"/>
              </a:rPr>
              <a:t>Witnesses have a measured miss rate and are never the lock; a person with a key clears the holds</a:t>
            </a:r>
            <a:endParaRPr lang="en-US" sz="1000" dirty="0"/>
          </a:p>
          <a:p>
            <a:pPr marL="177800" indent="-177800">
              <a:spcAft>
                <a:spcPts val="600"/>
              </a:spcAft>
              <a:buSzPct val="100000"/>
              <a:buChar char="•"/>
            </a:pPr>
            <a:r>
              <a:rPr lang="en-US" sz="1000" dirty="0">
                <a:solidFill>
                  <a:schemeClr val="bg1"/>
                </a:solidFill>
                <a:latin typeface="Arial" pitchFamily="34" charset="0"/>
                <a:ea typeface="Arial" pitchFamily="34" charset="-122"/>
                <a:cs typeface="Arial" pitchFamily="34" charset="-120"/>
              </a:rPr>
              <a:t>Built and being tested: 200 model tests, 20 RTL tests, three proof files, a catalogue, a public program with disproof conditions</a:t>
            </a:r>
            <a:endParaRPr lang="en-US" sz="1000" dirty="0"/>
          </a:p>
        </p:txBody>
      </p:sp>
      <p:sp>
        <p:nvSpPr>
          <p:cNvPr id="24" name="analogy"/>
          <p:cNvSpPr/>
          <p:nvPr/>
        </p:nvSpPr>
        <p:spPr>
          <a:xfrm>
            <a:off x="548640" y="5486400"/>
            <a:ext cx="11094415" cy="777240"/>
          </a:xfrm>
          <a:prstGeom prst="roundRect">
            <a:avLst>
              <a:gd name="adj" fmla="val 9412"/>
            </a:avLst>
          </a:prstGeom>
          <a:solidFill>
            <a:schemeClr val="tx1"/>
          </a:solidFill>
          <a:ln w="12700">
            <a:solidFill>
              <a:schemeClr val="tx1"/>
            </a:solidFill>
            <a:prstDash val="solid"/>
          </a:ln>
        </p:spPr>
      </p:sp>
      <p:sp>
        <p:nvSpPr>
          <p:cNvPr id="25" name="Text 23"/>
          <p:cNvSpPr txBox="1"/>
          <p:nvPr/>
        </p:nvSpPr>
        <p:spPr>
          <a:xfrm>
            <a:off x="822960" y="5486400"/>
            <a:ext cx="1554480" cy="77724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docs 18 §8b</a:t>
            </a:r>
            <a:endParaRPr lang="en-US" sz="1000" dirty="0"/>
          </a:p>
        </p:txBody>
      </p:sp>
      <p:sp>
        <p:nvSpPr>
          <p:cNvPr id="26" name="Text 24"/>
          <p:cNvSpPr txBox="1"/>
          <p:nvPr/>
        </p:nvSpPr>
        <p:spPr>
          <a:xfrm>
            <a:off x="2514600" y="5486400"/>
            <a:ext cx="8854135" cy="77724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Same mechanisms, because they are the right mechanisms: an open processor beside the GPU, rules signed k of n by people the model cannot reach, a heartbeat that fails closed. Borrowed, as questions 15 and 16: the supply chain and the enclosure as a condition of trust, and a multilateral root.</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What I need to prove or disprove the thesis</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32</a:t>
            </a:r>
            <a:endParaRPr lang="en-US" sz="1100" dirty="0"/>
          </a:p>
        </p:txBody>
      </p:sp>
      <p:sp>
        <p:nvSpPr>
          <p:cNvPr id="5" name="card"/>
          <p:cNvSpPr/>
          <p:nvPr/>
        </p:nvSpPr>
        <p:spPr>
          <a:xfrm>
            <a:off x="548640" y="1417320"/>
            <a:ext cx="2036003" cy="3108960"/>
          </a:xfrm>
          <a:prstGeom prst="roundRect">
            <a:avLst>
              <a:gd name="adj" fmla="val 3593"/>
            </a:avLst>
          </a:prstGeom>
          <a:solidFill>
            <a:schemeClr val="bg2"/>
          </a:solidFill>
          <a:ln w="12700">
            <a:solidFill>
              <a:schemeClr val="bg2"/>
            </a:solidFill>
            <a:prstDash val="solid"/>
          </a:ln>
        </p:spPr>
      </p:sp>
      <p:sp>
        <p:nvSpPr>
          <p:cNvPr id="6" name="icon circle"/>
          <p:cNvSpPr/>
          <p:nvPr/>
        </p:nvSpPr>
        <p:spPr>
          <a:xfrm>
            <a:off x="777240" y="1691640"/>
            <a:ext cx="640080" cy="640080"/>
          </a:xfrm>
          <a:prstGeom prst="ellipse">
            <a:avLst/>
          </a:prstGeom>
          <a:solidFill>
            <a:schemeClr val="accent1"/>
          </a:solidFill>
          <a:ln w="12700">
            <a:solidFill>
              <a:schemeClr val="accent1"/>
            </a:solidFill>
            <a:prstDash val="solid"/>
          </a:ln>
        </p:spPr>
      </p:sp>
      <p:pic>
        <p:nvPicPr>
          <p:cNvPr id="7" name="FiBriefcase" descr="preencoded.png">    </p:cNvPr>
          <p:cNvPicPr>
            <a:picLocks noChangeAspect="1"/>
          </p:cNvPicPr>
          <p:nvPr/>
        </p:nvPicPr>
        <p:blipFill>
          <a:blip r:embed="rId1"/>
          <a:stretch>
            <a:fillRect/>
          </a:stretch>
        </p:blipFill>
        <p:spPr>
          <a:xfrm>
            <a:off x="937260" y="1851660"/>
            <a:ext cx="320040" cy="320040"/>
          </a:xfrm>
          <a:prstGeom prst="rect">
            <a:avLst/>
          </a:prstGeom>
        </p:spPr>
      </p:pic>
      <p:sp>
        <p:nvSpPr>
          <p:cNvPr id="8" name="Text 5"/>
          <p:cNvSpPr txBox="1"/>
          <p:nvPr/>
        </p:nvSpPr>
        <p:spPr>
          <a:xfrm>
            <a:off x="777240" y="2514600"/>
            <a:ext cx="1578803" cy="822960"/>
          </a:xfrm>
          <a:prstGeom prst="rect">
            <a:avLst/>
          </a:prstGeom>
          <a:noFill/>
          <a:ln/>
        </p:spPr>
        <p:txBody>
          <a:bodyPr wrap="square" lIns="0" tIns="0" rIns="0" bIns="0" rtlCol="0" anchor="t">
            <a:normAutofit/>
          </a:bodyPr>
          <a:lstStyle/>
          <a:p>
            <a:pPr indent="0" marL="0">
              <a:buNone/>
            </a:pPr>
            <a:r>
              <a:rPr lang="en-US" sz="1400" b="1" dirty="0">
                <a:solidFill>
                  <a:schemeClr val="tx1"/>
                </a:solidFill>
                <a:latin typeface="Arial" pitchFamily="34" charset="0"/>
                <a:ea typeface="Arial" pitchFamily="34" charset="-122"/>
                <a:cs typeface="Arial" pitchFamily="34" charset="-120"/>
              </a:rPr>
              <a:t>A server maker to talk to</a:t>
            </a:r>
            <a:endParaRPr lang="en-US" sz="1400" dirty="0"/>
          </a:p>
        </p:txBody>
      </p:sp>
      <p:sp>
        <p:nvSpPr>
          <p:cNvPr id="9" name="Text 6"/>
          <p:cNvSpPr txBox="1"/>
          <p:nvPr/>
        </p:nvSpPr>
        <p:spPr>
          <a:xfrm>
            <a:off x="777240" y="3383280"/>
            <a:ext cx="1578803" cy="1097280"/>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About the management-card slot, the HGX design guide, and whether a module in the BMC slot can drive the levers.</a:t>
            </a:r>
            <a:endParaRPr lang="en-US" sz="1150" dirty="0"/>
          </a:p>
        </p:txBody>
      </p:sp>
      <p:sp>
        <p:nvSpPr>
          <p:cNvPr id="10" name="card"/>
          <p:cNvSpPr/>
          <p:nvPr/>
        </p:nvSpPr>
        <p:spPr>
          <a:xfrm>
            <a:off x="2813243" y="1417320"/>
            <a:ext cx="2036003" cy="3108960"/>
          </a:xfrm>
          <a:prstGeom prst="roundRect">
            <a:avLst>
              <a:gd name="adj" fmla="val 3593"/>
            </a:avLst>
          </a:prstGeom>
          <a:solidFill>
            <a:schemeClr val="bg2"/>
          </a:solidFill>
          <a:ln w="12700">
            <a:solidFill>
              <a:schemeClr val="bg2"/>
            </a:solidFill>
            <a:prstDash val="solid"/>
          </a:ln>
        </p:spPr>
      </p:sp>
      <p:sp>
        <p:nvSpPr>
          <p:cNvPr id="11" name="icon circle"/>
          <p:cNvSpPr/>
          <p:nvPr/>
        </p:nvSpPr>
        <p:spPr>
          <a:xfrm>
            <a:off x="3041843" y="1691640"/>
            <a:ext cx="640080" cy="640080"/>
          </a:xfrm>
          <a:prstGeom prst="ellipse">
            <a:avLst/>
          </a:prstGeom>
          <a:solidFill>
            <a:schemeClr val="accent1"/>
          </a:solidFill>
          <a:ln w="12700">
            <a:solidFill>
              <a:schemeClr val="accent1"/>
            </a:solidFill>
            <a:prstDash val="solid"/>
          </a:ln>
        </p:spPr>
      </p:sp>
      <p:pic>
        <p:nvPicPr>
          <p:cNvPr id="12" name="FiHardDrive" descr="preencoded.png">    </p:cNvPr>
          <p:cNvPicPr>
            <a:picLocks noChangeAspect="1"/>
          </p:cNvPicPr>
          <p:nvPr/>
        </p:nvPicPr>
        <p:blipFill>
          <a:blip r:embed="rId2"/>
          <a:stretch>
            <a:fillRect/>
          </a:stretch>
        </p:blipFill>
        <p:spPr>
          <a:xfrm>
            <a:off x="3201863" y="1851660"/>
            <a:ext cx="320040" cy="320040"/>
          </a:xfrm>
          <a:prstGeom prst="rect">
            <a:avLst/>
          </a:prstGeom>
        </p:spPr>
      </p:pic>
      <p:sp>
        <p:nvSpPr>
          <p:cNvPr id="13" name="Text 9"/>
          <p:cNvSpPr txBox="1"/>
          <p:nvPr/>
        </p:nvSpPr>
        <p:spPr>
          <a:xfrm>
            <a:off x="3041843" y="2514600"/>
            <a:ext cx="1578803" cy="822960"/>
          </a:xfrm>
          <a:prstGeom prst="rect">
            <a:avLst/>
          </a:prstGeom>
          <a:noFill/>
          <a:ln/>
        </p:spPr>
        <p:txBody>
          <a:bodyPr wrap="square" lIns="0" tIns="0" rIns="0" bIns="0" rtlCol="0" anchor="t">
            <a:normAutofit/>
          </a:bodyPr>
          <a:lstStyle/>
          <a:p>
            <a:pPr indent="0" marL="0">
              <a:buNone/>
            </a:pPr>
            <a:r>
              <a:rPr lang="en-US" sz="1400" b="1" dirty="0">
                <a:solidFill>
                  <a:schemeClr val="tx1"/>
                </a:solidFill>
                <a:latin typeface="Arial" pitchFamily="34" charset="0"/>
                <a:ea typeface="Arial" pitchFamily="34" charset="-122"/>
                <a:cs typeface="Arial" pitchFamily="34" charset="-120"/>
              </a:rPr>
              <a:t>A device maker willing to check a ticket</a:t>
            </a:r>
            <a:endParaRPr lang="en-US" sz="1400" dirty="0"/>
          </a:p>
        </p:txBody>
      </p:sp>
      <p:sp>
        <p:nvSpPr>
          <p:cNvPr id="14" name="Text 10"/>
          <p:cNvSpPr txBox="1"/>
          <p:nvPr/>
        </p:nvSpPr>
        <p:spPr>
          <a:xfrm>
            <a:off x="3041843" y="3383280"/>
            <a:ext cx="1578803" cy="1097280"/>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A functional-safety vendor, or whoever runs the tools an agent calls.</a:t>
            </a:r>
            <a:endParaRPr lang="en-US" sz="1150" dirty="0"/>
          </a:p>
        </p:txBody>
      </p:sp>
      <p:sp>
        <p:nvSpPr>
          <p:cNvPr id="15" name="card"/>
          <p:cNvSpPr/>
          <p:nvPr/>
        </p:nvSpPr>
        <p:spPr>
          <a:xfrm>
            <a:off x="5077846" y="1417320"/>
            <a:ext cx="2036003" cy="3108960"/>
          </a:xfrm>
          <a:prstGeom prst="roundRect">
            <a:avLst>
              <a:gd name="adj" fmla="val 3593"/>
            </a:avLst>
          </a:prstGeom>
          <a:solidFill>
            <a:schemeClr val="bg2"/>
          </a:solidFill>
          <a:ln w="12700">
            <a:solidFill>
              <a:schemeClr val="bg2"/>
            </a:solidFill>
            <a:prstDash val="solid"/>
          </a:ln>
        </p:spPr>
      </p:sp>
      <p:sp>
        <p:nvSpPr>
          <p:cNvPr id="16" name="icon circle"/>
          <p:cNvSpPr/>
          <p:nvPr/>
        </p:nvSpPr>
        <p:spPr>
          <a:xfrm>
            <a:off x="5306446" y="1691640"/>
            <a:ext cx="640080" cy="640080"/>
          </a:xfrm>
          <a:prstGeom prst="ellipse">
            <a:avLst/>
          </a:prstGeom>
          <a:solidFill>
            <a:schemeClr val="accent1"/>
          </a:solidFill>
          <a:ln w="12700">
            <a:solidFill>
              <a:schemeClr val="accent1"/>
            </a:solidFill>
            <a:prstDash val="solid"/>
          </a:ln>
        </p:spPr>
      </p:sp>
      <p:pic>
        <p:nvPicPr>
          <p:cNvPr id="17" name="FiActivity" descr="preencoded.png">    </p:cNvPr>
          <p:cNvPicPr>
            <a:picLocks noChangeAspect="1"/>
          </p:cNvPicPr>
          <p:nvPr/>
        </p:nvPicPr>
        <p:blipFill>
          <a:blip r:embed="rId3"/>
          <a:stretch>
            <a:fillRect/>
          </a:stretch>
        </p:blipFill>
        <p:spPr>
          <a:xfrm>
            <a:off x="5466466" y="1851660"/>
            <a:ext cx="320040" cy="320040"/>
          </a:xfrm>
          <a:prstGeom prst="rect">
            <a:avLst/>
          </a:prstGeom>
        </p:spPr>
      </p:pic>
      <p:sp>
        <p:nvSpPr>
          <p:cNvPr id="18" name="Text 13"/>
          <p:cNvSpPr txBox="1"/>
          <p:nvPr/>
        </p:nvSpPr>
        <p:spPr>
          <a:xfrm>
            <a:off x="5306446" y="2514600"/>
            <a:ext cx="1578803" cy="822960"/>
          </a:xfrm>
          <a:prstGeom prst="rect">
            <a:avLst/>
          </a:prstGeom>
          <a:noFill/>
          <a:ln/>
        </p:spPr>
        <p:txBody>
          <a:bodyPr wrap="square" lIns="0" tIns="0" rIns="0" bIns="0" rtlCol="0" anchor="t">
            <a:normAutofit/>
          </a:bodyPr>
          <a:lstStyle/>
          <a:p>
            <a:pPr indent="0" marL="0">
              <a:buNone/>
            </a:pPr>
            <a:r>
              <a:rPr lang="en-US" sz="1400" b="1" dirty="0">
                <a:solidFill>
                  <a:schemeClr val="tx1"/>
                </a:solidFill>
                <a:latin typeface="Arial" pitchFamily="34" charset="0"/>
                <a:ea typeface="Arial" pitchFamily="34" charset="-122"/>
                <a:cs typeface="Arial" pitchFamily="34" charset="-120"/>
              </a:rPr>
              <a:t>A lab with a rack and an FPGA</a:t>
            </a:r>
            <a:endParaRPr lang="en-US" sz="1400" dirty="0"/>
          </a:p>
        </p:txBody>
      </p:sp>
      <p:sp>
        <p:nvSpPr>
          <p:cNvPr id="19" name="Text 14"/>
          <p:cNvSpPr txBox="1"/>
          <p:nvPr/>
        </p:nvSpPr>
        <p:spPr>
          <a:xfrm>
            <a:off x="5306446" y="3383280"/>
            <a:ext cx="1578803" cy="1097280"/>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To measure the real overhead and the false-halt rate over weeks.</a:t>
            </a:r>
            <a:endParaRPr lang="en-US" sz="1150" dirty="0"/>
          </a:p>
        </p:txBody>
      </p:sp>
      <p:sp>
        <p:nvSpPr>
          <p:cNvPr id="20" name="card"/>
          <p:cNvSpPr/>
          <p:nvPr/>
        </p:nvSpPr>
        <p:spPr>
          <a:xfrm>
            <a:off x="7342449" y="1417320"/>
            <a:ext cx="2036003" cy="3108960"/>
          </a:xfrm>
          <a:prstGeom prst="roundRect">
            <a:avLst>
              <a:gd name="adj" fmla="val 3593"/>
            </a:avLst>
          </a:prstGeom>
          <a:solidFill>
            <a:schemeClr val="bg2"/>
          </a:solidFill>
          <a:ln w="12700">
            <a:solidFill>
              <a:schemeClr val="bg2"/>
            </a:solidFill>
            <a:prstDash val="solid"/>
          </a:ln>
        </p:spPr>
      </p:sp>
      <p:sp>
        <p:nvSpPr>
          <p:cNvPr id="21" name="icon circle"/>
          <p:cNvSpPr/>
          <p:nvPr/>
        </p:nvSpPr>
        <p:spPr>
          <a:xfrm>
            <a:off x="7571049" y="1691640"/>
            <a:ext cx="640080" cy="640080"/>
          </a:xfrm>
          <a:prstGeom prst="ellipse">
            <a:avLst/>
          </a:prstGeom>
          <a:solidFill>
            <a:schemeClr val="accent1"/>
          </a:solidFill>
          <a:ln w="12700">
            <a:solidFill>
              <a:schemeClr val="accent1"/>
            </a:solidFill>
            <a:prstDash val="solid"/>
          </a:ln>
        </p:spPr>
      </p:sp>
      <p:pic>
        <p:nvPicPr>
          <p:cNvPr id="22" name="FiTarget" descr="preencoded.png">    </p:cNvPr>
          <p:cNvPicPr>
            <a:picLocks noChangeAspect="1"/>
          </p:cNvPicPr>
          <p:nvPr/>
        </p:nvPicPr>
        <p:blipFill>
          <a:blip r:embed="rId4"/>
          <a:stretch>
            <a:fillRect/>
          </a:stretch>
        </p:blipFill>
        <p:spPr>
          <a:xfrm>
            <a:off x="7731069" y="1851660"/>
            <a:ext cx="320040" cy="320040"/>
          </a:xfrm>
          <a:prstGeom prst="rect">
            <a:avLst/>
          </a:prstGeom>
        </p:spPr>
      </p:pic>
      <p:sp>
        <p:nvSpPr>
          <p:cNvPr id="23" name="Text 17"/>
          <p:cNvSpPr txBox="1"/>
          <p:nvPr/>
        </p:nvSpPr>
        <p:spPr>
          <a:xfrm>
            <a:off x="7571049" y="2514600"/>
            <a:ext cx="1578803" cy="822960"/>
          </a:xfrm>
          <a:prstGeom prst="rect">
            <a:avLst/>
          </a:prstGeom>
          <a:noFill/>
          <a:ln/>
        </p:spPr>
        <p:txBody>
          <a:bodyPr wrap="square" lIns="0" tIns="0" rIns="0" bIns="0" rtlCol="0" anchor="t">
            <a:normAutofit/>
          </a:bodyPr>
          <a:lstStyle/>
          <a:p>
            <a:pPr indent="0" marL="0">
              <a:buNone/>
            </a:pPr>
            <a:r>
              <a:rPr lang="en-US" sz="1400" b="1" dirty="0">
                <a:solidFill>
                  <a:schemeClr val="tx1"/>
                </a:solidFill>
                <a:latin typeface="Arial" pitchFamily="34" charset="0"/>
                <a:ea typeface="Arial" pitchFamily="34" charset="-122"/>
                <a:cs typeface="Arial" pitchFamily="34" charset="-120"/>
              </a:rPr>
              <a:t>A red team</a:t>
            </a:r>
            <a:endParaRPr lang="en-US" sz="1400" dirty="0"/>
          </a:p>
        </p:txBody>
      </p:sp>
      <p:sp>
        <p:nvSpPr>
          <p:cNvPr id="24" name="Text 18"/>
          <p:cNvSpPr txBox="1"/>
          <p:nvPr/>
        </p:nvSpPr>
        <p:spPr>
          <a:xfrm>
            <a:off x="7571049" y="3383280"/>
            <a:ext cx="1578803" cy="1097280"/>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To attack the release gate and the observers with disguised requests.</a:t>
            </a:r>
            <a:endParaRPr lang="en-US" sz="1150" dirty="0"/>
          </a:p>
        </p:txBody>
      </p:sp>
      <p:sp>
        <p:nvSpPr>
          <p:cNvPr id="25" name="card"/>
          <p:cNvSpPr/>
          <p:nvPr/>
        </p:nvSpPr>
        <p:spPr>
          <a:xfrm>
            <a:off x="9607052" y="1417320"/>
            <a:ext cx="2036003" cy="3108960"/>
          </a:xfrm>
          <a:prstGeom prst="roundRect">
            <a:avLst>
              <a:gd name="adj" fmla="val 3593"/>
            </a:avLst>
          </a:prstGeom>
          <a:solidFill>
            <a:schemeClr val="bg2"/>
          </a:solidFill>
          <a:ln w="12700">
            <a:solidFill>
              <a:schemeClr val="bg2"/>
            </a:solidFill>
            <a:prstDash val="solid"/>
          </a:ln>
        </p:spPr>
      </p:sp>
      <p:sp>
        <p:nvSpPr>
          <p:cNvPr id="26" name="icon circle"/>
          <p:cNvSpPr/>
          <p:nvPr/>
        </p:nvSpPr>
        <p:spPr>
          <a:xfrm>
            <a:off x="9835652" y="1691640"/>
            <a:ext cx="640080" cy="640080"/>
          </a:xfrm>
          <a:prstGeom prst="ellipse">
            <a:avLst/>
          </a:prstGeom>
          <a:solidFill>
            <a:schemeClr val="accent1"/>
          </a:solidFill>
          <a:ln w="12700">
            <a:solidFill>
              <a:schemeClr val="accent1"/>
            </a:solidFill>
            <a:prstDash val="solid"/>
          </a:ln>
        </p:spPr>
      </p:sp>
      <p:pic>
        <p:nvPicPr>
          <p:cNvPr id="27" name="FiUsers" descr="preencoded.png">    </p:cNvPr>
          <p:cNvPicPr>
            <a:picLocks noChangeAspect="1"/>
          </p:cNvPicPr>
          <p:nvPr/>
        </p:nvPicPr>
        <p:blipFill>
          <a:blip r:embed="rId5"/>
          <a:stretch>
            <a:fillRect/>
          </a:stretch>
        </p:blipFill>
        <p:spPr>
          <a:xfrm>
            <a:off x="9995672" y="1851660"/>
            <a:ext cx="320040" cy="320040"/>
          </a:xfrm>
          <a:prstGeom prst="rect">
            <a:avLst/>
          </a:prstGeom>
        </p:spPr>
      </p:pic>
      <p:sp>
        <p:nvSpPr>
          <p:cNvPr id="28" name="Text 21"/>
          <p:cNvSpPr txBox="1"/>
          <p:nvPr/>
        </p:nvSpPr>
        <p:spPr>
          <a:xfrm>
            <a:off x="9835652" y="2514600"/>
            <a:ext cx="1578803" cy="822960"/>
          </a:xfrm>
          <a:prstGeom prst="rect">
            <a:avLst/>
          </a:prstGeom>
          <a:noFill/>
          <a:ln/>
        </p:spPr>
        <p:txBody>
          <a:bodyPr wrap="square" lIns="0" tIns="0" rIns="0" bIns="0" rtlCol="0" anchor="t">
            <a:normAutofit/>
          </a:bodyPr>
          <a:lstStyle/>
          <a:p>
            <a:pPr indent="0" marL="0">
              <a:buNone/>
            </a:pPr>
            <a:r>
              <a:rPr lang="en-US" sz="1400" b="1" dirty="0">
                <a:solidFill>
                  <a:schemeClr val="tx1"/>
                </a:solidFill>
                <a:latin typeface="Arial" pitchFamily="34" charset="0"/>
                <a:ea typeface="Arial" pitchFamily="34" charset="-122"/>
                <a:cs typeface="Arial" pitchFamily="34" charset="-120"/>
              </a:rPr>
              <a:t>Chip designers and an auditor</a:t>
            </a:r>
            <a:endParaRPr lang="en-US" sz="1400" dirty="0"/>
          </a:p>
        </p:txBody>
      </p:sp>
      <p:sp>
        <p:nvSpPr>
          <p:cNvPr id="29" name="Text 22"/>
          <p:cNvSpPr txBox="1"/>
          <p:nvPr/>
        </p:nvSpPr>
        <p:spPr>
          <a:xfrm>
            <a:off x="9835652" y="3383280"/>
            <a:ext cx="1578803" cy="1097280"/>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To tear the design apart before any tape-out.</a:t>
            </a:r>
            <a:endParaRPr lang="en-US" sz="1150" dirty="0"/>
          </a:p>
        </p:txBody>
      </p:sp>
      <p:sp>
        <p:nvSpPr>
          <p:cNvPr id="30" name="Text 23"/>
          <p:cNvSpPr txBox="1"/>
          <p:nvPr/>
        </p:nvSpPr>
        <p:spPr>
          <a:xfrm>
            <a:off x="548640" y="4663440"/>
            <a:ext cx="11094415" cy="365760"/>
          </a:xfrm>
          <a:prstGeom prst="rect">
            <a:avLst/>
          </a:prstGeom>
          <a:noFill/>
          <a:ln/>
        </p:spPr>
        <p:txBody>
          <a:bodyPr wrap="square" lIns="0" tIns="0" rIns="0" bIns="0" rtlCol="0" anchor="t">
            <a:normAutofit/>
          </a:bodyPr>
          <a:lstStyle/>
          <a:p>
            <a:pPr indent="0" marL="0">
              <a:buNone/>
            </a:pPr>
            <a:r>
              <a:rPr lang="en-US" sz="1200" i="1" dirty="0">
                <a:solidFill>
                  <a:schemeClr val="tx2"/>
                </a:solidFill>
                <a:latin typeface="Arial" pitchFamily="34" charset="0"/>
                <a:ea typeface="Arial" pitchFamily="34" charset="-122"/>
                <a:cs typeface="Arial" pitchFamily="34" charset="-120"/>
              </a:rPr>
              <a:t>And anyone with a terminal: ./run.sh in both repositories, make proof, and audit/PROMPT.md for a model that wrote none of this. A no is informative.</a:t>
            </a:r>
            <a:endParaRPr lang="en-US" sz="1200" dirty="0"/>
          </a:p>
        </p:txBody>
      </p:sp>
      <p:sp>
        <p:nvSpPr>
          <p:cNvPr id="31" name="analogy"/>
          <p:cNvSpPr/>
          <p:nvPr/>
        </p:nvSpPr>
        <p:spPr>
          <a:xfrm>
            <a:off x="548640" y="5257800"/>
            <a:ext cx="11094415" cy="777240"/>
          </a:xfrm>
          <a:prstGeom prst="roundRect">
            <a:avLst>
              <a:gd name="adj" fmla="val 9412"/>
            </a:avLst>
          </a:prstGeom>
          <a:solidFill>
            <a:schemeClr val="tx1"/>
          </a:solidFill>
          <a:ln w="12700">
            <a:solidFill>
              <a:schemeClr val="tx1"/>
            </a:solidFill>
            <a:prstDash val="solid"/>
          </a:ln>
        </p:spPr>
      </p:sp>
      <p:sp>
        <p:nvSpPr>
          <p:cNvPr id="32" name="Text 25"/>
          <p:cNvSpPr txBox="1"/>
          <p:nvPr/>
        </p:nvSpPr>
        <p:spPr>
          <a:xfrm>
            <a:off x="822960" y="5257800"/>
            <a:ext cx="1554480" cy="77724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the program's own rule</a:t>
            </a:r>
            <a:endParaRPr lang="en-US" sz="1000" dirty="0"/>
          </a:p>
        </p:txBody>
      </p:sp>
      <p:sp>
        <p:nvSpPr>
          <p:cNvPr id="33" name="Text 26"/>
          <p:cNvSpPr txBox="1"/>
          <p:nvPr/>
        </p:nvSpPr>
        <p:spPr>
          <a:xfrm>
            <a:off x="2514600" y="5257800"/>
            <a:ext cx="8854135" cy="77724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Going to hardware and then tape-out is so expensive that we need to be 1000 percent sure in the pre-hardware phase. These five are what proving, or disproving, the design takes before that.</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What I need, technically: who, what, and why</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33</a:t>
            </a:r>
            <a:endParaRPr lang="en-US" sz="1100" dirty="0"/>
          </a:p>
        </p:txBody>
      </p:sp>
      <p:sp>
        <p:nvSpPr>
          <p:cNvPr id="5" name="table header"/>
          <p:cNvSpPr/>
          <p:nvPr/>
        </p:nvSpPr>
        <p:spPr>
          <a:xfrm>
            <a:off x="548640" y="1417320"/>
            <a:ext cx="7863840" cy="384048"/>
          </a:xfrm>
          <a:prstGeom prst="rect">
            <a:avLst/>
          </a:prstGeom>
          <a:solidFill>
            <a:schemeClr val="tx2"/>
          </a:solidFill>
          <a:ln w="12700">
            <a:solidFill>
              <a:schemeClr val="tx2"/>
            </a:solidFill>
            <a:prstDash val="solid"/>
          </a:ln>
        </p:spPr>
      </p:sp>
      <p:sp>
        <p:nvSpPr>
          <p:cNvPr id="6" name="Text 4"/>
          <p:cNvSpPr txBox="1"/>
          <p:nvPr/>
        </p:nvSpPr>
        <p:spPr>
          <a:xfrm>
            <a:off x="630936" y="1417320"/>
            <a:ext cx="1847088"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Who</a:t>
            </a:r>
            <a:endParaRPr lang="en-US" sz="1000" dirty="0"/>
          </a:p>
        </p:txBody>
      </p:sp>
      <p:sp>
        <p:nvSpPr>
          <p:cNvPr id="7" name="Text 5"/>
          <p:cNvSpPr txBox="1"/>
          <p:nvPr/>
        </p:nvSpPr>
        <p:spPr>
          <a:xfrm>
            <a:off x="2642616" y="1417320"/>
            <a:ext cx="2761488"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What I need</a:t>
            </a:r>
            <a:endParaRPr lang="en-US" sz="1000" dirty="0"/>
          </a:p>
        </p:txBody>
      </p:sp>
      <p:sp>
        <p:nvSpPr>
          <p:cNvPr id="8" name="Text 6"/>
          <p:cNvSpPr txBox="1"/>
          <p:nvPr/>
        </p:nvSpPr>
        <p:spPr>
          <a:xfrm>
            <a:off x="5568696" y="1417320"/>
            <a:ext cx="2761488" cy="384048"/>
          </a:xfrm>
          <a:prstGeom prst="rect">
            <a:avLst/>
          </a:prstGeom>
          <a:noFill/>
          <a:ln/>
        </p:spPr>
        <p:txBody>
          <a:bodyPr wrap="square" lIns="0" tIns="0" rIns="0" bIns="0" rtlCol="0" anchor="ctr">
            <a:normAutofit/>
          </a:bodyPr>
          <a:lstStyle/>
          <a:p>
            <a:pPr indent="0" marL="0">
              <a:buNone/>
            </a:pPr>
            <a:r>
              <a:rPr lang="en-US" sz="1000" b="1" dirty="0">
                <a:solidFill>
                  <a:schemeClr val="bg1"/>
                </a:solidFill>
                <a:latin typeface="Arial" pitchFamily="34" charset="0"/>
                <a:ea typeface="Arial" pitchFamily="34" charset="-122"/>
                <a:cs typeface="Arial" pitchFamily="34" charset="-120"/>
              </a:rPr>
              <a:t>What it settles</a:t>
            </a:r>
            <a:endParaRPr lang="en-US" sz="1000" dirty="0"/>
          </a:p>
        </p:txBody>
      </p:sp>
      <p:sp>
        <p:nvSpPr>
          <p:cNvPr id="9" name="table row"/>
          <p:cNvSpPr/>
          <p:nvPr/>
        </p:nvSpPr>
        <p:spPr>
          <a:xfrm>
            <a:off x="548640" y="1801368"/>
            <a:ext cx="7863840" cy="629412"/>
          </a:xfrm>
          <a:prstGeom prst="rect">
            <a:avLst/>
          </a:prstGeom>
          <a:solidFill>
            <a:srgbClr val="EEF2EF"/>
          </a:solidFill>
          <a:ln w="9525">
            <a:solidFill>
              <a:srgbClr val="EEF2EF"/>
            </a:solidFill>
            <a:prstDash val="solid"/>
          </a:ln>
        </p:spPr>
      </p:sp>
      <p:sp>
        <p:nvSpPr>
          <p:cNvPr id="10" name="icon circle"/>
          <p:cNvSpPr/>
          <p:nvPr/>
        </p:nvSpPr>
        <p:spPr>
          <a:xfrm>
            <a:off x="630936" y="1883664"/>
            <a:ext cx="384048" cy="384048"/>
          </a:xfrm>
          <a:prstGeom prst="ellipse">
            <a:avLst/>
          </a:prstGeom>
          <a:solidFill>
            <a:schemeClr val="accent1"/>
          </a:solidFill>
          <a:ln w="12700">
            <a:solidFill>
              <a:schemeClr val="accent1"/>
            </a:solidFill>
            <a:prstDash val="solid"/>
          </a:ln>
        </p:spPr>
      </p:sp>
      <p:pic>
        <p:nvPicPr>
          <p:cNvPr id="11" name="FiBriefcase" descr="preencoded.png">    </p:cNvPr>
          <p:cNvPicPr>
            <a:picLocks noChangeAspect="1"/>
          </p:cNvPicPr>
          <p:nvPr/>
        </p:nvPicPr>
        <p:blipFill>
          <a:blip r:embed="rId1"/>
          <a:stretch>
            <a:fillRect/>
          </a:stretch>
        </p:blipFill>
        <p:spPr>
          <a:xfrm>
            <a:off x="726948" y="1979676"/>
            <a:ext cx="192024" cy="192024"/>
          </a:xfrm>
          <a:prstGeom prst="rect">
            <a:avLst/>
          </a:prstGeom>
        </p:spPr>
      </p:pic>
      <p:sp>
        <p:nvSpPr>
          <p:cNvPr id="12" name="Text 9"/>
          <p:cNvSpPr txBox="1"/>
          <p:nvPr/>
        </p:nvSpPr>
        <p:spPr>
          <a:xfrm>
            <a:off x="1133856" y="1883664"/>
            <a:ext cx="1344168" cy="46482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A server OEM</a:t>
            </a:r>
            <a:endParaRPr lang="en-US" sz="1000" dirty="0"/>
          </a:p>
        </p:txBody>
      </p:sp>
      <p:sp>
        <p:nvSpPr>
          <p:cNvPr id="13" name="Text 10"/>
          <p:cNvSpPr txBox="1"/>
          <p:nvPr/>
        </p:nvSpPr>
        <p:spPr>
          <a:xfrm>
            <a:off x="2642616" y="1883664"/>
            <a:ext cx="2761488"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The management-module slot; the HGX design guide under NDA; the connector pinout; the retrofit question per lever</a:t>
            </a:r>
            <a:endParaRPr lang="en-US" sz="1000" dirty="0"/>
          </a:p>
        </p:txBody>
      </p:sp>
      <p:sp>
        <p:nvSpPr>
          <p:cNvPr id="14" name="Text 11"/>
          <p:cNvSpPr txBox="1"/>
          <p:nvPr/>
        </p:nvSpPr>
        <p:spPr>
          <a:xfrm>
            <a:off x="5568696" y="1883664"/>
            <a:ext cx="2761488"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Whether per-module levers reach the connector and the BMC slot. If not, the rack tier is coarser than the design says</a:t>
            </a:r>
            <a:endParaRPr lang="en-US" sz="1000" dirty="0"/>
          </a:p>
        </p:txBody>
      </p:sp>
      <p:sp>
        <p:nvSpPr>
          <p:cNvPr id="15" name="table row"/>
          <p:cNvSpPr/>
          <p:nvPr/>
        </p:nvSpPr>
        <p:spPr>
          <a:xfrm>
            <a:off x="548640" y="2430780"/>
            <a:ext cx="7863840" cy="784352"/>
          </a:xfrm>
          <a:prstGeom prst="rect">
            <a:avLst/>
          </a:prstGeom>
          <a:solidFill>
            <a:srgbClr val="FFFFFF"/>
          </a:solidFill>
          <a:ln w="9525">
            <a:solidFill>
              <a:srgbClr val="EEF2EF"/>
            </a:solidFill>
            <a:prstDash val="solid"/>
          </a:ln>
        </p:spPr>
      </p:sp>
      <p:sp>
        <p:nvSpPr>
          <p:cNvPr id="16" name="icon circle"/>
          <p:cNvSpPr/>
          <p:nvPr/>
        </p:nvSpPr>
        <p:spPr>
          <a:xfrm>
            <a:off x="630936" y="2513076"/>
            <a:ext cx="384048" cy="384048"/>
          </a:xfrm>
          <a:prstGeom prst="ellipse">
            <a:avLst/>
          </a:prstGeom>
          <a:solidFill>
            <a:schemeClr val="accent1"/>
          </a:solidFill>
          <a:ln w="12700">
            <a:solidFill>
              <a:schemeClr val="accent1"/>
            </a:solidFill>
            <a:prstDash val="solid"/>
          </a:ln>
        </p:spPr>
      </p:sp>
      <p:pic>
        <p:nvPicPr>
          <p:cNvPr id="17" name="FiCpu" descr="preencoded.png">    </p:cNvPr>
          <p:cNvPicPr>
            <a:picLocks noChangeAspect="1"/>
          </p:cNvPicPr>
          <p:nvPr/>
        </p:nvPicPr>
        <p:blipFill>
          <a:blip r:embed="rId2"/>
          <a:stretch>
            <a:fillRect/>
          </a:stretch>
        </p:blipFill>
        <p:spPr>
          <a:xfrm>
            <a:off x="726948" y="2609088"/>
            <a:ext cx="192024" cy="192024"/>
          </a:xfrm>
          <a:prstGeom prst="rect">
            <a:avLst/>
          </a:prstGeom>
        </p:spPr>
      </p:pic>
      <p:sp>
        <p:nvSpPr>
          <p:cNvPr id="18" name="Text 14"/>
          <p:cNvSpPr txBox="1"/>
          <p:nvPr/>
        </p:nvSpPr>
        <p:spPr>
          <a:xfrm>
            <a:off x="1133856" y="2513076"/>
            <a:ext cx="1344168" cy="61976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NVIDIA</a:t>
            </a:r>
            <a:endParaRPr lang="en-US" sz="1000" dirty="0"/>
          </a:p>
        </p:txBody>
      </p:sp>
      <p:sp>
        <p:nvSpPr>
          <p:cNvPr id="19" name="Text 15"/>
          <p:cNvSpPr txBox="1"/>
          <p:nvPr/>
        </p:nvSpPr>
        <p:spPr>
          <a:xfrm>
            <a:off x="2642616" y="2513076"/>
            <a:ext cx="2761488" cy="6197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Seven firmware asks: NSM port-disable semantics, per-GPU reset, buffer-class checkers in the copy engines and peer MMU; nothing from the silicon</a:t>
            </a:r>
            <a:endParaRPr lang="en-US" sz="1000" dirty="0"/>
          </a:p>
        </p:txBody>
      </p:sp>
      <p:sp>
        <p:nvSpPr>
          <p:cNvPr id="20" name="Text 16"/>
          <p:cNvSpPr txBox="1"/>
          <p:nvPr/>
        </p:nvSpPr>
        <p:spPr>
          <a:xfrm>
            <a:off x="5568696" y="2513076"/>
            <a:ext cx="2761488" cy="6197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The integrated tier; whether the recorded gap (H2b) can be closed from inside the GPU</a:t>
            </a:r>
            <a:endParaRPr lang="en-US" sz="1000" dirty="0"/>
          </a:p>
        </p:txBody>
      </p:sp>
      <p:sp>
        <p:nvSpPr>
          <p:cNvPr id="21" name="table row"/>
          <p:cNvSpPr/>
          <p:nvPr/>
        </p:nvSpPr>
        <p:spPr>
          <a:xfrm>
            <a:off x="548640" y="3215132"/>
            <a:ext cx="7863840" cy="629412"/>
          </a:xfrm>
          <a:prstGeom prst="rect">
            <a:avLst/>
          </a:prstGeom>
          <a:solidFill>
            <a:srgbClr val="EEF2EF"/>
          </a:solidFill>
          <a:ln w="9525">
            <a:solidFill>
              <a:srgbClr val="EEF2EF"/>
            </a:solidFill>
            <a:prstDash val="solid"/>
          </a:ln>
        </p:spPr>
      </p:sp>
      <p:sp>
        <p:nvSpPr>
          <p:cNvPr id="22" name="icon circle"/>
          <p:cNvSpPr/>
          <p:nvPr/>
        </p:nvSpPr>
        <p:spPr>
          <a:xfrm>
            <a:off x="630936" y="3297428"/>
            <a:ext cx="384048" cy="384048"/>
          </a:xfrm>
          <a:prstGeom prst="ellipse">
            <a:avLst/>
          </a:prstGeom>
          <a:solidFill>
            <a:schemeClr val="accent1"/>
          </a:solidFill>
          <a:ln w="12700">
            <a:solidFill>
              <a:schemeClr val="accent1"/>
            </a:solidFill>
            <a:prstDash val="solid"/>
          </a:ln>
        </p:spPr>
      </p:sp>
      <p:pic>
        <p:nvPicPr>
          <p:cNvPr id="23" name="FiHardDrive" descr="preencoded.png">    </p:cNvPr>
          <p:cNvPicPr>
            <a:picLocks noChangeAspect="1"/>
          </p:cNvPicPr>
          <p:nvPr/>
        </p:nvPicPr>
        <p:blipFill>
          <a:blip r:embed="rId3"/>
          <a:stretch>
            <a:fillRect/>
          </a:stretch>
        </p:blipFill>
        <p:spPr>
          <a:xfrm>
            <a:off x="726948" y="3393440"/>
            <a:ext cx="192024" cy="192024"/>
          </a:xfrm>
          <a:prstGeom prst="rect">
            <a:avLst/>
          </a:prstGeom>
        </p:spPr>
      </p:pic>
      <p:sp>
        <p:nvSpPr>
          <p:cNvPr id="24" name="Text 19"/>
          <p:cNvSpPr txBox="1"/>
          <p:nvPr/>
        </p:nvSpPr>
        <p:spPr>
          <a:xfrm>
            <a:off x="1133856" y="3297428"/>
            <a:ext cx="1344168" cy="46482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An endpoint partner</a:t>
            </a:r>
            <a:endParaRPr lang="en-US" sz="1000" dirty="0"/>
          </a:p>
        </p:txBody>
      </p:sp>
      <p:sp>
        <p:nvSpPr>
          <p:cNvPr id="25" name="Text 20"/>
          <p:cNvSpPr txBox="1"/>
          <p:nvPr/>
        </p:nvSpPr>
        <p:spPr>
          <a:xfrm>
            <a:off x="2642616" y="3297428"/>
            <a:ext cx="2761488"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A device or tool gateway that verifies the ticket: P-384 signature, typed fields, epoch, freshness</a:t>
            </a:r>
            <a:endParaRPr lang="en-US" sz="1000" dirty="0"/>
          </a:p>
        </p:txBody>
      </p:sp>
      <p:sp>
        <p:nvSpPr>
          <p:cNvPr id="26" name="Text 21"/>
          <p:cNvSpPr txBox="1"/>
          <p:nvPr/>
        </p:nvSpPr>
        <p:spPr>
          <a:xfrm>
            <a:off x="5568696" y="3297428"/>
            <a:ext cx="2761488"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Whether the comparator works outside the model. If nobody will check the stamp, the thesis fails in practice</a:t>
            </a:r>
            <a:endParaRPr lang="en-US" sz="1000" dirty="0"/>
          </a:p>
        </p:txBody>
      </p:sp>
      <p:sp>
        <p:nvSpPr>
          <p:cNvPr id="27" name="table row"/>
          <p:cNvSpPr/>
          <p:nvPr/>
        </p:nvSpPr>
        <p:spPr>
          <a:xfrm>
            <a:off x="548640" y="3844544"/>
            <a:ext cx="7863840" cy="629412"/>
          </a:xfrm>
          <a:prstGeom prst="rect">
            <a:avLst/>
          </a:prstGeom>
          <a:solidFill>
            <a:srgbClr val="FFFFFF"/>
          </a:solidFill>
          <a:ln w="9525">
            <a:solidFill>
              <a:srgbClr val="EEF2EF"/>
            </a:solidFill>
            <a:prstDash val="solid"/>
          </a:ln>
        </p:spPr>
      </p:sp>
      <p:sp>
        <p:nvSpPr>
          <p:cNvPr id="28" name="icon circle"/>
          <p:cNvSpPr/>
          <p:nvPr/>
        </p:nvSpPr>
        <p:spPr>
          <a:xfrm>
            <a:off x="630936" y="3926840"/>
            <a:ext cx="384048" cy="384048"/>
          </a:xfrm>
          <a:prstGeom prst="ellipse">
            <a:avLst/>
          </a:prstGeom>
          <a:solidFill>
            <a:schemeClr val="accent1"/>
          </a:solidFill>
          <a:ln w="12700">
            <a:solidFill>
              <a:schemeClr val="accent1"/>
            </a:solidFill>
            <a:prstDash val="solid"/>
          </a:ln>
        </p:spPr>
      </p:sp>
      <p:pic>
        <p:nvPicPr>
          <p:cNvPr id="29" name="FiActivity" descr="preencoded.png">    </p:cNvPr>
          <p:cNvPicPr>
            <a:picLocks noChangeAspect="1"/>
          </p:cNvPicPr>
          <p:nvPr/>
        </p:nvPicPr>
        <p:blipFill>
          <a:blip r:embed="rId4"/>
          <a:stretch>
            <a:fillRect/>
          </a:stretch>
        </p:blipFill>
        <p:spPr>
          <a:xfrm>
            <a:off x="726948" y="4022852"/>
            <a:ext cx="192024" cy="192024"/>
          </a:xfrm>
          <a:prstGeom prst="rect">
            <a:avLst/>
          </a:prstGeom>
        </p:spPr>
      </p:pic>
      <p:sp>
        <p:nvSpPr>
          <p:cNvPr id="30" name="Text 24"/>
          <p:cNvSpPr txBox="1"/>
          <p:nvPr/>
        </p:nvSpPr>
        <p:spPr>
          <a:xfrm>
            <a:off x="1133856" y="3926840"/>
            <a:ext cx="1344168" cy="46482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A lab with an HGX or NVL rack</a:t>
            </a:r>
            <a:endParaRPr lang="en-US" sz="1000" dirty="0"/>
          </a:p>
        </p:txBody>
      </p:sp>
      <p:sp>
        <p:nvSpPr>
          <p:cNvPr id="31" name="Text 25"/>
          <p:cNvSpPr txBox="1"/>
          <p:nvPr/>
        </p:nvSpPr>
        <p:spPr>
          <a:xfrm>
            <a:off x="2642616" y="3926840"/>
            <a:ext cx="2761488"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An FPGA governor beside a real GPU for weeks</a:t>
            </a:r>
            <a:endParaRPr lang="en-US" sz="1000" dirty="0"/>
          </a:p>
        </p:txBody>
      </p:sp>
      <p:sp>
        <p:nvSpPr>
          <p:cNvPr id="32" name="Text 26"/>
          <p:cNvSpPr txBox="1"/>
          <p:nvPr/>
        </p:nvSpPr>
        <p:spPr>
          <a:xfrm>
            <a:off x="5568696" y="3926840"/>
            <a:ext cx="2761488"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The real overhead against the one percent goal (G6); the false-halt rate; the loop beacon in the field</a:t>
            </a:r>
            <a:endParaRPr lang="en-US" sz="1000" dirty="0"/>
          </a:p>
        </p:txBody>
      </p:sp>
      <p:sp>
        <p:nvSpPr>
          <p:cNvPr id="33" name="table row"/>
          <p:cNvSpPr/>
          <p:nvPr/>
        </p:nvSpPr>
        <p:spPr>
          <a:xfrm>
            <a:off x="548640" y="4473956"/>
            <a:ext cx="7863840" cy="474472"/>
          </a:xfrm>
          <a:prstGeom prst="rect">
            <a:avLst/>
          </a:prstGeom>
          <a:solidFill>
            <a:srgbClr val="EEF2EF"/>
          </a:solidFill>
          <a:ln w="9525">
            <a:solidFill>
              <a:srgbClr val="EEF2EF"/>
            </a:solidFill>
            <a:prstDash val="solid"/>
          </a:ln>
        </p:spPr>
      </p:sp>
      <p:sp>
        <p:nvSpPr>
          <p:cNvPr id="34" name="icon circle"/>
          <p:cNvSpPr/>
          <p:nvPr/>
        </p:nvSpPr>
        <p:spPr>
          <a:xfrm>
            <a:off x="630936" y="4556252"/>
            <a:ext cx="384048" cy="384048"/>
          </a:xfrm>
          <a:prstGeom prst="ellipse">
            <a:avLst/>
          </a:prstGeom>
          <a:solidFill>
            <a:schemeClr val="accent1"/>
          </a:solidFill>
          <a:ln w="12700">
            <a:solidFill>
              <a:schemeClr val="accent1"/>
            </a:solidFill>
            <a:prstDash val="solid"/>
          </a:ln>
        </p:spPr>
      </p:sp>
      <p:pic>
        <p:nvPicPr>
          <p:cNvPr id="35" name="FiTarget" descr="preencoded.png">    </p:cNvPr>
          <p:cNvPicPr>
            <a:picLocks noChangeAspect="1"/>
          </p:cNvPicPr>
          <p:nvPr/>
        </p:nvPicPr>
        <p:blipFill>
          <a:blip r:embed="rId5"/>
          <a:stretch>
            <a:fillRect/>
          </a:stretch>
        </p:blipFill>
        <p:spPr>
          <a:xfrm>
            <a:off x="726948" y="4652264"/>
            <a:ext cx="192024" cy="192024"/>
          </a:xfrm>
          <a:prstGeom prst="rect">
            <a:avLst/>
          </a:prstGeom>
        </p:spPr>
      </p:pic>
      <p:sp>
        <p:nvSpPr>
          <p:cNvPr id="36" name="Text 29"/>
          <p:cNvSpPr txBox="1"/>
          <p:nvPr/>
        </p:nvSpPr>
        <p:spPr>
          <a:xfrm>
            <a:off x="1133856" y="4556252"/>
            <a:ext cx="1344168" cy="30988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A model lab's red team</a:t>
            </a:r>
            <a:endParaRPr lang="en-US" sz="1000" dirty="0"/>
          </a:p>
        </p:txBody>
      </p:sp>
      <p:sp>
        <p:nvSpPr>
          <p:cNvPr id="37" name="Text 30"/>
          <p:cNvSpPr txBox="1"/>
          <p:nvPr/>
        </p:nvSpPr>
        <p:spPr>
          <a:xfrm>
            <a:off x="2642616" y="4556252"/>
            <a:ext cx="2761488" cy="30988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Disguised requests against the release gate and the observers</a:t>
            </a:r>
            <a:endParaRPr lang="en-US" sz="1000" dirty="0"/>
          </a:p>
        </p:txBody>
      </p:sp>
      <p:sp>
        <p:nvSpPr>
          <p:cNvPr id="38" name="Text 31"/>
          <p:cNvSpPr txBox="1"/>
          <p:nvPr/>
        </p:nvSpPr>
        <p:spPr>
          <a:xfrm>
            <a:off x="5568696" y="4556252"/>
            <a:ext cx="2761488" cy="30988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The size of the semantic residual; whether a quorum of observers is enough</a:t>
            </a:r>
            <a:endParaRPr lang="en-US" sz="1000" dirty="0"/>
          </a:p>
        </p:txBody>
      </p:sp>
      <p:sp>
        <p:nvSpPr>
          <p:cNvPr id="39" name="table row"/>
          <p:cNvSpPr/>
          <p:nvPr/>
        </p:nvSpPr>
        <p:spPr>
          <a:xfrm>
            <a:off x="548640" y="4948428"/>
            <a:ext cx="7863840" cy="629412"/>
          </a:xfrm>
          <a:prstGeom prst="rect">
            <a:avLst/>
          </a:prstGeom>
          <a:solidFill>
            <a:srgbClr val="FFFFFF"/>
          </a:solidFill>
          <a:ln w="9525">
            <a:solidFill>
              <a:srgbClr val="EEF2EF"/>
            </a:solidFill>
            <a:prstDash val="solid"/>
          </a:ln>
        </p:spPr>
      </p:sp>
      <p:sp>
        <p:nvSpPr>
          <p:cNvPr id="40" name="icon circle"/>
          <p:cNvSpPr/>
          <p:nvPr/>
        </p:nvSpPr>
        <p:spPr>
          <a:xfrm>
            <a:off x="630936" y="5030724"/>
            <a:ext cx="384048" cy="384048"/>
          </a:xfrm>
          <a:prstGeom prst="ellipse">
            <a:avLst/>
          </a:prstGeom>
          <a:solidFill>
            <a:schemeClr val="accent1"/>
          </a:solidFill>
          <a:ln w="12700">
            <a:solidFill>
              <a:schemeClr val="accent1"/>
            </a:solidFill>
            <a:prstDash val="solid"/>
          </a:ln>
        </p:spPr>
      </p:sp>
      <p:pic>
        <p:nvPicPr>
          <p:cNvPr id="41" name="FiUsers" descr="preencoded.png">    </p:cNvPr>
          <p:cNvPicPr>
            <a:picLocks noChangeAspect="1"/>
          </p:cNvPicPr>
          <p:nvPr/>
        </p:nvPicPr>
        <p:blipFill>
          <a:blip r:embed="rId6"/>
          <a:stretch>
            <a:fillRect/>
          </a:stretch>
        </p:blipFill>
        <p:spPr>
          <a:xfrm>
            <a:off x="726948" y="5126736"/>
            <a:ext cx="192024" cy="192024"/>
          </a:xfrm>
          <a:prstGeom prst="rect">
            <a:avLst/>
          </a:prstGeom>
        </p:spPr>
      </p:pic>
      <p:sp>
        <p:nvSpPr>
          <p:cNvPr id="42" name="Text 34"/>
          <p:cNvSpPr txBox="1"/>
          <p:nvPr/>
        </p:nvSpPr>
        <p:spPr>
          <a:xfrm>
            <a:off x="1133856" y="5030724"/>
            <a:ext cx="1344168" cy="46482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Chip designers, an auditor</a:t>
            </a:r>
            <a:endParaRPr lang="en-US" sz="1000" dirty="0"/>
          </a:p>
        </p:txBody>
      </p:sp>
      <p:sp>
        <p:nvSpPr>
          <p:cNvPr id="43" name="Text 35"/>
          <p:cNvSpPr txBox="1"/>
          <p:nvPr/>
        </p:nvSpPr>
        <p:spPr>
          <a:xfrm>
            <a:off x="2642616" y="5030724"/>
            <a:ext cx="2761488"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Review of the RTL, the firmware plan and the proof-assumption list; formal proofs of the block invariants (L7)</a:t>
            </a:r>
            <a:endParaRPr lang="en-US" sz="1000" dirty="0"/>
          </a:p>
        </p:txBody>
      </p:sp>
      <p:sp>
        <p:nvSpPr>
          <p:cNvPr id="44" name="Text 36"/>
          <p:cNvSpPr txBox="1"/>
          <p:nvPr/>
        </p:nvSpPr>
        <p:spPr>
          <a:xfrm>
            <a:off x="5568696" y="5030724"/>
            <a:ext cx="2761488" cy="46482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Verification before tape-out</a:t>
            </a:r>
            <a:endParaRPr lang="en-US" sz="1000" dirty="0"/>
          </a:p>
        </p:txBody>
      </p:sp>
      <p:sp>
        <p:nvSpPr>
          <p:cNvPr id="45" name="table row"/>
          <p:cNvSpPr/>
          <p:nvPr/>
        </p:nvSpPr>
        <p:spPr>
          <a:xfrm>
            <a:off x="548640" y="5577840"/>
            <a:ext cx="7863840" cy="784352"/>
          </a:xfrm>
          <a:prstGeom prst="rect">
            <a:avLst/>
          </a:prstGeom>
          <a:solidFill>
            <a:srgbClr val="EEF2EF"/>
          </a:solidFill>
          <a:ln w="9525">
            <a:solidFill>
              <a:srgbClr val="EEF2EF"/>
            </a:solidFill>
            <a:prstDash val="solid"/>
          </a:ln>
        </p:spPr>
      </p:sp>
      <p:sp>
        <p:nvSpPr>
          <p:cNvPr id="46" name="icon circle"/>
          <p:cNvSpPr/>
          <p:nvPr/>
        </p:nvSpPr>
        <p:spPr>
          <a:xfrm>
            <a:off x="630936" y="5660136"/>
            <a:ext cx="384048" cy="384048"/>
          </a:xfrm>
          <a:prstGeom prst="ellipse">
            <a:avLst/>
          </a:prstGeom>
          <a:solidFill>
            <a:schemeClr val="accent1"/>
          </a:solidFill>
          <a:ln w="12700">
            <a:solidFill>
              <a:schemeClr val="accent1"/>
            </a:solidFill>
            <a:prstDash val="solid"/>
          </a:ln>
        </p:spPr>
      </p:sp>
      <p:pic>
        <p:nvPicPr>
          <p:cNvPr id="47" name="FiSearch" descr="preencoded.png">    </p:cNvPr>
          <p:cNvPicPr>
            <a:picLocks noChangeAspect="1"/>
          </p:cNvPicPr>
          <p:nvPr/>
        </p:nvPicPr>
        <p:blipFill>
          <a:blip r:embed="rId7"/>
          <a:stretch>
            <a:fillRect/>
          </a:stretch>
        </p:blipFill>
        <p:spPr>
          <a:xfrm>
            <a:off x="726948" y="5756148"/>
            <a:ext cx="192024" cy="192024"/>
          </a:xfrm>
          <a:prstGeom prst="rect">
            <a:avLst/>
          </a:prstGeom>
        </p:spPr>
      </p:pic>
      <p:sp>
        <p:nvSpPr>
          <p:cNvPr id="48" name="Text 39"/>
          <p:cNvSpPr txBox="1"/>
          <p:nvPr/>
        </p:nvSpPr>
        <p:spPr>
          <a:xfrm>
            <a:off x="1133856" y="5660136"/>
            <a:ext cx="1344168" cy="619760"/>
          </a:xfrm>
          <a:prstGeom prst="rect">
            <a:avLst/>
          </a:prstGeom>
          <a:noFill/>
          <a:ln/>
        </p:spPr>
        <p:txBody>
          <a:bodyPr wrap="square" lIns="0" tIns="0" rIns="0" bIns="0" rtlCol="0" anchor="t">
            <a:normAutofit/>
          </a:bodyPr>
          <a:lstStyle/>
          <a:p>
            <a:pPr indent="0" marL="0">
              <a:buNone/>
            </a:pPr>
            <a:r>
              <a:rPr lang="en-US" sz="1000" b="1" dirty="0">
                <a:solidFill>
                  <a:schemeClr val="tx1"/>
                </a:solidFill>
                <a:latin typeface="Arial" pitchFamily="34" charset="0"/>
                <a:ea typeface="Arial" pitchFamily="34" charset="-122"/>
                <a:cs typeface="Arial" pitchFamily="34" charset="-120"/>
              </a:rPr>
              <a:t>Models that wrote none of this</a:t>
            </a:r>
            <a:endParaRPr lang="en-US" sz="1000" dirty="0"/>
          </a:p>
        </p:txBody>
      </p:sp>
      <p:sp>
        <p:nvSpPr>
          <p:cNvPr id="49" name="Text 40"/>
          <p:cNvSpPr txBox="1"/>
          <p:nvPr/>
        </p:nvSpPr>
        <p:spPr>
          <a:xfrm>
            <a:off x="2642616" y="5660136"/>
            <a:ext cx="2761488" cy="6197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Codex and Gemini run audit/PROMPT.md: reproduce every number, find the change that makes each test fail, name what the disproof conditions required and nobody tested</a:t>
            </a:r>
            <a:endParaRPr lang="en-US" sz="1000" dirty="0"/>
          </a:p>
        </p:txBody>
      </p:sp>
      <p:sp>
        <p:nvSpPr>
          <p:cNvPr id="50" name="Text 41"/>
          <p:cNvSpPr txBox="1"/>
          <p:nvPr/>
        </p:nvSpPr>
        <p:spPr>
          <a:xfrm>
            <a:off x="5568696" y="5660136"/>
            <a:ext cx="2761488" cy="619760"/>
          </a:xfrm>
          <a:prstGeom prst="rect">
            <a:avLst/>
          </a:prstGeom>
          <a:noFill/>
          <a:ln/>
        </p:spPr>
        <p:txBody>
          <a:bodyPr wrap="square" lIns="0" tIns="0" rIns="0" bIns="0" rtlCol="0" anchor="t">
            <a:normAutofit/>
          </a:bodyPr>
          <a:lstStyle/>
          <a:p>
            <a:pPr indent="0" marL="0">
              <a:buNone/>
            </a:pPr>
            <a:r>
              <a:rPr lang="en-US" sz="1000" dirty="0">
                <a:solidFill>
                  <a:schemeClr val="tx1"/>
                </a:solidFill>
                <a:latin typeface="Arial" pitchFamily="34" charset="0"/>
                <a:ea typeface="Arial" pitchFamily="34" charset="-122"/>
                <a:cs typeface="Arial" pitchFamily="34" charset="-120"/>
              </a:rPr>
              <a:t>Whether the program's own checks are complete</a:t>
            </a:r>
            <a:endParaRPr lang="en-US" sz="1000" dirty="0"/>
          </a:p>
        </p:txBody>
      </p:sp>
      <p:sp>
        <p:nvSpPr>
          <p:cNvPr id="51" name="card"/>
          <p:cNvSpPr/>
          <p:nvPr/>
        </p:nvSpPr>
        <p:spPr>
          <a:xfrm>
            <a:off x="8714232" y="1417320"/>
            <a:ext cx="2928823" cy="4663440"/>
          </a:xfrm>
          <a:prstGeom prst="roundRect">
            <a:avLst>
              <a:gd name="adj" fmla="val 2498"/>
            </a:avLst>
          </a:prstGeom>
          <a:solidFill>
            <a:schemeClr val="tx1"/>
          </a:solidFill>
          <a:ln w="12700">
            <a:solidFill>
              <a:schemeClr val="tx1"/>
            </a:solidFill>
            <a:prstDash val="solid"/>
          </a:ln>
        </p:spPr>
      </p:sp>
      <p:sp>
        <p:nvSpPr>
          <p:cNvPr id="52" name="Text 43"/>
          <p:cNvSpPr txBox="1"/>
          <p:nvPr/>
        </p:nvSpPr>
        <p:spPr>
          <a:xfrm>
            <a:off x="8988552" y="1645920"/>
            <a:ext cx="2380183" cy="411480"/>
          </a:xfrm>
          <a:prstGeom prst="rect">
            <a:avLst/>
          </a:prstGeom>
          <a:noFill/>
          <a:ln/>
        </p:spPr>
        <p:txBody>
          <a:bodyPr wrap="square" lIns="0" tIns="0" rIns="0" bIns="0" rtlCol="0" anchor="t">
            <a:normAutofit/>
          </a:bodyPr>
          <a:lstStyle/>
          <a:p>
            <a:pPr indent="0" marL="0">
              <a:buNone/>
            </a:pPr>
            <a:r>
              <a:rPr lang="en-US" sz="1400" b="1" dirty="0">
                <a:solidFill>
                  <a:schemeClr val="accent6"/>
                </a:solidFill>
                <a:latin typeface="Georgia" pitchFamily="34" charset="0"/>
                <a:ea typeface="Georgia" pitchFamily="34" charset="-122"/>
                <a:cs typeface="Georgia" pitchFamily="34" charset="-120"/>
              </a:rPr>
              <a:t>What would disprove it</a:t>
            </a:r>
            <a:endParaRPr lang="en-US" sz="1400" dirty="0"/>
          </a:p>
        </p:txBody>
      </p:sp>
      <p:sp>
        <p:nvSpPr>
          <p:cNvPr id="53" name="Text 44"/>
          <p:cNvSpPr txBox="1"/>
          <p:nvPr/>
        </p:nvSpPr>
        <p:spPr>
          <a:xfrm>
            <a:off x="8988552" y="2240280"/>
            <a:ext cx="2380183" cy="3749040"/>
          </a:xfrm>
          <a:prstGeom prst="rect">
            <a:avLst/>
          </a:prstGeom>
          <a:noFill/>
          <a:ln/>
        </p:spPr>
        <p:txBody>
          <a:bodyPr wrap="square" lIns="0" tIns="0" rIns="0" bIns="0" rtlCol="0" anchor="t">
            <a:normAutofit/>
          </a:bodyPr>
          <a:lstStyle/>
          <a:p>
            <a:pPr marL="177800" indent="-177800">
              <a:spcAft>
                <a:spcPts val="600"/>
              </a:spcAft>
              <a:buSzPct val="100000"/>
              <a:buChar char="•"/>
            </a:pPr>
            <a:r>
              <a:rPr lang="en-US" sz="1150" dirty="0">
                <a:solidFill>
                  <a:schemeClr val="bg1"/>
                </a:solidFill>
                <a:latin typeface="Arial" pitchFamily="34" charset="0"/>
                <a:ea typeface="Arial" pitchFamily="34" charset="-122"/>
                <a:cs typeface="Arial" pitchFamily="34" charset="-120"/>
              </a:rPr>
              <a:t>No device that acts will verify a ticket</a:t>
            </a:r>
            <a:endParaRPr lang="en-US" sz="1150" dirty="0"/>
          </a:p>
          <a:p>
            <a:pPr marL="177800" indent="-177800">
              <a:spcAft>
                <a:spcPts val="600"/>
              </a:spcAft>
              <a:buSzPct val="100000"/>
              <a:buChar char="•"/>
            </a:pPr>
            <a:r>
              <a:rPr lang="en-US" sz="1150" dirty="0">
                <a:solidFill>
                  <a:schemeClr val="bg1"/>
                </a:solidFill>
                <a:latin typeface="Arial" pitchFamily="34" charset="0"/>
                <a:ea typeface="Arial" pitchFamily="34" charset="-122"/>
                <a:cs typeface="Arial" pitchFamily="34" charset="-120"/>
              </a:rPr>
              <a:t>The levers do not reach the baseboard connector, or the BMC slot</a:t>
            </a:r>
            <a:endParaRPr lang="en-US" sz="1150" dirty="0"/>
          </a:p>
          <a:p>
            <a:pPr marL="177800" indent="-177800">
              <a:spcAft>
                <a:spcPts val="600"/>
              </a:spcAft>
              <a:buSzPct val="100000"/>
              <a:buChar char="•"/>
            </a:pPr>
            <a:r>
              <a:rPr lang="en-US" sz="1150" dirty="0">
                <a:solidFill>
                  <a:schemeClr val="bg1"/>
                </a:solidFill>
                <a:latin typeface="Arial" pitchFamily="34" charset="0"/>
                <a:ea typeface="Arial" pitchFamily="34" charset="-122"/>
                <a:cs typeface="Arial" pitchFamily="34" charset="-120"/>
              </a:rPr>
              <a:t>False halts at a rate operators will not accept</a:t>
            </a:r>
            <a:endParaRPr lang="en-US" sz="1150" dirty="0"/>
          </a:p>
          <a:p>
            <a:pPr marL="177800" indent="-177800">
              <a:spcAft>
                <a:spcPts val="600"/>
              </a:spcAft>
              <a:buSzPct val="100000"/>
              <a:buChar char="•"/>
            </a:pPr>
            <a:r>
              <a:rPr lang="en-US" sz="1150" dirty="0">
                <a:solidFill>
                  <a:schemeClr val="bg1"/>
                </a:solidFill>
                <a:latin typeface="Arial" pitchFamily="34" charset="0"/>
                <a:ea typeface="Arial" pitchFamily="34" charset="-122"/>
                <a:cs typeface="Arial" pitchFamily="34" charset="-120"/>
              </a:rPr>
              <a:t>Measured overhead above one percent after batching</a:t>
            </a:r>
            <a:endParaRPr lang="en-US" sz="1150" dirty="0"/>
          </a:p>
          <a:p>
            <a:pPr marL="177800" indent="-177800">
              <a:spcAft>
                <a:spcPts val="600"/>
              </a:spcAft>
              <a:buSzPct val="100000"/>
              <a:buChar char="•"/>
            </a:pPr>
            <a:r>
              <a:rPr lang="en-US" sz="1150" dirty="0">
                <a:solidFill>
                  <a:schemeClr val="bg1"/>
                </a:solidFill>
                <a:latin typeface="Arial" pitchFamily="34" charset="0"/>
                <a:ea typeface="Arial" pitchFamily="34" charset="-122"/>
                <a:cs typeface="Arial" pitchFamily="34" charset="-120"/>
              </a:rPr>
              <a:t>Observers miss disguised requests too often for the hazard cases</a:t>
            </a:r>
            <a:endParaRPr lang="en-US" sz="1150" dirty="0"/>
          </a:p>
          <a:p>
            <a:pPr marL="177800" indent="-177800">
              <a:spcAft>
                <a:spcPts val="600"/>
              </a:spcAft>
              <a:buSzPct val="100000"/>
              <a:buChar char="•"/>
            </a:pPr>
            <a:r>
              <a:rPr lang="en-US" sz="1150" dirty="0">
                <a:solidFill>
                  <a:schemeClr val="bg1"/>
                </a:solidFill>
                <a:latin typeface="Arial" pitchFamily="34" charset="0"/>
                <a:ea typeface="Arial" pitchFamily="34" charset="-122"/>
                <a:cs typeface="Arial" pitchFamily="34" charset="-120"/>
              </a:rPr>
              <a:t>Nobody will hold the quorum keys</a:t>
            </a:r>
            <a:endParaRPr lang="en-US" sz="1150" dirty="0"/>
          </a:p>
          <a:p>
            <a:pPr marL="177800" indent="-177800">
              <a:spcAft>
                <a:spcPts val="600"/>
              </a:spcAft>
              <a:buSzPct val="100000"/>
              <a:buChar char="•"/>
            </a:pPr>
            <a:r>
              <a:rPr lang="en-US" sz="1150" dirty="0">
                <a:solidFill>
                  <a:schemeClr val="bg1"/>
                </a:solidFill>
                <a:latin typeface="Arial" pitchFamily="34" charset="0"/>
                <a:ea typeface="Arial" pitchFamily="34" charset="-122"/>
                <a:cs typeface="Arial" pitchFamily="34" charset="-120"/>
              </a:rPr>
              <a:t>A single network node that every AI on Earth depends on, the laptop in the basement included</a:t>
            </a:r>
            <a:endParaRPr lang="en-US" sz="11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itle"/>
          <p:cNvSpPr txBox="1"/>
          <p:nvPr/>
        </p:nvSpPr>
        <p:spPr>
          <a:xfrm>
            <a:off x="548640" y="1737360"/>
            <a:ext cx="7680960" cy="1280160"/>
          </a:xfrm>
          <a:prstGeom prst="rect">
            <a:avLst/>
          </a:prstGeom>
          <a:noFill/>
          <a:ln/>
        </p:spPr>
        <p:txBody>
          <a:bodyPr wrap="square" lIns="0" tIns="0" rIns="0" bIns="0" rtlCol="0" anchor="b">
            <a:normAutofit/>
          </a:bodyPr>
          <a:lstStyle/>
          <a:p>
            <a:pPr indent="0" marL="0">
              <a:buNone/>
            </a:pPr>
            <a:r>
              <a:rPr lang="en-US" sz="4400" b="1" dirty="0">
                <a:solidFill>
                  <a:schemeClr val="bg1"/>
                </a:solidFill>
                <a:latin typeface="Georgia" pitchFamily="34" charset="0"/>
                <a:ea typeface="Georgia" pitchFamily="34" charset="-122"/>
                <a:cs typeface="Georgia" pitchFamily="34" charset="-120"/>
              </a:rPr>
              <a:t>In one sentence</a:t>
            </a:r>
            <a:endParaRPr lang="en-US" sz="4400" dirty="0"/>
          </a:p>
        </p:txBody>
      </p:sp>
      <p:sp>
        <p:nvSpPr>
          <p:cNvPr id="3" name="subtitle"/>
          <p:cNvSpPr txBox="1"/>
          <p:nvPr/>
        </p:nvSpPr>
        <p:spPr>
          <a:xfrm>
            <a:off x="548640" y="3154680"/>
            <a:ext cx="7680960" cy="1554480"/>
          </a:xfrm>
          <a:prstGeom prst="rect">
            <a:avLst/>
          </a:prstGeom>
          <a:noFill/>
          <a:ln/>
        </p:spPr>
        <p:txBody>
          <a:bodyPr wrap="square" lIns="0" tIns="0" rIns="0" bIns="0" rtlCol="0" anchor="t">
            <a:normAutofit/>
          </a:bodyPr>
          <a:lstStyle/>
          <a:p>
            <a:pPr indent="0" marL="0">
              <a:buNone/>
            </a:pPr>
            <a:r>
              <a:rPr lang="en-US" sz="1900" dirty="0">
                <a:solidFill>
                  <a:schemeClr val="accent6"/>
                </a:solidFill>
                <a:latin typeface="Arial" pitchFamily="34" charset="0"/>
                <a:ea typeface="Arial" pitchFamily="34" charset="-122"/>
                <a:cs typeface="Arial" pitchFamily="34" charset="-120"/>
              </a:rPr>
              <a:t>A separate safety chip beside every AI GPU that checks each action the AI attempts against rules signed by people the AI cannot influence, stamps the allowed ones so the devices that carry them out can verify the stamp themselves, and cuts the power when something is wrong.</a:t>
            </a:r>
            <a:endParaRPr lang="en-US" sz="1900" dirty="0"/>
          </a:p>
        </p:txBody>
      </p:sp>
      <p:sp>
        <p:nvSpPr>
          <p:cNvPr id="4" name="footer"/>
          <p:cNvSpPr txBox="1"/>
          <p:nvPr/>
        </p:nvSpPr>
        <p:spPr>
          <a:xfrm>
            <a:off x="548640" y="6217920"/>
            <a:ext cx="8229600" cy="320040"/>
          </a:xfrm>
          <a:prstGeom prst="rect">
            <a:avLst/>
          </a:prstGeom>
          <a:noFill/>
          <a:ln/>
        </p:spPr>
        <p:txBody>
          <a:bodyPr wrap="square" lIns="0" tIns="0" rIns="0" bIns="0" rtlCol="0" anchor="t">
            <a:normAutofit/>
          </a:bodyPr>
          <a:lstStyle/>
          <a:p>
            <a:pPr indent="0" marL="0">
              <a:buNone/>
            </a:pPr>
            <a:r>
              <a:rPr lang="en-US" sz="1200" dirty="0">
                <a:solidFill>
                  <a:schemeClr val="accent3"/>
                </a:solidFill>
                <a:latin typeface="Arial" pitchFamily="34" charset="0"/>
                <a:ea typeface="Arial" pitchFamily="34" charset="-122"/>
                <a:cs typeface="Arial" pitchFamily="34" charset="-120"/>
              </a:rPr>
              <a:t>Yobie Benjamin  ·  yobie AT ieee DOT org  ·  linkedin.com/in/yobie</a:t>
            </a:r>
            <a:endParaRPr lang="en-US" sz="1200" dirty="0"/>
          </a:p>
        </p:txBody>
      </p:sp>
      <p:sp>
        <p:nvSpPr>
          <p:cNvPr id="5" name="Text 3"/>
          <p:cNvSpPr txBox="1"/>
          <p:nvPr/>
        </p:nvSpPr>
        <p:spPr>
          <a:xfrm>
            <a:off x="548640" y="4754880"/>
            <a:ext cx="7680960" cy="868680"/>
          </a:xfrm>
          <a:prstGeom prst="rect">
            <a:avLst/>
          </a:prstGeom>
          <a:noFill/>
          <a:ln/>
        </p:spPr>
        <p:txBody>
          <a:bodyPr wrap="square" lIns="0" tIns="0" rIns="0" bIns="0" rtlCol="0" anchor="t">
            <a:normAutofit/>
          </a:bodyPr>
          <a:lstStyle/>
          <a:p>
            <a:pPr indent="0" marL="0">
              <a:spcAft>
                <a:spcPts val="400"/>
              </a:spcAft>
              <a:buNone/>
            </a:pPr>
            <a:r>
              <a:rPr lang="en-US" sz="1400" i="1" dirty="0">
                <a:solidFill>
                  <a:schemeClr val="accent1"/>
                </a:solidFill>
                <a:latin typeface="Arial" pitchFamily="34" charset="0"/>
                <a:ea typeface="Arial" pitchFamily="34" charset="-122"/>
                <a:cs typeface="Arial" pitchFamily="34" charset="-120"/>
              </a:rPr>
              <a:t>There is no kill switch. There are gates, at the ends. The AI can think whatever it likes; it cannot act without the stamp, and it cannot forge one.</a:t>
            </a:r>
            <a:endParaRPr lang="en-US" sz="1400" dirty="0"/>
          </a:p>
          <a:p>
            <a:pPr indent="0" marL="0">
              <a:spcAft>
                <a:spcPts val="400"/>
              </a:spcAft>
              <a:buNone/>
            </a:pPr>
            <a:r>
              <a:rPr lang="en-US" sz="1400" i="1" dirty="0">
                <a:solidFill>
                  <a:schemeClr val="accent1"/>
                </a:solidFill>
                <a:latin typeface="Arial" pitchFamily="34" charset="0"/>
                <a:ea typeface="Arial" pitchFamily="34" charset="-122"/>
                <a:cs typeface="Arial" pitchFamily="34" charset="-120"/>
              </a:rPr>
              <a:t>Added to the server's own boards. Nothing changes in the GPU or in CUDA.</a:t>
            </a:r>
            <a:endParaRPr lang="en-US" sz="1400" dirty="0"/>
          </a:p>
        </p:txBody>
      </p:sp>
      <p:sp>
        <p:nvSpPr>
          <p:cNvPr id="6" name="Text 4"/>
          <p:cNvSpPr txBox="1"/>
          <p:nvPr/>
        </p:nvSpPr>
        <p:spPr>
          <a:xfrm>
            <a:off x="548640" y="5623560"/>
            <a:ext cx="8686800" cy="548640"/>
          </a:xfrm>
          <a:prstGeom prst="rect">
            <a:avLst/>
          </a:prstGeom>
          <a:noFill/>
          <a:ln/>
        </p:spPr>
        <p:txBody>
          <a:bodyPr wrap="square" lIns="0" tIns="0" rIns="0" bIns="0" rtlCol="0" anchor="t">
            <a:normAutofit/>
          </a:bodyPr>
          <a:lstStyle/>
          <a:p>
            <a:pPr indent="0" marL="0">
              <a:buNone/>
            </a:pPr>
            <a:r>
              <a:rPr lang="en-US" sz="1100" dirty="0">
                <a:solidFill>
                  <a:schemeClr val="accent6"/>
                </a:solidFill>
                <a:latin typeface="Arial" pitchFamily="34" charset="0"/>
                <a:ea typeface="Arial" pitchFamily="34" charset="-122"/>
                <a:cs typeface="Arial" pitchFamily="34" charset="-120"/>
              </a:rPr>
              <a:t>github.com/YobieBenjamin: safety-governor · hardware-and-silicon · safety · autonomic-graph-regulation · Watermark</a:t>
            </a:r>
            <a:endParaRPr lang="en-US" sz="1100" dirty="0"/>
          </a:p>
          <a:p>
            <a:pPr indent="0" marL="0">
              <a:buNone/>
            </a:pPr>
            <a:r>
              <a:rPr lang="en-US" sz="1100" dirty="0">
                <a:solidFill>
                  <a:schemeClr val="accent3"/>
                </a:solidFill>
                <a:latin typeface="Arial" pitchFamily="34" charset="0"/>
                <a:ea typeface="Arial" pitchFamily="34" charset="-122"/>
                <a:cs typeface="Arial" pitchFamily="34" charset="-120"/>
              </a:rPr>
              <a:t>The Chip That Says No, parts 1 to 6; design documents 00 to 24; START-HERE.md is the route to check the work</a:t>
            </a:r>
            <a:endParaRPr lang="en-US" sz="1100" dirty="0"/>
          </a:p>
        </p:txBody>
      </p:sp>
    </p:spTree>
  </p:cSld>
  <p:clrMapOvr>
    <a:masterClrMapping/>
  </p:clrMapOvr>
</p:sld>
</file>

<file path=ppt/theme/theme1.xml><?xml version="1.0" encoding="utf-8"?>
<a:theme xmlns:a="http://schemas.openxmlformats.org/drawingml/2006/main" name="Chip That Says No">
  <a:themeElements>
    <a:clrScheme name="Chip That Says No">
      <a:dk1>
        <a:srgbClr val="1B2A24"/>
      </a:dk1>
      <a:lt1>
        <a:srgbClr val="FFFFFF"/>
      </a:lt1>
      <a:dk2>
        <a:srgbClr val="2F5D62"/>
      </a:dk2>
      <a:lt2>
        <a:srgbClr val="EEF2EF"/>
      </a:lt2>
      <a:accent1>
        <a:srgbClr val="C2703D"/>
      </a:accent1>
      <a:accent2>
        <a:srgbClr val="4F7F84"/>
      </a:accent2>
      <a:accent3>
        <a:srgbClr val="6F7F74"/>
      </a:accent3>
      <a:accent4>
        <a:srgbClr val="A33B2E"/>
      </a:accent4>
      <a:accent5>
        <a:srgbClr val="1F7A4D"/>
      </a:accent5>
      <a:accent6>
        <a:srgbClr val="E6C3A5"/>
      </a:accent6>
      <a:hlink>
        <a:srgbClr val="C2703D"/>
      </a:hlink>
      <a:folHlink>
        <a:srgbClr val="6F7F74"/>
      </a:folHlink>
    </a:clrScheme>
    <a:fontScheme name="Chip That Says No">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Chip That Says No: a multi-layer hardware approach to AI safety</dc:title>
  <dc:subject>PptxGenJS Presentation</dc:subject>
  <dc:creator>Yobie Benjamin</dc:creator>
  <cp:lastModifiedBy>Yobie Benjamin</cp:lastModifiedBy>
  <cp:revision>1</cp:revision>
  <dcterms:created xsi:type="dcterms:W3CDTF">2026-10-22T00:23:45Z</dcterms:created>
  <dcterms:modified xsi:type="dcterms:W3CDTF">2026-10-22T00:23:45Z</dcterms:modified>
</cp:coreProperties>
</file>