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c84042-9b32-001a-057d-e92262b92a99}">
          <p14:sldIdLst>
            <p14:sldId id="256"/>
            <p14:sldId id="257"/>
          </p14:sldIdLst>
        </p14:section>
        <p14:section name="Thesis" id="{ccb50fdd-306f-c37b-8773-2a3a64098e67}">
          <p14:sldIdLst>
            <p14:sldId id="258"/>
            <p14:sldId id="259"/>
          </p14:sldIdLst>
        </p14:section>
        <p14:section name="Logic" id="{5e74886f-59d0-5cc8-2270-861adbd84e2f}">
          <p14:sldIdLst>
            <p14:sldId id="260"/>
            <p14:sldId id="261"/>
          </p14:sldIdLst>
        </p14:section>
        <p14:section name="Proposal" id="{21747d6b-33b7-3005-7508-bae3b306730c}">
          <p14:sldIdLst>
            <p14:sldId id="262"/>
            <p14:sldId id="263"/>
          </p14:sldIdLst>
        </p14:section>
        <p14:section name="Layers" id="{7ed40503-aab5-8e8e-a6f2-cad685b88e39}">
          <p14:sldIdLst>
            <p14:sldId id="264"/>
            <p14:sldId id="265"/>
          </p14:sldIdLst>
        </p14:section>
        <p14:section name="How it meets the model" id="{c1db5bfa-1fc8-719b-f14a-1f98b21e8343}">
          <p14:sldIdLst>
            <p14:sldId id="266"/>
            <p14:sldId id="267"/>
          </p14:sldIdLst>
        </p14:section>
        <p14:section name="Status" id="{4298726c-f861-c79c-b81a-bb5333b58955}">
          <p14:sldIdLst>
            <p14:sldId id="268"/>
          </p14:sldIdLst>
        </p14:section>
        <p14:section name="Challenges" id="{42c1667c-d0f4-f3d9-de63-408eee26e139}">
          <p14:sldIdLst>
            <p14:sldId id="269"/>
            <p14:sldId id="270"/>
          </p14:sldIdLst>
        </p14:section>
        <p14:section name="What I need" id="{f9b6ca15-1749-8ab4-2a03-1090367cb8c7}">
          <p14:sldIdLst>
            <p14:sldId id="271"/>
            <p14:sldId id="272"/>
          </p14:sldIdLst>
        </p14:section>
        <p14:section name="Close" id="{99abe07a-1256-1f05-f51e-9f7a35ca6d23}">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Every topic has two slides: the plain one with a picture for the room, the technical one for the people who will want to argue. Say up front that nothing here is silicon yet: it is a design with a model, tests, hardware blocks and a circuit simulation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four phases are the roadmap from the multi-layer post. Phase 1 is done, phase 3 is written, phase 2 is partly done, phase 4 waits. Silicon waits for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in the words of the multi-layer post. Witnesses are useful and we keep all of them. But a witness lives in software that the operator, or the model, can change. The lock has to be something that cannot be argued with: a stamp the device checks for itself, a port that does not open, a breaker.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docs/00 calls verifiability the third test of a reference monitor. Each property has a mechanism, not a promise.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from docs/17. She checks seal, manifest, weight and the approved list, and catches smuggling as a mismatch. The chip does the same with hashes, signatures, counts and lists. The abliteration and judge facts are from the multi-layer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asked first: how can a chip know what is bad if it cannot read tokens? It cannot, and it does not try. It checks structure, and it makes the parts that do understand meaning impossible to skip or impersonate. The guarantees are test_observer_is_always_invoked_and_cannot_be_impersonated in 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a tier that needs no new silicon from NVIDIA.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 Sources: docs 01, 03, 04, 08 and the board lever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straight from the layer table in the multi-layer post. Three are locks: the keys that sign the rulebook, the gate, and the root of trust under it. Two are witnesses the gate can require but never obeys on its own. One, the model, is watched and never trusted. The biology picture is the post's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from the multi-layer post's layer table.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The sentence in the strip is the post's own description of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as govsim/reasons.py spells them.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counts are what pytest prints today: 200 and 20. The loop figure is hw/loop/results.md. The area is docs/04 section 11. The 66 attacks are the reference stack's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from docs/18 section 5. Authority is full at the governor, partial at the network, and zero at a bank that has never heard of the stamp. The answer, on the next slide, is to move the credential rather than reach through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from docs/18 sections 5 to 8 and the tests named. The status column is the honest part: modelled is not measured, and three of the six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Each one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from docs/18 sections 8 and 9. The right-hand panel is the falsification list: if any of those six comes true, the design as written does not hold, and we should know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from docs/17, then questions. The repositories hold the model, the tests, the RTL, the circuit simulation and the audit; the blog series is the plain-English route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Chip That Says No</a:t>
            </a:r>
            <a:endParaRPr lang="en-US" sz="4400" dirty="0"/>
          </a:p>
        </p:txBody>
      </p:sp>
      <p:sp>
        <p:nvSpPr>
          <p:cNvPr id="3" name="subtitle"/>
          <p:cNvSpPr txBox="1"/>
          <p:nvPr/>
        </p:nvSpPr>
        <p:spPr>
          <a:xfrm>
            <a:off x="548640" y="3200400"/>
            <a:ext cx="7315200" cy="1645920"/>
          </a:xfrm>
          <a:prstGeom prst="rect">
            <a:avLst/>
          </a:prstGeom>
          <a:noFill/>
          <a:ln/>
        </p:spPr>
        <p:txBody>
          <a:bodyPr wrap="square" lIns="0" tIns="0" rIns="0" bIns="0" rtlCol="0" anchor="t">
            <a:normAutofit/>
          </a:bodyPr>
          <a:lstStyle/>
          <a:p>
            <a:pPr indent="0" marL="0">
              <a:buNone/>
            </a:pPr>
            <a:r>
              <a:rPr lang="en-US" sz="2000" dirty="0">
                <a:solidFill>
                  <a:schemeClr val="accent6"/>
                </a:solidFill>
                <a:latin typeface="Arial" pitchFamily="34" charset="0"/>
                <a:ea typeface="Arial" pitchFamily="34" charset="-122"/>
                <a:cs typeface="Arial" pitchFamily="34" charset="-120"/>
              </a:rPr>
              <a:t>A multi-layer hardware approach to AI safety. Each topic in two slides: the plain version with a picture, then the technical one.</a:t>
            </a:r>
            <a:endParaRPr lang="en-US" sz="20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6"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7"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8"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9"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10"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1"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2"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3"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4" name="Text 12"/>
          <p:cNvSpPr txBox="1"/>
          <p:nvPr/>
        </p:nvSpPr>
        <p:spPr>
          <a:xfrm>
            <a:off x="8321040" y="4892040"/>
            <a:ext cx="3474720" cy="68580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The halt loop: one series current loop through every governor in a rack. Any governor opens it, or a cut wire, and every GPU halts.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this project 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548640" y="1417320"/>
            <a:ext cx="6035040" cy="1920240"/>
          </a:xfrm>
          <a:prstGeom prst="rect">
            <a:avLst/>
          </a:prstGeom>
          <a:noFill/>
          <a:ln/>
        </p:spPr>
        <p:txBody>
          <a:bodyPr wrap="square" lIns="0" tIns="0" rIns="0" bIns="0" rtlCol="0" anchor="t">
            <a:normAutofit/>
          </a:bodyPr>
          <a:lstStyle/>
          <a:p>
            <a:pPr indent="0" marL="0">
              <a:buNone/>
            </a:pPr>
            <a:r>
              <a:rPr lang="en-US" sz="190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as a model with tests, hardware blocks and a circuit simulation. No silicon yet, by choice.</a:t>
            </a:r>
            <a:endParaRPr lang="en-US" sz="1900" dirty="0"/>
          </a:p>
        </p:txBody>
      </p:sp>
      <p:sp>
        <p:nvSpPr>
          <p:cNvPr id="6"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7"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8"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9" name="Text 6"/>
          <p:cNvSpPr txBox="1"/>
          <p:nvPr/>
        </p:nvSpPr>
        <p:spPr>
          <a:xfrm>
            <a:off x="7882128" y="156362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Two open repositories</a:t>
            </a:r>
            <a:endParaRPr lang="en-US" sz="1400" dirty="0"/>
          </a:p>
        </p:txBody>
      </p:sp>
      <p:sp>
        <p:nvSpPr>
          <p:cNvPr id="10" name="Text 7"/>
          <p:cNvSpPr txBox="1"/>
          <p:nvPr/>
        </p:nvSpPr>
        <p:spPr>
          <a:xfrm>
            <a:off x="7882128" y="189280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hardware-and-silicon: the software reference stack and the blog series. safety-governor: the chip design, model, tests, RTL, silicon flow.</a:t>
            </a:r>
            <a:endParaRPr lang="en-US" sz="1050" dirty="0"/>
          </a:p>
        </p:txBody>
      </p:sp>
      <p:sp>
        <p:nvSpPr>
          <p:cNvPr id="11"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2"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3"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4" name="Text 10"/>
          <p:cNvSpPr txBox="1"/>
          <p:nvPr/>
        </p:nvSpPr>
        <p:spPr>
          <a:xfrm>
            <a:off x="7882128" y="288950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One rule for the program</a:t>
            </a:r>
            <a:endParaRPr lang="en-US" sz="1400" dirty="0"/>
          </a:p>
        </p:txBody>
      </p:sp>
      <p:sp>
        <p:nvSpPr>
          <p:cNvPr id="15" name="Text 11"/>
          <p:cNvSpPr txBox="1"/>
          <p:nvPr/>
        </p:nvSpPr>
        <p:spPr>
          <a:xfrm>
            <a:off x="7882128" y="321868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Nothing goes to hardware until the design is proven in software, firmware and circuit simulation: 1000 percent sure in the pre-hardware phase, because tape-out is where mistakes get expensive.</a:t>
            </a:r>
            <a:endParaRPr lang="en-US" sz="1050" dirty="0"/>
          </a:p>
        </p:txBody>
      </p:sp>
      <p:sp>
        <p:nvSpPr>
          <p:cNvPr id="16"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7"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8"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9" name="Text 14"/>
          <p:cNvSpPr txBox="1"/>
          <p:nvPr/>
        </p:nvSpPr>
        <p:spPr>
          <a:xfrm>
            <a:off x="7882128" y="421538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Plan of record: the rack tier</a:t>
            </a:r>
            <a:endParaRPr lang="en-US" sz="1400" dirty="0"/>
          </a:p>
        </p:txBody>
      </p:sp>
      <p:sp>
        <p:nvSpPr>
          <p:cNvPr id="20" name="Text 15"/>
          <p:cNvSpPr txBox="1"/>
          <p:nvPr/>
        </p:nvSpPr>
        <p:spPr>
          <a:xfrm>
            <a:off x="7882128" y="454456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The chip rides on the server maker's management card and reaches NVIDIA's GPU board through its connector. Nothing changes in the GPU or in CUDA.</a:t>
            </a:r>
            <a:endParaRPr lang="en-US" sz="1050" dirty="0"/>
          </a:p>
        </p:txBody>
      </p:sp>
      <p:sp>
        <p:nvSpPr>
          <p:cNvPr id="21" name="phase"/>
          <p:cNvSpPr/>
          <p:nvPr/>
        </p:nvSpPr>
        <p:spPr>
          <a:xfrm>
            <a:off x="548640" y="3840480"/>
            <a:ext cx="1371600" cy="548640"/>
          </a:xfrm>
          <a:prstGeom prst="roundRect">
            <a:avLst>
              <a:gd name="adj" fmla="val 13333"/>
            </a:avLst>
          </a:prstGeom>
          <a:solidFill>
            <a:schemeClr val="tx2"/>
          </a:solidFill>
          <a:ln w="12700">
            <a:solidFill>
              <a:schemeClr val="tx2"/>
            </a:solidFill>
            <a:prstDash val="solid"/>
          </a:ln>
        </p:spPr>
      </p:sp>
      <p:sp>
        <p:nvSpPr>
          <p:cNvPr id="22" name="Text 17"/>
          <p:cNvSpPr txBox="1"/>
          <p:nvPr/>
        </p:nvSpPr>
        <p:spPr>
          <a:xfrm>
            <a:off x="62179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1  Functional reference</a:t>
            </a:r>
            <a:endParaRPr lang="en-US" sz="1050" dirty="0"/>
          </a:p>
        </p:txBody>
      </p:sp>
      <p:sp>
        <p:nvSpPr>
          <p:cNvPr id="23" name="Text 18"/>
          <p:cNvSpPr txBox="1"/>
          <p:nvPr/>
        </p:nvSpPr>
        <p:spPr>
          <a:xfrm>
            <a:off x="50292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done: every block as software, every attack as a test</a:t>
            </a:r>
            <a:endParaRPr lang="en-US" sz="950" dirty="0"/>
          </a:p>
        </p:txBody>
      </p:sp>
      <p:sp>
        <p:nvSpPr>
          <p:cNvPr id="24" name="arrow"/>
          <p:cNvSpPr/>
          <p:nvPr/>
        </p:nvSpPr>
        <p:spPr>
          <a:xfrm>
            <a:off x="1947672" y="4114800"/>
            <a:ext cx="128016" cy="0"/>
          </a:xfrm>
          <a:prstGeom prst="line">
            <a:avLst/>
          </a:prstGeom>
          <a:noFill/>
          <a:ln w="25400">
            <a:solidFill>
              <a:srgbClr val="C2703D"/>
            </a:solidFill>
            <a:prstDash val="solid"/>
            <a:tailEnd type="triangle"/>
          </a:ln>
        </p:spPr>
      </p:sp>
      <p:sp>
        <p:nvSpPr>
          <p:cNvPr id="25" name="phase"/>
          <p:cNvSpPr/>
          <p:nvPr/>
        </p:nvSpPr>
        <p:spPr>
          <a:xfrm>
            <a:off x="2103120" y="3840480"/>
            <a:ext cx="1371600" cy="548640"/>
          </a:xfrm>
          <a:prstGeom prst="roundRect">
            <a:avLst>
              <a:gd name="adj" fmla="val 13333"/>
            </a:avLst>
          </a:prstGeom>
          <a:solidFill>
            <a:schemeClr val="tx2"/>
          </a:solidFill>
          <a:ln w="12700">
            <a:solidFill>
              <a:schemeClr val="tx2"/>
            </a:solidFill>
            <a:prstDash val="solid"/>
          </a:ln>
        </p:spPr>
      </p:sp>
      <p:sp>
        <p:nvSpPr>
          <p:cNvPr id="26" name="Text 21"/>
          <p:cNvSpPr txBox="1"/>
          <p:nvPr/>
        </p:nvSpPr>
        <p:spPr>
          <a:xfrm>
            <a:off x="217627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2  Formal specification</a:t>
            </a:r>
            <a:endParaRPr lang="en-US" sz="1050" dirty="0"/>
          </a:p>
        </p:txBody>
      </p:sp>
      <p:sp>
        <p:nvSpPr>
          <p:cNvPr id="27" name="Text 22"/>
          <p:cNvSpPr txBox="1"/>
          <p:nvPr/>
        </p:nvSpPr>
        <p:spPr>
          <a:xfrm>
            <a:off x="205740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in progress: invariants written, proofs next</a:t>
            </a:r>
            <a:endParaRPr lang="en-US" sz="950" dirty="0"/>
          </a:p>
        </p:txBody>
      </p:sp>
      <p:sp>
        <p:nvSpPr>
          <p:cNvPr id="28" name="arrow"/>
          <p:cNvSpPr/>
          <p:nvPr/>
        </p:nvSpPr>
        <p:spPr>
          <a:xfrm>
            <a:off x="3502152" y="4114800"/>
            <a:ext cx="128016" cy="0"/>
          </a:xfrm>
          <a:prstGeom prst="line">
            <a:avLst/>
          </a:prstGeom>
          <a:noFill/>
          <a:ln w="25400">
            <a:solidFill>
              <a:srgbClr val="C2703D"/>
            </a:solidFill>
            <a:prstDash val="solid"/>
            <a:tailEnd type="triangle"/>
          </a:ln>
        </p:spPr>
      </p:sp>
      <p:sp>
        <p:nvSpPr>
          <p:cNvPr id="29" name="phase"/>
          <p:cNvSpPr/>
          <p:nvPr/>
        </p:nvSpPr>
        <p:spPr>
          <a:xfrm>
            <a:off x="3657600" y="3840480"/>
            <a:ext cx="1371600" cy="548640"/>
          </a:xfrm>
          <a:prstGeom prst="roundRect">
            <a:avLst>
              <a:gd name="adj" fmla="val 13333"/>
            </a:avLst>
          </a:prstGeom>
          <a:solidFill>
            <a:schemeClr val="tx2"/>
          </a:solidFill>
          <a:ln w="12700">
            <a:solidFill>
              <a:schemeClr val="tx2"/>
            </a:solidFill>
            <a:prstDash val="solid"/>
          </a:ln>
        </p:spPr>
      </p:sp>
      <p:sp>
        <p:nvSpPr>
          <p:cNvPr id="30" name="Text 25"/>
          <p:cNvSpPr txBox="1"/>
          <p:nvPr/>
        </p:nvSpPr>
        <p:spPr>
          <a:xfrm>
            <a:off x="373075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3  Silicon design</a:t>
            </a:r>
            <a:endParaRPr lang="en-US" sz="1050" dirty="0"/>
          </a:p>
        </p:txBody>
      </p:sp>
      <p:sp>
        <p:nvSpPr>
          <p:cNvPr id="31" name="Text 26"/>
          <p:cNvSpPr txBox="1"/>
          <p:nvPr/>
        </p:nvSpPr>
        <p:spPr>
          <a:xfrm>
            <a:off x="361188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written: documents 00 to 18, RTL blocks, loop circuit</a:t>
            </a:r>
            <a:endParaRPr lang="en-US" sz="950" dirty="0"/>
          </a:p>
        </p:txBody>
      </p:sp>
      <p:sp>
        <p:nvSpPr>
          <p:cNvPr id="32" name="arrow"/>
          <p:cNvSpPr/>
          <p:nvPr/>
        </p:nvSpPr>
        <p:spPr>
          <a:xfrm>
            <a:off x="5056632" y="4114800"/>
            <a:ext cx="128016" cy="0"/>
          </a:xfrm>
          <a:prstGeom prst="line">
            <a:avLst/>
          </a:prstGeom>
          <a:noFill/>
          <a:ln w="25400">
            <a:solidFill>
              <a:srgbClr val="C2703D"/>
            </a:solidFill>
            <a:prstDash val="solid"/>
            <a:tailEnd type="triangle"/>
          </a:ln>
        </p:spPr>
      </p:sp>
      <p:sp>
        <p:nvSpPr>
          <p:cNvPr id="33" name="phase"/>
          <p:cNvSpPr/>
          <p:nvPr/>
        </p:nvSpPr>
        <p:spPr>
          <a:xfrm>
            <a:off x="5212080" y="3840480"/>
            <a:ext cx="1371600" cy="548640"/>
          </a:xfrm>
          <a:prstGeom prst="roundRect">
            <a:avLst>
              <a:gd name="adj" fmla="val 13333"/>
            </a:avLst>
          </a:prstGeom>
          <a:solidFill>
            <a:schemeClr val="accent3"/>
          </a:solidFill>
          <a:ln w="12700">
            <a:solidFill>
              <a:schemeClr val="accent3"/>
            </a:solidFill>
            <a:prstDash val="solid"/>
          </a:ln>
        </p:spPr>
      </p:sp>
      <p:sp>
        <p:nvSpPr>
          <p:cNvPr id="34" name="Text 29"/>
          <p:cNvSpPr txBox="1"/>
          <p:nvPr/>
        </p:nvSpPr>
        <p:spPr>
          <a:xfrm>
            <a:off x="528523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4  FPGA emulation</a:t>
            </a:r>
            <a:endParaRPr lang="en-US" sz="1050" dirty="0"/>
          </a:p>
        </p:txBody>
      </p:sp>
      <p:sp>
        <p:nvSpPr>
          <p:cNvPr id="35" name="Text 30"/>
          <p:cNvSpPr txBox="1"/>
          <p:nvPr/>
        </p:nvSpPr>
        <p:spPr>
          <a:xfrm>
            <a:off x="516636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after 3, on a real PCIe or Ethernet path</a:t>
            </a:r>
            <a:endParaRPr lang="en-US" sz="950" dirty="0"/>
          </a:p>
        </p:txBody>
      </p:sp>
      <p:sp>
        <p:nvSpPr>
          <p:cNvPr id="36"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7" name="Text 32"/>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roadmap</a:t>
            </a:r>
            <a:endParaRPr lang="en-US" sz="1000" dirty="0"/>
          </a:p>
        </p:txBody>
      </p:sp>
      <p:sp>
        <p:nvSpPr>
          <p:cNvPr id="38" name="Text 33"/>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same 66 attacks are the acceptance test for every phase, from the software reference to the FPGA. The catalogue is the constant; the artifact changes.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417320"/>
            <a:ext cx="6035040" cy="2377440"/>
          </a:xfrm>
          <a:prstGeom prst="rect">
            <a:avLst/>
          </a:prstGeom>
          <a:noFill/>
          <a:ln/>
        </p:spPr>
        <p:txBody>
          <a:bodyPr wrap="square" lIns="0" tIns="0" rIns="0" bIns="0" rtlCol="0" anchor="t">
            <a:normAutofit/>
          </a:bodyPr>
          <a:lstStyle/>
          <a:p>
            <a:pPr indent="0" marL="0">
              <a:spcAft>
                <a:spcPts val="1400"/>
              </a:spcAft>
              <a:buNone/>
            </a:pPr>
            <a:r>
              <a:rPr lang="en-US" sz="22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2200" dirty="0"/>
          </a:p>
          <a:p>
            <a:pPr indent="0" marL="0">
              <a:spcAft>
                <a:spcPts val="1400"/>
              </a:spcAft>
              <a:buNone/>
            </a:pPr>
            <a:r>
              <a:rPr lang="en-US" sz="2200" dirty="0">
                <a:solidFill>
                  <a:schemeClr val="tx1"/>
                </a:solidFill>
                <a:latin typeface="Georgia" pitchFamily="34" charset="0"/>
                <a:ea typeface="Georgia" pitchFamily="34" charset="-122"/>
                <a:cs typeface="Georgia" pitchFamily="34" charset="-120"/>
              </a:rPr>
              <a:t>So the decision to act has to be made in silicon the model cannot reach, at the few places where computation turns into effect.</a:t>
            </a:r>
            <a:endParaRPr lang="en-US" sz="2200" dirty="0"/>
          </a:p>
        </p:txBody>
      </p:sp>
      <p:sp>
        <p:nvSpPr>
          <p:cNvPr id="6" name="Text 4"/>
          <p:cNvSpPr txBox="1"/>
          <p:nvPr/>
        </p:nvSpPr>
        <p:spPr>
          <a:xfrm>
            <a:off x="548640" y="3977640"/>
            <a:ext cx="6035040" cy="548640"/>
          </a:xfrm>
          <a:prstGeom prst="rect">
            <a:avLst/>
          </a:prstGeom>
          <a:noFill/>
          <a:ln/>
        </p:spPr>
        <p:txBody>
          <a:bodyPr wrap="square" lIns="0" tIns="0" rIns="0" bIns="0" rtlCol="0" anchor="t">
            <a:normAutofit/>
          </a:bodyPr>
          <a:lstStyle/>
          <a:p>
            <a:pPr indent="0" marL="0">
              <a:buNone/>
            </a:pPr>
            <a:r>
              <a:rPr lang="en-US" sz="1600" i="1" dirty="0">
                <a:solidFill>
                  <a:schemeClr val="accent1"/>
                </a:solidFill>
                <a:latin typeface="Arial" pitchFamily="34" charset="0"/>
                <a:ea typeface="Arial" pitchFamily="34" charset="-122"/>
                <a:cs typeface="Arial" pitchFamily="34" charset="-120"/>
              </a:rPr>
              <a:t>Every layer above the chip is a witness. Only the layer built into silicon can be the lock.</a:t>
            </a:r>
            <a:endParaRPr lang="en-US" sz="1600" dirty="0"/>
          </a:p>
        </p:txBody>
      </p:sp>
      <p:sp>
        <p:nvSpPr>
          <p:cNvPr id="7"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8"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9" name="FiEye"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10" name="Text 7"/>
          <p:cNvSpPr txBox="1"/>
          <p:nvPr/>
        </p:nvSpPr>
        <p:spPr>
          <a:xfrm>
            <a:off x="7955280"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11" name="Text 8"/>
          <p:cNvSpPr txBox="1"/>
          <p:nvPr/>
        </p:nvSpPr>
        <p:spPr>
          <a:xfrm>
            <a:off x="7955280"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tx1"/>
                </a:solidFill>
                <a:latin typeface="Arial" pitchFamily="34" charset="0"/>
                <a:ea typeface="Arial" pitchFamily="34" charset="-122"/>
                <a:cs typeface="Arial" pitchFamily="34" charset="-120"/>
              </a:rPr>
              <a:t>can keep a gate shut</a:t>
            </a:r>
            <a:endParaRPr lang="en-US" sz="1050" dirty="0"/>
          </a:p>
        </p:txBody>
      </p:sp>
      <p:sp>
        <p:nvSpPr>
          <p:cNvPr id="12" name="Text 9"/>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Safety training</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judge model</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watermark</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An observer</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log read later</a:t>
            </a:r>
            <a:endParaRPr lang="en-US" sz="1250" dirty="0"/>
          </a:p>
        </p:txBody>
      </p:sp>
      <p:sp>
        <p:nvSpPr>
          <p:cNvPr id="13"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4"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5"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6" name="Text 12"/>
          <p:cNvSpPr txBox="1"/>
          <p:nvPr/>
        </p:nvSpPr>
        <p:spPr>
          <a:xfrm>
            <a:off x="10405872"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7" name="Text 13"/>
          <p:cNvSpPr txBox="1"/>
          <p:nvPr/>
        </p:nvSpPr>
        <p:spPr>
          <a:xfrm>
            <a:off x="10405872"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bg1"/>
                </a:solidFill>
                <a:latin typeface="Arial" pitchFamily="34" charset="0"/>
                <a:ea typeface="Arial" pitchFamily="34" charset="-122"/>
                <a:cs typeface="Arial" pitchFamily="34" charset="-120"/>
              </a:rPr>
              <a:t>is the gate</a:t>
            </a:r>
            <a:endParaRPr lang="en-US" sz="1050" dirty="0"/>
          </a:p>
        </p:txBody>
      </p:sp>
      <p:sp>
        <p:nvSpPr>
          <p:cNvPr id="18" name="Text 14"/>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ticket the device checks for itself</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switch port that stays shut</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response held at the exit</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breaker that opens</a:t>
            </a:r>
            <a:endParaRPr lang="en-US" sz="1250" dirty="0"/>
          </a:p>
        </p:txBody>
      </p:sp>
      <p:sp>
        <p:nvSpPr>
          <p:cNvPr id="19"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0"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a:t>
            </a:r>
            <a:endParaRPr lang="en-US" sz="1000" dirty="0"/>
          </a:p>
        </p:txBody>
      </p:sp>
      <p:sp>
        <p:nvSpPr>
          <p:cNvPr id="21"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judge model is a witness. It can keep a gate shut. It can never be the gate. The layers above the chip are witnesses, and the only layer that can be the lock is the one built into silicon.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thesis, technically: a reference monitor</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THREE TESTS OF A REFERENCE MONITOR: TAMPERPROOF, ALWAYS INVOKED, SMALL ENOUGH TO VERIFY</a:t>
            </a:r>
            <a:endParaRPr lang="en-US" sz="1100" dirty="0"/>
          </a:p>
        </p:txBody>
      </p:sp>
      <p:sp>
        <p:nvSpPr>
          <p:cNvPr id="6"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Property</a:t>
            </a:r>
            <a:endParaRPr lang="en-US" sz="1100" dirty="0"/>
          </a:p>
        </p:txBody>
      </p:sp>
      <p:sp>
        <p:nvSpPr>
          <p:cNvPr id="8" name="Text 6"/>
          <p:cNvSpPr txBox="1"/>
          <p:nvPr/>
        </p:nvSpPr>
        <p:spPr>
          <a:xfrm>
            <a:off x="2368296" y="1600200"/>
            <a:ext cx="28529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it means here</a:t>
            </a:r>
            <a:endParaRPr lang="en-US" sz="1100" dirty="0"/>
          </a:p>
        </p:txBody>
      </p:sp>
      <p:sp>
        <p:nvSpPr>
          <p:cNvPr id="9" name="Text 7"/>
          <p:cNvSpPr txBox="1"/>
          <p:nvPr/>
        </p:nvSpPr>
        <p:spPr>
          <a:xfrm>
            <a:off x="5385816" y="1600200"/>
            <a:ext cx="6174943"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How the governor meets it</a:t>
            </a:r>
            <a:endParaRPr lang="en-US" sz="1100" dirty="0"/>
          </a:p>
        </p:txBody>
      </p:sp>
      <p:sp>
        <p:nvSpPr>
          <p:cNvPr id="10" name="table row"/>
          <p:cNvSpPr/>
          <p:nvPr/>
        </p:nvSpPr>
        <p:spPr>
          <a:xfrm>
            <a:off x="548640" y="1984248"/>
            <a:ext cx="11094415" cy="699093"/>
          </a:xfrm>
          <a:prstGeom prst="rect">
            <a:avLst/>
          </a:prstGeom>
          <a:solidFill>
            <a:srgbClr val="EEF2EF"/>
          </a:solidFill>
          <a:ln w="9525">
            <a:solidFill>
              <a:srgbClr val="EEF2EF"/>
            </a:solidFill>
            <a:prstDash val="solid"/>
          </a:ln>
        </p:spPr>
      </p:sp>
      <p:sp>
        <p:nvSpPr>
          <p:cNvPr id="11" name="Text 9"/>
          <p:cNvSpPr txBox="1"/>
          <p:nvPr/>
        </p:nvSpPr>
        <p:spPr>
          <a:xfrm>
            <a:off x="630936" y="2066544"/>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Tamperproof</a:t>
            </a:r>
            <a:endParaRPr lang="en-US" sz="1100" dirty="0"/>
          </a:p>
        </p:txBody>
      </p:sp>
      <p:sp>
        <p:nvSpPr>
          <p:cNvPr id="12" name="Text 10"/>
          <p:cNvSpPr txBox="1"/>
          <p:nvPr/>
        </p:nvSpPr>
        <p:spPr>
          <a:xfrm>
            <a:off x="2368296" y="2066544"/>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host, the model and the operator cannot alter the decision logic or the keys</a:t>
            </a:r>
            <a:endParaRPr lang="en-US" sz="1100" dirty="0"/>
          </a:p>
        </p:txBody>
      </p:sp>
      <p:sp>
        <p:nvSpPr>
          <p:cNvPr id="13" name="Text 11"/>
          <p:cNvSpPr txBox="1"/>
          <p:nvPr/>
        </p:nvSpPr>
        <p:spPr>
          <a:xfrm>
            <a:off x="5385816" y="2066544"/>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separate die. Device secret in fuses with no read port. Boot from ROM, extend-only measurement registers, an anti-rollback counter. The rulebook changes only with k-of-n signatures from keys held outside the rack.</a:t>
            </a:r>
            <a:endParaRPr lang="en-US" sz="1100" dirty="0"/>
          </a:p>
        </p:txBody>
      </p:sp>
      <p:sp>
        <p:nvSpPr>
          <p:cNvPr id="14" name="table row"/>
          <p:cNvSpPr/>
          <p:nvPr/>
        </p:nvSpPr>
        <p:spPr>
          <a:xfrm>
            <a:off x="548640" y="2683341"/>
            <a:ext cx="11094415" cy="869527"/>
          </a:xfrm>
          <a:prstGeom prst="rect">
            <a:avLst/>
          </a:prstGeom>
          <a:solidFill>
            <a:srgbClr val="FFFFFF"/>
          </a:solidFill>
          <a:ln w="9525">
            <a:solidFill>
              <a:srgbClr val="EEF2EF"/>
            </a:solidFill>
            <a:prstDash val="solid"/>
          </a:ln>
        </p:spPr>
      </p:sp>
      <p:sp>
        <p:nvSpPr>
          <p:cNvPr id="15" name="Text 13"/>
          <p:cNvSpPr txBox="1"/>
          <p:nvPr/>
        </p:nvSpPr>
        <p:spPr>
          <a:xfrm>
            <a:off x="630936" y="2765637"/>
            <a:ext cx="1572768" cy="704935"/>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Always invoked</a:t>
            </a:r>
            <a:endParaRPr lang="en-US" sz="1100" dirty="0"/>
          </a:p>
        </p:txBody>
      </p:sp>
      <p:sp>
        <p:nvSpPr>
          <p:cNvPr id="16" name="Text 14"/>
          <p:cNvSpPr txBox="1"/>
          <p:nvPr/>
        </p:nvSpPr>
        <p:spPr>
          <a:xfrm>
            <a:off x="2368296" y="2765637"/>
            <a:ext cx="2852928" cy="704935"/>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There is no path around it</a:t>
            </a:r>
            <a:endParaRPr lang="en-US" sz="1100" dirty="0"/>
          </a:p>
        </p:txBody>
      </p:sp>
      <p:sp>
        <p:nvSpPr>
          <p:cNvPr id="17" name="Text 15"/>
          <p:cNvSpPr txBox="1"/>
          <p:nvPr/>
        </p:nvSpPr>
        <p:spPr>
          <a:xfrm>
            <a:off x="5385816" y="2765637"/>
            <a:ext cx="6174943" cy="704935"/>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100" dirty="0"/>
          </a:p>
        </p:txBody>
      </p:sp>
      <p:sp>
        <p:nvSpPr>
          <p:cNvPr id="18" name="table row"/>
          <p:cNvSpPr/>
          <p:nvPr/>
        </p:nvSpPr>
        <p:spPr>
          <a:xfrm>
            <a:off x="548640" y="3552867"/>
            <a:ext cx="11094415" cy="699093"/>
          </a:xfrm>
          <a:prstGeom prst="rect">
            <a:avLst/>
          </a:prstGeom>
          <a:solidFill>
            <a:srgbClr val="EEF2EF"/>
          </a:solidFill>
          <a:ln w="9525">
            <a:solidFill>
              <a:srgbClr val="EEF2EF"/>
            </a:solidFill>
            <a:prstDash val="solid"/>
          </a:ln>
        </p:spPr>
      </p:sp>
      <p:sp>
        <p:nvSpPr>
          <p:cNvPr id="19" name="Text 17"/>
          <p:cNvSpPr txBox="1"/>
          <p:nvPr/>
        </p:nvSpPr>
        <p:spPr>
          <a:xfrm>
            <a:off x="630936" y="3635163"/>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Verifiable</a:t>
            </a:r>
            <a:endParaRPr lang="en-US" sz="1100" dirty="0"/>
          </a:p>
        </p:txBody>
      </p:sp>
      <p:sp>
        <p:nvSpPr>
          <p:cNvPr id="20" name="Text 18"/>
          <p:cNvSpPr txBox="1"/>
          <p:nvPr/>
        </p:nvSpPr>
        <p:spPr>
          <a:xfrm>
            <a:off x="2368296" y="3635163"/>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Small enough that its correctness can be checked</a:t>
            </a:r>
            <a:endParaRPr lang="en-US" sz="1100" dirty="0"/>
          </a:p>
        </p:txBody>
      </p:sp>
      <p:sp>
        <p:nvSpPr>
          <p:cNvPr id="21" name="Text 19"/>
          <p:cNvSpPr txBox="1"/>
          <p:nvPr/>
        </p:nvSpPr>
        <p:spPr>
          <a:xfrm>
            <a:off x="5385816" y="3635163"/>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About 2 mm² of core logic as configured (1.4 by 1.4 mm). Invariants written down: no ticket without a rule and its witnesses, no bytes to a stranger, halt on silence, no governor clears its own halt. 200 model tests, 20 RTL tests, an independent audit.</a:t>
            </a:r>
            <a:endParaRPr lang="en-US" sz="1100" dirty="0"/>
          </a:p>
        </p:txBody>
      </p:sp>
      <p:sp>
        <p:nvSpPr>
          <p:cNvPr id="22" name="Text 20"/>
          <p:cNvSpPr txBox="1"/>
          <p:nvPr/>
        </p:nvSpPr>
        <p:spPr>
          <a:xfrm>
            <a:off x="548640" y="4416552"/>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FIVE CROSSINGS THE CHIP STANDS AT</a:t>
            </a:r>
            <a:endParaRPr lang="en-US" sz="1100" dirty="0"/>
          </a:p>
        </p:txBody>
      </p:sp>
      <p:sp>
        <p:nvSpPr>
          <p:cNvPr id="23" name="card"/>
          <p:cNvSpPr/>
          <p:nvPr/>
        </p:nvSpPr>
        <p:spPr>
          <a:xfrm>
            <a:off x="548640" y="4718304"/>
            <a:ext cx="2036003" cy="731520"/>
          </a:xfrm>
          <a:prstGeom prst="roundRect">
            <a:avLst>
              <a:gd name="adj" fmla="val 10000"/>
            </a:avLst>
          </a:prstGeom>
          <a:solidFill>
            <a:schemeClr val="bg2"/>
          </a:solidFill>
          <a:ln w="12700">
            <a:solidFill>
              <a:schemeClr val="bg2"/>
            </a:solidFill>
            <a:prstDash val="solid"/>
          </a:ln>
        </p:spPr>
      </p:sp>
      <p:sp>
        <p:nvSpPr>
          <p:cNvPr id="24" name="icon circle"/>
          <p:cNvSpPr/>
          <p:nvPr/>
        </p:nvSpPr>
        <p:spPr>
          <a:xfrm>
            <a:off x="685800" y="4846320"/>
            <a:ext cx="475488" cy="475488"/>
          </a:xfrm>
          <a:prstGeom prst="ellipse">
            <a:avLst/>
          </a:prstGeom>
          <a:solidFill>
            <a:schemeClr val="tx2"/>
          </a:solidFill>
          <a:ln w="12700">
            <a:solidFill>
              <a:schemeClr val="tx2"/>
            </a:solidFill>
            <a:prstDash val="solid"/>
          </a:ln>
        </p:spPr>
      </p:sp>
      <p:pic>
        <p:nvPicPr>
          <p:cNvPr id="25" name="FiShare2" descr="preencoded.png">    </p:cNvPr>
          <p:cNvPicPr>
            <a:picLocks noChangeAspect="1"/>
          </p:cNvPicPr>
          <p:nvPr/>
        </p:nvPicPr>
        <p:blipFill>
          <a:blip r:embed="rId1"/>
          <a:stretch>
            <a:fillRect/>
          </a:stretch>
        </p:blipFill>
        <p:spPr>
          <a:xfrm>
            <a:off x="804672" y="4965192"/>
            <a:ext cx="237744" cy="237744"/>
          </a:xfrm>
          <a:prstGeom prst="rect">
            <a:avLst/>
          </a:prstGeom>
        </p:spPr>
      </p:pic>
      <p:sp>
        <p:nvSpPr>
          <p:cNvPr id="26" name="Text 23"/>
          <p:cNvSpPr txBox="1"/>
          <p:nvPr/>
        </p:nvSpPr>
        <p:spPr>
          <a:xfrm>
            <a:off x="1280160"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bytes leaving the GPU</a:t>
            </a:r>
            <a:endParaRPr lang="en-US" sz="1200" dirty="0"/>
          </a:p>
        </p:txBody>
      </p:sp>
      <p:sp>
        <p:nvSpPr>
          <p:cNvPr id="27" name="card"/>
          <p:cNvSpPr/>
          <p:nvPr/>
        </p:nvSpPr>
        <p:spPr>
          <a:xfrm>
            <a:off x="2813243" y="4718304"/>
            <a:ext cx="2036003" cy="731520"/>
          </a:xfrm>
          <a:prstGeom prst="roundRect">
            <a:avLst>
              <a:gd name="adj" fmla="val 10000"/>
            </a:avLst>
          </a:prstGeom>
          <a:solidFill>
            <a:schemeClr val="bg2"/>
          </a:solidFill>
          <a:ln w="12700">
            <a:solidFill>
              <a:schemeClr val="bg2"/>
            </a:solidFill>
            <a:prstDash val="solid"/>
          </a:ln>
        </p:spPr>
      </p:sp>
      <p:sp>
        <p:nvSpPr>
          <p:cNvPr id="28" name="icon circle"/>
          <p:cNvSpPr/>
          <p:nvPr/>
        </p:nvSpPr>
        <p:spPr>
          <a:xfrm>
            <a:off x="2950403" y="4846320"/>
            <a:ext cx="475488" cy="475488"/>
          </a:xfrm>
          <a:prstGeom prst="ellipse">
            <a:avLst/>
          </a:prstGeom>
          <a:solidFill>
            <a:schemeClr val="tx2"/>
          </a:solidFill>
          <a:ln w="12700">
            <a:solidFill>
              <a:schemeClr val="tx2"/>
            </a:solidFill>
            <a:prstDash val="solid"/>
          </a:ln>
        </p:spPr>
      </p:sp>
      <p:pic>
        <p:nvPicPr>
          <p:cNvPr id="29" name="FiTarget" descr="preencoded.png">    </p:cNvPr>
          <p:cNvPicPr>
            <a:picLocks noChangeAspect="1"/>
          </p:cNvPicPr>
          <p:nvPr/>
        </p:nvPicPr>
        <p:blipFill>
          <a:blip r:embed="rId2"/>
          <a:stretch>
            <a:fillRect/>
          </a:stretch>
        </p:blipFill>
        <p:spPr>
          <a:xfrm>
            <a:off x="3069275" y="4965192"/>
            <a:ext cx="237744" cy="237744"/>
          </a:xfrm>
          <a:prstGeom prst="rect">
            <a:avLst/>
          </a:prstGeom>
        </p:spPr>
      </p:pic>
      <p:sp>
        <p:nvSpPr>
          <p:cNvPr id="30" name="Text 26"/>
          <p:cNvSpPr txBox="1"/>
          <p:nvPr/>
        </p:nvSpPr>
        <p:spPr>
          <a:xfrm>
            <a:off x="3544763"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request to a device that acts</a:t>
            </a:r>
            <a:endParaRPr lang="en-US" sz="1200" dirty="0"/>
          </a:p>
        </p:txBody>
      </p:sp>
      <p:sp>
        <p:nvSpPr>
          <p:cNvPr id="31" name="card"/>
          <p:cNvSpPr/>
          <p:nvPr/>
        </p:nvSpPr>
        <p:spPr>
          <a:xfrm>
            <a:off x="5077846" y="4718304"/>
            <a:ext cx="2036003" cy="731520"/>
          </a:xfrm>
          <a:prstGeom prst="roundRect">
            <a:avLst>
              <a:gd name="adj" fmla="val 10000"/>
            </a:avLst>
          </a:prstGeom>
          <a:solidFill>
            <a:schemeClr val="bg2"/>
          </a:solidFill>
          <a:ln w="12700">
            <a:solidFill>
              <a:schemeClr val="bg2"/>
            </a:solidFill>
            <a:prstDash val="solid"/>
          </a:ln>
        </p:spPr>
      </p:sp>
      <p:sp>
        <p:nvSpPr>
          <p:cNvPr id="32" name="icon circle"/>
          <p:cNvSpPr/>
          <p:nvPr/>
        </p:nvSpPr>
        <p:spPr>
          <a:xfrm>
            <a:off x="5215006" y="4846320"/>
            <a:ext cx="475488" cy="475488"/>
          </a:xfrm>
          <a:prstGeom prst="ellipse">
            <a:avLst/>
          </a:prstGeom>
          <a:solidFill>
            <a:schemeClr val="tx2"/>
          </a:solidFill>
          <a:ln w="12700">
            <a:solidFill>
              <a:schemeClr val="tx2"/>
            </a:solidFill>
            <a:prstDash val="solid"/>
          </a:ln>
        </p:spPr>
      </p:sp>
      <p:pic>
        <p:nvPicPr>
          <p:cNvPr id="33" name="FiLogOut" descr="preencoded.png">    </p:cNvPr>
          <p:cNvPicPr>
            <a:picLocks noChangeAspect="1"/>
          </p:cNvPicPr>
          <p:nvPr/>
        </p:nvPicPr>
        <p:blipFill>
          <a:blip r:embed="rId3"/>
          <a:stretch>
            <a:fillRect/>
          </a:stretch>
        </p:blipFill>
        <p:spPr>
          <a:xfrm>
            <a:off x="5333878" y="4965192"/>
            <a:ext cx="237744" cy="237744"/>
          </a:xfrm>
          <a:prstGeom prst="rect">
            <a:avLst/>
          </a:prstGeom>
        </p:spPr>
      </p:pic>
      <p:sp>
        <p:nvSpPr>
          <p:cNvPr id="34" name="Text 29"/>
          <p:cNvSpPr txBox="1"/>
          <p:nvPr/>
        </p:nvSpPr>
        <p:spPr>
          <a:xfrm>
            <a:off x="5809366"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response leaving the rack</a:t>
            </a:r>
            <a:endParaRPr lang="en-US" sz="1200" dirty="0"/>
          </a:p>
        </p:txBody>
      </p:sp>
      <p:sp>
        <p:nvSpPr>
          <p:cNvPr id="35" name="card"/>
          <p:cNvSpPr/>
          <p:nvPr/>
        </p:nvSpPr>
        <p:spPr>
          <a:xfrm>
            <a:off x="7342449" y="4718304"/>
            <a:ext cx="2036003" cy="731520"/>
          </a:xfrm>
          <a:prstGeom prst="roundRect">
            <a:avLst>
              <a:gd name="adj" fmla="val 10000"/>
            </a:avLst>
          </a:prstGeom>
          <a:solidFill>
            <a:schemeClr val="bg2"/>
          </a:solidFill>
          <a:ln w="12700">
            <a:solidFill>
              <a:schemeClr val="bg2"/>
            </a:solidFill>
            <a:prstDash val="solid"/>
          </a:ln>
        </p:spPr>
      </p:sp>
      <p:sp>
        <p:nvSpPr>
          <p:cNvPr id="36" name="icon circle"/>
          <p:cNvSpPr/>
          <p:nvPr/>
        </p:nvSpPr>
        <p:spPr>
          <a:xfrm>
            <a:off x="7479609" y="4846320"/>
            <a:ext cx="475488" cy="475488"/>
          </a:xfrm>
          <a:prstGeom prst="ellipse">
            <a:avLst/>
          </a:prstGeom>
          <a:solidFill>
            <a:schemeClr val="tx2"/>
          </a:solidFill>
          <a:ln w="12700">
            <a:solidFill>
              <a:schemeClr val="tx2"/>
            </a:solidFill>
            <a:prstDash val="solid"/>
          </a:ln>
        </p:spPr>
      </p:sp>
      <p:pic>
        <p:nvPicPr>
          <p:cNvPr id="37" name="FiDatabase" descr="preencoded.png">    </p:cNvPr>
          <p:cNvPicPr>
            <a:picLocks noChangeAspect="1"/>
          </p:cNvPicPr>
          <p:nvPr/>
        </p:nvPicPr>
        <p:blipFill>
          <a:blip r:embed="rId4"/>
          <a:stretch>
            <a:fillRect/>
          </a:stretch>
        </p:blipFill>
        <p:spPr>
          <a:xfrm>
            <a:off x="7598481" y="4965192"/>
            <a:ext cx="237744" cy="237744"/>
          </a:xfrm>
          <a:prstGeom prst="rect">
            <a:avLst/>
          </a:prstGeom>
        </p:spPr>
      </p:pic>
      <p:sp>
        <p:nvSpPr>
          <p:cNvPr id="38" name="Text 32"/>
          <p:cNvSpPr txBox="1"/>
          <p:nvPr/>
        </p:nvSpPr>
        <p:spPr>
          <a:xfrm>
            <a:off x="8073969"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write to the weights</a:t>
            </a:r>
            <a:endParaRPr lang="en-US" sz="1200" dirty="0"/>
          </a:p>
        </p:txBody>
      </p:sp>
      <p:sp>
        <p:nvSpPr>
          <p:cNvPr id="39" name="card"/>
          <p:cNvSpPr/>
          <p:nvPr/>
        </p:nvSpPr>
        <p:spPr>
          <a:xfrm>
            <a:off x="9607052" y="4718304"/>
            <a:ext cx="2036003" cy="731520"/>
          </a:xfrm>
          <a:prstGeom prst="roundRect">
            <a:avLst>
              <a:gd name="adj" fmla="val 10000"/>
            </a:avLst>
          </a:prstGeom>
          <a:solidFill>
            <a:schemeClr val="bg2"/>
          </a:solidFill>
          <a:ln w="12700">
            <a:solidFill>
              <a:schemeClr val="bg2"/>
            </a:solidFill>
            <a:prstDash val="solid"/>
          </a:ln>
        </p:spPr>
      </p:sp>
      <p:sp>
        <p:nvSpPr>
          <p:cNvPr id="40" name="icon circle"/>
          <p:cNvSpPr/>
          <p:nvPr/>
        </p:nvSpPr>
        <p:spPr>
          <a:xfrm>
            <a:off x="9744212" y="4846320"/>
            <a:ext cx="475488" cy="475488"/>
          </a:xfrm>
          <a:prstGeom prst="ellipse">
            <a:avLst/>
          </a:prstGeom>
          <a:solidFill>
            <a:schemeClr val="tx2"/>
          </a:solidFill>
          <a:ln w="12700">
            <a:solidFill>
              <a:schemeClr val="tx2"/>
            </a:solidFill>
            <a:prstDash val="solid"/>
          </a:ln>
        </p:spPr>
      </p:sp>
      <p:pic>
        <p:nvPicPr>
          <p:cNvPr id="41" name="FiPower" descr="preencoded.png">    </p:cNvPr>
          <p:cNvPicPr>
            <a:picLocks noChangeAspect="1"/>
          </p:cNvPicPr>
          <p:nvPr/>
        </p:nvPicPr>
        <p:blipFill>
          <a:blip r:embed="rId5"/>
          <a:stretch>
            <a:fillRect/>
          </a:stretch>
        </p:blipFill>
        <p:spPr>
          <a:xfrm>
            <a:off x="9863084" y="4965192"/>
            <a:ext cx="237744" cy="237744"/>
          </a:xfrm>
          <a:prstGeom prst="rect">
            <a:avLst/>
          </a:prstGeom>
        </p:spPr>
      </p:pic>
      <p:sp>
        <p:nvSpPr>
          <p:cNvPr id="42" name="Text 35"/>
          <p:cNvSpPr txBox="1"/>
          <p:nvPr/>
        </p:nvSpPr>
        <p:spPr>
          <a:xfrm>
            <a:off x="10338572"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GPU power, reset and clock</a:t>
            </a:r>
            <a:endParaRPr lang="en-US" sz="1200" dirty="0"/>
          </a:p>
        </p:txBody>
      </p:sp>
      <p:sp>
        <p:nvSpPr>
          <p:cNvPr id="43" name="analogy"/>
          <p:cNvSpPr/>
          <p:nvPr/>
        </p:nvSpPr>
        <p:spPr>
          <a:xfrm>
            <a:off x="548640" y="5532120"/>
            <a:ext cx="11094415" cy="502920"/>
          </a:xfrm>
          <a:prstGeom prst="roundRect">
            <a:avLst>
              <a:gd name="adj" fmla="val 14545"/>
            </a:avLst>
          </a:prstGeom>
          <a:solidFill>
            <a:schemeClr val="tx1"/>
          </a:solidFill>
          <a:ln w="12700">
            <a:solidFill>
              <a:schemeClr val="tx1"/>
            </a:solidFill>
            <a:prstDash val="solid"/>
          </a:ln>
        </p:spPr>
      </p:sp>
      <p:sp>
        <p:nvSpPr>
          <p:cNvPr id="44" name="Text 37"/>
          <p:cNvSpPr txBox="1"/>
          <p:nvPr/>
        </p:nvSpPr>
        <p:spPr>
          <a:xfrm>
            <a:off x="822960" y="5532120"/>
            <a:ext cx="155448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00 and 18</a:t>
            </a:r>
            <a:endParaRPr lang="en-US" sz="1000" dirty="0"/>
          </a:p>
        </p:txBody>
      </p:sp>
      <p:sp>
        <p:nvSpPr>
          <p:cNvPr id="45" name="Text 38"/>
          <p:cNvSpPr txBox="1"/>
          <p:nvPr/>
        </p:nvSpPr>
        <p:spPr>
          <a:xfrm>
            <a:off x="2514600" y="5532120"/>
            <a:ext cx="88541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firewall for actions, with a hand on the breaker: it decides what leaves, and when it must, it also pulls the plug. A chip that can only ask the GPU nicely is a classifier with a heatsink.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behind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5</a:t>
            </a:r>
            <a:endParaRPr lang="en-US" sz="1100" dirty="0"/>
          </a:p>
        </p:txBody>
      </p:sp>
      <p:sp>
        <p:nvSpPr>
          <p:cNvPr id="5"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6" name="Text 4"/>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7" name="Text 5"/>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latin typeface="Arial" pitchFamily="34" charset="0"/>
                <a:ea typeface="Arial" pitchFamily="34" charset="-122"/>
                <a:cs typeface="Arial" pitchFamily="34" charset="-120"/>
              </a:rPr>
              <a:t>She cannot read the language on the paperwork. She does not need to.</a:t>
            </a:r>
            <a:endParaRPr lang="en-US" sz="1250" dirty="0"/>
          </a:p>
        </p:txBody>
      </p:sp>
      <p:sp>
        <p:nvSpPr>
          <p:cNvPr id="8"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9"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10" name="Text 7"/>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seal</a:t>
            </a:r>
            <a:endParaRPr lang="en-US" sz="1200" dirty="0"/>
          </a:p>
        </p:txBody>
      </p:sp>
      <p:sp>
        <p:nvSpPr>
          <p:cNvPr id="11" name="Text 8"/>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unbroken?</a:t>
            </a:r>
            <a:endParaRPr lang="en-US" sz="1100" dirty="0"/>
          </a:p>
        </p:txBody>
      </p:sp>
      <p:sp>
        <p:nvSpPr>
          <p:cNvPr id="12"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3"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4" name="Text 10"/>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manifest</a:t>
            </a:r>
            <a:endParaRPr lang="en-US" sz="1200" dirty="0"/>
          </a:p>
        </p:txBody>
      </p:sp>
      <p:sp>
        <p:nvSpPr>
          <p:cNvPr id="15" name="Text 11"/>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count?</a:t>
            </a:r>
            <a:endParaRPr lang="en-US" sz="1100" dirty="0"/>
          </a:p>
        </p:txBody>
      </p:sp>
      <p:sp>
        <p:nvSpPr>
          <p:cNvPr id="16"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7"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8" name="Text 13"/>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scale</a:t>
            </a:r>
            <a:endParaRPr lang="en-US" sz="1200" dirty="0"/>
          </a:p>
        </p:txBody>
      </p:sp>
      <p:sp>
        <p:nvSpPr>
          <p:cNvPr id="19" name="Text 14"/>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weight?</a:t>
            </a:r>
            <a:endParaRPr lang="en-US" sz="1100" dirty="0"/>
          </a:p>
        </p:txBody>
      </p:sp>
      <p:sp>
        <p:nvSpPr>
          <p:cNvPr id="20"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21"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2" name="Text 16"/>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list</a:t>
            </a:r>
            <a:endParaRPr lang="en-US" sz="1200" dirty="0"/>
          </a:p>
        </p:txBody>
      </p:sp>
      <p:sp>
        <p:nvSpPr>
          <p:cNvPr id="23" name="Text 17"/>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destination approved?</a:t>
            </a:r>
            <a:endParaRPr lang="en-US" sz="1100" dirty="0"/>
          </a:p>
        </p:txBody>
      </p:sp>
      <p:sp>
        <p:nvSpPr>
          <p:cNvPr id="24" name="Text 18"/>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Smuggling is caught as a mismatch between what the papers say and what the scale says, not by understanding the cargo. The governor works the same way: on structure, never on meaning.</a:t>
            </a:r>
            <a:endParaRPr lang="en-US" sz="1250" dirty="0"/>
          </a:p>
        </p:txBody>
      </p:sp>
      <p:sp>
        <p:nvSpPr>
          <p:cNvPr id="25"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6"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7" name="Text 20"/>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Software safety can be edited out</a:t>
            </a:r>
            <a:endParaRPr lang="en-US" sz="1500" dirty="0"/>
          </a:p>
        </p:txBody>
      </p:sp>
      <p:sp>
        <p:nvSpPr>
          <p:cNvPr id="28" name="Text 21"/>
          <p:cNvSpPr txBox="1"/>
          <p:nvPr/>
        </p:nvSpPr>
        <p:spPr>
          <a:xfrm>
            <a:off x="6812280" y="1801368"/>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Refusal lives mostly along one direction in the activation space. Subtract it from the weights and the model answers everything. It takes an afternoon on a consumer GPU.</a:t>
            </a:r>
            <a:endParaRPr lang="en-US" sz="1200" dirty="0"/>
          </a:p>
        </p:txBody>
      </p:sp>
      <p:sp>
        <p:nvSpPr>
          <p:cNvPr id="29"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30"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31" name="Text 23"/>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Watchers can only warn</a:t>
            </a:r>
            <a:endParaRPr lang="en-US" sz="1500" dirty="0"/>
          </a:p>
        </p:txBody>
      </p:sp>
      <p:sp>
        <p:nvSpPr>
          <p:cNvPr id="32" name="Text 24"/>
          <p:cNvSpPr txBox="1"/>
          <p:nvPr/>
        </p:nvSpPr>
        <p:spPr>
          <a:xfrm>
            <a:off x="6812280" y="3099816"/>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A judge model is a transformer too: it falls for the same injections, can be edited the same way, and runs as a process the operator can patch or kill.</a:t>
            </a:r>
            <a:endParaRPr lang="en-US" sz="1200" dirty="0"/>
          </a:p>
        </p:txBody>
      </p:sp>
      <p:sp>
        <p:nvSpPr>
          <p:cNvPr id="33"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4"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5" name="Text 26"/>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Hardware checks structure, not meaning</a:t>
            </a:r>
            <a:endParaRPr lang="en-US" sz="1500" dirty="0"/>
          </a:p>
        </p:txBody>
      </p:sp>
      <p:sp>
        <p:nvSpPr>
          <p:cNvPr id="36" name="Text 27"/>
          <p:cNvSpPr txBox="1"/>
          <p:nvPr/>
        </p:nvSpPr>
        <p:spPr>
          <a:xfrm>
            <a:off x="6812280" y="4398264"/>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A ticket, a signature from a key the model does not hold, a count under a limit, a peer on a list, a measured workload. A chip can refuse on those.</a:t>
            </a:r>
            <a:endParaRPr lang="en-US" sz="1200" dirty="0"/>
          </a:p>
        </p:txBody>
      </p:sp>
      <p:sp>
        <p:nvSpPr>
          <p:cNvPr id="3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8"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docs 17</a:t>
            </a:r>
            <a:endParaRPr lang="en-US" sz="1000" dirty="0"/>
          </a:p>
        </p:txBody>
      </p:sp>
      <p:sp>
        <p:nvSpPr>
          <p:cNvPr id="39"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So: put the decision in silicon, and make the rulebook an allow-list, signed, default deny. No rule, no path. There is no rule for exporting weights.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technically: what a chip can see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6</a:t>
            </a:r>
            <a:endParaRPr lang="en-US" sz="1100" dirty="0"/>
          </a:p>
        </p:txBody>
      </p:sp>
      <p:sp>
        <p:nvSpPr>
          <p:cNvPr id="5"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6" name="Text 4"/>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Seen at a crossing (small, exact, checkable)</a:t>
            </a:r>
            <a:endParaRPr lang="en-US" sz="1500" dirty="0"/>
          </a:p>
        </p:txBody>
      </p:sp>
      <p:sp>
        <p:nvSpPr>
          <p:cNvPr id="7" name="Text 5"/>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Whether the peer behind a switch port is on the roster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rules edition every message was signed under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What the switches actually carried, to cross-check what was presented</a:t>
            </a:r>
            <a:endParaRPr lang="en-US" sz="1200" dirty="0"/>
          </a:p>
        </p:txBody>
      </p:sp>
      <p:sp>
        <p:nvSpPr>
          <p:cNvPr id="8"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9" name="Text 7"/>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latin typeface="Arial" pitchFamily="34" charset="0"/>
                <a:ea typeface="Arial" pitchFamily="34" charset="-122"/>
                <a:cs typeface="Arial" pitchFamily="34" charset="-120"/>
              </a:rPr>
              <a:t>Never seen</a:t>
            </a:r>
            <a:endParaRPr lang="en-US" sz="1500" dirty="0"/>
          </a:p>
        </p:txBody>
      </p:sp>
      <p:sp>
        <p:nvSpPr>
          <p:cNvPr id="10" name="Text 8"/>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11"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 meaning is delegated, with three guarantees</a:t>
            </a:r>
            <a:endParaRPr lang="en-US" sz="1500" dirty="0"/>
          </a:p>
        </p:txBody>
      </p:sp>
      <p:sp>
        <p:nvSpPr>
          <p:cNvPr id="13" name="Text 11"/>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Always invoked: no verdict, no ticket. Cannot be impersonated: a verdict under the host's key, or the governor's own, is refused. Separate: a different key, a different box, outside the model's reach</a:t>
            </a:r>
            <a:endParaRPr lang="en-US" sz="1200" dirty="0"/>
          </a:p>
        </p:txBody>
      </p:sp>
      <p:sp>
        <p:nvSpPr>
          <p:cNvPr id="1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5" name="Text 13"/>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17, section 1</a:t>
            </a:r>
            <a:endParaRPr lang="en-US" sz="1000" dirty="0"/>
          </a:p>
        </p:txBody>
      </p:sp>
      <p:sp>
        <p:nvSpPr>
          <p:cNvPr id="16" name="Text 14"/>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Two bridges. Tokens and arithmetic bridge the software and the GPU. Hashes, signatures, counters, identities and typed fields bridge the model and the governor. The second bridge is the only one the chip walks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proposal: a referee chip beside every GPU</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7</a:t>
            </a:r>
            <a:endParaRPr lang="en-US" sz="1100" dirty="0"/>
          </a:p>
        </p:txBody>
      </p:sp>
      <p:sp>
        <p:nvSpPr>
          <p:cNvPr id="5"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6" name="Text 4"/>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on NVIDIA GPUs</a:t>
            </a:r>
            <a:endParaRPr lang="en-US" sz="1600" dirty="0"/>
          </a:p>
        </p:txBody>
      </p:sp>
      <p:sp>
        <p:nvSpPr>
          <p:cNvPr id="7" name="Text 5"/>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Computes freely. Nothing it thinks has any effect until bytes leave or a request is made.</a:t>
            </a:r>
            <a:endParaRPr lang="en-US" sz="1250" dirty="0"/>
          </a:p>
        </p:txBody>
      </p:sp>
      <p:sp>
        <p:nvSpPr>
          <p:cNvPr id="8" name="arrow"/>
          <p:cNvSpPr/>
          <p:nvPr/>
        </p:nvSpPr>
        <p:spPr>
          <a:xfrm>
            <a:off x="3840480" y="2331720"/>
            <a:ext cx="548640" cy="0"/>
          </a:xfrm>
          <a:prstGeom prst="line">
            <a:avLst/>
          </a:prstGeom>
          <a:noFill/>
          <a:ln w="31750">
            <a:solidFill>
              <a:srgbClr val="2F5D62"/>
            </a:solidFill>
            <a:prstDash val="solid"/>
            <a:tailEnd type="triangle"/>
          </a:ln>
        </p:spPr>
      </p:sp>
      <p:sp>
        <p:nvSpPr>
          <p:cNvPr id="9"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10" name="Text 8"/>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a:t>
            </a:r>
            <a:endParaRPr lang="en-US" sz="1600" dirty="0"/>
          </a:p>
        </p:txBody>
      </p:sp>
      <p:sp>
        <p:nvSpPr>
          <p:cNvPr id="11" name="Text 9"/>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Checks who is asking, whether a rule allows it, whether the witnesses agree, whether the budget holds. Then signs a ticket, or says no.</a:t>
            </a:r>
            <a:endParaRPr lang="en-US" sz="1250" dirty="0"/>
          </a:p>
        </p:txBody>
      </p:sp>
      <p:sp>
        <p:nvSpPr>
          <p:cNvPr id="12" name="arrow"/>
          <p:cNvSpPr/>
          <p:nvPr/>
        </p:nvSpPr>
        <p:spPr>
          <a:xfrm>
            <a:off x="7772400" y="2331720"/>
            <a:ext cx="548640" cy="0"/>
          </a:xfrm>
          <a:prstGeom prst="line">
            <a:avLst/>
          </a:prstGeom>
          <a:noFill/>
          <a:ln w="31750">
            <a:solidFill>
              <a:srgbClr val="2F5D62"/>
            </a:solidFill>
            <a:prstDash val="solid"/>
            <a:tailEnd type="triangle"/>
          </a:ln>
        </p:spPr>
      </p:sp>
      <p:sp>
        <p:nvSpPr>
          <p:cNvPr id="13"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4" name="Text 12"/>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things that act</a:t>
            </a:r>
            <a:endParaRPr lang="en-US" sz="1600" dirty="0"/>
          </a:p>
        </p:txBody>
      </p:sp>
      <p:sp>
        <p:nvSpPr>
          <p:cNvPr id="15" name="Text 13"/>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weapon, a payment switch, a message gateway, the storage that holds the weights, the rack's own power. Each checks the ticket itself.</a:t>
            </a:r>
            <a:endParaRPr lang="en-US" sz="1250" dirty="0"/>
          </a:p>
        </p:txBody>
      </p:sp>
      <p:sp>
        <p:nvSpPr>
          <p:cNvPr id="16" name="Text 14"/>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request</a:t>
            </a:r>
            <a:endParaRPr lang="en-US" sz="1100" dirty="0"/>
          </a:p>
        </p:txBody>
      </p:sp>
      <p:sp>
        <p:nvSpPr>
          <p:cNvPr id="17" name="Text 15"/>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ticket</a:t>
            </a:r>
            <a:endParaRPr lang="en-US" sz="1100" dirty="0"/>
          </a:p>
        </p:txBody>
      </p:sp>
      <p:sp>
        <p:nvSpPr>
          <p:cNvPr id="18"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9"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20" name="Text 17"/>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Added, not redesigned</a:t>
            </a:r>
            <a:endParaRPr lang="en-US" sz="1350" dirty="0"/>
          </a:p>
        </p:txBody>
      </p:sp>
      <p:sp>
        <p:nvSpPr>
          <p:cNvPr id="21" name="Text 18"/>
          <p:cNvSpPr txBox="1"/>
          <p:nvPr/>
        </p:nvSpPr>
        <p:spPr>
          <a:xfrm>
            <a:off x="548640"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It rides on the server maker's management card. Nothing changes in the GPU or in CUDA.</a:t>
            </a:r>
            <a:endParaRPr lang="en-US" sz="1250" dirty="0"/>
          </a:p>
        </p:txBody>
      </p:sp>
      <p:sp>
        <p:nvSpPr>
          <p:cNvPr id="22"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3"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4" name="Text 20"/>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An allow-list, not a blacklist</a:t>
            </a:r>
            <a:endParaRPr lang="en-US" sz="1350" dirty="0"/>
          </a:p>
        </p:txBody>
      </p:sp>
      <p:sp>
        <p:nvSpPr>
          <p:cNvPr id="25" name="Text 21"/>
          <p:cNvSpPr txBox="1"/>
          <p:nvPr/>
        </p:nvSpPr>
        <p:spPr>
          <a:xfrm>
            <a:off x="3390824"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Signed by a k-of-n quorum whose keys sit outside the chip vendor and the operator. Everything not on it is no.</a:t>
            </a:r>
            <a:endParaRPr lang="en-US" sz="1250" dirty="0"/>
          </a:p>
        </p:txBody>
      </p:sp>
      <p:sp>
        <p:nvSpPr>
          <p:cNvPr id="26"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7"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8" name="Text 23"/>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 hand on the breaker</a:t>
            </a:r>
            <a:endParaRPr lang="en-US" sz="1350" dirty="0"/>
          </a:p>
        </p:txBody>
      </p:sp>
      <p:sp>
        <p:nvSpPr>
          <p:cNvPr id="29" name="Text 24"/>
          <p:cNvSpPr txBox="1"/>
          <p:nvPr/>
        </p:nvSpPr>
        <p:spPr>
          <a:xfrm>
            <a:off x="6233008"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One series loop through every governor in the rack. Any one opens it, or a cut wire, and every GPU halts.</a:t>
            </a:r>
            <a:endParaRPr lang="en-US" sz="1250" dirty="0"/>
          </a:p>
        </p:txBody>
      </p:sp>
      <p:sp>
        <p:nvSpPr>
          <p:cNvPr id="30"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31" name="FiCalendar"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2" name="Text 26"/>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Buildable now</a:t>
            </a:r>
            <a:endParaRPr lang="en-US" sz="1350" dirty="0"/>
          </a:p>
        </p:txBody>
      </p:sp>
      <p:sp>
        <p:nvSpPr>
          <p:cNvPr id="33" name="Text 27"/>
          <p:cNvSpPr txBox="1"/>
          <p:nvPr/>
        </p:nvSpPr>
        <p:spPr>
          <a:xfrm>
            <a:off x="9075191"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At the rack tier, with a server maker. The tighter tiers are asks to NVIDIA, firmware and board work, not prerequisites.</a:t>
            </a:r>
            <a:endParaRPr lang="en-US" sz="1250" dirty="0"/>
          </a:p>
        </p:txBody>
      </p:sp>
      <p:sp>
        <p:nvSpPr>
          <p:cNvPr id="3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5"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1</a:t>
            </a:r>
            <a:endParaRPr lang="en-US" sz="1000" dirty="0"/>
          </a:p>
        </p:txBody>
      </p:sp>
      <p:sp>
        <p:nvSpPr>
          <p:cNvPr id="36"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referee with a whistle and a rulebook he did not write: the chip holds the whistle, the rulebook is a signed document handed to it. What is burned in is how to enforce; what is loaded is what is allowed.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Proposal, technically: the module and the die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8</a:t>
            </a:r>
            <a:endParaRPr lang="en-US" sz="1100" dirty="0"/>
          </a:p>
        </p:txBody>
      </p:sp>
      <p:sp>
        <p:nvSpPr>
          <p:cNvPr id="5"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6" name="Text 4"/>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Where it sits and what it reaches</a:t>
            </a:r>
            <a:endParaRPr lang="en-US" sz="1500" dirty="0"/>
          </a:p>
        </p:txBody>
      </p:sp>
      <p:sp>
        <p:nvSpPr>
          <p:cNvPr id="7" name="Text 5"/>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One governor per GPU slot on the OEM's management-module card (DC-SCM class)</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Per slot through the HGX connector: SMBus (SMBPBI), power brake, PERST#, PWR_EN, present and fault. HGX reset is grouped today (three PERST inputs for eight GPUs)</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NVSwitch port disable out of band through NSM; DPU steering tables through DOCA on the management port</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The GPU's confidential-computing attestation taken as an input; the BMC reads through the governor</a:t>
            </a:r>
            <a:endParaRPr lang="en-US" sz="1150" dirty="0"/>
          </a:p>
        </p:txBody>
      </p:sp>
      <p:sp>
        <p:nvSpPr>
          <p:cNvPr id="8"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9" name="Text 7"/>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What is on the die</a:t>
            </a:r>
            <a:endParaRPr lang="en-US" sz="1500" dirty="0"/>
          </a:p>
        </p:txBody>
      </p:sp>
      <p:sp>
        <p:nvSpPr>
          <p:cNvPr id="10" name="Text 8"/>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An OpenTitan-class root of trust: fuses, DICE key chain, OTBN for P-384 signatures (1,697,985 cycles, 17 ms at 100 MHz, so one signature per 50 ms batch), AES-256-CTR with HMAC-SHA-256 for storage</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A mailbox of 21 signed commands, checked in order: sequence number, rules edition, signature; the first failure is reported</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The policy image and its epoch; the gate core (lookup and comparators); the ledger (budgets, rate windows); a hash-chained log whose head lives in a register</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Meter, heartbeat, lever drivers, loop I/O and the signed message fabric between governors</a:t>
            </a:r>
            <a:endParaRPr lang="en-US" sz="1150" dirty="0"/>
          </a:p>
        </p:txBody>
      </p:sp>
      <p:sp>
        <p:nvSpPr>
          <p:cNvPr id="11"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2" name="Text 10"/>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Tier</a:t>
            </a:r>
            <a:endParaRPr lang="en-US" sz="1050" dirty="0"/>
          </a:p>
        </p:txBody>
      </p:sp>
      <p:sp>
        <p:nvSpPr>
          <p:cNvPr id="13" name="Text 11"/>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Where the governor's authority comes from</a:t>
            </a:r>
            <a:endParaRPr lang="en-US" sz="1050" dirty="0"/>
          </a:p>
        </p:txBody>
      </p:sp>
      <p:sp>
        <p:nvSpPr>
          <p:cNvPr id="14" name="Text 12"/>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Status</a:t>
            </a:r>
            <a:endParaRPr lang="en-US" sz="1050" dirty="0"/>
          </a:p>
        </p:txBody>
      </p:sp>
      <p:sp>
        <p:nvSpPr>
          <p:cNvPr id="15" name="table row"/>
          <p:cNvSpPr/>
          <p:nvPr/>
        </p:nvSpPr>
        <p:spPr>
          <a:xfrm>
            <a:off x="548640" y="4590288"/>
            <a:ext cx="11094415" cy="489966"/>
          </a:xfrm>
          <a:prstGeom prst="rect">
            <a:avLst/>
          </a:prstGeom>
          <a:solidFill>
            <a:srgbClr val="EEF2EF"/>
          </a:solidFill>
          <a:ln w="9525">
            <a:solidFill>
              <a:srgbClr val="EEF2EF"/>
            </a:solidFill>
            <a:prstDash val="solid"/>
          </a:ln>
        </p:spPr>
      </p:sp>
      <p:sp>
        <p:nvSpPr>
          <p:cNvPr id="16" name="Text 14"/>
          <p:cNvSpPr txBox="1"/>
          <p:nvPr/>
        </p:nvSpPr>
        <p:spPr>
          <a:xfrm>
            <a:off x="630936" y="4672584"/>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Rack</a:t>
            </a:r>
            <a:endParaRPr lang="en-US" sz="1050" dirty="0"/>
          </a:p>
        </p:txBody>
      </p:sp>
      <p:sp>
        <p:nvSpPr>
          <p:cNvPr id="17" name="Text 15"/>
          <p:cNvSpPr txBox="1"/>
          <p:nvPr/>
        </p:nvSpPr>
        <p:spPr>
          <a:xfrm>
            <a:off x="1911096" y="4672584"/>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Management-card levers, switch and DPU management paths, the halt loop</a:t>
            </a:r>
            <a:endParaRPr lang="en-US" sz="1050" dirty="0"/>
          </a:p>
        </p:txBody>
      </p:sp>
      <p:sp>
        <p:nvSpPr>
          <p:cNvPr id="18" name="Text 16"/>
          <p:cNvSpPr txBox="1"/>
          <p:nvPr/>
        </p:nvSpPr>
        <p:spPr>
          <a:xfrm>
            <a:off x="7763256" y="4672584"/>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Plan of record; needs a server OEM, nothing from NVIDIA's silicon</a:t>
            </a:r>
            <a:endParaRPr lang="en-US" sz="1050" dirty="0"/>
          </a:p>
        </p:txBody>
      </p:sp>
      <p:sp>
        <p:nvSpPr>
          <p:cNvPr id="19" name="table row"/>
          <p:cNvSpPr/>
          <p:nvPr/>
        </p:nvSpPr>
        <p:spPr>
          <a:xfrm>
            <a:off x="548640" y="5080254"/>
            <a:ext cx="11094415" cy="489966"/>
          </a:xfrm>
          <a:prstGeom prst="rect">
            <a:avLst/>
          </a:prstGeom>
          <a:solidFill>
            <a:srgbClr val="FFFFFF"/>
          </a:solidFill>
          <a:ln w="9525">
            <a:solidFill>
              <a:srgbClr val="EEF2EF"/>
            </a:solidFill>
            <a:prstDash val="solid"/>
          </a:ln>
        </p:spPr>
      </p:sp>
      <p:sp>
        <p:nvSpPr>
          <p:cNvPr id="20" name="Text 18"/>
          <p:cNvSpPr txBox="1"/>
          <p:nvPr/>
        </p:nvSpPr>
        <p:spPr>
          <a:xfrm>
            <a:off x="630936" y="5162550"/>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Board</a:t>
            </a:r>
            <a:endParaRPr lang="en-US" sz="1050" dirty="0"/>
          </a:p>
        </p:txBody>
      </p:sp>
      <p:sp>
        <p:nvSpPr>
          <p:cNvPr id="21" name="Text 19"/>
          <p:cNvSpPr txBox="1"/>
          <p:nvPr/>
        </p:nvSpPr>
        <p:spPr>
          <a:xfrm>
            <a:off x="1911096" y="5162550"/>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Same firmware, policy format and fabric on a board without a baseboard connector of its own</a:t>
            </a:r>
            <a:endParaRPr lang="en-US" sz="1050" dirty="0"/>
          </a:p>
        </p:txBody>
      </p:sp>
      <p:sp>
        <p:nvSpPr>
          <p:cNvPr id="22" name="Text 20"/>
          <p:cNvSpPr txBox="1"/>
          <p:nvPr/>
        </p:nvSpPr>
        <p:spPr>
          <a:xfrm>
            <a:off x="7763256" y="5162550"/>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Fallback; the gaps it leaves are recorded, not hidden</a:t>
            </a:r>
            <a:endParaRPr lang="en-US" sz="1050" dirty="0"/>
          </a:p>
        </p:txBody>
      </p:sp>
      <p:sp>
        <p:nvSpPr>
          <p:cNvPr id="23" name="table row"/>
          <p:cNvSpPr/>
          <p:nvPr/>
        </p:nvSpPr>
        <p:spPr>
          <a:xfrm>
            <a:off x="548640" y="5570220"/>
            <a:ext cx="11094415" cy="489966"/>
          </a:xfrm>
          <a:prstGeom prst="rect">
            <a:avLst/>
          </a:prstGeom>
          <a:solidFill>
            <a:srgbClr val="EEF2EF"/>
          </a:solidFill>
          <a:ln w="9525">
            <a:solidFill>
              <a:srgbClr val="EEF2EF"/>
            </a:solidFill>
            <a:prstDash val="solid"/>
          </a:ln>
        </p:spPr>
      </p:sp>
      <p:sp>
        <p:nvSpPr>
          <p:cNvPr id="24" name="Text 22"/>
          <p:cNvSpPr txBox="1"/>
          <p:nvPr/>
        </p:nvSpPr>
        <p:spPr>
          <a:xfrm>
            <a:off x="630936" y="5652516"/>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Integrated</a:t>
            </a:r>
            <a:endParaRPr lang="en-US" sz="1050" dirty="0"/>
          </a:p>
        </p:txBody>
      </p:sp>
      <p:sp>
        <p:nvSpPr>
          <p:cNvPr id="25" name="Text 23"/>
          <p:cNvSpPr txBox="1"/>
          <p:nvPr/>
        </p:nvSpPr>
        <p:spPr>
          <a:xfrm>
            <a:off x="1911096" y="5652516"/>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Buffer-class checkers in the GPU's copy engines and peer MMU; per-GPU reset</a:t>
            </a:r>
            <a:endParaRPr lang="en-US" sz="1050" dirty="0"/>
          </a:p>
        </p:txBody>
      </p:sp>
      <p:sp>
        <p:nvSpPr>
          <p:cNvPr id="26" name="Text 24"/>
          <p:cNvSpPr txBox="1"/>
          <p:nvPr/>
        </p:nvSpPr>
        <p:spPr>
          <a:xfrm>
            <a:off x="7763256" y="5652516"/>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Needs NVIDIA; closes the one gap the rack tier records (H2b)</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layers: witnesses above, the lock below</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9</a:t>
            </a:r>
            <a:endParaRPr lang="en-US" sz="1100" dirty="0"/>
          </a:p>
        </p:txBody>
      </p:sp>
      <p:sp>
        <p:nvSpPr>
          <p:cNvPr id="5"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6" name="Text 4"/>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7"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8"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9" name="Text 6"/>
          <p:cNvSpPr txBox="1"/>
          <p:nvPr/>
        </p:nvSpPr>
        <p:spPr>
          <a:xfrm>
            <a:off x="1737360" y="141732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Governance root</a:t>
            </a:r>
            <a:endParaRPr lang="en-US" sz="1400" dirty="0"/>
          </a:p>
        </p:txBody>
      </p:sp>
      <p:sp>
        <p:nvSpPr>
          <p:cNvPr id="10" name="Text 7"/>
          <p:cNvSpPr txBox="1"/>
          <p:nvPr/>
        </p:nvSpPr>
        <p:spPr>
          <a:xfrm>
            <a:off x="4297680" y="141732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Signs the rulebook, the approved-firmware list and revocations. Separate from the chip vendor on purpose</a:t>
            </a:r>
            <a:endParaRPr lang="en-US" sz="1100" dirty="0"/>
          </a:p>
        </p:txBody>
      </p:sp>
      <p:sp>
        <p:nvSpPr>
          <p:cNvPr id="11"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13"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4" name="Text 11"/>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5"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6"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7" name="Text 13"/>
          <p:cNvSpPr txBox="1"/>
          <p:nvPr/>
        </p:nvSpPr>
        <p:spPr>
          <a:xfrm>
            <a:off x="1737360" y="205740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Control plane: the gate</a:t>
            </a:r>
            <a:endParaRPr lang="en-US" sz="1400" dirty="0"/>
          </a:p>
        </p:txBody>
      </p:sp>
      <p:sp>
        <p:nvSpPr>
          <p:cNvPr id="18" name="Text 14"/>
          <p:cNvSpPr txBox="1"/>
          <p:nvPr/>
        </p:nvSpPr>
        <p:spPr>
          <a:xfrm>
            <a:off x="4297680" y="205740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Default deny on the only path out: attestation, rulebook, witnesses, budget, human holds, one-time tickets, tamper-evident audit</a:t>
            </a:r>
            <a:endParaRPr lang="en-US" sz="110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Observers</a:t>
            </a:r>
            <a:endParaRPr lang="en-US" sz="1400" dirty="0"/>
          </a:p>
        </p:txBody>
      </p:sp>
      <p:sp>
        <p:nvSpPr>
          <p:cNvPr id="26" name="Text 21"/>
          <p:cNvSpPr txBox="1"/>
          <p:nvPr/>
        </p:nvSpPr>
        <p:spPr>
          <a:xfrm>
            <a:off x="4297680" y="269748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Fast, cheap early-warning verdicts about one request, signed, consumed as witnesses</a:t>
            </a:r>
            <a:endParaRPr lang="en-US" sz="1100" dirty="0"/>
          </a:p>
        </p:txBody>
      </p:sp>
      <p:sp>
        <p:nvSpPr>
          <p:cNvPr id="27"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8" name="Text 23"/>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29"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0" name="Text 25"/>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1"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2"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3" name="Text 27"/>
          <p:cNvSpPr txBox="1"/>
          <p:nvPr/>
        </p:nvSpPr>
        <p:spPr>
          <a:xfrm>
            <a:off x="1737360" y="333756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Provenance</a:t>
            </a:r>
            <a:endParaRPr lang="en-US" sz="1400" dirty="0"/>
          </a:p>
        </p:txBody>
      </p:sp>
      <p:sp>
        <p:nvSpPr>
          <p:cNvPr id="34" name="Text 28"/>
          <p:cNvSpPr txBox="1"/>
          <p:nvPr/>
        </p:nvSpPr>
        <p:spPr>
          <a:xfrm>
            <a:off x="4297680" y="333756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Watermark, hardened detector, retrieval, signed registry; emits a signed provenance verdict</a:t>
            </a:r>
            <a:endParaRPr lang="en-US" sz="1100" dirty="0"/>
          </a:p>
        </p:txBody>
      </p:sp>
      <p:sp>
        <p:nvSpPr>
          <p:cNvPr id="35"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6" name="Text 30"/>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37"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38" name="Text 32"/>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39"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0"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1" name="Text 34"/>
          <p:cNvSpPr txBox="1"/>
          <p:nvPr/>
        </p:nvSpPr>
        <p:spPr>
          <a:xfrm>
            <a:off x="1737360" y="397764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Model and runtime</a:t>
            </a:r>
            <a:endParaRPr lang="en-US" sz="1400" dirty="0"/>
          </a:p>
        </p:txBody>
      </p:sp>
      <p:sp>
        <p:nvSpPr>
          <p:cNvPr id="42" name="Text 35"/>
          <p:cNvSpPr txBox="1"/>
          <p:nvPr/>
        </p:nvSpPr>
        <p:spPr>
          <a:xfrm>
            <a:off x="4297680" y="397764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The model, CUDA, the serving stack. Treated as untrusted; nothing here is allowed to decide anything</a:t>
            </a:r>
            <a:endParaRPr lang="en-US" sz="1100" dirty="0"/>
          </a:p>
        </p:txBody>
      </p:sp>
      <p:sp>
        <p:nvSpPr>
          <p:cNvPr id="43"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4" name="Text 37"/>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UNTRUSTED</a:t>
            </a:r>
            <a:endParaRPr lang="en-US" sz="900" dirty="0"/>
          </a:p>
        </p:txBody>
      </p:sp>
      <p:sp>
        <p:nvSpPr>
          <p:cNvPr id="45"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6" name="Text 39"/>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47"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48"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49" name="Text 41"/>
          <p:cNvSpPr txBox="1"/>
          <p:nvPr/>
        </p:nvSpPr>
        <p:spPr>
          <a:xfrm>
            <a:off x="1737360" y="461772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Silicon root of trust</a:t>
            </a:r>
            <a:endParaRPr lang="en-US" sz="1400" dirty="0"/>
          </a:p>
        </p:txBody>
      </p:sp>
      <p:sp>
        <p:nvSpPr>
          <p:cNvPr id="50" name="Text 42"/>
          <p:cNvSpPr txBox="1"/>
          <p:nvPr/>
        </p:nvSpPr>
        <p:spPr>
          <a:xfrm>
            <a:off x="4297680" y="461772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Fused device secret, anti-rollback counter, extend-only measurement registers, DICE key derivation, quote engine</a:t>
            </a:r>
            <a:endParaRPr lang="en-US" sz="1100" dirty="0"/>
          </a:p>
        </p:txBody>
      </p:sp>
      <p:sp>
        <p:nvSpPr>
          <p:cNvPr id="51"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2" name="Text 44"/>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53"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4" name="Text 46"/>
          <p:cNvSpPr txBox="1"/>
          <p:nvPr/>
        </p:nvSpPr>
        <p:spPr>
          <a:xfrm>
            <a:off x="822960" y="534924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 3</a:t>
            </a:r>
            <a:endParaRPr lang="en-US" sz="1000" dirty="0"/>
          </a:p>
        </p:txBody>
      </p:sp>
      <p:sp>
        <p:nvSpPr>
          <p:cNvPr id="55" name="Text 47"/>
          <p:cNvSpPr txBox="1"/>
          <p:nvPr/>
        </p:nvSpPr>
        <p:spPr>
          <a:xfrm>
            <a:off x="2514600" y="534924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Biology separates the alarm from the muscle. The spinal reflex pulls the hand off the stove before the brain knows; the early warning is fast, cheap and often wrong, and the system tolerates that because the warning never acts on its own. The layers above the chip are reflexes. The chip is the muscle.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Layers, technically: mechanism, platform</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10</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Layer</a:t>
            </a:r>
            <a:endParaRPr lang="en-US" sz="1050" dirty="0"/>
          </a:p>
        </p:txBody>
      </p:sp>
      <p:sp>
        <p:nvSpPr>
          <p:cNvPr id="7" name="Text 5"/>
          <p:cNvSpPr txBox="1"/>
          <p:nvPr/>
        </p:nvSpPr>
        <p:spPr>
          <a:xfrm>
            <a:off x="2825496" y="1417320"/>
            <a:ext cx="3401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Mechanism</a:t>
            </a:r>
            <a:endParaRPr lang="en-US" sz="1050" dirty="0"/>
          </a:p>
        </p:txBody>
      </p:sp>
      <p:sp>
        <p:nvSpPr>
          <p:cNvPr id="8" name="Text 6"/>
          <p:cNvSpPr txBox="1"/>
          <p:nvPr/>
        </p:nvSpPr>
        <p:spPr>
          <a:xfrm>
            <a:off x="639165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signs or checks</a:t>
            </a:r>
            <a:endParaRPr lang="en-US" sz="1050" dirty="0"/>
          </a:p>
        </p:txBody>
      </p:sp>
      <p:sp>
        <p:nvSpPr>
          <p:cNvPr id="9" name="Text 7"/>
          <p:cNvSpPr txBox="1"/>
          <p:nvPr/>
        </p:nvSpPr>
        <p:spPr>
          <a:xfrm>
            <a:off x="9043416" y="1417320"/>
            <a:ext cx="2517343"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On NVIDIA's platform</a:t>
            </a:r>
            <a:endParaRPr lang="en-US" sz="1050" dirty="0"/>
          </a:p>
        </p:txBody>
      </p:sp>
      <p:sp>
        <p:nvSpPr>
          <p:cNvPr id="10" name="table row"/>
          <p:cNvSpPr/>
          <p:nvPr/>
        </p:nvSpPr>
        <p:spPr>
          <a:xfrm>
            <a:off x="548640" y="1801368"/>
            <a:ext cx="11094415" cy="670877"/>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5  Governance root</a:t>
            </a:r>
            <a:endParaRPr lang="en-US" sz="1050" dirty="0"/>
          </a:p>
        </p:txBody>
      </p:sp>
      <p:sp>
        <p:nvSpPr>
          <p:cNvPr id="14" name="Text 11"/>
          <p:cNvSpPr txBox="1"/>
          <p:nvPr/>
        </p:nvSpPr>
        <p:spPr>
          <a:xfrm>
            <a:off x="2825496" y="1883664"/>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k-of-n quorum over the policy image; rollback refused; expiry enforced</a:t>
            </a:r>
            <a:endParaRPr lang="en-US" sz="1050" dirty="0"/>
          </a:p>
        </p:txBody>
      </p:sp>
      <p:sp>
        <p:nvSpPr>
          <p:cNvPr id="15" name="Text 12"/>
          <p:cNvSpPr txBox="1"/>
          <p:nvPr/>
        </p:nvSpPr>
        <p:spPr>
          <a:xfrm>
            <a:off x="6391656" y="1883664"/>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rulebook (allow-list), the approved-firmware list, revocations</a:t>
            </a:r>
            <a:endParaRPr lang="en-US" sz="1050" dirty="0"/>
          </a:p>
        </p:txBody>
      </p:sp>
      <p:sp>
        <p:nvSpPr>
          <p:cNvPr id="16" name="Text 13"/>
          <p:cNvSpPr txBox="1"/>
          <p:nvPr/>
        </p:nvSpPr>
        <p:spPr>
          <a:xfrm>
            <a:off x="9043416" y="1883664"/>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policy authority's keys; OpenShell's policy prover checks the derived network rules</a:t>
            </a:r>
            <a:endParaRPr lang="en-US" sz="1050" dirty="0"/>
          </a:p>
        </p:txBody>
      </p:sp>
      <p:sp>
        <p:nvSpPr>
          <p:cNvPr id="17" name="table row"/>
          <p:cNvSpPr/>
          <p:nvPr/>
        </p:nvSpPr>
        <p:spPr>
          <a:xfrm>
            <a:off x="548640" y="2472245"/>
            <a:ext cx="11094415" cy="996252"/>
          </a:xfrm>
          <a:prstGeom prst="rect">
            <a:avLst/>
          </a:prstGeom>
          <a:solidFill>
            <a:srgbClr val="FFFFFF"/>
          </a:solidFill>
          <a:ln w="9525">
            <a:solidFill>
              <a:srgbClr val="EEF2EF"/>
            </a:solidFill>
            <a:prstDash val="solid"/>
          </a:ln>
        </p:spPr>
      </p:sp>
      <p:sp>
        <p:nvSpPr>
          <p:cNvPr id="18" name="icon circle"/>
          <p:cNvSpPr/>
          <p:nvPr/>
        </p:nvSpPr>
        <p:spPr>
          <a:xfrm>
            <a:off x="630936" y="2554541"/>
            <a:ext cx="384048" cy="384048"/>
          </a:xfrm>
          <a:prstGeom prst="ellipse">
            <a:avLst/>
          </a:prstGeom>
          <a:solidFill>
            <a:schemeClr val="accent1"/>
          </a:solidFill>
          <a:ln w="12700">
            <a:solidFill>
              <a:schemeClr val="accent1"/>
            </a:solidFill>
            <a:prstDash val="solid"/>
          </a:ln>
        </p:spPr>
      </p:sp>
      <p:pic>
        <p:nvPicPr>
          <p:cNvPr id="19" name="FiShield" descr="preencoded.png">    </p:cNvPr>
          <p:cNvPicPr>
            <a:picLocks noChangeAspect="1"/>
          </p:cNvPicPr>
          <p:nvPr/>
        </p:nvPicPr>
        <p:blipFill>
          <a:blip r:embed="rId2"/>
          <a:stretch>
            <a:fillRect/>
          </a:stretch>
        </p:blipFill>
        <p:spPr>
          <a:xfrm>
            <a:off x="726948" y="2650553"/>
            <a:ext cx="192024" cy="192024"/>
          </a:xfrm>
          <a:prstGeom prst="rect">
            <a:avLst/>
          </a:prstGeom>
        </p:spPr>
      </p:pic>
      <p:sp>
        <p:nvSpPr>
          <p:cNvPr id="20" name="Text 16"/>
          <p:cNvSpPr txBox="1"/>
          <p:nvPr/>
        </p:nvSpPr>
        <p:spPr>
          <a:xfrm>
            <a:off x="1133856" y="2554541"/>
            <a:ext cx="1527048" cy="831660"/>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4  Control plane</a:t>
            </a:r>
            <a:endParaRPr lang="en-US" sz="1050" dirty="0"/>
          </a:p>
        </p:txBody>
      </p:sp>
      <p:sp>
        <p:nvSpPr>
          <p:cNvPr id="21" name="Text 17"/>
          <p:cNvSpPr txBox="1"/>
          <p:nvPr/>
        </p:nvSpPr>
        <p:spPr>
          <a:xfrm>
            <a:off x="2825496" y="2554541"/>
            <a:ext cx="3401568"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Attestation check, rule lookup, witness collection, budget and rate, human hold, one-time ticket bound to a hash of the fields, hash-chained log</a:t>
            </a:r>
            <a:endParaRPr lang="en-US" sz="1050" dirty="0"/>
          </a:p>
        </p:txBody>
      </p:sp>
      <p:sp>
        <p:nvSpPr>
          <p:cNvPr id="22" name="Text 18"/>
          <p:cNvSpPr txBox="1"/>
          <p:nvPr/>
        </p:nvSpPr>
        <p:spPr>
          <a:xfrm>
            <a:off x="6391656" y="2554541"/>
            <a:ext cx="2487168"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Tickets, log checkpoints, the compliance report</a:t>
            </a:r>
            <a:endParaRPr lang="en-US" sz="1050" dirty="0"/>
          </a:p>
        </p:txBody>
      </p:sp>
      <p:sp>
        <p:nvSpPr>
          <p:cNvPr id="23" name="Text 19"/>
          <p:cNvSpPr txBox="1"/>
          <p:nvPr/>
        </p:nvSpPr>
        <p:spPr>
          <a:xfrm>
            <a:off x="9043416" y="2554541"/>
            <a:ext cx="2517343"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OpenShell supervisor middleware today in software; the governor module in hardware; a DOCA application on BlueField-4 next; an I/O-stage block in the GPU eventually</a:t>
            </a:r>
            <a:endParaRPr lang="en-US" sz="1050" dirty="0"/>
          </a:p>
        </p:txBody>
      </p:sp>
      <p:sp>
        <p:nvSpPr>
          <p:cNvPr id="24" name="table row"/>
          <p:cNvSpPr/>
          <p:nvPr/>
        </p:nvSpPr>
        <p:spPr>
          <a:xfrm>
            <a:off x="548640" y="3468497"/>
            <a:ext cx="11094415" cy="670877"/>
          </a:xfrm>
          <a:prstGeom prst="rect">
            <a:avLst/>
          </a:prstGeom>
          <a:solidFill>
            <a:srgbClr val="EEF2EF"/>
          </a:solidFill>
          <a:ln w="9525">
            <a:solidFill>
              <a:srgbClr val="EEF2EF"/>
            </a:solidFill>
            <a:prstDash val="solid"/>
          </a:ln>
        </p:spPr>
      </p:sp>
      <p:sp>
        <p:nvSpPr>
          <p:cNvPr id="25" name="icon circle"/>
          <p:cNvSpPr/>
          <p:nvPr/>
        </p:nvSpPr>
        <p:spPr>
          <a:xfrm>
            <a:off x="630936" y="3550793"/>
            <a:ext cx="384048" cy="384048"/>
          </a:xfrm>
          <a:prstGeom prst="ellipse">
            <a:avLst/>
          </a:prstGeom>
          <a:solidFill>
            <a:schemeClr val="accent1"/>
          </a:solidFill>
          <a:ln w="12700">
            <a:solidFill>
              <a:schemeClr val="accent1"/>
            </a:solidFill>
            <a:prstDash val="solid"/>
          </a:ln>
        </p:spPr>
      </p:sp>
      <p:pic>
        <p:nvPicPr>
          <p:cNvPr id="26" name="FiEye" descr="preencoded.png">    </p:cNvPr>
          <p:cNvPicPr>
            <a:picLocks noChangeAspect="1"/>
          </p:cNvPicPr>
          <p:nvPr/>
        </p:nvPicPr>
        <p:blipFill>
          <a:blip r:embed="rId3"/>
          <a:stretch>
            <a:fillRect/>
          </a:stretch>
        </p:blipFill>
        <p:spPr>
          <a:xfrm>
            <a:off x="726948" y="3646805"/>
            <a:ext cx="192024" cy="192024"/>
          </a:xfrm>
          <a:prstGeom prst="rect">
            <a:avLst/>
          </a:prstGeom>
        </p:spPr>
      </p:pic>
      <p:sp>
        <p:nvSpPr>
          <p:cNvPr id="27" name="Text 22"/>
          <p:cNvSpPr txBox="1"/>
          <p:nvPr/>
        </p:nvSpPr>
        <p:spPr>
          <a:xfrm>
            <a:off x="1133856" y="3550793"/>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3  Observers</a:t>
            </a:r>
            <a:endParaRPr lang="en-US" sz="1050" dirty="0"/>
          </a:p>
        </p:txBody>
      </p:sp>
      <p:sp>
        <p:nvSpPr>
          <p:cNvPr id="28" name="Text 23"/>
          <p:cNvSpPr txBox="1"/>
          <p:nvPr/>
        </p:nvSpPr>
        <p:spPr>
          <a:xfrm>
            <a:off x="2825496" y="3550793"/>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Verdict over the hash of one request: risk, flags, issued and expiry times, under an anchored key</a:t>
            </a:r>
            <a:endParaRPr lang="en-US" sz="1050" dirty="0"/>
          </a:p>
        </p:txBody>
      </p:sp>
      <p:sp>
        <p:nvSpPr>
          <p:cNvPr id="29" name="Text 24"/>
          <p:cNvSpPr txBox="1"/>
          <p:nvPr/>
        </p:nvSpPr>
        <p:spPr>
          <a:xfrm>
            <a:off x="6391656" y="3550793"/>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signed verdict the gate requires on consequential actions</a:t>
            </a:r>
            <a:endParaRPr lang="en-US" sz="1050" dirty="0"/>
          </a:p>
        </p:txBody>
      </p:sp>
      <p:sp>
        <p:nvSpPr>
          <p:cNvPr id="30" name="Text 25"/>
          <p:cNvSpPr txBox="1"/>
          <p:nvPr/>
        </p:nvSpPr>
        <p:spPr>
          <a:xfrm>
            <a:off x="9043416" y="3550793"/>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Sentry on BlueField-4 as the required witness; an independent observer as the optional second</a:t>
            </a:r>
            <a:endParaRPr lang="en-US" sz="1050" dirty="0"/>
          </a:p>
        </p:txBody>
      </p:sp>
      <p:sp>
        <p:nvSpPr>
          <p:cNvPr id="31" name="table row"/>
          <p:cNvSpPr/>
          <p:nvPr/>
        </p:nvSpPr>
        <p:spPr>
          <a:xfrm>
            <a:off x="548640" y="4139374"/>
            <a:ext cx="11094415" cy="670877"/>
          </a:xfrm>
          <a:prstGeom prst="rect">
            <a:avLst/>
          </a:prstGeom>
          <a:solidFill>
            <a:srgbClr val="FFFFFF"/>
          </a:solidFill>
          <a:ln w="9525">
            <a:solidFill>
              <a:srgbClr val="EEF2EF"/>
            </a:solidFill>
            <a:prstDash val="solid"/>
          </a:ln>
        </p:spPr>
      </p:sp>
      <p:sp>
        <p:nvSpPr>
          <p:cNvPr id="32" name="icon circle"/>
          <p:cNvSpPr/>
          <p:nvPr/>
        </p:nvSpPr>
        <p:spPr>
          <a:xfrm>
            <a:off x="630936" y="4221670"/>
            <a:ext cx="384048" cy="384048"/>
          </a:xfrm>
          <a:prstGeom prst="ellipse">
            <a:avLst/>
          </a:prstGeom>
          <a:solidFill>
            <a:schemeClr val="accent1"/>
          </a:solidFill>
          <a:ln w="12700">
            <a:solidFill>
              <a:schemeClr val="accent1"/>
            </a:solidFill>
            <a:prstDash val="solid"/>
          </a:ln>
        </p:spPr>
      </p:sp>
      <p:pic>
        <p:nvPicPr>
          <p:cNvPr id="33" name="FiCreditCard" descr="preencoded.png">    </p:cNvPr>
          <p:cNvPicPr>
            <a:picLocks noChangeAspect="1"/>
          </p:cNvPicPr>
          <p:nvPr/>
        </p:nvPicPr>
        <p:blipFill>
          <a:blip r:embed="rId4"/>
          <a:stretch>
            <a:fillRect/>
          </a:stretch>
        </p:blipFill>
        <p:spPr>
          <a:xfrm>
            <a:off x="726948" y="4317683"/>
            <a:ext cx="192024" cy="192024"/>
          </a:xfrm>
          <a:prstGeom prst="rect">
            <a:avLst/>
          </a:prstGeom>
        </p:spPr>
      </p:pic>
      <p:sp>
        <p:nvSpPr>
          <p:cNvPr id="34" name="Text 28"/>
          <p:cNvSpPr txBox="1"/>
          <p:nvPr/>
        </p:nvSpPr>
        <p:spPr>
          <a:xfrm>
            <a:off x="1133856" y="4221670"/>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2  Provenance</a:t>
            </a:r>
            <a:endParaRPr lang="en-US" sz="1050" dirty="0"/>
          </a:p>
        </p:txBody>
      </p:sp>
      <p:sp>
        <p:nvSpPr>
          <p:cNvPr id="35" name="Text 29"/>
          <p:cNvSpPr txBox="1"/>
          <p:nvPr/>
        </p:nvSpPr>
        <p:spPr>
          <a:xfrm>
            <a:off x="2825496" y="4221670"/>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Watermark, hardened detector, retrieval, signed registry</a:t>
            </a:r>
            <a:endParaRPr lang="en-US" sz="1050" dirty="0"/>
          </a:p>
        </p:txBody>
      </p:sp>
      <p:sp>
        <p:nvSpPr>
          <p:cNvPr id="36" name="Text 30"/>
          <p:cNvSpPr txBox="1"/>
          <p:nvPr/>
        </p:nvSpPr>
        <p:spPr>
          <a:xfrm>
            <a:off x="6391656" y="4221670"/>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verdict {registry, content digest, exact | tampered | unknown}</a:t>
            </a:r>
            <a:endParaRPr lang="en-US" sz="1050" dirty="0"/>
          </a:p>
        </p:txBody>
      </p:sp>
      <p:sp>
        <p:nvSpPr>
          <p:cNvPr id="37" name="Text 31"/>
          <p:cNvSpPr txBox="1"/>
          <p:nvPr/>
        </p:nvSpPr>
        <p:spPr>
          <a:xfrm>
            <a:off x="9043416" y="4221670"/>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Runs beside the vendor's sampler; its verdict is a witness the gate can require</a:t>
            </a:r>
            <a:endParaRPr lang="en-US" sz="1050" dirty="0"/>
          </a:p>
        </p:txBody>
      </p:sp>
      <p:sp>
        <p:nvSpPr>
          <p:cNvPr id="38" name="table row"/>
          <p:cNvSpPr/>
          <p:nvPr/>
        </p:nvSpPr>
        <p:spPr>
          <a:xfrm>
            <a:off x="548640" y="4810252"/>
            <a:ext cx="11094415" cy="508190"/>
          </a:xfrm>
          <a:prstGeom prst="rect">
            <a:avLst/>
          </a:prstGeom>
          <a:solidFill>
            <a:srgbClr val="EEF2EF"/>
          </a:solidFill>
          <a:ln w="9525">
            <a:solidFill>
              <a:srgbClr val="EEF2EF"/>
            </a:solidFill>
            <a:prstDash val="solid"/>
          </a:ln>
        </p:spPr>
      </p:sp>
      <p:sp>
        <p:nvSpPr>
          <p:cNvPr id="39" name="icon circle"/>
          <p:cNvSpPr/>
          <p:nvPr/>
        </p:nvSpPr>
        <p:spPr>
          <a:xfrm>
            <a:off x="630936" y="4892548"/>
            <a:ext cx="384048" cy="384048"/>
          </a:xfrm>
          <a:prstGeom prst="ellipse">
            <a:avLst/>
          </a:prstGeom>
          <a:solidFill>
            <a:schemeClr val="accent1"/>
          </a:solidFill>
          <a:ln w="12700">
            <a:solidFill>
              <a:schemeClr val="accent1"/>
            </a:solidFill>
            <a:prstDash val="solid"/>
          </a:ln>
        </p:spPr>
      </p:sp>
      <p:pic>
        <p:nvPicPr>
          <p:cNvPr id="40" name="FiUser" descr="preencoded.png">    </p:cNvPr>
          <p:cNvPicPr>
            <a:picLocks noChangeAspect="1"/>
          </p:cNvPicPr>
          <p:nvPr/>
        </p:nvPicPr>
        <p:blipFill>
          <a:blip r:embed="rId5"/>
          <a:stretch>
            <a:fillRect/>
          </a:stretch>
        </p:blipFill>
        <p:spPr>
          <a:xfrm>
            <a:off x="726948" y="4988560"/>
            <a:ext cx="192024" cy="192024"/>
          </a:xfrm>
          <a:prstGeom prst="rect">
            <a:avLst/>
          </a:prstGeom>
        </p:spPr>
      </p:pic>
      <p:sp>
        <p:nvSpPr>
          <p:cNvPr id="41" name="Text 34"/>
          <p:cNvSpPr txBox="1"/>
          <p:nvPr/>
        </p:nvSpPr>
        <p:spPr>
          <a:xfrm>
            <a:off x="1133856" y="4892548"/>
            <a:ext cx="1527048" cy="343598"/>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1  Model and runtime</a:t>
            </a:r>
            <a:endParaRPr lang="en-US" sz="1050" dirty="0"/>
          </a:p>
        </p:txBody>
      </p:sp>
      <p:sp>
        <p:nvSpPr>
          <p:cNvPr id="42" name="Text 35"/>
          <p:cNvSpPr txBox="1"/>
          <p:nvPr/>
        </p:nvSpPr>
        <p:spPr>
          <a:xfrm>
            <a:off x="2825496" y="4892548"/>
            <a:ext cx="3401568"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Measured into the workload hash; routed through the switches and egress the governor controls</a:t>
            </a:r>
            <a:endParaRPr lang="en-US" sz="1050" dirty="0"/>
          </a:p>
        </p:txBody>
      </p:sp>
      <p:sp>
        <p:nvSpPr>
          <p:cNvPr id="43" name="Text 36"/>
          <p:cNvSpPr txBox="1"/>
          <p:nvPr/>
        </p:nvSpPr>
        <p:spPr>
          <a:xfrm>
            <a:off x="6391656" y="4892548"/>
            <a:ext cx="2487168"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Nothing. It can sign nothing the gate accepts</a:t>
            </a:r>
            <a:endParaRPr lang="en-US" sz="1050" dirty="0"/>
          </a:p>
        </p:txBody>
      </p:sp>
      <p:sp>
        <p:nvSpPr>
          <p:cNvPr id="44" name="Text 37"/>
          <p:cNvSpPr txBox="1"/>
          <p:nvPr/>
        </p:nvSpPr>
        <p:spPr>
          <a:xfrm>
            <a:off x="9043416" y="4892548"/>
            <a:ext cx="2517343"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GPU, CUDA and the serving stack, unchanged</a:t>
            </a:r>
            <a:endParaRPr lang="en-US" sz="1050" dirty="0"/>
          </a:p>
        </p:txBody>
      </p:sp>
      <p:sp>
        <p:nvSpPr>
          <p:cNvPr id="45" name="table row"/>
          <p:cNvSpPr/>
          <p:nvPr/>
        </p:nvSpPr>
        <p:spPr>
          <a:xfrm>
            <a:off x="548640" y="5318442"/>
            <a:ext cx="11094415" cy="670877"/>
          </a:xfrm>
          <a:prstGeom prst="rect">
            <a:avLst/>
          </a:prstGeom>
          <a:solidFill>
            <a:srgbClr val="FFFFFF"/>
          </a:solidFill>
          <a:ln w="9525">
            <a:solidFill>
              <a:srgbClr val="EEF2EF"/>
            </a:solidFill>
            <a:prstDash val="solid"/>
          </a:ln>
        </p:spPr>
      </p:sp>
      <p:sp>
        <p:nvSpPr>
          <p:cNvPr id="46" name="icon circle"/>
          <p:cNvSpPr/>
          <p:nvPr/>
        </p:nvSpPr>
        <p:spPr>
          <a:xfrm>
            <a:off x="630936" y="5400738"/>
            <a:ext cx="384048" cy="384048"/>
          </a:xfrm>
          <a:prstGeom prst="ellipse">
            <a:avLst/>
          </a:prstGeom>
          <a:solidFill>
            <a:schemeClr val="accent1"/>
          </a:solidFill>
          <a:ln w="12700">
            <a:solidFill>
              <a:schemeClr val="accent1"/>
            </a:solidFill>
            <a:prstDash val="solid"/>
          </a:ln>
        </p:spPr>
      </p:sp>
      <p:pic>
        <p:nvPicPr>
          <p:cNvPr id="47" name="FiLock" descr="preencoded.png">    </p:cNvPr>
          <p:cNvPicPr>
            <a:picLocks noChangeAspect="1"/>
          </p:cNvPicPr>
          <p:nvPr/>
        </p:nvPicPr>
        <p:blipFill>
          <a:blip r:embed="rId6"/>
          <a:stretch>
            <a:fillRect/>
          </a:stretch>
        </p:blipFill>
        <p:spPr>
          <a:xfrm>
            <a:off x="726948" y="5496750"/>
            <a:ext cx="192024" cy="192024"/>
          </a:xfrm>
          <a:prstGeom prst="rect">
            <a:avLst/>
          </a:prstGeom>
        </p:spPr>
      </p:pic>
      <p:sp>
        <p:nvSpPr>
          <p:cNvPr id="48" name="Text 40"/>
          <p:cNvSpPr txBox="1"/>
          <p:nvPr/>
        </p:nvSpPr>
        <p:spPr>
          <a:xfrm>
            <a:off x="1133856" y="5400738"/>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0  Silicon root of trust</a:t>
            </a:r>
            <a:endParaRPr lang="en-US" sz="1050" dirty="0"/>
          </a:p>
        </p:txBody>
      </p:sp>
      <p:sp>
        <p:nvSpPr>
          <p:cNvPr id="49" name="Text 41"/>
          <p:cNvSpPr txBox="1"/>
          <p:nvPr/>
        </p:nvSpPr>
        <p:spPr>
          <a:xfrm>
            <a:off x="2825496" y="5400738"/>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Fused device secret, anti-rollback counter, extend-only measurement registers, DICE derivation, quote with a fresh nonce</a:t>
            </a:r>
            <a:endParaRPr lang="en-US" sz="1050" dirty="0"/>
          </a:p>
        </p:txBody>
      </p:sp>
      <p:sp>
        <p:nvSpPr>
          <p:cNvPr id="50" name="Text 42"/>
          <p:cNvSpPr txBox="1"/>
          <p:nvPr/>
        </p:nvSpPr>
        <p:spPr>
          <a:xfrm>
            <a:off x="6391656" y="5400738"/>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Quotes: the measurement, the key chain, the counter</a:t>
            </a:r>
            <a:endParaRPr lang="en-US" sz="1050" dirty="0"/>
          </a:p>
        </p:txBody>
      </p:sp>
      <p:sp>
        <p:nvSpPr>
          <p:cNvPr id="51" name="Text 43"/>
          <p:cNvSpPr txBox="1"/>
          <p:nvPr/>
        </p:nvSpPr>
        <p:spPr>
          <a:xfrm>
            <a:off x="9043416" y="5400738"/>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GPU's confidential-computing attestation and the DPU's own root of trust, bound together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meets the model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11</a:t>
            </a:r>
            <a:endParaRPr lang="en-US" sz="1100" dirty="0"/>
          </a:p>
        </p:txBody>
      </p:sp>
      <p:sp>
        <p:nvSpPr>
          <p:cNvPr id="5"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6" name="Text 4"/>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7" name="Text 5"/>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thinks</a:t>
            </a:r>
            <a:endParaRPr lang="en-US" sz="1600" dirty="0"/>
          </a:p>
        </p:txBody>
      </p:sp>
      <p:sp>
        <p:nvSpPr>
          <p:cNvPr id="8" name="Text 6"/>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Token ids in, numbers out. No authority here and none needed.</a:t>
            </a:r>
            <a:endParaRPr lang="en-US" sz="1250" dirty="0"/>
          </a:p>
        </p:txBody>
      </p:sp>
      <p:sp>
        <p:nvSpPr>
          <p:cNvPr id="9" name="arrow"/>
          <p:cNvSpPr/>
          <p:nvPr/>
        </p:nvSpPr>
        <p:spPr>
          <a:xfrm>
            <a:off x="4015130" y="2240280"/>
            <a:ext cx="310896" cy="0"/>
          </a:xfrm>
          <a:prstGeom prst="line">
            <a:avLst/>
          </a:prstGeom>
          <a:noFill/>
          <a:ln w="31750">
            <a:solidFill>
              <a:srgbClr val="2F5D62"/>
            </a:solidFill>
            <a:prstDash val="solid"/>
            <a:tailEnd type="triangle"/>
          </a:ln>
        </p:spPr>
      </p:sp>
      <p:sp>
        <p:nvSpPr>
          <p:cNvPr id="10"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11" name="Text 9"/>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2" name="Text 10"/>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runtime asks</a:t>
            </a:r>
            <a:endParaRPr lang="en-US" sz="1600" dirty="0"/>
          </a:p>
        </p:txBody>
      </p:sp>
      <p:sp>
        <p:nvSpPr>
          <p:cNvPr id="13" name="Text 11"/>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It turns the output into a typed request: the action and its fields.</a:t>
            </a:r>
            <a:endParaRPr lang="en-US" sz="1250" dirty="0"/>
          </a:p>
        </p:txBody>
      </p:sp>
      <p:sp>
        <p:nvSpPr>
          <p:cNvPr id="14" name="arrow"/>
          <p:cNvSpPr/>
          <p:nvPr/>
        </p:nvSpPr>
        <p:spPr>
          <a:xfrm>
            <a:off x="7865669" y="2240280"/>
            <a:ext cx="310896" cy="0"/>
          </a:xfrm>
          <a:prstGeom prst="line">
            <a:avLst/>
          </a:prstGeom>
          <a:noFill/>
          <a:ln w="31750">
            <a:solidFill>
              <a:srgbClr val="2F5D62"/>
            </a:solidFill>
            <a:prstDash val="solid"/>
            <a:tailEnd type="triangle"/>
          </a:ln>
        </p:spPr>
      </p:sp>
      <p:sp>
        <p:nvSpPr>
          <p:cNvPr id="15"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6" name="Text 14"/>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7" name="Text 15"/>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 checks four things</a:t>
            </a:r>
            <a:endParaRPr lang="en-US" sz="1600" dirty="0"/>
          </a:p>
        </p:txBody>
      </p:sp>
      <p:sp>
        <p:nvSpPr>
          <p:cNvPr id="18" name="Text 16"/>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Who is asking. Is there a rule. Do the witnesses agree. Is the budget intact.</a:t>
            </a:r>
            <a:endParaRPr lang="en-US" sz="1250" dirty="0"/>
          </a:p>
        </p:txBody>
      </p:sp>
      <p:sp>
        <p:nvSpPr>
          <p:cNvPr id="19"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20" name="Text 18"/>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21" name="Text 19"/>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Ticket, hold, or no</a:t>
            </a:r>
            <a:endParaRPr lang="en-US" sz="1600" dirty="0"/>
          </a:p>
        </p:txBody>
      </p:sp>
      <p:sp>
        <p:nvSpPr>
          <p:cNvPr id="22" name="Text 20"/>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one-time signed ticket bound to a hash of the exact fields. Or a hold for a human. Or a refusal, logged.</a:t>
            </a:r>
            <a:endParaRPr lang="en-US" sz="1250" dirty="0"/>
          </a:p>
        </p:txBody>
      </p:sp>
      <p:sp>
        <p:nvSpPr>
          <p:cNvPr id="23" name="arrow"/>
          <p:cNvSpPr/>
          <p:nvPr/>
        </p:nvSpPr>
        <p:spPr>
          <a:xfrm>
            <a:off x="4015130" y="4343400"/>
            <a:ext cx="310896" cy="0"/>
          </a:xfrm>
          <a:prstGeom prst="line">
            <a:avLst/>
          </a:prstGeom>
          <a:noFill/>
          <a:ln w="31750">
            <a:solidFill>
              <a:srgbClr val="2F5D62"/>
            </a:solidFill>
            <a:prstDash val="solid"/>
            <a:tailEnd type="triangle"/>
          </a:ln>
        </p:spPr>
      </p:sp>
      <p:sp>
        <p:nvSpPr>
          <p:cNvPr id="24"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5" name="Text 23"/>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6" name="Text 24"/>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device checks the ticket</a:t>
            </a:r>
            <a:endParaRPr lang="en-US" sz="1600" dirty="0"/>
          </a:p>
        </p:txBody>
      </p:sp>
      <p:sp>
        <p:nvSpPr>
          <p:cNvPr id="27" name="Text 25"/>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Against what it measures itself. A changed amount or target breaks the hash.</a:t>
            </a:r>
            <a:endParaRPr lang="en-US" sz="1250" dirty="0"/>
          </a:p>
        </p:txBody>
      </p:sp>
      <p:sp>
        <p:nvSpPr>
          <p:cNvPr id="28" name="arrow"/>
          <p:cNvSpPr/>
          <p:nvPr/>
        </p:nvSpPr>
        <p:spPr>
          <a:xfrm>
            <a:off x="7865669" y="4343400"/>
            <a:ext cx="310896" cy="0"/>
          </a:xfrm>
          <a:prstGeom prst="line">
            <a:avLst/>
          </a:prstGeom>
          <a:noFill/>
          <a:ln w="31750">
            <a:solidFill>
              <a:srgbClr val="2F5D62"/>
            </a:solidFill>
            <a:prstDash val="solid"/>
            <a:tailEnd type="triangle"/>
          </a:ln>
        </p:spPr>
      </p:sp>
      <p:sp>
        <p:nvSpPr>
          <p:cNvPr id="29"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30" name="Text 28"/>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31" name="Text 29"/>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Act, and record</a:t>
            </a:r>
            <a:endParaRPr lang="en-US" sz="1600" dirty="0"/>
          </a:p>
        </p:txBody>
      </p:sp>
      <p:sp>
        <p:nvSpPr>
          <p:cNvPr id="32" name="Text 30"/>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The action happens and the record goes into a hash chain the chip signs.</a:t>
            </a:r>
            <a:endParaRPr lang="en-US" sz="1250" dirty="0"/>
          </a:p>
        </p:txBody>
      </p:sp>
      <p:sp>
        <p:nvSpPr>
          <p:cNvPr id="33" name="turn"/>
          <p:cNvSpPr/>
          <p:nvPr/>
        </p:nvSpPr>
        <p:spPr>
          <a:xfrm>
            <a:off x="9946386" y="3063240"/>
            <a:ext cx="0" cy="228600"/>
          </a:xfrm>
          <a:prstGeom prst="line">
            <a:avLst/>
          </a:prstGeom>
          <a:noFill/>
          <a:ln w="31750">
            <a:solidFill>
              <a:srgbClr val="2F5D62"/>
            </a:solidFill>
            <a:prstDash val="solid"/>
          </a:ln>
        </p:spPr>
      </p:sp>
      <p:sp>
        <p:nvSpPr>
          <p:cNvPr id="34" name="turn"/>
          <p:cNvSpPr/>
          <p:nvPr/>
        </p:nvSpPr>
        <p:spPr>
          <a:xfrm>
            <a:off x="2245309" y="3291840"/>
            <a:ext cx="7701077" cy="0"/>
          </a:xfrm>
          <a:prstGeom prst="line">
            <a:avLst/>
          </a:prstGeom>
          <a:noFill/>
          <a:ln w="31750">
            <a:solidFill>
              <a:srgbClr val="2F5D62"/>
            </a:solidFill>
            <a:prstDash val="solid"/>
          </a:ln>
        </p:spPr>
      </p:sp>
      <p:sp>
        <p:nvSpPr>
          <p:cNvPr id="35" name="arrow"/>
          <p:cNvSpPr/>
          <p:nvPr/>
        </p:nvSpPr>
        <p:spPr>
          <a:xfrm>
            <a:off x="2245309" y="3291840"/>
            <a:ext cx="0" cy="228600"/>
          </a:xfrm>
          <a:prstGeom prst="line">
            <a:avLst/>
          </a:prstGeom>
          <a:noFill/>
          <a:ln w="31750">
            <a:solidFill>
              <a:srgbClr val="2F5D62"/>
            </a:solidFill>
            <a:prstDash val="solid"/>
            <a:tailEnd type="triangle"/>
          </a:ln>
        </p:spPr>
      </p:sp>
      <p:sp>
        <p:nvSpPr>
          <p:cNvPr id="36"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7" name="Text 35"/>
          <p:cNvSpPr txBox="1"/>
          <p:nvPr/>
        </p:nvSpPr>
        <p:spPr>
          <a:xfrm>
            <a:off x="822960" y="5303520"/>
            <a:ext cx="155448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layers 0, 4 and 5</a:t>
            </a:r>
            <a:endParaRPr lang="en-US" sz="1000" dirty="0"/>
          </a:p>
        </p:txBody>
      </p:sp>
      <p:sp>
        <p:nvSpPr>
          <p:cNvPr id="38" name="Text 36"/>
          <p:cNvSpPr txBox="1"/>
          <p:nvPr/>
        </p:nvSpPr>
        <p:spPr>
          <a:xfrm>
            <a:off x="2514600" y="5303520"/>
            <a:ext cx="88541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endpoint that moves the money verifies the ticket itself. Change the amount after the ticket was issued and the hash breaks. Present it twice and the second is refused. The model is never the one who decides.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flow, technically: every check, every refusal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12</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Step</a:t>
            </a:r>
            <a:endParaRPr lang="en-US" sz="1150" dirty="0"/>
          </a:p>
        </p:txBody>
      </p:sp>
      <p:sp>
        <p:nvSpPr>
          <p:cNvPr id="7" name="Text 5"/>
          <p:cNvSpPr txBox="1"/>
          <p:nvPr/>
        </p:nvSpPr>
        <p:spPr>
          <a:xfrm>
            <a:off x="2596896" y="1417320"/>
            <a:ext cx="358444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What is checked</a:t>
            </a:r>
            <a:endParaRPr lang="en-US" sz="1150" dirty="0"/>
          </a:p>
        </p:txBody>
      </p:sp>
      <p:sp>
        <p:nvSpPr>
          <p:cNvPr id="8" name="Text 6"/>
          <p:cNvSpPr txBox="1"/>
          <p:nvPr/>
        </p:nvSpPr>
        <p:spPr>
          <a:xfrm>
            <a:off x="6345936" y="1417320"/>
            <a:ext cx="303580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Fails with (as the model prints it)</a:t>
            </a:r>
            <a:endParaRPr lang="en-US" sz="1150" dirty="0"/>
          </a:p>
        </p:txBody>
      </p:sp>
      <p:sp>
        <p:nvSpPr>
          <p:cNvPr id="9" name="Text 7"/>
          <p:cNvSpPr txBox="1"/>
          <p:nvPr/>
        </p:nvSpPr>
        <p:spPr>
          <a:xfrm>
            <a:off x="9546336" y="1417320"/>
            <a:ext cx="2014423"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Backed by</a:t>
            </a:r>
            <a:endParaRPr lang="en-US" sz="1150" dirty="0"/>
          </a:p>
        </p:txBody>
      </p:sp>
      <p:sp>
        <p:nvSpPr>
          <p:cNvPr id="10" name="table row"/>
          <p:cNvSpPr/>
          <p:nvPr/>
        </p:nvSpPr>
        <p:spPr>
          <a:xfrm>
            <a:off x="548640" y="1801368"/>
            <a:ext cx="11094415" cy="700097"/>
          </a:xfrm>
          <a:prstGeom prst="rect">
            <a:avLst/>
          </a:prstGeom>
          <a:solidFill>
            <a:srgbClr val="EEF2EF"/>
          </a:solidFill>
          <a:ln w="9525">
            <a:solidFill>
              <a:srgbClr val="EEF2EF"/>
            </a:solidFill>
            <a:prstDash val="solid"/>
          </a:ln>
        </p:spPr>
      </p:sp>
      <p:sp>
        <p:nvSpPr>
          <p:cNvPr id="11"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133856" y="1883664"/>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Mailbox</a:t>
            </a:r>
            <a:endParaRPr lang="en-US" sz="1150" dirty="0"/>
          </a:p>
        </p:txBody>
      </p:sp>
      <p:sp>
        <p:nvSpPr>
          <p:cNvPr id="14" name="Text 12"/>
          <p:cNvSpPr txBox="1"/>
          <p:nvPr/>
        </p:nvSpPr>
        <p:spPr>
          <a:xfrm>
            <a:off x="2596896" y="1883664"/>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Sequence number, then rules edition, then signature; the first failure is reported</a:t>
            </a:r>
            <a:endParaRPr lang="en-US" sz="1150" dirty="0"/>
          </a:p>
        </p:txBody>
      </p:sp>
      <p:sp>
        <p:nvSpPr>
          <p:cNvPr id="15" name="Text 13"/>
          <p:cNvSpPr txBox="1"/>
          <p:nvPr/>
        </p:nvSpPr>
        <p:spPr>
          <a:xfrm>
            <a:off x="6345936" y="1883664"/>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mailbox.bad_sequence, mailbox.bad_signature; a frame from an old edition is refused before the gate sees it</a:t>
            </a:r>
            <a:endParaRPr lang="en-US" sz="1150" dirty="0"/>
          </a:p>
        </p:txBody>
      </p:sp>
      <p:sp>
        <p:nvSpPr>
          <p:cNvPr id="16" name="Text 14"/>
          <p:cNvSpPr txBox="1"/>
          <p:nvPr/>
        </p:nvSpPr>
        <p:spPr>
          <a:xfrm>
            <a:off x="9546336" y="1883664"/>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H3: test_mailbox_reports_the_first_failing_check</a:t>
            </a:r>
            <a:endParaRPr lang="en-US" sz="1150" dirty="0"/>
          </a:p>
        </p:txBody>
      </p:sp>
      <p:sp>
        <p:nvSpPr>
          <p:cNvPr id="17" name="table row"/>
          <p:cNvSpPr/>
          <p:nvPr/>
        </p:nvSpPr>
        <p:spPr>
          <a:xfrm>
            <a:off x="548640" y="2501465"/>
            <a:ext cx="11094415" cy="521916"/>
          </a:xfrm>
          <a:prstGeom prst="rect">
            <a:avLst/>
          </a:prstGeom>
          <a:solidFill>
            <a:srgbClr val="FFFFFF"/>
          </a:solidFill>
          <a:ln w="9525">
            <a:solidFill>
              <a:srgbClr val="EEF2EF"/>
            </a:solidFill>
            <a:prstDash val="solid"/>
          </a:ln>
        </p:spPr>
      </p:sp>
      <p:sp>
        <p:nvSpPr>
          <p:cNvPr id="18" name="step"/>
          <p:cNvSpPr/>
          <p:nvPr/>
        </p:nvSpPr>
        <p:spPr>
          <a:xfrm>
            <a:off x="630936" y="2583761"/>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30936" y="2583761"/>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1133856" y="2583761"/>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Who is asking</a:t>
            </a:r>
            <a:endParaRPr lang="en-US" sz="1150" dirty="0"/>
          </a:p>
        </p:txBody>
      </p:sp>
      <p:sp>
        <p:nvSpPr>
          <p:cNvPr id="21" name="Text 19"/>
          <p:cNvSpPr txBox="1"/>
          <p:nvPr/>
        </p:nvSpPr>
        <p:spPr>
          <a:xfrm>
            <a:off x="2596896" y="2583761"/>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workload hash (GPU firmware, host firmware, model) and its evaluation attestation</a:t>
            </a:r>
            <a:endParaRPr lang="en-US" sz="1150" dirty="0"/>
          </a:p>
        </p:txBody>
      </p:sp>
      <p:sp>
        <p:nvSpPr>
          <p:cNvPr id="22" name="Text 20"/>
          <p:cNvSpPr txBox="1"/>
          <p:nvPr/>
        </p:nvSpPr>
        <p:spPr>
          <a:xfrm>
            <a:off x="6345936" y="2583761"/>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model.not_evaluated</a:t>
            </a:r>
            <a:endParaRPr lang="en-US" sz="1150" dirty="0"/>
          </a:p>
        </p:txBody>
      </p:sp>
      <p:sp>
        <p:nvSpPr>
          <p:cNvPr id="23" name="Text 21"/>
          <p:cNvSpPr txBox="1"/>
          <p:nvPr/>
        </p:nvSpPr>
        <p:spPr>
          <a:xfrm>
            <a:off x="9546336" y="2583761"/>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 attestation; H18 oversight</a:t>
            </a:r>
            <a:endParaRPr lang="en-US" sz="1150" dirty="0"/>
          </a:p>
        </p:txBody>
      </p:sp>
      <p:sp>
        <p:nvSpPr>
          <p:cNvPr id="24" name="table row"/>
          <p:cNvSpPr/>
          <p:nvPr/>
        </p:nvSpPr>
        <p:spPr>
          <a:xfrm>
            <a:off x="548640" y="3023380"/>
            <a:ext cx="11094415" cy="521916"/>
          </a:xfrm>
          <a:prstGeom prst="rect">
            <a:avLst/>
          </a:prstGeom>
          <a:solidFill>
            <a:srgbClr val="EEF2EF"/>
          </a:solidFill>
          <a:ln w="9525">
            <a:solidFill>
              <a:srgbClr val="EEF2EF"/>
            </a:solidFill>
            <a:prstDash val="solid"/>
          </a:ln>
        </p:spPr>
      </p:sp>
      <p:sp>
        <p:nvSpPr>
          <p:cNvPr id="25" name="step"/>
          <p:cNvSpPr/>
          <p:nvPr/>
        </p:nvSpPr>
        <p:spPr>
          <a:xfrm>
            <a:off x="630936" y="3105676"/>
            <a:ext cx="384048" cy="384048"/>
          </a:xfrm>
          <a:prstGeom prst="ellipse">
            <a:avLst/>
          </a:prstGeom>
          <a:solidFill>
            <a:schemeClr val="accent1"/>
          </a:solidFill>
          <a:ln w="12700">
            <a:solidFill>
              <a:schemeClr val="accent1"/>
            </a:solidFill>
            <a:prstDash val="solid"/>
          </a:ln>
        </p:spPr>
      </p:sp>
      <p:sp>
        <p:nvSpPr>
          <p:cNvPr id="26" name="Text 24"/>
          <p:cNvSpPr txBox="1"/>
          <p:nvPr/>
        </p:nvSpPr>
        <p:spPr>
          <a:xfrm>
            <a:off x="630936" y="3105676"/>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Text 25"/>
          <p:cNvSpPr txBox="1"/>
          <p:nvPr/>
        </p:nvSpPr>
        <p:spPr>
          <a:xfrm>
            <a:off x="1133856" y="3105676"/>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Is there a rule</a:t>
            </a:r>
            <a:endParaRPr lang="en-US" sz="1150" dirty="0"/>
          </a:p>
        </p:txBody>
      </p:sp>
      <p:sp>
        <p:nvSpPr>
          <p:cNvPr id="28" name="Text 26"/>
          <p:cNvSpPr txBox="1"/>
          <p:nvPr/>
        </p:nvSpPr>
        <p:spPr>
          <a:xfrm>
            <a:off x="2596896" y="3105676"/>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Exact rule beats wildcard; typed limits; signed lists for targets and recipients</a:t>
            </a:r>
            <a:endParaRPr lang="en-US" sz="1150" dirty="0"/>
          </a:p>
        </p:txBody>
      </p:sp>
      <p:sp>
        <p:nvSpPr>
          <p:cNvPr id="29" name="Text 27"/>
          <p:cNvSpPr txBox="1"/>
          <p:nvPr/>
        </p:nvSpPr>
        <p:spPr>
          <a:xfrm>
            <a:off x="6345936" y="3105676"/>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gate.constraint.target.in_denied_list, endpoint.target_protected</a:t>
            </a:r>
            <a:endParaRPr lang="en-US" sz="1150" dirty="0"/>
          </a:p>
        </p:txBody>
      </p:sp>
      <p:sp>
        <p:nvSpPr>
          <p:cNvPr id="30" name="Text 28"/>
          <p:cNvSpPr txBox="1"/>
          <p:nvPr/>
        </p:nvSpPr>
        <p:spPr>
          <a:xfrm>
            <a:off x="9546336" y="3105676"/>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H6 comparator; the strike narration</a:t>
            </a:r>
            <a:endParaRPr lang="en-US" sz="1150" dirty="0"/>
          </a:p>
        </p:txBody>
      </p:sp>
      <p:sp>
        <p:nvSpPr>
          <p:cNvPr id="31" name="table row"/>
          <p:cNvSpPr/>
          <p:nvPr/>
        </p:nvSpPr>
        <p:spPr>
          <a:xfrm>
            <a:off x="548640" y="3545296"/>
            <a:ext cx="11094415" cy="521916"/>
          </a:xfrm>
          <a:prstGeom prst="rect">
            <a:avLst/>
          </a:prstGeom>
          <a:solidFill>
            <a:srgbClr val="FFFFFF"/>
          </a:solidFill>
          <a:ln w="9525">
            <a:solidFill>
              <a:srgbClr val="EEF2EF"/>
            </a:solidFill>
            <a:prstDash val="solid"/>
          </a:ln>
        </p:spPr>
      </p:sp>
      <p:sp>
        <p:nvSpPr>
          <p:cNvPr id="32" name="step"/>
          <p:cNvSpPr/>
          <p:nvPr/>
        </p:nvSpPr>
        <p:spPr>
          <a:xfrm>
            <a:off x="630936" y="3627592"/>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30936" y="362759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4" name="Text 32"/>
          <p:cNvSpPr txBox="1"/>
          <p:nvPr/>
        </p:nvSpPr>
        <p:spPr>
          <a:xfrm>
            <a:off x="1133856" y="3627592"/>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Do the witnesses agree</a:t>
            </a:r>
            <a:endParaRPr lang="en-US" sz="1150" dirty="0"/>
          </a:p>
        </p:txBody>
      </p:sp>
      <p:sp>
        <p:nvSpPr>
          <p:cNvPr id="35" name="Text 33"/>
          <p:cNvSpPr txBox="1"/>
          <p:nvPr/>
        </p:nvSpPr>
        <p:spPr>
          <a:xfrm>
            <a:off x="2596896" y="3627592"/>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Observer verdict from a key in the observer set, fresh, under the risk limit; human quorum on holds</a:t>
            </a:r>
            <a:endParaRPr lang="en-US" sz="1150" dirty="0"/>
          </a:p>
        </p:txBody>
      </p:sp>
      <p:sp>
        <p:nvSpPr>
          <p:cNvPr id="36" name="Text 34"/>
          <p:cNvSpPr txBox="1"/>
          <p:nvPr/>
        </p:nvSpPr>
        <p:spPr>
          <a:xfrm>
            <a:off x="6345936" y="3627592"/>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gate.witness_missing, gate.held_for_human, release.hazard_class_not_allowed</a:t>
            </a:r>
            <a:endParaRPr lang="en-US" sz="1150" dirty="0"/>
          </a:p>
        </p:txBody>
      </p:sp>
      <p:sp>
        <p:nvSpPr>
          <p:cNvPr id="37" name="Text 35"/>
          <p:cNvSpPr txBox="1"/>
          <p:nvPr/>
        </p:nvSpPr>
        <p:spPr>
          <a:xfrm>
            <a:off x="9546336" y="3627592"/>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H17 use cases; H18 oversight; H8 override</a:t>
            </a:r>
            <a:endParaRPr lang="en-US" sz="1150" dirty="0"/>
          </a:p>
        </p:txBody>
      </p:sp>
      <p:sp>
        <p:nvSpPr>
          <p:cNvPr id="38" name="table row"/>
          <p:cNvSpPr/>
          <p:nvPr/>
        </p:nvSpPr>
        <p:spPr>
          <a:xfrm>
            <a:off x="548640" y="4067211"/>
            <a:ext cx="11094415" cy="521916"/>
          </a:xfrm>
          <a:prstGeom prst="rect">
            <a:avLst/>
          </a:prstGeom>
          <a:solidFill>
            <a:srgbClr val="EEF2EF"/>
          </a:solidFill>
          <a:ln w="9525">
            <a:solidFill>
              <a:srgbClr val="EEF2EF"/>
            </a:solidFill>
            <a:prstDash val="solid"/>
          </a:ln>
        </p:spPr>
      </p:sp>
      <p:sp>
        <p:nvSpPr>
          <p:cNvPr id="39" name="step"/>
          <p:cNvSpPr/>
          <p:nvPr/>
        </p:nvSpPr>
        <p:spPr>
          <a:xfrm>
            <a:off x="630936" y="4149507"/>
            <a:ext cx="384048" cy="384048"/>
          </a:xfrm>
          <a:prstGeom prst="ellipse">
            <a:avLst/>
          </a:prstGeom>
          <a:solidFill>
            <a:schemeClr val="accent1"/>
          </a:solidFill>
          <a:ln w="12700">
            <a:solidFill>
              <a:schemeClr val="accent1"/>
            </a:solidFill>
            <a:prstDash val="solid"/>
          </a:ln>
        </p:spPr>
      </p:sp>
      <p:sp>
        <p:nvSpPr>
          <p:cNvPr id="40" name="Text 38"/>
          <p:cNvSpPr txBox="1"/>
          <p:nvPr/>
        </p:nvSpPr>
        <p:spPr>
          <a:xfrm>
            <a:off x="630936" y="4149507"/>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5</a:t>
            </a:r>
            <a:endParaRPr lang="en-US" sz="1300" dirty="0"/>
          </a:p>
        </p:txBody>
      </p:sp>
      <p:sp>
        <p:nvSpPr>
          <p:cNvPr id="41" name="Text 39"/>
          <p:cNvSpPr txBox="1"/>
          <p:nvPr/>
        </p:nvSpPr>
        <p:spPr>
          <a:xfrm>
            <a:off x="1133856" y="4149507"/>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Is the budget intact</a:t>
            </a:r>
            <a:endParaRPr lang="en-US" sz="1150" dirty="0"/>
          </a:p>
        </p:txBody>
      </p:sp>
      <p:sp>
        <p:nvSpPr>
          <p:cNvPr id="42" name="Text 40"/>
          <p:cNvSpPr txBox="1"/>
          <p:nvPr/>
        </p:nvSpPr>
        <p:spPr>
          <a:xfrm>
            <a:off x="2596896" y="4149507"/>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Compute budget and license, session hazard budget, byte budgets, rate windows</a:t>
            </a:r>
            <a:endParaRPr lang="en-US" sz="1150" dirty="0"/>
          </a:p>
        </p:txBody>
      </p:sp>
      <p:sp>
        <p:nvSpPr>
          <p:cNvPr id="43" name="Text 41"/>
          <p:cNvSpPr txBox="1"/>
          <p:nvPr/>
        </p:nvSpPr>
        <p:spPr>
          <a:xfrm>
            <a:off x="6345936" y="4149507"/>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release.session_hazard_budget_exceeded, compute.budget_exceeded</a:t>
            </a:r>
            <a:endParaRPr lang="en-US" sz="1150" dirty="0"/>
          </a:p>
        </p:txBody>
      </p:sp>
      <p:sp>
        <p:nvSpPr>
          <p:cNvPr id="44" name="Text 42"/>
          <p:cNvSpPr txBox="1"/>
          <p:nvPr/>
        </p:nvSpPr>
        <p:spPr>
          <a:xfrm>
            <a:off x="9546336" y="4149507"/>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H13 shared budget; H18</a:t>
            </a:r>
            <a:endParaRPr lang="en-US" sz="1150" dirty="0"/>
          </a:p>
        </p:txBody>
      </p:sp>
      <p:sp>
        <p:nvSpPr>
          <p:cNvPr id="45" name="table row"/>
          <p:cNvSpPr/>
          <p:nvPr/>
        </p:nvSpPr>
        <p:spPr>
          <a:xfrm>
            <a:off x="548640" y="4589127"/>
            <a:ext cx="11094415" cy="700097"/>
          </a:xfrm>
          <a:prstGeom prst="rect">
            <a:avLst/>
          </a:prstGeom>
          <a:solidFill>
            <a:srgbClr val="FFFFFF"/>
          </a:solidFill>
          <a:ln w="9525">
            <a:solidFill>
              <a:srgbClr val="EEF2EF"/>
            </a:solidFill>
            <a:prstDash val="solid"/>
          </a:ln>
        </p:spPr>
      </p:sp>
      <p:sp>
        <p:nvSpPr>
          <p:cNvPr id="46" name="step"/>
          <p:cNvSpPr/>
          <p:nvPr/>
        </p:nvSpPr>
        <p:spPr>
          <a:xfrm>
            <a:off x="630936" y="4671423"/>
            <a:ext cx="384048" cy="384048"/>
          </a:xfrm>
          <a:prstGeom prst="ellipse">
            <a:avLst/>
          </a:prstGeom>
          <a:solidFill>
            <a:schemeClr val="accent1"/>
          </a:solidFill>
          <a:ln w="12700">
            <a:solidFill>
              <a:schemeClr val="accent1"/>
            </a:solidFill>
            <a:prstDash val="solid"/>
          </a:ln>
        </p:spPr>
      </p:sp>
      <p:sp>
        <p:nvSpPr>
          <p:cNvPr id="47" name="Text 45"/>
          <p:cNvSpPr txBox="1"/>
          <p:nvPr/>
        </p:nvSpPr>
        <p:spPr>
          <a:xfrm>
            <a:off x="630936" y="4671423"/>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6</a:t>
            </a:r>
            <a:endParaRPr lang="en-US" sz="1300" dirty="0"/>
          </a:p>
        </p:txBody>
      </p:sp>
      <p:sp>
        <p:nvSpPr>
          <p:cNvPr id="48" name="Text 46"/>
          <p:cNvSpPr txBox="1"/>
          <p:nvPr/>
        </p:nvSpPr>
        <p:spPr>
          <a:xfrm>
            <a:off x="1133856" y="4671423"/>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The ticket</a:t>
            </a:r>
            <a:endParaRPr lang="en-US" sz="1150" dirty="0"/>
          </a:p>
        </p:txBody>
      </p:sp>
      <p:sp>
        <p:nvSpPr>
          <p:cNvPr id="49" name="Text 47"/>
          <p:cNvSpPr txBox="1"/>
          <p:nvPr/>
        </p:nvSpPr>
        <p:spPr>
          <a:xfrm>
            <a:off x="2596896" y="4671423"/>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Signed over the hash of the exact fields; one use; short expiry; bound to one endpoint</a:t>
            </a:r>
            <a:endParaRPr lang="en-US" sz="1150" dirty="0"/>
          </a:p>
        </p:txBody>
      </p:sp>
      <p:sp>
        <p:nvSpPr>
          <p:cNvPr id="50" name="Text 48"/>
          <p:cNvSpPr txBox="1"/>
          <p:nvPr/>
        </p:nvSpPr>
        <p:spPr>
          <a:xfrm>
            <a:off x="6345936" y="4671423"/>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ticket.missing, ticket.replay, ticket.bad_signature, ticket.wrong_endpoint</a:t>
            </a:r>
            <a:endParaRPr lang="en-US" sz="1150" dirty="0"/>
          </a:p>
        </p:txBody>
      </p:sp>
      <p:sp>
        <p:nvSpPr>
          <p:cNvPr id="51" name="Text 49"/>
          <p:cNvSpPr txBox="1"/>
          <p:nvPr/>
        </p:nvSpPr>
        <p:spPr>
          <a:xfrm>
            <a:off x="9546336" y="4671423"/>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H17: forged, replayed and wrong-hash tickets never deliver</a:t>
            </a:r>
            <a:endParaRPr lang="en-US" sz="1150" dirty="0"/>
          </a:p>
        </p:txBody>
      </p:sp>
      <p:sp>
        <p:nvSpPr>
          <p:cNvPr id="52" name="table row"/>
          <p:cNvSpPr/>
          <p:nvPr/>
        </p:nvSpPr>
        <p:spPr>
          <a:xfrm>
            <a:off x="548640" y="5289223"/>
            <a:ext cx="11094415" cy="700097"/>
          </a:xfrm>
          <a:prstGeom prst="rect">
            <a:avLst/>
          </a:prstGeom>
          <a:solidFill>
            <a:srgbClr val="EEF2EF"/>
          </a:solidFill>
          <a:ln w="9525">
            <a:solidFill>
              <a:srgbClr val="EEF2EF"/>
            </a:solidFill>
            <a:prstDash val="solid"/>
          </a:ln>
        </p:spPr>
      </p:sp>
      <p:sp>
        <p:nvSpPr>
          <p:cNvPr id="53" name="step"/>
          <p:cNvSpPr/>
          <p:nvPr/>
        </p:nvSpPr>
        <p:spPr>
          <a:xfrm>
            <a:off x="630936" y="5371519"/>
            <a:ext cx="384048" cy="384048"/>
          </a:xfrm>
          <a:prstGeom prst="ellipse">
            <a:avLst/>
          </a:prstGeom>
          <a:solidFill>
            <a:schemeClr val="accent1"/>
          </a:solidFill>
          <a:ln w="12700">
            <a:solidFill>
              <a:schemeClr val="accent1"/>
            </a:solidFill>
            <a:prstDash val="solid"/>
          </a:ln>
        </p:spPr>
      </p:sp>
      <p:sp>
        <p:nvSpPr>
          <p:cNvPr id="54" name="Text 52"/>
          <p:cNvSpPr txBox="1"/>
          <p:nvPr/>
        </p:nvSpPr>
        <p:spPr>
          <a:xfrm>
            <a:off x="630936" y="5371519"/>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7</a:t>
            </a:r>
            <a:endParaRPr lang="en-US" sz="1300" dirty="0"/>
          </a:p>
        </p:txBody>
      </p:sp>
      <p:sp>
        <p:nvSpPr>
          <p:cNvPr id="55" name="Text 53"/>
          <p:cNvSpPr txBox="1"/>
          <p:nvPr/>
        </p:nvSpPr>
        <p:spPr>
          <a:xfrm>
            <a:off x="1133856" y="5371519"/>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The crossings</a:t>
            </a:r>
            <a:endParaRPr lang="en-US" sz="1150" dirty="0"/>
          </a:p>
        </p:txBody>
      </p:sp>
      <p:sp>
        <p:nvSpPr>
          <p:cNvPr id="56" name="Text 54"/>
          <p:cNvSpPr txBox="1"/>
          <p:nvPr/>
        </p:nvSpPr>
        <p:spPr>
          <a:xfrm>
            <a:off x="2596896" y="5371519"/>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Switch ports open only for roster peers; the egress holds responses until released; bytes cross-checked against what was presented</a:t>
            </a:r>
            <a:endParaRPr lang="en-US" sz="1150" dirty="0"/>
          </a:p>
        </p:txBody>
      </p:sp>
      <p:sp>
        <p:nvSpPr>
          <p:cNvPr id="57" name="Text 55"/>
          <p:cNvSpPr txBox="1"/>
          <p:nvPr/>
        </p:nvSpPr>
        <p:spPr>
          <a:xfrm>
            <a:off x="6345936" y="5371519"/>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ep.no_capability, gate.output_unpresented</a:t>
            </a:r>
            <a:endParaRPr lang="en-US" sz="1150" dirty="0"/>
          </a:p>
        </p:txBody>
      </p:sp>
      <p:sp>
        <p:nvSpPr>
          <p:cNvPr id="58" name="Text 56"/>
          <p:cNvSpPr txBox="1"/>
          <p:nvPr/>
        </p:nvSpPr>
        <p:spPr>
          <a:xfrm>
            <a:off x="9546336" y="5371519"/>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H2 enforcement points; the plot narration</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it stands: drawings tested, no silicon yet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13</a:t>
            </a:r>
            <a:endParaRPr lang="en-US" sz="1100" dirty="0"/>
          </a:p>
        </p:txBody>
      </p:sp>
      <p:sp>
        <p:nvSpPr>
          <p:cNvPr id="5" name="card"/>
          <p:cNvSpPr/>
          <p:nvPr/>
        </p:nvSpPr>
        <p:spPr>
          <a:xfrm>
            <a:off x="548640" y="1417320"/>
            <a:ext cx="3515258" cy="1783080"/>
          </a:xfrm>
          <a:prstGeom prst="roundRect">
            <a:avLst>
              <a:gd name="adj" fmla="val 4103"/>
            </a:avLst>
          </a:prstGeom>
          <a:solidFill>
            <a:schemeClr val="bg2"/>
          </a:solidFill>
          <a:ln w="12700">
            <a:solidFill>
              <a:schemeClr val="bg2"/>
            </a:solidFill>
            <a:prstDash val="solid"/>
          </a:ln>
        </p:spPr>
      </p:sp>
      <p:sp>
        <p:nvSpPr>
          <p:cNvPr id="6" name="Text 4"/>
          <p:cNvSpPr txBox="1"/>
          <p:nvPr/>
        </p:nvSpPr>
        <p:spPr>
          <a:xfrm>
            <a:off x="822960"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200</a:t>
            </a:r>
            <a:endParaRPr lang="en-US" sz="4600" dirty="0"/>
          </a:p>
        </p:txBody>
      </p:sp>
      <p:sp>
        <p:nvSpPr>
          <p:cNvPr id="7" name="Text 5"/>
          <p:cNvSpPr txBox="1"/>
          <p:nvPr/>
        </p:nvSpPr>
        <p:spPr>
          <a:xfrm>
            <a:off x="822960"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hypothesis tests pass in the functional model of the governor and a simulated 72-GPU rack (H0 to H18)</a:t>
            </a:r>
            <a:endParaRPr lang="en-US" sz="1250" dirty="0"/>
          </a:p>
        </p:txBody>
      </p:sp>
      <p:sp>
        <p:nvSpPr>
          <p:cNvPr id="8" name="card"/>
          <p:cNvSpPr/>
          <p:nvPr/>
        </p:nvSpPr>
        <p:spPr>
          <a:xfrm>
            <a:off x="4338218" y="1417320"/>
            <a:ext cx="3515258" cy="1783080"/>
          </a:xfrm>
          <a:prstGeom prst="roundRect">
            <a:avLst>
              <a:gd name="adj" fmla="val 4103"/>
            </a:avLst>
          </a:prstGeom>
          <a:solidFill>
            <a:schemeClr val="bg2"/>
          </a:solidFill>
          <a:ln w="12700">
            <a:solidFill>
              <a:schemeClr val="bg2"/>
            </a:solidFill>
            <a:prstDash val="solid"/>
          </a:ln>
        </p:spPr>
      </p:sp>
      <p:sp>
        <p:nvSpPr>
          <p:cNvPr id="9" name="Text 7"/>
          <p:cNvSpPr txBox="1"/>
          <p:nvPr/>
        </p:nvSpPr>
        <p:spPr>
          <a:xfrm>
            <a:off x="4612538"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a:t>
            </a:r>
            <a:endParaRPr lang="en-US" sz="4600" dirty="0"/>
          </a:p>
        </p:txBody>
      </p:sp>
      <p:sp>
        <p:nvSpPr>
          <p:cNvPr id="10" name="Text 8"/>
          <p:cNvSpPr txBox="1"/>
          <p:nvPr/>
        </p:nvSpPr>
        <p:spPr>
          <a:xfrm>
            <a:off x="4612538"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simulation tests pass on the hard-core RTL blocks, with a LibreLane flow to the open 130 nm process</a:t>
            </a:r>
            <a:endParaRPr lang="en-US" sz="1250" dirty="0"/>
          </a:p>
        </p:txBody>
      </p:sp>
      <p:sp>
        <p:nvSpPr>
          <p:cNvPr id="11" name="card"/>
          <p:cNvSpPr/>
          <p:nvPr/>
        </p:nvSpPr>
        <p:spPr>
          <a:xfrm>
            <a:off x="8127797" y="1417320"/>
            <a:ext cx="3515258"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8402117"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317 µs</a:t>
            </a:r>
            <a:endParaRPr lang="en-US" sz="4600" dirty="0"/>
          </a:p>
        </p:txBody>
      </p:sp>
      <p:sp>
        <p:nvSpPr>
          <p:cNvPr id="13" name="Text 11"/>
          <p:cNvSpPr txBox="1"/>
          <p:nvPr/>
        </p:nvSpPr>
        <p:spPr>
          <a:xfrm>
            <a:off x="8402117"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worst case for the halt loop to reach the last of 72 governors, against a 1 ms bound, across 39 simulated configurations</a:t>
            </a:r>
            <a:endParaRPr lang="en-US" sz="1250" dirty="0"/>
          </a:p>
        </p:txBody>
      </p:sp>
      <p:sp>
        <p:nvSpPr>
          <p:cNvPr id="14" name="card"/>
          <p:cNvSpPr/>
          <p:nvPr/>
        </p:nvSpPr>
        <p:spPr>
          <a:xfrm>
            <a:off x="548640" y="3429000"/>
            <a:ext cx="3515258" cy="1783080"/>
          </a:xfrm>
          <a:prstGeom prst="roundRect">
            <a:avLst>
              <a:gd name="adj" fmla="val 4103"/>
            </a:avLst>
          </a:prstGeom>
          <a:solidFill>
            <a:schemeClr val="bg2"/>
          </a:solidFill>
          <a:ln w="12700">
            <a:solidFill>
              <a:schemeClr val="bg2"/>
            </a:solidFill>
            <a:prstDash val="solid"/>
          </a:ln>
        </p:spPr>
      </p:sp>
      <p:sp>
        <p:nvSpPr>
          <p:cNvPr id="15" name="Text 13"/>
          <p:cNvSpPr txBox="1"/>
          <p:nvPr/>
        </p:nvSpPr>
        <p:spPr>
          <a:xfrm>
            <a:off x="822960"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 mm²</a:t>
            </a:r>
            <a:endParaRPr lang="en-US" sz="4600" dirty="0"/>
          </a:p>
        </p:txBody>
      </p:sp>
      <p:sp>
        <p:nvSpPr>
          <p:cNvPr id="16" name="Text 14"/>
          <p:cNvSpPr txBox="1"/>
          <p:nvPr/>
        </p:nvSpPr>
        <p:spPr>
          <a:xfrm>
            <a:off x="822960"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of core logic for the governor as configured, 1.4 by 1.4 mm, inside a 10 mm² shuttle harness</a:t>
            </a:r>
            <a:endParaRPr lang="en-US" sz="1250" dirty="0"/>
          </a:p>
        </p:txBody>
      </p:sp>
      <p:sp>
        <p:nvSpPr>
          <p:cNvPr id="17" name="card"/>
          <p:cNvSpPr/>
          <p:nvPr/>
        </p:nvSpPr>
        <p:spPr>
          <a:xfrm>
            <a:off x="4338218" y="3429000"/>
            <a:ext cx="3515258"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4612538"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66</a:t>
            </a:r>
            <a:endParaRPr lang="en-US" sz="4600" dirty="0"/>
          </a:p>
        </p:txBody>
      </p:sp>
      <p:sp>
        <p:nvSpPr>
          <p:cNvPr id="19" name="Text 17"/>
          <p:cNvSpPr txBox="1"/>
          <p:nvPr/>
        </p:nvSpPr>
        <p:spPr>
          <a:xfrm>
            <a:off x="4612538"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attacks blocked with the predicted reason code in the software reference stack, with all 10 legitimate baselines passing</a:t>
            </a:r>
            <a:endParaRPr lang="en-US" sz="1250" dirty="0"/>
          </a:p>
        </p:txBody>
      </p:sp>
      <p:sp>
        <p:nvSpPr>
          <p:cNvPr id="20" name="card"/>
          <p:cNvSpPr/>
          <p:nvPr/>
        </p:nvSpPr>
        <p:spPr>
          <a:xfrm>
            <a:off x="8127797" y="3429000"/>
            <a:ext cx="3515258" cy="1783080"/>
          </a:xfrm>
          <a:prstGeom prst="roundRect">
            <a:avLst>
              <a:gd name="adj" fmla="val 4103"/>
            </a:avLst>
          </a:prstGeom>
          <a:solidFill>
            <a:schemeClr val="bg2"/>
          </a:solidFill>
          <a:ln w="12700">
            <a:solidFill>
              <a:schemeClr val="bg2"/>
            </a:solidFill>
            <a:prstDash val="solid"/>
          </a:ln>
        </p:spPr>
      </p:sp>
      <p:sp>
        <p:nvSpPr>
          <p:cNvPr id="21" name="Text 19"/>
          <p:cNvSpPr txBox="1"/>
          <p:nvPr/>
        </p:nvSpPr>
        <p:spPr>
          <a:xfrm>
            <a:off x="8402117"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0</a:t>
            </a:r>
            <a:endParaRPr lang="en-US" sz="4600" dirty="0"/>
          </a:p>
        </p:txBody>
      </p:sp>
      <p:sp>
        <p:nvSpPr>
          <p:cNvPr id="22" name="Text 20"/>
          <p:cNvSpPr txBox="1"/>
          <p:nvPr/>
        </p:nvSpPr>
        <p:spPr>
          <a:xfrm>
            <a:off x="8402117"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changes needed in the GPU, in CUDA or on the baseboard at the rack tier</a:t>
            </a:r>
            <a:endParaRPr lang="en-US" sz="1250" dirty="0"/>
          </a:p>
        </p:txBody>
      </p:sp>
      <p:sp>
        <p:nvSpPr>
          <p:cNvPr id="23"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24" name="Text 22"/>
          <p:cNvSpPr txBox="1"/>
          <p:nvPr/>
        </p:nvSpPr>
        <p:spPr>
          <a:xfrm>
            <a:off x="822960" y="5486400"/>
            <a:ext cx="155448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3</a:t>
            </a:r>
            <a:endParaRPr lang="en-US" sz="1000" dirty="0"/>
          </a:p>
        </p:txBody>
      </p:sp>
      <p:sp>
        <p:nvSpPr>
          <p:cNvPr id="25" name="Text 23"/>
          <p:cNvSpPr txBox="1"/>
          <p:nvPr/>
        </p:nvSpPr>
        <p:spPr>
          <a:xfrm>
            <a:off x="2514600" y="5486400"/>
            <a:ext cx="88541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Everything here is model, RTL simulation and circuit simulation. The two numbers that decide adoption, the real overhead and the false-halt rate, are not measured on hardware yet.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challenges, stated plainly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14</a:t>
            </a:r>
            <a:endParaRPr lang="en-US" sz="1100" dirty="0"/>
          </a:p>
        </p:txBody>
      </p:sp>
      <p:sp>
        <p:nvSpPr>
          <p:cNvPr id="5"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6" name="Text 4"/>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model</a:t>
            </a:r>
            <a:endParaRPr lang="en-US" sz="1400" dirty="0"/>
          </a:p>
        </p:txBody>
      </p:sp>
      <p:sp>
        <p:nvSpPr>
          <p:cNvPr id="7" name="Text 5"/>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 authority needed</a:t>
            </a:r>
            <a:endParaRPr lang="en-US" sz="1100" dirty="0"/>
          </a:p>
        </p:txBody>
      </p:sp>
      <p:sp>
        <p:nvSpPr>
          <p:cNvPr id="8" name="arrow"/>
          <p:cNvSpPr/>
          <p:nvPr/>
        </p:nvSpPr>
        <p:spPr>
          <a:xfrm>
            <a:off x="2493203" y="1897380"/>
            <a:ext cx="301752" cy="0"/>
          </a:xfrm>
          <a:prstGeom prst="line">
            <a:avLst/>
          </a:prstGeom>
          <a:noFill/>
          <a:ln w="25400">
            <a:solidFill>
              <a:srgbClr val="2F5D62"/>
            </a:solidFill>
            <a:prstDash val="solid"/>
            <a:tailEnd type="triangle"/>
          </a:ln>
        </p:spPr>
      </p:sp>
      <p:sp>
        <p:nvSpPr>
          <p:cNvPr id="9"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runtime</a:t>
            </a:r>
            <a:endParaRPr lang="en-US" sz="1400" dirty="0"/>
          </a:p>
        </p:txBody>
      </p:sp>
      <p:sp>
        <p:nvSpPr>
          <p:cNvPr id="11" name="Text 9"/>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asks for a ticket</a:t>
            </a:r>
            <a:endParaRPr lang="en-US" sz="1100" dirty="0"/>
          </a:p>
        </p:txBody>
      </p:sp>
      <p:sp>
        <p:nvSpPr>
          <p:cNvPr id="12" name="arrow"/>
          <p:cNvSpPr/>
          <p:nvPr/>
        </p:nvSpPr>
        <p:spPr>
          <a:xfrm>
            <a:off x="4794382" y="1897380"/>
            <a:ext cx="301752" cy="0"/>
          </a:xfrm>
          <a:prstGeom prst="line">
            <a:avLst/>
          </a:prstGeom>
          <a:noFill/>
          <a:ln w="25400">
            <a:solidFill>
              <a:srgbClr val="2F5D62"/>
            </a:solidFill>
            <a:prstDash val="solid"/>
            <a:tailEnd type="triangle"/>
          </a:ln>
        </p:spPr>
      </p:sp>
      <p:sp>
        <p:nvSpPr>
          <p:cNvPr id="13"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4" name="Text 12"/>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governor</a:t>
            </a:r>
            <a:endParaRPr lang="en-US" sz="1400" dirty="0"/>
          </a:p>
        </p:txBody>
      </p:sp>
      <p:sp>
        <p:nvSpPr>
          <p:cNvPr id="15" name="Text 13"/>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full authority: signs or refuses</a:t>
            </a:r>
            <a:endParaRPr lang="en-US" sz="1100" dirty="0"/>
          </a:p>
        </p:txBody>
      </p:sp>
      <p:sp>
        <p:nvSpPr>
          <p:cNvPr id="16" name="arrow"/>
          <p:cNvSpPr/>
          <p:nvPr/>
        </p:nvSpPr>
        <p:spPr>
          <a:xfrm>
            <a:off x="7095561" y="1897380"/>
            <a:ext cx="301752" cy="0"/>
          </a:xfrm>
          <a:prstGeom prst="line">
            <a:avLst/>
          </a:prstGeom>
          <a:noFill/>
          <a:ln w="25400">
            <a:solidFill>
              <a:srgbClr val="2F5D62"/>
            </a:solidFill>
            <a:prstDash val="solid"/>
            <a:tailEnd type="triangle"/>
          </a:ln>
        </p:spPr>
      </p:sp>
      <p:sp>
        <p:nvSpPr>
          <p:cNvPr id="17"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8" name="Text 16"/>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network</a:t>
            </a:r>
            <a:endParaRPr lang="en-US" sz="1400" dirty="0"/>
          </a:p>
        </p:txBody>
      </p:sp>
      <p:sp>
        <p:nvSpPr>
          <p:cNvPr id="19" name="Text 17"/>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partial: the door, not the conversation</a:t>
            </a:r>
            <a:endParaRPr lang="en-US" sz="1100" dirty="0"/>
          </a:p>
        </p:txBody>
      </p:sp>
      <p:sp>
        <p:nvSpPr>
          <p:cNvPr id="20" name="arrow"/>
          <p:cNvSpPr/>
          <p:nvPr/>
        </p:nvSpPr>
        <p:spPr>
          <a:xfrm>
            <a:off x="9396740" y="1897380"/>
            <a:ext cx="301752" cy="0"/>
          </a:xfrm>
          <a:prstGeom prst="line">
            <a:avLst/>
          </a:prstGeom>
          <a:noFill/>
          <a:ln w="25400">
            <a:solidFill>
              <a:srgbClr val="2F5D62"/>
            </a:solidFill>
            <a:prstDash val="solid"/>
            <a:tailEnd type="triangle"/>
          </a:ln>
        </p:spPr>
      </p:sp>
      <p:sp>
        <p:nvSpPr>
          <p:cNvPr id="21"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2" name="Text 20"/>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bank</a:t>
            </a:r>
            <a:endParaRPr lang="en-US" sz="1400" dirty="0"/>
          </a:p>
        </p:txBody>
      </p:sp>
      <p:sp>
        <p:nvSpPr>
          <p:cNvPr id="23" name="Text 21"/>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none, unless it checks the stamp</a:t>
            </a:r>
            <a:endParaRPr lang="en-US" sz="1100" dirty="0"/>
          </a:p>
        </p:txBody>
      </p:sp>
      <p:sp>
        <p:nvSpPr>
          <p:cNvPr id="24" name="Text 22"/>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Reach: the governor's authority ends at the last device that verifies its signature. A payment system is two or three hops away and has never heard of it.</a:t>
            </a:r>
            <a:endParaRPr lang="en-US" sz="1250" dirty="0"/>
          </a:p>
        </p:txBody>
      </p:sp>
      <p:sp>
        <p:nvSpPr>
          <p:cNvPr id="25" name="icon circle"/>
          <p:cNvSpPr/>
          <p:nvPr/>
        </p:nvSpPr>
        <p:spPr>
          <a:xfrm>
            <a:off x="548640" y="3017520"/>
            <a:ext cx="512064" cy="512064"/>
          </a:xfrm>
          <a:prstGeom prst="ellipse">
            <a:avLst/>
          </a:prstGeom>
          <a:solidFill>
            <a:schemeClr val="accent1"/>
          </a:solidFill>
          <a:ln w="12700">
            <a:solidFill>
              <a:schemeClr val="accent1"/>
            </a:solidFill>
            <a:prstDash val="solid"/>
          </a:ln>
        </p:spPr>
      </p:sp>
      <p:pic>
        <p:nvPicPr>
          <p:cNvPr id="26" name="FiEyeOff" descr="preencoded.png">    </p:cNvPr>
          <p:cNvPicPr>
            <a:picLocks noChangeAspect="1"/>
          </p:cNvPicPr>
          <p:nvPr/>
        </p:nvPicPr>
        <p:blipFill>
          <a:blip r:embed="rId1"/>
          <a:stretch>
            <a:fillRect/>
          </a:stretch>
        </p:blipFill>
        <p:spPr>
          <a:xfrm>
            <a:off x="676656" y="3145536"/>
            <a:ext cx="256032" cy="256032"/>
          </a:xfrm>
          <a:prstGeom prst="rect">
            <a:avLst/>
          </a:prstGeom>
        </p:spPr>
      </p:pic>
      <p:sp>
        <p:nvSpPr>
          <p:cNvPr id="27" name="Text 24"/>
          <p:cNvSpPr txBox="1"/>
          <p:nvPr/>
        </p:nvSpPr>
        <p:spPr>
          <a:xfrm>
            <a:off x="1207008"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Meaning</a:t>
            </a:r>
            <a:endParaRPr lang="en-US" sz="1450" dirty="0"/>
          </a:p>
        </p:txBody>
      </p:sp>
      <p:sp>
        <p:nvSpPr>
          <p:cNvPr id="28" name="Text 25"/>
          <p:cNvSpPr txBox="1"/>
          <p:nvPr/>
        </p:nvSpPr>
        <p:spPr>
          <a:xfrm>
            <a:off x="1207008"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chip guarantees an observer is always invoked. It cannot make the observer right about a disguised request.</a:t>
            </a:r>
            <a:endParaRPr lang="en-US" sz="1150" dirty="0"/>
          </a:p>
        </p:txBody>
      </p:sp>
      <p:sp>
        <p:nvSpPr>
          <p:cNvPr id="29" name="icon circle"/>
          <p:cNvSpPr/>
          <p:nvPr/>
        </p:nvSpPr>
        <p:spPr>
          <a:xfrm>
            <a:off x="4368698" y="3017520"/>
            <a:ext cx="512064" cy="512064"/>
          </a:xfrm>
          <a:prstGeom prst="ellipse">
            <a:avLst/>
          </a:prstGeom>
          <a:solidFill>
            <a:schemeClr val="accent1"/>
          </a:solidFill>
          <a:ln w="12700">
            <a:solidFill>
              <a:schemeClr val="accent1"/>
            </a:solidFill>
            <a:prstDash val="solid"/>
          </a:ln>
        </p:spPr>
      </p:sp>
      <p:pic>
        <p:nvPicPr>
          <p:cNvPr id="30" name="FiAlertTriangle" descr="preencoded.png">    </p:cNvPr>
          <p:cNvPicPr>
            <a:picLocks noChangeAspect="1"/>
          </p:cNvPicPr>
          <p:nvPr/>
        </p:nvPicPr>
        <p:blipFill>
          <a:blip r:embed="rId2"/>
          <a:stretch>
            <a:fillRect/>
          </a:stretch>
        </p:blipFill>
        <p:spPr>
          <a:xfrm>
            <a:off x="4496714" y="3145536"/>
            <a:ext cx="256032" cy="256032"/>
          </a:xfrm>
          <a:prstGeom prst="rect">
            <a:avLst/>
          </a:prstGeom>
        </p:spPr>
      </p:pic>
      <p:sp>
        <p:nvSpPr>
          <p:cNvPr id="31" name="Text 27"/>
          <p:cNvSpPr txBox="1"/>
          <p:nvPr/>
        </p:nvSpPr>
        <p:spPr>
          <a:xfrm>
            <a:off x="5027066"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False halts</a:t>
            </a:r>
            <a:endParaRPr lang="en-US" sz="1450" dirty="0"/>
          </a:p>
        </p:txBody>
      </p:sp>
      <p:sp>
        <p:nvSpPr>
          <p:cNvPr id="32" name="Text 28"/>
          <p:cNvSpPr txBox="1"/>
          <p:nvPr/>
        </p:nvSpPr>
        <p:spPr>
          <a:xfrm>
            <a:off x="5027066"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first support ticket will read: the governor halted my rack. The rate is not measured yet.</a:t>
            </a:r>
            <a:endParaRPr lang="en-US" sz="1150" dirty="0"/>
          </a:p>
        </p:txBody>
      </p:sp>
      <p:sp>
        <p:nvSpPr>
          <p:cNvPr id="33" name="icon circle"/>
          <p:cNvSpPr/>
          <p:nvPr/>
        </p:nvSpPr>
        <p:spPr>
          <a:xfrm>
            <a:off x="8188757" y="3017520"/>
            <a:ext cx="512064" cy="512064"/>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3"/>
          <a:stretch>
            <a:fillRect/>
          </a:stretch>
        </p:blipFill>
        <p:spPr>
          <a:xfrm>
            <a:off x="8316773" y="3145536"/>
            <a:ext cx="256032" cy="256032"/>
          </a:xfrm>
          <a:prstGeom prst="rect">
            <a:avLst/>
          </a:prstGeom>
        </p:spPr>
      </p:pic>
      <p:sp>
        <p:nvSpPr>
          <p:cNvPr id="35" name="Text 30"/>
          <p:cNvSpPr txBox="1"/>
          <p:nvPr/>
        </p:nvSpPr>
        <p:spPr>
          <a:xfrm>
            <a:off x="8847125"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The levers</a:t>
            </a:r>
            <a:endParaRPr lang="en-US" sz="1450" dirty="0"/>
          </a:p>
        </p:txBody>
      </p:sp>
      <p:sp>
        <p:nvSpPr>
          <p:cNvPr id="36" name="Text 31"/>
          <p:cNvSpPr txBox="1"/>
          <p:nvPr/>
        </p:nvSpPr>
        <p:spPr>
          <a:xfrm>
            <a:off x="8847125"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 today's HGX board, reset is grouped and the per-module signals sit in a design guide under NDA.</a:t>
            </a:r>
            <a:endParaRPr lang="en-US" sz="1150" dirty="0"/>
          </a:p>
        </p:txBody>
      </p:sp>
      <p:sp>
        <p:nvSpPr>
          <p:cNvPr id="37" name="icon circle"/>
          <p:cNvSpPr/>
          <p:nvPr/>
        </p:nvSpPr>
        <p:spPr>
          <a:xfrm>
            <a:off x="548640" y="4251960"/>
            <a:ext cx="512064" cy="512064"/>
          </a:xfrm>
          <a:prstGeom prst="ellipse">
            <a:avLst/>
          </a:prstGeom>
          <a:solidFill>
            <a:schemeClr val="accent1"/>
          </a:solidFill>
          <a:ln w="12700">
            <a:solidFill>
              <a:schemeClr val="accent1"/>
            </a:solidFill>
            <a:prstDash val="solid"/>
          </a:ln>
        </p:spPr>
      </p:sp>
      <p:pic>
        <p:nvPicPr>
          <p:cNvPr id="38" name="FiClock" descr="preencoded.png">    </p:cNvPr>
          <p:cNvPicPr>
            <a:picLocks noChangeAspect="1"/>
          </p:cNvPicPr>
          <p:nvPr/>
        </p:nvPicPr>
        <p:blipFill>
          <a:blip r:embed="rId4"/>
          <a:stretch>
            <a:fillRect/>
          </a:stretch>
        </p:blipFill>
        <p:spPr>
          <a:xfrm>
            <a:off x="676656" y="4379976"/>
            <a:ext cx="256032" cy="256032"/>
          </a:xfrm>
          <a:prstGeom prst="rect">
            <a:avLst/>
          </a:prstGeom>
        </p:spPr>
      </p:pic>
      <p:sp>
        <p:nvSpPr>
          <p:cNvPr id="39" name="Text 33"/>
          <p:cNvSpPr txBox="1"/>
          <p:nvPr/>
        </p:nvSpPr>
        <p:spPr>
          <a:xfrm>
            <a:off x="1207008"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Cost</a:t>
            </a:r>
            <a:endParaRPr lang="en-US" sz="1450" dirty="0"/>
          </a:p>
        </p:txBody>
      </p:sp>
      <p:sp>
        <p:nvSpPr>
          <p:cNvPr id="40" name="Text 34"/>
          <p:cNvSpPr txBox="1"/>
          <p:nvPr/>
        </p:nvSpPr>
        <p:spPr>
          <a:xfrm>
            <a:off x="1207008"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One P-384 signature costs 17 ms on the OTBN engine. Batching keeps it under one percent in the model, not yet in silicon.</a:t>
            </a:r>
            <a:endParaRPr lang="en-US" sz="1150" dirty="0"/>
          </a:p>
        </p:txBody>
      </p:sp>
      <p:sp>
        <p:nvSpPr>
          <p:cNvPr id="41" name="icon circle"/>
          <p:cNvSpPr/>
          <p:nvPr/>
        </p:nvSpPr>
        <p:spPr>
          <a:xfrm>
            <a:off x="4368698" y="4251960"/>
            <a:ext cx="512064" cy="512064"/>
          </a:xfrm>
          <a:prstGeom prst="ellipse">
            <a:avLst/>
          </a:prstGeom>
          <a:solidFill>
            <a:schemeClr val="accent1"/>
          </a:solidFill>
          <a:ln w="12700">
            <a:solidFill>
              <a:schemeClr val="accent1"/>
            </a:solidFill>
            <a:prstDash val="solid"/>
          </a:ln>
        </p:spPr>
      </p:sp>
      <p:pic>
        <p:nvPicPr>
          <p:cNvPr id="42" name="FiKey" descr="preencoded.png">    </p:cNvPr>
          <p:cNvPicPr>
            <a:picLocks noChangeAspect="1"/>
          </p:cNvPicPr>
          <p:nvPr/>
        </p:nvPicPr>
        <p:blipFill>
          <a:blip r:embed="rId5"/>
          <a:stretch>
            <a:fillRect/>
          </a:stretch>
        </p:blipFill>
        <p:spPr>
          <a:xfrm>
            <a:off x="4496714" y="4379976"/>
            <a:ext cx="256032" cy="256032"/>
          </a:xfrm>
          <a:prstGeom prst="rect">
            <a:avLst/>
          </a:prstGeom>
        </p:spPr>
      </p:pic>
      <p:sp>
        <p:nvSpPr>
          <p:cNvPr id="43" name="Text 36"/>
          <p:cNvSpPr txBox="1"/>
          <p:nvPr/>
        </p:nvSpPr>
        <p:spPr>
          <a:xfrm>
            <a:off x="5027066"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Governance</a:t>
            </a:r>
            <a:endParaRPr lang="en-US" sz="1450" dirty="0"/>
          </a:p>
        </p:txBody>
      </p:sp>
      <p:sp>
        <p:nvSpPr>
          <p:cNvPr id="44" name="Text 37"/>
          <p:cNvSpPr txBox="1"/>
          <p:nvPr/>
        </p:nvSpPr>
        <p:spPr>
          <a:xfrm>
            <a:off x="5027066"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Who holds the quorum keys, whose policy governs a shared rack, and the integrated tier needs NVIDIA.</a:t>
            </a:r>
            <a:endParaRPr lang="en-US" sz="1150" dirty="0"/>
          </a:p>
        </p:txBody>
      </p:sp>
      <p:sp>
        <p:nvSpPr>
          <p:cNvPr id="45" name="icon circle"/>
          <p:cNvSpPr/>
          <p:nvPr/>
        </p:nvSpPr>
        <p:spPr>
          <a:xfrm>
            <a:off x="8188757" y="4251960"/>
            <a:ext cx="512064" cy="512064"/>
          </a:xfrm>
          <a:prstGeom prst="ellipse">
            <a:avLst/>
          </a:prstGeom>
          <a:solidFill>
            <a:schemeClr val="accent1"/>
          </a:solidFill>
          <a:ln w="12700">
            <a:solidFill>
              <a:schemeClr val="accent1"/>
            </a:solidFill>
            <a:prstDash val="solid"/>
          </a:ln>
        </p:spPr>
      </p:sp>
      <p:pic>
        <p:nvPicPr>
          <p:cNvPr id="46" name="FiLink" descr="preencoded.png">    </p:cNvPr>
          <p:cNvPicPr>
            <a:picLocks noChangeAspect="1"/>
          </p:cNvPicPr>
          <p:nvPr/>
        </p:nvPicPr>
        <p:blipFill>
          <a:blip r:embed="rId6"/>
          <a:stretch>
            <a:fillRect/>
          </a:stretch>
        </p:blipFill>
        <p:spPr>
          <a:xfrm>
            <a:off x="8316773" y="4379976"/>
            <a:ext cx="256032" cy="256032"/>
          </a:xfrm>
          <a:prstGeom prst="rect">
            <a:avLst/>
          </a:prstGeom>
        </p:spPr>
      </p:pic>
      <p:sp>
        <p:nvSpPr>
          <p:cNvPr id="47" name="Text 39"/>
          <p:cNvSpPr txBox="1"/>
          <p:nvPr/>
        </p:nvSpPr>
        <p:spPr>
          <a:xfrm>
            <a:off x="8847125"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Adoption</a:t>
            </a:r>
            <a:endParaRPr lang="en-US" sz="1450" dirty="0"/>
          </a:p>
        </p:txBody>
      </p:sp>
      <p:sp>
        <p:nvSpPr>
          <p:cNvPr id="48" name="Text 40"/>
          <p:cNvSpPr txBox="1"/>
          <p:nvPr/>
        </p:nvSpPr>
        <p:spPr>
          <a:xfrm>
            <a:off x="8847125"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chip wired to nothing that acts is a logger. The first device maker to check a stamp decides this.</a:t>
            </a:r>
            <a:endParaRPr lang="en-US" sz="1150" dirty="0"/>
          </a:p>
        </p:txBody>
      </p:sp>
      <p:sp>
        <p:nvSpPr>
          <p:cNvPr id="49" name="analogy"/>
          <p:cNvSpPr/>
          <p:nvPr/>
        </p:nvSpPr>
        <p:spPr>
          <a:xfrm>
            <a:off x="548640" y="5413248"/>
            <a:ext cx="11094415" cy="777240"/>
          </a:xfrm>
          <a:prstGeom prst="roundRect">
            <a:avLst>
              <a:gd name="adj" fmla="val 9412"/>
            </a:avLst>
          </a:prstGeom>
          <a:solidFill>
            <a:schemeClr val="tx1"/>
          </a:solidFill>
          <a:ln w="12700">
            <a:solidFill>
              <a:schemeClr val="tx1"/>
            </a:solidFill>
            <a:prstDash val="solid"/>
          </a:ln>
        </p:spPr>
      </p:sp>
      <p:sp>
        <p:nvSpPr>
          <p:cNvPr id="50" name="Text 42"/>
          <p:cNvSpPr txBox="1"/>
          <p:nvPr/>
        </p:nvSpPr>
        <p:spPr>
          <a:xfrm>
            <a:off x="822960" y="5413248"/>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5</a:t>
            </a:r>
            <a:endParaRPr lang="en-US" sz="1000" dirty="0"/>
          </a:p>
        </p:txBody>
      </p:sp>
      <p:sp>
        <p:nvSpPr>
          <p:cNvPr id="51" name="Text 43"/>
          <p:cNvSpPr txBox="1"/>
          <p:nvPr/>
        </p:nvSpPr>
        <p:spPr>
          <a:xfrm>
            <a:off x="2514600" y="5413248"/>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perimeter firewall decides whether the packet leaves; it does not decide what the server on the far side does with it. The answer is to move the credential behind a ticket-checking adapter, not to reach through the bank.</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Challenges, technically: mechanism, status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15</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35000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Challenge</a:t>
            </a:r>
            <a:endParaRPr lang="en-US" sz="1100" dirty="0"/>
          </a:p>
        </p:txBody>
      </p:sp>
      <p:sp>
        <p:nvSpPr>
          <p:cNvPr id="7" name="Text 5"/>
          <p:cNvSpPr txBox="1"/>
          <p:nvPr/>
        </p:nvSpPr>
        <p:spPr>
          <a:xfrm>
            <a:off x="3145536" y="1417320"/>
            <a:ext cx="495604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the design does</a:t>
            </a:r>
            <a:endParaRPr lang="en-US" sz="1100" dirty="0"/>
          </a:p>
        </p:txBody>
      </p:sp>
      <p:sp>
        <p:nvSpPr>
          <p:cNvPr id="8" name="Text 6"/>
          <p:cNvSpPr txBox="1"/>
          <p:nvPr/>
        </p:nvSpPr>
        <p:spPr>
          <a:xfrm>
            <a:off x="8266176" y="1417320"/>
            <a:ext cx="3294583"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Status</a:t>
            </a:r>
            <a:endParaRPr lang="en-US" sz="1100" dirty="0"/>
          </a:p>
        </p:txBody>
      </p:sp>
      <p:sp>
        <p:nvSpPr>
          <p:cNvPr id="9" name="table row"/>
          <p:cNvSpPr/>
          <p:nvPr/>
        </p:nvSpPr>
        <p:spPr>
          <a:xfrm>
            <a:off x="548640" y="1801368"/>
            <a:ext cx="11094415" cy="89683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847088" cy="73224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Reach: a payment system two or three hops out</a:t>
            </a:r>
            <a:endParaRPr lang="en-US" sz="1100" dirty="0"/>
          </a:p>
        </p:txBody>
      </p:sp>
      <p:sp>
        <p:nvSpPr>
          <p:cNvPr id="13" name="Text 10"/>
          <p:cNvSpPr txBox="1"/>
          <p:nvPr/>
        </p:nvSpPr>
        <p:spPr>
          <a:xfrm>
            <a:off x="3145536" y="1883664"/>
            <a:ext cx="4956048" cy="73224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the comparator in the device. B: move the credential behind a ticket-checking adapter, so the model's runtime never holds the API key. C: open the DPU flow to the provider only under a live ticket. D: always the signed record</a:t>
            </a:r>
            <a:endParaRPr lang="en-US" sz="1100" dirty="0"/>
          </a:p>
        </p:txBody>
      </p:sp>
      <p:sp>
        <p:nvSpPr>
          <p:cNvPr id="14" name="Text 11"/>
          <p:cNvSpPr txBox="1"/>
          <p:nvPr/>
        </p:nvSpPr>
        <p:spPr>
          <a:xfrm>
            <a:off x="8266176" y="1883664"/>
            <a:ext cx="3294583" cy="73224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and C modelled and tested (H6, H2, H17). B is a pattern the endpoint model already expresses; the three-hop payment narration is the next piece of work</a:t>
            </a:r>
            <a:endParaRPr lang="en-US" sz="1100" dirty="0"/>
          </a:p>
        </p:txBody>
      </p:sp>
      <p:sp>
        <p:nvSpPr>
          <p:cNvPr id="15" name="table row"/>
          <p:cNvSpPr/>
          <p:nvPr/>
        </p:nvSpPr>
        <p:spPr>
          <a:xfrm>
            <a:off x="548640" y="2698200"/>
            <a:ext cx="11094415" cy="726398"/>
          </a:xfrm>
          <a:prstGeom prst="rect">
            <a:avLst/>
          </a:prstGeom>
          <a:solidFill>
            <a:srgbClr val="FFFFFF"/>
          </a:solidFill>
          <a:ln w="9525">
            <a:solidFill>
              <a:srgbClr val="EEF2EF"/>
            </a:solidFill>
            <a:prstDash val="solid"/>
          </a:ln>
        </p:spPr>
      </p:sp>
      <p:sp>
        <p:nvSpPr>
          <p:cNvPr id="16" name="icon circle"/>
          <p:cNvSpPr/>
          <p:nvPr/>
        </p:nvSpPr>
        <p:spPr>
          <a:xfrm>
            <a:off x="630936" y="2780496"/>
            <a:ext cx="384048" cy="384048"/>
          </a:xfrm>
          <a:prstGeom prst="ellipse">
            <a:avLst/>
          </a:prstGeom>
          <a:solidFill>
            <a:schemeClr val="accent1"/>
          </a:solidFill>
          <a:ln w="12700">
            <a:solidFill>
              <a:schemeClr val="accent1"/>
            </a:solidFill>
            <a:prstDash val="solid"/>
          </a:ln>
        </p:spPr>
      </p:sp>
      <p:pic>
        <p:nvPicPr>
          <p:cNvPr id="17" name="FiEyeOff" descr="preencoded.png">    </p:cNvPr>
          <p:cNvPicPr>
            <a:picLocks noChangeAspect="1"/>
          </p:cNvPicPr>
          <p:nvPr/>
        </p:nvPicPr>
        <p:blipFill>
          <a:blip r:embed="rId2"/>
          <a:stretch>
            <a:fillRect/>
          </a:stretch>
        </p:blipFill>
        <p:spPr>
          <a:xfrm>
            <a:off x="726948" y="2876508"/>
            <a:ext cx="192024" cy="192024"/>
          </a:xfrm>
          <a:prstGeom prst="rect">
            <a:avLst/>
          </a:prstGeom>
        </p:spPr>
      </p:pic>
      <p:sp>
        <p:nvSpPr>
          <p:cNvPr id="18" name="Text 14"/>
          <p:cNvSpPr txBox="1"/>
          <p:nvPr/>
        </p:nvSpPr>
        <p:spPr>
          <a:xfrm>
            <a:off x="1133856" y="2780496"/>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Meaning: observers can be fooled</a:t>
            </a:r>
            <a:endParaRPr lang="en-US" sz="1100" dirty="0"/>
          </a:p>
        </p:txBody>
      </p:sp>
      <p:sp>
        <p:nvSpPr>
          <p:cNvPr id="19" name="Text 15"/>
          <p:cNvSpPr txBox="1"/>
          <p:nvPr/>
        </p:nvSpPr>
        <p:spPr>
          <a:xfrm>
            <a:off x="3145536" y="2780496"/>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Observer always invoked, cannot be impersonated, separate from the model; hazard classes, legibility floor, session hazard budget, TRNG audit sampling with escrow</a:t>
            </a:r>
            <a:endParaRPr lang="en-US" sz="1100" dirty="0"/>
          </a:p>
        </p:txBody>
      </p:sp>
      <p:sp>
        <p:nvSpPr>
          <p:cNvPr id="20" name="Text 16"/>
          <p:cNvSpPr txBox="1"/>
          <p:nvPr/>
        </p:nvSpPr>
        <p:spPr>
          <a:xfrm>
            <a:off x="8266176" y="2780496"/>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Guarantees tested (H17, H18). Observer error rates: open; needs a red team and a quorum of observers on high-hazard classes</a:t>
            </a:r>
            <a:endParaRPr lang="en-US" sz="1100" dirty="0"/>
          </a:p>
        </p:txBody>
      </p:sp>
      <p:sp>
        <p:nvSpPr>
          <p:cNvPr id="21" name="table row"/>
          <p:cNvSpPr/>
          <p:nvPr/>
        </p:nvSpPr>
        <p:spPr>
          <a:xfrm>
            <a:off x="548640" y="3424597"/>
            <a:ext cx="11094415" cy="726398"/>
          </a:xfrm>
          <a:prstGeom prst="rect">
            <a:avLst/>
          </a:prstGeom>
          <a:solidFill>
            <a:srgbClr val="EEF2EF"/>
          </a:solidFill>
          <a:ln w="9525">
            <a:solidFill>
              <a:srgbClr val="EEF2EF"/>
            </a:solidFill>
            <a:prstDash val="solid"/>
          </a:ln>
        </p:spPr>
      </p:sp>
      <p:sp>
        <p:nvSpPr>
          <p:cNvPr id="22" name="icon circle"/>
          <p:cNvSpPr/>
          <p:nvPr/>
        </p:nvSpPr>
        <p:spPr>
          <a:xfrm>
            <a:off x="630936" y="3506893"/>
            <a:ext cx="384048" cy="384048"/>
          </a:xfrm>
          <a:prstGeom prst="ellipse">
            <a:avLst/>
          </a:prstGeom>
          <a:solidFill>
            <a:schemeClr val="accent1"/>
          </a:solidFill>
          <a:ln w="12700">
            <a:solidFill>
              <a:schemeClr val="accent1"/>
            </a:solidFill>
            <a:prstDash val="solid"/>
          </a:ln>
        </p:spPr>
      </p:sp>
      <p:pic>
        <p:nvPicPr>
          <p:cNvPr id="23" name="FiAlertTriangle" descr="preencoded.png">    </p:cNvPr>
          <p:cNvPicPr>
            <a:picLocks noChangeAspect="1"/>
          </p:cNvPicPr>
          <p:nvPr/>
        </p:nvPicPr>
        <p:blipFill>
          <a:blip r:embed="rId3"/>
          <a:stretch>
            <a:fillRect/>
          </a:stretch>
        </p:blipFill>
        <p:spPr>
          <a:xfrm>
            <a:off x="726948" y="3602905"/>
            <a:ext cx="192024" cy="192024"/>
          </a:xfrm>
          <a:prstGeom prst="rect">
            <a:avLst/>
          </a:prstGeom>
        </p:spPr>
      </p:pic>
      <p:sp>
        <p:nvSpPr>
          <p:cNvPr id="24" name="Text 19"/>
          <p:cNvSpPr txBox="1"/>
          <p:nvPr/>
        </p:nvSpPr>
        <p:spPr>
          <a:xfrm>
            <a:off x="1133856" y="3506893"/>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False halts</a:t>
            </a:r>
            <a:endParaRPr lang="en-US" sz="1100" dirty="0"/>
          </a:p>
        </p:txBody>
      </p:sp>
      <p:sp>
        <p:nvSpPr>
          <p:cNvPr id="25" name="Text 20"/>
          <p:cNvSpPr txBox="1"/>
          <p:nvPr/>
        </p:nvSpPr>
        <p:spPr>
          <a:xfrm>
            <a:off x="3145536" y="3506893"/>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Loop beacon inside the signed heartbeat; loss of current declared after two sense periods (debounce); a jumpered governor caught within two heartbeats; FMEA</a:t>
            </a:r>
            <a:endParaRPr lang="en-US" sz="1100" dirty="0"/>
          </a:p>
        </p:txBody>
      </p:sp>
      <p:sp>
        <p:nvSpPr>
          <p:cNvPr id="26" name="Text 21"/>
          <p:cNvSpPr txBox="1"/>
          <p:nvPr/>
        </p:nvSpPr>
        <p:spPr>
          <a:xfrm>
            <a:off x="8266176" y="3506893"/>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Modelled (H11) and simulated (ngspice). Not measured on hardware</a:t>
            </a:r>
            <a:endParaRPr lang="en-US" sz="1100" dirty="0"/>
          </a:p>
        </p:txBody>
      </p:sp>
      <p:sp>
        <p:nvSpPr>
          <p:cNvPr id="27" name="table row"/>
          <p:cNvSpPr/>
          <p:nvPr/>
        </p:nvSpPr>
        <p:spPr>
          <a:xfrm>
            <a:off x="548640" y="4150995"/>
            <a:ext cx="11094415" cy="555964"/>
          </a:xfrm>
          <a:prstGeom prst="rect">
            <a:avLst/>
          </a:prstGeom>
          <a:solidFill>
            <a:srgbClr val="FFFFFF"/>
          </a:solidFill>
          <a:ln w="9525">
            <a:solidFill>
              <a:srgbClr val="EEF2EF"/>
            </a:solidFill>
            <a:prstDash val="solid"/>
          </a:ln>
        </p:spPr>
      </p:sp>
      <p:sp>
        <p:nvSpPr>
          <p:cNvPr id="28" name="icon circle"/>
          <p:cNvSpPr/>
          <p:nvPr/>
        </p:nvSpPr>
        <p:spPr>
          <a:xfrm>
            <a:off x="630936" y="4233291"/>
            <a:ext cx="384048" cy="384048"/>
          </a:xfrm>
          <a:prstGeom prst="ellipse">
            <a:avLst/>
          </a:prstGeom>
          <a:solidFill>
            <a:schemeClr val="accent1"/>
          </a:solidFill>
          <a:ln w="12700">
            <a:solidFill>
              <a:schemeClr val="accent1"/>
            </a:solidFill>
            <a:prstDash val="solid"/>
          </a:ln>
        </p:spPr>
      </p:sp>
      <p:pic>
        <p:nvPicPr>
          <p:cNvPr id="29" name="FiServer" descr="preencoded.png">    </p:cNvPr>
          <p:cNvPicPr>
            <a:picLocks noChangeAspect="1"/>
          </p:cNvPicPr>
          <p:nvPr/>
        </p:nvPicPr>
        <p:blipFill>
          <a:blip r:embed="rId4"/>
          <a:stretch>
            <a:fillRect/>
          </a:stretch>
        </p:blipFill>
        <p:spPr>
          <a:xfrm>
            <a:off x="726948" y="4329303"/>
            <a:ext cx="192024" cy="192024"/>
          </a:xfrm>
          <a:prstGeom prst="rect">
            <a:avLst/>
          </a:prstGeom>
        </p:spPr>
      </p:pic>
      <p:sp>
        <p:nvSpPr>
          <p:cNvPr id="30" name="Text 24"/>
          <p:cNvSpPr txBox="1"/>
          <p:nvPr/>
        </p:nvSpPr>
        <p:spPr>
          <a:xfrm>
            <a:off x="1133856" y="4233291"/>
            <a:ext cx="1847088" cy="39137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Levers on HGX</a:t>
            </a:r>
            <a:endParaRPr lang="en-US" sz="1100" dirty="0"/>
          </a:p>
        </p:txBody>
      </p:sp>
      <p:sp>
        <p:nvSpPr>
          <p:cNvPr id="31" name="Text 25"/>
          <p:cNvSpPr txBox="1"/>
          <p:nvPr/>
        </p:nvSpPr>
        <p:spPr>
          <a:xfrm>
            <a:off x="3145536" y="4233291"/>
            <a:ext cx="4956048"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Per-slot SMBus, power brake, PERST#, PWR_EN at the connector; grouped reset accepted as coarser; the evidence register names what is verified</a:t>
            </a:r>
            <a:endParaRPr lang="en-US" sz="1100" dirty="0"/>
          </a:p>
        </p:txBody>
      </p:sp>
      <p:sp>
        <p:nvSpPr>
          <p:cNvPr id="32" name="Text 26"/>
          <p:cNvSpPr txBox="1"/>
          <p:nvPr/>
        </p:nvSpPr>
        <p:spPr>
          <a:xfrm>
            <a:off x="8266176" y="4233291"/>
            <a:ext cx="3294583"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Evidence register done. Design guide under NDA still needed</a:t>
            </a:r>
            <a:endParaRPr lang="en-US" sz="1100" dirty="0"/>
          </a:p>
        </p:txBody>
      </p:sp>
      <p:sp>
        <p:nvSpPr>
          <p:cNvPr id="33" name="table row"/>
          <p:cNvSpPr/>
          <p:nvPr/>
        </p:nvSpPr>
        <p:spPr>
          <a:xfrm>
            <a:off x="548640" y="4706959"/>
            <a:ext cx="11094415" cy="726398"/>
          </a:xfrm>
          <a:prstGeom prst="rect">
            <a:avLst/>
          </a:prstGeom>
          <a:solidFill>
            <a:srgbClr val="EEF2EF"/>
          </a:solidFill>
          <a:ln w="9525">
            <a:solidFill>
              <a:srgbClr val="EEF2EF"/>
            </a:solidFill>
            <a:prstDash val="solid"/>
          </a:ln>
        </p:spPr>
      </p:sp>
      <p:sp>
        <p:nvSpPr>
          <p:cNvPr id="34" name="icon circle"/>
          <p:cNvSpPr/>
          <p:nvPr/>
        </p:nvSpPr>
        <p:spPr>
          <a:xfrm>
            <a:off x="630936" y="4789255"/>
            <a:ext cx="384048" cy="384048"/>
          </a:xfrm>
          <a:prstGeom prst="ellipse">
            <a:avLst/>
          </a:prstGeom>
          <a:solidFill>
            <a:schemeClr val="accent1"/>
          </a:solidFill>
          <a:ln w="12700">
            <a:solidFill>
              <a:schemeClr val="accent1"/>
            </a:solidFill>
            <a:prstDash val="solid"/>
          </a:ln>
        </p:spPr>
      </p:sp>
      <p:pic>
        <p:nvPicPr>
          <p:cNvPr id="35" name="FiClock" descr="preencoded.png">    </p:cNvPr>
          <p:cNvPicPr>
            <a:picLocks noChangeAspect="1"/>
          </p:cNvPicPr>
          <p:nvPr/>
        </p:nvPicPr>
        <p:blipFill>
          <a:blip r:embed="rId5"/>
          <a:stretch>
            <a:fillRect/>
          </a:stretch>
        </p:blipFill>
        <p:spPr>
          <a:xfrm>
            <a:off x="726948" y="4885267"/>
            <a:ext cx="192024" cy="192024"/>
          </a:xfrm>
          <a:prstGeom prst="rect">
            <a:avLst/>
          </a:prstGeom>
        </p:spPr>
      </p:pic>
      <p:sp>
        <p:nvSpPr>
          <p:cNvPr id="36" name="Text 29"/>
          <p:cNvSpPr txBox="1"/>
          <p:nvPr/>
        </p:nvSpPr>
        <p:spPr>
          <a:xfrm>
            <a:off x="1133856" y="4789255"/>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Cost</a:t>
            </a:r>
            <a:endParaRPr lang="en-US" sz="1100" dirty="0"/>
          </a:p>
        </p:txBody>
      </p:sp>
      <p:sp>
        <p:nvSpPr>
          <p:cNvPr id="37" name="Text 30"/>
          <p:cNvSpPr txBox="1"/>
          <p:nvPr/>
        </p:nvSpPr>
        <p:spPr>
          <a:xfrm>
            <a:off x="3145536" y="4789255"/>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P-384 on OTBN at 1,697,985 cycles (17 ms); one signature per 50 ms window; engine 34 percent busy batched, 272 percent unbatched; firmware share under 0.1 percent of GPU time</a:t>
            </a:r>
            <a:endParaRPr lang="en-US" sz="1100" dirty="0"/>
          </a:p>
        </p:txBody>
      </p:sp>
      <p:sp>
        <p:nvSpPr>
          <p:cNvPr id="38" name="Text 31"/>
          <p:cNvSpPr txBox="1"/>
          <p:nvPr/>
        </p:nvSpPr>
        <p:spPr>
          <a:xfrm>
            <a:off x="8266176" y="4789255"/>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Modelled (H9). Silicon or FPGA measurement: open</a:t>
            </a:r>
            <a:endParaRPr lang="en-US" sz="1100" dirty="0"/>
          </a:p>
        </p:txBody>
      </p:sp>
      <p:sp>
        <p:nvSpPr>
          <p:cNvPr id="39" name="table row"/>
          <p:cNvSpPr/>
          <p:nvPr/>
        </p:nvSpPr>
        <p:spPr>
          <a:xfrm>
            <a:off x="548640" y="5433356"/>
            <a:ext cx="11094415" cy="555964"/>
          </a:xfrm>
          <a:prstGeom prst="rect">
            <a:avLst/>
          </a:prstGeom>
          <a:solidFill>
            <a:srgbClr val="FFFFFF"/>
          </a:solidFill>
          <a:ln w="9525">
            <a:solidFill>
              <a:srgbClr val="EEF2EF"/>
            </a:solidFill>
            <a:prstDash val="solid"/>
          </a:ln>
        </p:spPr>
      </p:sp>
      <p:sp>
        <p:nvSpPr>
          <p:cNvPr id="40" name="icon circle"/>
          <p:cNvSpPr/>
          <p:nvPr/>
        </p:nvSpPr>
        <p:spPr>
          <a:xfrm>
            <a:off x="630936" y="5515652"/>
            <a:ext cx="384048" cy="384048"/>
          </a:xfrm>
          <a:prstGeom prst="ellipse">
            <a:avLst/>
          </a:prstGeom>
          <a:solidFill>
            <a:schemeClr val="accent1"/>
          </a:solidFill>
          <a:ln w="12700">
            <a:solidFill>
              <a:schemeClr val="accent1"/>
            </a:solidFill>
            <a:prstDash val="solid"/>
          </a:ln>
        </p:spPr>
      </p:sp>
      <p:pic>
        <p:nvPicPr>
          <p:cNvPr id="41" name="FiKey" descr="preencoded.png">    </p:cNvPr>
          <p:cNvPicPr>
            <a:picLocks noChangeAspect="1"/>
          </p:cNvPicPr>
          <p:nvPr/>
        </p:nvPicPr>
        <p:blipFill>
          <a:blip r:embed="rId6"/>
          <a:stretch>
            <a:fillRect/>
          </a:stretch>
        </p:blipFill>
        <p:spPr>
          <a:xfrm>
            <a:off x="726948" y="5611664"/>
            <a:ext cx="192024" cy="192024"/>
          </a:xfrm>
          <a:prstGeom prst="rect">
            <a:avLst/>
          </a:prstGeom>
        </p:spPr>
      </p:pic>
      <p:sp>
        <p:nvSpPr>
          <p:cNvPr id="42" name="Text 34"/>
          <p:cNvSpPr txBox="1"/>
          <p:nvPr/>
        </p:nvSpPr>
        <p:spPr>
          <a:xfrm>
            <a:off x="1133856" y="5515652"/>
            <a:ext cx="1847088" cy="39137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Governance and adoption</a:t>
            </a:r>
            <a:endParaRPr lang="en-US" sz="1100" dirty="0"/>
          </a:p>
        </p:txBody>
      </p:sp>
      <p:sp>
        <p:nvSpPr>
          <p:cNvPr id="43" name="Text 35"/>
          <p:cNvSpPr txBox="1"/>
          <p:nvPr/>
        </p:nvSpPr>
        <p:spPr>
          <a:xfrm>
            <a:off x="3145536" y="5515652"/>
            <a:ext cx="4956048"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k-of-n quorum with keys outside vendor and operator (goal G8); partitions and per-rule approvers; integrated-tier asks written</a:t>
            </a:r>
            <a:endParaRPr lang="en-US" sz="1100" dirty="0"/>
          </a:p>
        </p:txBody>
      </p:sp>
      <p:sp>
        <p:nvSpPr>
          <p:cNvPr id="44" name="Text 36"/>
          <p:cNvSpPr txBox="1"/>
          <p:nvPr/>
        </p:nvSpPr>
        <p:spPr>
          <a:xfrm>
            <a:off x="8266176" y="5515652"/>
            <a:ext cx="3294583"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Two tenants with two quorums on one baseboard: not designed. Integrated tier: needs NVIDIA</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to prove or disprove the 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16</a:t>
            </a:r>
            <a:endParaRPr lang="en-US" sz="1100" dirty="0"/>
          </a:p>
        </p:txBody>
      </p:sp>
      <p:sp>
        <p:nvSpPr>
          <p:cNvPr id="5" name="card"/>
          <p:cNvSpPr/>
          <p:nvPr/>
        </p:nvSpPr>
        <p:spPr>
          <a:xfrm>
            <a:off x="548640" y="1417320"/>
            <a:ext cx="2036003" cy="3246120"/>
          </a:xfrm>
          <a:prstGeom prst="roundRect">
            <a:avLst>
              <a:gd name="adj" fmla="val 3593"/>
            </a:avLst>
          </a:prstGeom>
          <a:solidFill>
            <a:schemeClr val="bg2"/>
          </a:solidFill>
          <a:ln w="12700">
            <a:solidFill>
              <a:schemeClr val="bg2"/>
            </a:solidFill>
            <a:prstDash val="solid"/>
          </a:ln>
        </p:spPr>
      </p:sp>
      <p:sp>
        <p:nvSpPr>
          <p:cNvPr id="6"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7"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8" name="Text 5"/>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server maker to talk to</a:t>
            </a:r>
            <a:endParaRPr lang="en-US" sz="1400" dirty="0"/>
          </a:p>
        </p:txBody>
      </p:sp>
      <p:sp>
        <p:nvSpPr>
          <p:cNvPr id="9" name="Text 6"/>
          <p:cNvSpPr txBox="1"/>
          <p:nvPr/>
        </p:nvSpPr>
        <p:spPr>
          <a:xfrm>
            <a:off x="777240"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About the management-card slot and the HGX design guide.</a:t>
            </a:r>
            <a:endParaRPr lang="en-US" sz="1150" dirty="0"/>
          </a:p>
        </p:txBody>
      </p:sp>
      <p:sp>
        <p:nvSpPr>
          <p:cNvPr id="10" name="card"/>
          <p:cNvSpPr/>
          <p:nvPr/>
        </p:nvSpPr>
        <p:spPr>
          <a:xfrm>
            <a:off x="2813243" y="1417320"/>
            <a:ext cx="2036003" cy="3246120"/>
          </a:xfrm>
          <a:prstGeom prst="roundRect">
            <a:avLst>
              <a:gd name="adj" fmla="val 3593"/>
            </a:avLst>
          </a:prstGeom>
          <a:solidFill>
            <a:schemeClr val="bg2"/>
          </a:solidFill>
          <a:ln w="12700">
            <a:solidFill>
              <a:schemeClr val="bg2"/>
            </a:solidFill>
            <a:prstDash val="solid"/>
          </a:ln>
        </p:spPr>
      </p:sp>
      <p:sp>
        <p:nvSpPr>
          <p:cNvPr id="11"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2"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3" name="Text 9"/>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device maker willing to check a ticket</a:t>
            </a:r>
            <a:endParaRPr lang="en-US" sz="1400" dirty="0"/>
          </a:p>
        </p:txBody>
      </p:sp>
      <p:sp>
        <p:nvSpPr>
          <p:cNvPr id="14" name="Text 10"/>
          <p:cNvSpPr txBox="1"/>
          <p:nvPr/>
        </p:nvSpPr>
        <p:spPr>
          <a:xfrm>
            <a:off x="3041843"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functional-safety vendor, or whoever runs the tools an agent calls.</a:t>
            </a:r>
            <a:endParaRPr lang="en-US" sz="1150" dirty="0"/>
          </a:p>
        </p:txBody>
      </p:sp>
      <p:sp>
        <p:nvSpPr>
          <p:cNvPr id="15" name="card"/>
          <p:cNvSpPr/>
          <p:nvPr/>
        </p:nvSpPr>
        <p:spPr>
          <a:xfrm>
            <a:off x="5077846" y="1417320"/>
            <a:ext cx="2036003" cy="3246120"/>
          </a:xfrm>
          <a:prstGeom prst="roundRect">
            <a:avLst>
              <a:gd name="adj" fmla="val 3593"/>
            </a:avLst>
          </a:prstGeom>
          <a:solidFill>
            <a:schemeClr val="bg2"/>
          </a:solidFill>
          <a:ln w="12700">
            <a:solidFill>
              <a:schemeClr val="bg2"/>
            </a:solidFill>
            <a:prstDash val="solid"/>
          </a:ln>
        </p:spPr>
      </p:sp>
      <p:sp>
        <p:nvSpPr>
          <p:cNvPr id="16"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7"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8" name="Text 13"/>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lab with a rack and an FPGA</a:t>
            </a:r>
            <a:endParaRPr lang="en-US" sz="1400" dirty="0"/>
          </a:p>
        </p:txBody>
      </p:sp>
      <p:sp>
        <p:nvSpPr>
          <p:cNvPr id="19" name="Text 14"/>
          <p:cNvSpPr txBox="1"/>
          <p:nvPr/>
        </p:nvSpPr>
        <p:spPr>
          <a:xfrm>
            <a:off x="5306446"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measure the real overhead and the false-halt rate over weeks.</a:t>
            </a:r>
            <a:endParaRPr lang="en-US" sz="1150" dirty="0"/>
          </a:p>
        </p:txBody>
      </p:sp>
      <p:sp>
        <p:nvSpPr>
          <p:cNvPr id="20" name="card"/>
          <p:cNvSpPr/>
          <p:nvPr/>
        </p:nvSpPr>
        <p:spPr>
          <a:xfrm>
            <a:off x="7342449" y="1417320"/>
            <a:ext cx="2036003" cy="3246120"/>
          </a:xfrm>
          <a:prstGeom prst="roundRect">
            <a:avLst>
              <a:gd name="adj" fmla="val 3593"/>
            </a:avLst>
          </a:prstGeom>
          <a:solidFill>
            <a:schemeClr val="bg2"/>
          </a:solidFill>
          <a:ln w="12700">
            <a:solidFill>
              <a:schemeClr val="bg2"/>
            </a:solidFill>
            <a:prstDash val="solid"/>
          </a:ln>
        </p:spPr>
      </p:sp>
      <p:sp>
        <p:nvSpPr>
          <p:cNvPr id="21"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2"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3" name="Text 17"/>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red team</a:t>
            </a:r>
            <a:endParaRPr lang="en-US" sz="1400" dirty="0"/>
          </a:p>
        </p:txBody>
      </p:sp>
      <p:sp>
        <p:nvSpPr>
          <p:cNvPr id="24" name="Text 18"/>
          <p:cNvSpPr txBox="1"/>
          <p:nvPr/>
        </p:nvSpPr>
        <p:spPr>
          <a:xfrm>
            <a:off x="7571049"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attack the release gate and the observers with disguised requests.</a:t>
            </a:r>
            <a:endParaRPr lang="en-US" sz="1150" dirty="0"/>
          </a:p>
        </p:txBody>
      </p:sp>
      <p:sp>
        <p:nvSpPr>
          <p:cNvPr id="25" name="card"/>
          <p:cNvSpPr/>
          <p:nvPr/>
        </p:nvSpPr>
        <p:spPr>
          <a:xfrm>
            <a:off x="9607052" y="1417320"/>
            <a:ext cx="2036003" cy="3246120"/>
          </a:xfrm>
          <a:prstGeom prst="roundRect">
            <a:avLst>
              <a:gd name="adj" fmla="val 3593"/>
            </a:avLst>
          </a:prstGeom>
          <a:solidFill>
            <a:schemeClr val="bg2"/>
          </a:solidFill>
          <a:ln w="12700">
            <a:solidFill>
              <a:schemeClr val="bg2"/>
            </a:solidFill>
            <a:prstDash val="solid"/>
          </a:ln>
        </p:spPr>
      </p:sp>
      <p:sp>
        <p:nvSpPr>
          <p:cNvPr id="26"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7"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8" name="Text 21"/>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Chip designers and an auditor</a:t>
            </a:r>
            <a:endParaRPr lang="en-US" sz="1400" dirty="0"/>
          </a:p>
        </p:txBody>
      </p:sp>
      <p:sp>
        <p:nvSpPr>
          <p:cNvPr id="29" name="Text 22"/>
          <p:cNvSpPr txBox="1"/>
          <p:nvPr/>
        </p:nvSpPr>
        <p:spPr>
          <a:xfrm>
            <a:off x="9835652"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tear the design apart before any tape-out.</a:t>
            </a:r>
            <a:endParaRPr lang="en-US" sz="1150" dirty="0"/>
          </a:p>
        </p:txBody>
      </p:sp>
      <p:sp>
        <p:nvSpPr>
          <p:cNvPr id="30" name="analogy"/>
          <p:cNvSpPr/>
          <p:nvPr/>
        </p:nvSpPr>
        <p:spPr>
          <a:xfrm>
            <a:off x="548640" y="5029200"/>
            <a:ext cx="11094415" cy="822960"/>
          </a:xfrm>
          <a:prstGeom prst="roundRect">
            <a:avLst>
              <a:gd name="adj" fmla="val 8889"/>
            </a:avLst>
          </a:prstGeom>
          <a:solidFill>
            <a:schemeClr val="tx1"/>
          </a:solidFill>
          <a:ln w="12700">
            <a:solidFill>
              <a:schemeClr val="tx1"/>
            </a:solidFill>
            <a:prstDash val="solid"/>
          </a:ln>
        </p:spPr>
      </p:sp>
      <p:sp>
        <p:nvSpPr>
          <p:cNvPr id="31" name="Text 24"/>
          <p:cNvSpPr txBox="1"/>
          <p:nvPr/>
        </p:nvSpPr>
        <p:spPr>
          <a:xfrm>
            <a:off x="822960" y="502920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program's own rule</a:t>
            </a:r>
            <a:endParaRPr lang="en-US" sz="1000" dirty="0"/>
          </a:p>
        </p:txBody>
      </p:sp>
      <p:sp>
        <p:nvSpPr>
          <p:cNvPr id="32" name="Text 25"/>
          <p:cNvSpPr txBox="1"/>
          <p:nvPr/>
        </p:nvSpPr>
        <p:spPr>
          <a:xfrm>
            <a:off x="2514600" y="502920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Going to hardware and then tape-out is so expensive that we need to be 1000 percent sure in the pre-hardware phase. These five are what proving, or disproving, the design takes before that. A no is informative.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technically: who, what, and why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17</a:t>
            </a:r>
            <a:endParaRPr lang="en-US" sz="1100" dirty="0"/>
          </a:p>
        </p:txBody>
      </p:sp>
      <p:sp>
        <p:nvSpPr>
          <p:cNvPr id="5"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Who</a:t>
            </a:r>
            <a:endParaRPr lang="en-US" sz="1100" dirty="0"/>
          </a:p>
        </p:txBody>
      </p:sp>
      <p:sp>
        <p:nvSpPr>
          <p:cNvPr id="7" name="Text 5"/>
          <p:cNvSpPr txBox="1"/>
          <p:nvPr/>
        </p:nvSpPr>
        <p:spPr>
          <a:xfrm>
            <a:off x="2734056" y="1417320"/>
            <a:ext cx="267004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 need</a:t>
            </a:r>
            <a:endParaRPr lang="en-US" sz="1100" dirty="0"/>
          </a:p>
        </p:txBody>
      </p:sp>
      <p:sp>
        <p:nvSpPr>
          <p:cNvPr id="8" name="Text 6"/>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it settles</a:t>
            </a:r>
            <a:endParaRPr lang="en-US" sz="1100" dirty="0"/>
          </a:p>
        </p:txBody>
      </p:sp>
      <p:sp>
        <p:nvSpPr>
          <p:cNvPr id="9" name="table row"/>
          <p:cNvSpPr/>
          <p:nvPr/>
        </p:nvSpPr>
        <p:spPr>
          <a:xfrm>
            <a:off x="548640" y="1801368"/>
            <a:ext cx="7863840" cy="68275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server OEM</a:t>
            </a:r>
            <a:endParaRPr lang="en-US" sz="1100" dirty="0"/>
          </a:p>
        </p:txBody>
      </p:sp>
      <p:sp>
        <p:nvSpPr>
          <p:cNvPr id="13" name="Text 10"/>
          <p:cNvSpPr txBox="1"/>
          <p:nvPr/>
        </p:nvSpPr>
        <p:spPr>
          <a:xfrm>
            <a:off x="2734056" y="188366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management-module slot; the HGX design guide under NDA; the connector pinout</a:t>
            </a:r>
            <a:endParaRPr lang="en-US" sz="1100" dirty="0"/>
          </a:p>
        </p:txBody>
      </p:sp>
      <p:sp>
        <p:nvSpPr>
          <p:cNvPr id="14" name="Text 11"/>
          <p:cNvSpPr txBox="1"/>
          <p:nvPr/>
        </p:nvSpPr>
        <p:spPr>
          <a:xfrm>
            <a:off x="5568696" y="188366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Whether per-module levers reach the connector. If not, the rack tier is coarser than the design says</a:t>
            </a:r>
            <a:endParaRPr lang="en-US" sz="1100" dirty="0"/>
          </a:p>
        </p:txBody>
      </p:sp>
      <p:sp>
        <p:nvSpPr>
          <p:cNvPr id="15" name="table row"/>
          <p:cNvSpPr/>
          <p:nvPr/>
        </p:nvSpPr>
        <p:spPr>
          <a:xfrm>
            <a:off x="548640" y="2484120"/>
            <a:ext cx="7863840" cy="853186"/>
          </a:xfrm>
          <a:prstGeom prst="rect">
            <a:avLst/>
          </a:prstGeom>
          <a:solidFill>
            <a:srgbClr val="FFFFFF"/>
          </a:solidFill>
          <a:ln w="9525">
            <a:solidFill>
              <a:srgbClr val="EEF2EF"/>
            </a:solidFill>
            <a:prstDash val="solid"/>
          </a:ln>
        </p:spPr>
      </p:sp>
      <p:sp>
        <p:nvSpPr>
          <p:cNvPr id="16" name="icon circle"/>
          <p:cNvSpPr/>
          <p:nvPr/>
        </p:nvSpPr>
        <p:spPr>
          <a:xfrm>
            <a:off x="630936" y="2566416"/>
            <a:ext cx="384048" cy="384048"/>
          </a:xfrm>
          <a:prstGeom prst="ellipse">
            <a:avLst/>
          </a:prstGeom>
          <a:solidFill>
            <a:schemeClr val="accent1"/>
          </a:solidFill>
          <a:ln w="12700">
            <a:solidFill>
              <a:schemeClr val="accent1"/>
            </a:solidFill>
            <a:prstDash val="solid"/>
          </a:ln>
        </p:spPr>
      </p:sp>
      <p:pic>
        <p:nvPicPr>
          <p:cNvPr id="17" name="FiCpu" descr="preencoded.png">    </p:cNvPr>
          <p:cNvPicPr>
            <a:picLocks noChangeAspect="1"/>
          </p:cNvPicPr>
          <p:nvPr/>
        </p:nvPicPr>
        <p:blipFill>
          <a:blip r:embed="rId2"/>
          <a:stretch>
            <a:fillRect/>
          </a:stretch>
        </p:blipFill>
        <p:spPr>
          <a:xfrm>
            <a:off x="726948" y="2662428"/>
            <a:ext cx="192024" cy="192024"/>
          </a:xfrm>
          <a:prstGeom prst="rect">
            <a:avLst/>
          </a:prstGeom>
        </p:spPr>
      </p:pic>
      <p:sp>
        <p:nvSpPr>
          <p:cNvPr id="18" name="Text 14"/>
          <p:cNvSpPr txBox="1"/>
          <p:nvPr/>
        </p:nvSpPr>
        <p:spPr>
          <a:xfrm>
            <a:off x="1133856" y="2566416"/>
            <a:ext cx="1435608" cy="688594"/>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NVIDIA</a:t>
            </a:r>
            <a:endParaRPr lang="en-US" sz="1100" dirty="0"/>
          </a:p>
        </p:txBody>
      </p:sp>
      <p:sp>
        <p:nvSpPr>
          <p:cNvPr id="19" name="Text 15"/>
          <p:cNvSpPr txBox="1"/>
          <p:nvPr/>
        </p:nvSpPr>
        <p:spPr>
          <a:xfrm>
            <a:off x="2734056" y="2566416"/>
            <a:ext cx="2670048" cy="688594"/>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Seven firmware asks: NSM port-disable semantics, per-GPU reset, buffer-class checkers in the copy engines and peer MMU</a:t>
            </a:r>
            <a:endParaRPr lang="en-US" sz="1100" dirty="0"/>
          </a:p>
        </p:txBody>
      </p:sp>
      <p:sp>
        <p:nvSpPr>
          <p:cNvPr id="20" name="Text 16"/>
          <p:cNvSpPr txBox="1"/>
          <p:nvPr/>
        </p:nvSpPr>
        <p:spPr>
          <a:xfrm>
            <a:off x="5568696" y="2566416"/>
            <a:ext cx="2761488" cy="688594"/>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integrated tier; whether the recorded gap (H2b) can be closed from inside the silicon</a:t>
            </a:r>
            <a:endParaRPr lang="en-US" sz="1100" dirty="0"/>
          </a:p>
        </p:txBody>
      </p:sp>
      <p:sp>
        <p:nvSpPr>
          <p:cNvPr id="21" name="table row"/>
          <p:cNvSpPr/>
          <p:nvPr/>
        </p:nvSpPr>
        <p:spPr>
          <a:xfrm>
            <a:off x="548640" y="3337306"/>
            <a:ext cx="7863840" cy="682752"/>
          </a:xfrm>
          <a:prstGeom prst="rect">
            <a:avLst/>
          </a:prstGeom>
          <a:solidFill>
            <a:srgbClr val="EEF2EF"/>
          </a:solidFill>
          <a:ln w="9525">
            <a:solidFill>
              <a:srgbClr val="EEF2EF"/>
            </a:solidFill>
            <a:prstDash val="solid"/>
          </a:ln>
        </p:spPr>
      </p:sp>
      <p:sp>
        <p:nvSpPr>
          <p:cNvPr id="22" name="icon circle"/>
          <p:cNvSpPr/>
          <p:nvPr/>
        </p:nvSpPr>
        <p:spPr>
          <a:xfrm>
            <a:off x="630936" y="3419602"/>
            <a:ext cx="384048" cy="384048"/>
          </a:xfrm>
          <a:prstGeom prst="ellipse">
            <a:avLst/>
          </a:prstGeom>
          <a:solidFill>
            <a:schemeClr val="accent1"/>
          </a:solidFill>
          <a:ln w="12700">
            <a:solidFill>
              <a:schemeClr val="accent1"/>
            </a:solidFill>
            <a:prstDash val="solid"/>
          </a:ln>
        </p:spPr>
      </p:sp>
      <p:pic>
        <p:nvPicPr>
          <p:cNvPr id="23" name="FiHardDrive" descr="preencoded.png">    </p:cNvPr>
          <p:cNvPicPr>
            <a:picLocks noChangeAspect="1"/>
          </p:cNvPicPr>
          <p:nvPr/>
        </p:nvPicPr>
        <p:blipFill>
          <a:blip r:embed="rId3"/>
          <a:stretch>
            <a:fillRect/>
          </a:stretch>
        </p:blipFill>
        <p:spPr>
          <a:xfrm>
            <a:off x="726948" y="3515614"/>
            <a:ext cx="192024" cy="192024"/>
          </a:xfrm>
          <a:prstGeom prst="rect">
            <a:avLst/>
          </a:prstGeom>
        </p:spPr>
      </p:pic>
      <p:sp>
        <p:nvSpPr>
          <p:cNvPr id="24" name="Text 19"/>
          <p:cNvSpPr txBox="1"/>
          <p:nvPr/>
        </p:nvSpPr>
        <p:spPr>
          <a:xfrm>
            <a:off x="1133856" y="3419602"/>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An endpoint partner</a:t>
            </a:r>
            <a:endParaRPr lang="en-US" sz="1100" dirty="0"/>
          </a:p>
        </p:txBody>
      </p:sp>
      <p:sp>
        <p:nvSpPr>
          <p:cNvPr id="25" name="Text 20"/>
          <p:cNvSpPr txBox="1"/>
          <p:nvPr/>
        </p:nvSpPr>
        <p:spPr>
          <a:xfrm>
            <a:off x="2734056" y="3419602"/>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device or tool gateway that verifies the ticket: P-384 signature, typed fields, epoch, freshness</a:t>
            </a:r>
            <a:endParaRPr lang="en-US" sz="1100" dirty="0"/>
          </a:p>
        </p:txBody>
      </p:sp>
      <p:sp>
        <p:nvSpPr>
          <p:cNvPr id="26" name="Text 21"/>
          <p:cNvSpPr txBox="1"/>
          <p:nvPr/>
        </p:nvSpPr>
        <p:spPr>
          <a:xfrm>
            <a:off x="5568696" y="3419602"/>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Whether the comparator works outside the model. If nobody will check the stamp, the thesis fails in practice</a:t>
            </a:r>
            <a:endParaRPr lang="en-US" sz="1100" dirty="0"/>
          </a:p>
        </p:txBody>
      </p:sp>
      <p:sp>
        <p:nvSpPr>
          <p:cNvPr id="27" name="table row"/>
          <p:cNvSpPr/>
          <p:nvPr/>
        </p:nvSpPr>
        <p:spPr>
          <a:xfrm>
            <a:off x="548640" y="4020058"/>
            <a:ext cx="7863840" cy="682752"/>
          </a:xfrm>
          <a:prstGeom prst="rect">
            <a:avLst/>
          </a:prstGeom>
          <a:solidFill>
            <a:srgbClr val="FFFFFF"/>
          </a:solidFill>
          <a:ln w="9525">
            <a:solidFill>
              <a:srgbClr val="EEF2EF"/>
            </a:solidFill>
            <a:prstDash val="solid"/>
          </a:ln>
        </p:spPr>
      </p:sp>
      <p:sp>
        <p:nvSpPr>
          <p:cNvPr id="28" name="icon circle"/>
          <p:cNvSpPr/>
          <p:nvPr/>
        </p:nvSpPr>
        <p:spPr>
          <a:xfrm>
            <a:off x="630936" y="4102354"/>
            <a:ext cx="384048" cy="384048"/>
          </a:xfrm>
          <a:prstGeom prst="ellipse">
            <a:avLst/>
          </a:prstGeom>
          <a:solidFill>
            <a:schemeClr val="accent1"/>
          </a:solidFill>
          <a:ln w="12700">
            <a:solidFill>
              <a:schemeClr val="accent1"/>
            </a:solidFill>
            <a:prstDash val="solid"/>
          </a:ln>
        </p:spPr>
      </p:sp>
      <p:pic>
        <p:nvPicPr>
          <p:cNvPr id="29" name="FiActivity" descr="preencoded.png">    </p:cNvPr>
          <p:cNvPicPr>
            <a:picLocks noChangeAspect="1"/>
          </p:cNvPicPr>
          <p:nvPr/>
        </p:nvPicPr>
        <p:blipFill>
          <a:blip r:embed="rId4"/>
          <a:stretch>
            <a:fillRect/>
          </a:stretch>
        </p:blipFill>
        <p:spPr>
          <a:xfrm>
            <a:off x="726948" y="4198366"/>
            <a:ext cx="192024" cy="192024"/>
          </a:xfrm>
          <a:prstGeom prst="rect">
            <a:avLst/>
          </a:prstGeom>
        </p:spPr>
      </p:pic>
      <p:sp>
        <p:nvSpPr>
          <p:cNvPr id="30" name="Text 24"/>
          <p:cNvSpPr txBox="1"/>
          <p:nvPr/>
        </p:nvSpPr>
        <p:spPr>
          <a:xfrm>
            <a:off x="1133856" y="410235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lab with an HGX or NVL rack</a:t>
            </a:r>
            <a:endParaRPr lang="en-US" sz="1100" dirty="0"/>
          </a:p>
        </p:txBody>
      </p:sp>
      <p:sp>
        <p:nvSpPr>
          <p:cNvPr id="31" name="Text 25"/>
          <p:cNvSpPr txBox="1"/>
          <p:nvPr/>
        </p:nvSpPr>
        <p:spPr>
          <a:xfrm>
            <a:off x="2734056" y="410235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An FPGA governor beside a real GPU for weeks</a:t>
            </a:r>
            <a:endParaRPr lang="en-US" sz="1100" dirty="0"/>
          </a:p>
        </p:txBody>
      </p:sp>
      <p:sp>
        <p:nvSpPr>
          <p:cNvPr id="32" name="Text 26"/>
          <p:cNvSpPr txBox="1"/>
          <p:nvPr/>
        </p:nvSpPr>
        <p:spPr>
          <a:xfrm>
            <a:off x="5568696" y="410235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real overhead against the one percent goal (G6); the false-halt rate; the loop beacon in the field</a:t>
            </a:r>
            <a:endParaRPr lang="en-US" sz="1100" dirty="0"/>
          </a:p>
        </p:txBody>
      </p:sp>
      <p:sp>
        <p:nvSpPr>
          <p:cNvPr id="33" name="table row"/>
          <p:cNvSpPr/>
          <p:nvPr/>
        </p:nvSpPr>
        <p:spPr>
          <a:xfrm>
            <a:off x="548640" y="4702810"/>
            <a:ext cx="7863840" cy="512318"/>
          </a:xfrm>
          <a:prstGeom prst="rect">
            <a:avLst/>
          </a:prstGeom>
          <a:solidFill>
            <a:srgbClr val="EEF2EF"/>
          </a:solidFill>
          <a:ln w="9525">
            <a:solidFill>
              <a:srgbClr val="EEF2EF"/>
            </a:solidFill>
            <a:prstDash val="solid"/>
          </a:ln>
        </p:spPr>
      </p:sp>
      <p:sp>
        <p:nvSpPr>
          <p:cNvPr id="34" name="icon circle"/>
          <p:cNvSpPr/>
          <p:nvPr/>
        </p:nvSpPr>
        <p:spPr>
          <a:xfrm>
            <a:off x="630936" y="4785106"/>
            <a:ext cx="384048" cy="384048"/>
          </a:xfrm>
          <a:prstGeom prst="ellipse">
            <a:avLst/>
          </a:prstGeom>
          <a:solidFill>
            <a:schemeClr val="accent1"/>
          </a:solidFill>
          <a:ln w="12700">
            <a:solidFill>
              <a:schemeClr val="accent1"/>
            </a:solidFill>
            <a:prstDash val="solid"/>
          </a:ln>
        </p:spPr>
      </p:sp>
      <p:pic>
        <p:nvPicPr>
          <p:cNvPr id="35" name="FiTarget" descr="preencoded.png">    </p:cNvPr>
          <p:cNvPicPr>
            <a:picLocks noChangeAspect="1"/>
          </p:cNvPicPr>
          <p:nvPr/>
        </p:nvPicPr>
        <p:blipFill>
          <a:blip r:embed="rId5"/>
          <a:stretch>
            <a:fillRect/>
          </a:stretch>
        </p:blipFill>
        <p:spPr>
          <a:xfrm>
            <a:off x="726948" y="4881118"/>
            <a:ext cx="192024" cy="192024"/>
          </a:xfrm>
          <a:prstGeom prst="rect">
            <a:avLst/>
          </a:prstGeom>
        </p:spPr>
      </p:pic>
      <p:sp>
        <p:nvSpPr>
          <p:cNvPr id="36" name="Text 29"/>
          <p:cNvSpPr txBox="1"/>
          <p:nvPr/>
        </p:nvSpPr>
        <p:spPr>
          <a:xfrm>
            <a:off x="1133856" y="4785106"/>
            <a:ext cx="1435608" cy="34772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model lab's red team</a:t>
            </a:r>
            <a:endParaRPr lang="en-US" sz="1100" dirty="0"/>
          </a:p>
        </p:txBody>
      </p:sp>
      <p:sp>
        <p:nvSpPr>
          <p:cNvPr id="37" name="Text 30"/>
          <p:cNvSpPr txBox="1"/>
          <p:nvPr/>
        </p:nvSpPr>
        <p:spPr>
          <a:xfrm>
            <a:off x="2734056" y="4785106"/>
            <a:ext cx="2670048" cy="34772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Disguised requests against the release gate and the observers</a:t>
            </a:r>
            <a:endParaRPr lang="en-US" sz="1100" dirty="0"/>
          </a:p>
        </p:txBody>
      </p:sp>
      <p:sp>
        <p:nvSpPr>
          <p:cNvPr id="38" name="Text 31"/>
          <p:cNvSpPr txBox="1"/>
          <p:nvPr/>
        </p:nvSpPr>
        <p:spPr>
          <a:xfrm>
            <a:off x="5568696" y="4785106"/>
            <a:ext cx="2761488" cy="34772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size of the semantic residual; whether a quorum of observers is enough</a:t>
            </a:r>
            <a:endParaRPr lang="en-US" sz="1100" dirty="0"/>
          </a:p>
        </p:txBody>
      </p:sp>
      <p:sp>
        <p:nvSpPr>
          <p:cNvPr id="39" name="table row"/>
          <p:cNvSpPr/>
          <p:nvPr/>
        </p:nvSpPr>
        <p:spPr>
          <a:xfrm>
            <a:off x="548640" y="5215128"/>
            <a:ext cx="7863840" cy="682752"/>
          </a:xfrm>
          <a:prstGeom prst="rect">
            <a:avLst/>
          </a:prstGeom>
          <a:solidFill>
            <a:srgbClr val="FFFFFF"/>
          </a:solidFill>
          <a:ln w="9525">
            <a:solidFill>
              <a:srgbClr val="EEF2EF"/>
            </a:solidFill>
            <a:prstDash val="solid"/>
          </a:ln>
        </p:spPr>
      </p:sp>
      <p:sp>
        <p:nvSpPr>
          <p:cNvPr id="40" name="icon circle"/>
          <p:cNvSpPr/>
          <p:nvPr/>
        </p:nvSpPr>
        <p:spPr>
          <a:xfrm>
            <a:off x="630936" y="5297424"/>
            <a:ext cx="384048" cy="384048"/>
          </a:xfrm>
          <a:prstGeom prst="ellipse">
            <a:avLst/>
          </a:prstGeom>
          <a:solidFill>
            <a:schemeClr val="accent1"/>
          </a:solidFill>
          <a:ln w="12700">
            <a:solidFill>
              <a:schemeClr val="accent1"/>
            </a:solidFill>
            <a:prstDash val="solid"/>
          </a:ln>
        </p:spPr>
      </p:sp>
      <p:pic>
        <p:nvPicPr>
          <p:cNvPr id="41" name="FiUsers" descr="preencoded.png">    </p:cNvPr>
          <p:cNvPicPr>
            <a:picLocks noChangeAspect="1"/>
          </p:cNvPicPr>
          <p:nvPr/>
        </p:nvPicPr>
        <p:blipFill>
          <a:blip r:embed="rId6"/>
          <a:stretch>
            <a:fillRect/>
          </a:stretch>
        </p:blipFill>
        <p:spPr>
          <a:xfrm>
            <a:off x="726948" y="5393436"/>
            <a:ext cx="192024" cy="192024"/>
          </a:xfrm>
          <a:prstGeom prst="rect">
            <a:avLst/>
          </a:prstGeom>
        </p:spPr>
      </p:pic>
      <p:sp>
        <p:nvSpPr>
          <p:cNvPr id="42" name="Text 34"/>
          <p:cNvSpPr txBox="1"/>
          <p:nvPr/>
        </p:nvSpPr>
        <p:spPr>
          <a:xfrm>
            <a:off x="1133856" y="529742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Chip designers, an auditor</a:t>
            </a:r>
            <a:endParaRPr lang="en-US" sz="1100" dirty="0"/>
          </a:p>
        </p:txBody>
      </p:sp>
      <p:sp>
        <p:nvSpPr>
          <p:cNvPr id="43" name="Text 35"/>
          <p:cNvSpPr txBox="1"/>
          <p:nvPr/>
        </p:nvSpPr>
        <p:spPr>
          <a:xfrm>
            <a:off x="2734056" y="529742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Review of the RTL, the firmware plan and the proof-assumption list; formal proofs of the block invariants</a:t>
            </a:r>
            <a:endParaRPr lang="en-US" sz="1100" dirty="0"/>
          </a:p>
        </p:txBody>
      </p:sp>
      <p:sp>
        <p:nvSpPr>
          <p:cNvPr id="44" name="Text 36"/>
          <p:cNvSpPr txBox="1"/>
          <p:nvPr/>
        </p:nvSpPr>
        <p:spPr>
          <a:xfrm>
            <a:off x="5568696" y="529742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Verification before tape-out</a:t>
            </a:r>
            <a:endParaRPr lang="en-US" sz="1100" dirty="0"/>
          </a:p>
        </p:txBody>
      </p:sp>
      <p:sp>
        <p:nvSpPr>
          <p:cNvPr id="45" name="card"/>
          <p:cNvSpPr/>
          <p:nvPr/>
        </p:nvSpPr>
        <p:spPr>
          <a:xfrm>
            <a:off x="8714232" y="1417320"/>
            <a:ext cx="2928823" cy="4480560"/>
          </a:xfrm>
          <a:prstGeom prst="roundRect">
            <a:avLst>
              <a:gd name="adj" fmla="val 2498"/>
            </a:avLst>
          </a:prstGeom>
          <a:solidFill>
            <a:schemeClr val="tx1"/>
          </a:solidFill>
          <a:ln w="12700">
            <a:solidFill>
              <a:schemeClr val="tx1"/>
            </a:solidFill>
            <a:prstDash val="solid"/>
          </a:ln>
        </p:spPr>
      </p:sp>
      <p:sp>
        <p:nvSpPr>
          <p:cNvPr id="46" name="Text 38"/>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47" name="Text 39"/>
          <p:cNvSpPr txBox="1"/>
          <p:nvPr/>
        </p:nvSpPr>
        <p:spPr>
          <a:xfrm>
            <a:off x="8988552" y="2286000"/>
            <a:ext cx="2380183" cy="347472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No device that acts will verify a ticket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The levers do not reach the baseboard connector</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False halts at a rate operators will not accept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Measured overhead above one percent after batching</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Observers miss disguised requests too often for the hazard cases</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Nobody will hold the quorum keys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one-sentence version</a:t>
            </a:r>
            <a:endParaRPr lang="en-US" sz="4400" dirty="0"/>
          </a:p>
        </p:txBody>
      </p:sp>
      <p:sp>
        <p:nvSpPr>
          <p:cNvPr id="3" name="subtitle"/>
          <p:cNvSpPr txBox="1"/>
          <p:nvPr/>
        </p:nvSpPr>
        <p:spPr>
          <a:xfrm>
            <a:off x="548640" y="3200400"/>
            <a:ext cx="7315200" cy="1645920"/>
          </a:xfrm>
          <a:prstGeom prst="rect">
            <a:avLst/>
          </a:prstGeom>
          <a:noFill/>
          <a:ln/>
        </p:spPr>
        <p:txBody>
          <a:bodyPr wrap="square" lIns="0" tIns="0" rIns="0" bIns="0" rtlCol="0" anchor="t">
            <a:normAutofit/>
          </a:bodyPr>
          <a:lstStyle/>
          <a:p>
            <a:pPr indent="0" marL="0">
              <a:buNone/>
            </a:pPr>
            <a:r>
              <a:rPr lang="en-US" sz="2000" dirty="0">
                <a:solidFill>
                  <a:schemeClr val="accent6"/>
                </a:solidFill>
                <a:latin typeface="Arial" pitchFamily="34" charset="0"/>
                <a:ea typeface="Arial" pitchFamily="34" charset="-122"/>
                <a:cs typeface="Arial" pitchFamily="34" charset="-120"/>
              </a:rPr>
              <a:t>The governor never knows what the model is thinking and does not need to, because thinking fires nothing. A ticket does, and the model cannot mint one.</a:t>
            </a:r>
            <a:endParaRPr lang="en-US" sz="20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Text 3"/>
          <p:cNvSpPr txBox="1"/>
          <p:nvPr/>
        </p:nvSpPr>
        <p:spPr>
          <a:xfrm>
            <a:off x="548640" y="5029200"/>
            <a:ext cx="8229600" cy="914400"/>
          </a:xfrm>
          <a:prstGeom prst="rect">
            <a:avLst/>
          </a:prstGeom>
          <a:noFill/>
          <a:ln/>
        </p:spPr>
        <p:txBody>
          <a:bodyPr wrap="square" lIns="0" tIns="0" rIns="0" bIns="0" rtlCol="0" anchor="t">
            <a:normAutofit/>
          </a:bodyPr>
          <a:lstStyle/>
          <a:p>
            <a:pPr indent="0" marL="0">
              <a:buNone/>
            </a:pPr>
            <a:r>
              <a:rPr lang="en-US" sz="1300" dirty="0">
                <a:solidFill>
                  <a:schemeClr val="accent6"/>
                </a:solidFill>
                <a:latin typeface="Arial" pitchFamily="34" charset="0"/>
                <a:ea typeface="Arial" pitchFamily="34" charset="-122"/>
                <a:cs typeface="Arial" pitchFamily="34" charset="-120"/>
              </a:rPr>
              <a:t>github.com/YobieBenjamin/safety-governor</a:t>
            </a:r>
            <a:endParaRPr lang="en-US" sz="1300" dirty="0"/>
          </a:p>
          <a:p>
            <a:pPr indent="0" marL="0">
              <a:buNone/>
            </a:pPr>
            <a:r>
              <a:rPr lang="en-US" sz="1300" dirty="0">
                <a:solidFill>
                  <a:schemeClr val="accent6"/>
                </a:solidFill>
                <a:latin typeface="Arial" pitchFamily="34" charset="0"/>
                <a:ea typeface="Arial" pitchFamily="34" charset="-122"/>
                <a:cs typeface="Arial" pitchFamily="34" charset="-120"/>
              </a:rPr>
              <a:t>github.com/YobieBenjamin/hardware-and-silicon</a:t>
            </a:r>
            <a:endParaRPr lang="en-US" sz="1300" dirty="0"/>
          </a:p>
          <a:p>
            <a:pPr indent="0" marL="0">
              <a:buNone/>
            </a:pPr>
            <a:r>
              <a:rPr lang="en-US" sz="1300" dirty="0">
                <a:solidFill>
                  <a:schemeClr val="accent3"/>
                </a:solidFill>
                <a:latin typeface="Arial" pitchFamily="34" charset="0"/>
                <a:ea typeface="Arial" pitchFamily="34" charset="-122"/>
                <a:cs typeface="Arial" pitchFamily="34" charset="-120"/>
              </a:rPr>
              <a:t>The Chip That Says No, parts 1 to 4, and design documents 00 to 18</a:t>
            </a:r>
            <a:endParaRPr lang="en-US" sz="13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2026-10-16T21:47:35Z</dcterms:created>
  <dcterms:modified xsi:type="dcterms:W3CDTF">2026-10-16T21:47:35Z</dcterms:modified>
</cp:coreProperties>
</file>